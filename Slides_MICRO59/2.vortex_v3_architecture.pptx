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tiff" ContentType="image/tiff"/>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4"/>
    <p:sldMasterId id="2147483692" r:id="rId5"/>
    <p:sldMasterId id="2147483694" r:id="rId6"/>
    <p:sldMasterId id="2147483713" r:id="rId7"/>
    <p:sldMasterId id="2147483715" r:id="rId8"/>
    <p:sldMasterId id="2147483734" r:id="rId9"/>
    <p:sldMasterId id="2147483736" r:id="rId10"/>
    <p:sldMasterId id="2147483774" r:id="rId11"/>
  </p:sldMasterIdLst>
  <p:notesMasterIdLst>
    <p:notesMasterId r:id="rId35"/>
  </p:notesMasterIdLst>
  <p:sldIdLst>
    <p:sldId id="256" r:id="rId30"/>
    <p:sldId id="257" r:id="rId31"/>
    <p:sldId id="258" r:id="rId32"/>
    <p:sldId id="259" r:id="rId33"/>
    <p:sldId id="260" r:id="rId34"/>
    <p:sldId id="261" r:id="rId29"/>
    <p:sldId id="262" r:id="rId28"/>
    <p:sldId id="263" r:id="rId27"/>
    <p:sldId id="264" r:id="rId26"/>
    <p:sldId id="265" r:id="rId25"/>
    <p:sldId id="266" r:id="rId24"/>
    <p:sldId id="267" r:id="rId23"/>
    <p:sldId id="268" r:id="rId22"/>
    <p:sldId id="269" r:id="rId21"/>
    <p:sldId id="270" r:id="rId20"/>
    <p:sldId id="271" r:id="rId19"/>
    <p:sldId id="272" r:id="rId18"/>
    <p:sldId id="273" r:id="rId17"/>
    <p:sldId id="274" r:id="rId16"/>
    <p:sldId id="275" r:id="rId15"/>
    <p:sldId id="276" r:id="rId14"/>
    <p:sldId id="277" r:id="rId13"/>
    <p:sldId id="278" r:id="rId12"/>
    <p:sldId id="279" r:id="rId53"/>
    <p:sldId id="280" r:id="rId54"/>
  </p:sldIdLst>
  <p:sldSz cx="12192000" cy="6858000"/>
  <p:notesSz cx="6858000" cy="9144000"/>
  <p:embeddedFontLst>
    <p:embeddedFont>
      <p:font typeface="Helvetica" panose="020B0604020202020204" pitchFamily="34" charset="0"/>
      <p:regular r:id="rId36"/>
      <p:bold r:id="rId37"/>
      <p:italic r:id="rId38"/>
      <p:boldItalic r:id="rId39"/>
    </p:embeddedFont>
    <p:embeddedFont>
      <p:font typeface="Tahoma" panose="020B0604030504040204" pitchFamily="34" charset="0"/>
      <p:regular r:id="rId40"/>
      <p:bold r:id="rId41"/>
    </p:embeddedFont>
    <p:embeddedFont>
      <p:font typeface="Trebuchet MS" panose="020B0603020202020204" pitchFamily="34" charset="0"/>
      <p:regular r:id="rId42"/>
      <p:bold r:id="rId43"/>
      <p:italic r:id="rId44"/>
      <p:boldItalic r:id="rId45"/>
    </p:embeddedFont>
    <p:embeddedFont>
      <p:font typeface="Wingdings 3" panose="05040102010807070707" pitchFamily="18" charset="2"/>
      <p:regular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47" roundtripDataSignature="AMtx7mhZ4xxTzL3d/7saKVOWLYiqxK7b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CD46A3-9D25-460A-BBFB-7A3CFD71B460}" v="18" dt="2021-10-16T01:32:44.5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83" d="100"/>
          <a:sy n="83" d="100"/>
        </p:scale>
        <p:origin x="648" y="26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9" Type="http://schemas.openxmlformats.org/officeDocument/2006/relationships/slideMaster" Target="slideMasters/slideMaster6.xml"/><Relationship Id="rId10" Type="http://schemas.openxmlformats.org/officeDocument/2006/relationships/slideMaster" Target="slideMasters/slideMaster7.xml"/><Relationship Id="rId11" Type="http://schemas.openxmlformats.org/officeDocument/2006/relationships/slideMaster" Target="slideMasters/slideMaster8.xml"/><Relationship Id="rId12" Type="http://schemas.openxmlformats.org/officeDocument/2006/relationships/slide" Target="slides/slide23.xml"/><Relationship Id="rId13" Type="http://schemas.openxmlformats.org/officeDocument/2006/relationships/slide" Target="slides/slide22.xml"/><Relationship Id="rId14" Type="http://schemas.openxmlformats.org/officeDocument/2006/relationships/slide" Target="slides/slide21.xml"/><Relationship Id="rId15" Type="http://schemas.openxmlformats.org/officeDocument/2006/relationships/slide" Target="slides/slide20.xml"/><Relationship Id="rId16" Type="http://schemas.openxmlformats.org/officeDocument/2006/relationships/slide" Target="slides/slide19.xml"/><Relationship Id="rId17" Type="http://schemas.openxmlformats.org/officeDocument/2006/relationships/slide" Target="slides/slide18.xml"/><Relationship Id="rId18" Type="http://schemas.openxmlformats.org/officeDocument/2006/relationships/slide" Target="slides/slide17.xml"/><Relationship Id="rId19" Type="http://schemas.openxmlformats.org/officeDocument/2006/relationships/slide" Target="slides/slide16.xml"/><Relationship Id="rId20" Type="http://schemas.openxmlformats.org/officeDocument/2006/relationships/slide" Target="slides/slide15.xml"/><Relationship Id="rId21" Type="http://schemas.openxmlformats.org/officeDocument/2006/relationships/slide" Target="slides/slide14.xml"/><Relationship Id="rId22" Type="http://schemas.openxmlformats.org/officeDocument/2006/relationships/slide" Target="slides/slide13.xml"/><Relationship Id="rId23" Type="http://schemas.openxmlformats.org/officeDocument/2006/relationships/slide" Target="slides/slide12.xml"/><Relationship Id="rId24" Type="http://schemas.openxmlformats.org/officeDocument/2006/relationships/slide" Target="slides/slide11.xml"/><Relationship Id="rId25" Type="http://schemas.openxmlformats.org/officeDocument/2006/relationships/slide" Target="slides/slide10.xml"/><Relationship Id="rId26" Type="http://schemas.openxmlformats.org/officeDocument/2006/relationships/slide" Target="slides/slide9.xml"/><Relationship Id="rId27" Type="http://schemas.openxmlformats.org/officeDocument/2006/relationships/slide" Target="slides/slide8.xml"/><Relationship Id="rId28" Type="http://schemas.openxmlformats.org/officeDocument/2006/relationships/slide" Target="slides/slide7.xml"/><Relationship Id="rId29" Type="http://schemas.openxmlformats.org/officeDocument/2006/relationships/slide" Target="slides/slide6.xml"/><Relationship Id="rId30" Type="http://schemas.openxmlformats.org/officeDocument/2006/relationships/slide" Target="slides/slide1.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notesMaster" Target="notesMasters/notesMaster1.xml"/><Relationship Id="rId36" Type="http://schemas.openxmlformats.org/officeDocument/2006/relationships/font" Target="fonts/font1.fntdata"/><Relationship Id="rId37" Type="http://schemas.openxmlformats.org/officeDocument/2006/relationships/font" Target="fonts/font2.fntdata"/><Relationship Id="rId38" Type="http://schemas.openxmlformats.org/officeDocument/2006/relationships/font" Target="fonts/font3.fntdata"/><Relationship Id="rId39" Type="http://schemas.openxmlformats.org/officeDocument/2006/relationships/font" Target="fonts/font4.fntdata"/><Relationship Id="rId40" Type="http://schemas.openxmlformats.org/officeDocument/2006/relationships/font" Target="fonts/font5.fntdata"/><Relationship Id="rId41" Type="http://schemas.openxmlformats.org/officeDocument/2006/relationships/font" Target="fonts/font6.fntdata"/><Relationship Id="rId42" Type="http://schemas.openxmlformats.org/officeDocument/2006/relationships/font" Target="fonts/font7.fntdata"/><Relationship Id="rId43" Type="http://schemas.openxmlformats.org/officeDocument/2006/relationships/font" Target="fonts/font8.fntdata"/><Relationship Id="rId44" Type="http://schemas.openxmlformats.org/officeDocument/2006/relationships/font" Target="fonts/font9.fntdata"/><Relationship Id="rId45" Type="http://schemas.openxmlformats.org/officeDocument/2006/relationships/font" Target="fonts/font10.fntdata"/><Relationship Id="rId46" Type="http://schemas.openxmlformats.org/officeDocument/2006/relationships/font" Target="fonts/font11.fntdata"/><Relationship Id="rId47" Type="http://customschemas.google.com/relationships/presentationmetadata" Target="metadata"/><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5/10/relationships/revisionInfo" Target="revisionInfo.xml"/><Relationship Id="rId53" Type="http://schemas.openxmlformats.org/officeDocument/2006/relationships/slide" Target="slides/slide24.xml"/><Relationship Id="rId54"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framework stack from the repository README. Hardware: configurable multi-core RISC-V GPU, RV32IMAFC / RV64IMAFDC, tensor cores with WGMMA and 2:4 sparsity, DXA copy engine, RASTER / TEX / OM graphics units and a ray-tracing unit, command processor, kernel management unit, MMU with Sv32 / Sv39. Software: OpenCL 1.2 (PoCL 7), Vulkan (Mesa), HIP (chipStar), CUDA (CuPBoP); VOLT (LLVM 20) underneath. Simulation: SimX v3, Verilator, gem5, SST, FireSim. FPGA: Arria 10, Stratix 10, Alveo U50/U55C/U250/U280, V80, VCK5000. ASIC: Yosys + OpenSTA (ASAP7), Synopsys DC (ASAP7 / SAED14 / NanGate15).</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v3.0 (tagged 2026-10-07) is the largest release since the MICRO-54 paper. Group the additions by theme: compute, control plane, graphics, memory, software, infrastructure. Everything on this slide gets its own session later.</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Same three levels as before — cores in sockets sharing L1, sockets in clusters sharing L2, clusters in a processor with an optional L3 — but every level gained units. Processor: CP, KMU, global barrier arbiter, DCR bus, L3. Cluster: L2, DXA core, RASTER, OM, cluster TLB + page walker. Socket: L1 caches, TEX core, RTU core, dMMU/iMMU. Core: SIMT pipeline, LMEM, bar unit, CTA dispatcher, TCU.</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six-stage in-order-issue / out-of-order-commit pipeline is unchanged in shape. New or reworked blocks: RVC decompressor between icache and decode; per-warp uop sequencer for TCU, pack-load and graphics macro-ops; GTO issue arbiter; scoreboard with an XREGS plane and FU locks; async barrier unit; CTA dispatcher in the scheduler; per-warp machine-mode trap CSRs. Session 2 covers each.</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scoreboard changes: a second dependency plane for FPU special registers, and fu_lock/fu_unlock flags so a uop sequence holds a functional unit across a multi-uop macro — WGMMA depends on this because interleaved warps would corrupt per-block A registers and the accumulator. The per-warp uop sequencer expands macro-ops one uop per cycle; it back-pressures the ibuffer and the macro itself never commits.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 atomic is a load that also writes, committed at the LLC bank (or the local-memory bank). Decode attaches an amo_req_t sideband per lane and forces rw=0; the fabric steers by address class and never merges atomic lanes. The LLC bank runs the ALU, keeps reservation stations for LR/SC with holder protection, and writes back through a settling queue. Response returns the old value or the SC outcome.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shared front end over four per-operation cores: FMA, DIV/SQRT, CVT, NCP. Four interchangeable backends behind the same op encoding: STD (ours, ASIC and sim), DSP (FPGA vendor IP), DPI (rtlsim default), FPNEW (optional). Only FMA is duplicated per format — a 24-bit multiplier is a fifth of a 53-bit one — so enabling D does not slow or grow the F32 path. DIV/SQRT, CVT and NCP are merged-format units.</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structural changes. Sectored L2/L3: the line is 2×MEM_BLOCK with a MEM_BLOCK sector, so one tag spans two blocks while fills and evictions move at bus granule — halving LLC tags. Dcache banking now derives from the coalescer word size, so memory-level parallelism tracks thread count without shrinking the line. Fill forwarding gives sgemm −2.7%, sgemv −5.0%, sgemm-mc −2.2% cycles.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Translation sits at the socket, after the coalescer, between cores and L1: one dMMU serves all data lanes of the socket, one iMMU serves fetch. L1 TLBs are CAMs with a small miss station; misses ride a narrow TLB bus — not the memory bus — to a shared cluster L2 TLB with a megapage CAM, then to a two-walker PTW with a walk cache whose PTE reads go through the L2 cache. The translation root is a DCR pair; the SATP_HI write commits, flushes all TLBs and arms fault reporting.</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VX_cp_core: one command engine per queue, four round-robin arbiters, four shared units. The ring lives in host memory and is fetched over a dedicated AXI host port; completions are written back over the same port. DMA has a second AXI port to device memory. The CP knows nothing about DCR meanings — those live in VX_types.toml. 17 RTL files, about 2,900 lines.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One KMU per processor. The host writes the KMU DCRs 0x010–0x023 and pulses start; the KMU walks the grid two-level — intra-cluster offsets first, then the group origin advances by cluster_dim — and emits one message per cluster of K CTAs onto the launch bus. The bus also carries fragment waves pushed by the rasterizer. Messages are the unit of arbitration: a router locks from the first beat to eop.</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child of the scheduler. NUM_CTA_SLOTS = NUM_WARPS. Local memory is carved in fixed strides: slot i owns [i·stride, (i+1)·stride) with stride = the launch's aligned LMEM size, so occupancy is floor(LMEM/stride) with no wrap waste and no carry chain. The FSM accepts one CTA in IDLE and emits one warp per cycle in DISPATCH; context tables behind the CTA CSRs are two dual-port RAMs; warp retirement is a 3-stage pipeline keyed on tmc with an empty mask.</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VX_bar_unit extends the scheduler barrier table: a row per CTA slot and barrier index holds a warp mask of stalled warps, the arrival count, pending completion events and the phase. An arrival advances the count and compares it with the carried expected count; an expectation adds pending events, a completion removes one; when all have arrived and nothing is pending the unit releases the stalled warps to the scheduler in the same cycle. We compare this against polled shared-memory atomics (SOFT) and an mbarrier-style cached object (MBAR): MBAR costs 1.03× the cycles of HARD, SOFT 1.56×; at equal capacity the table is 1.6–3.5× smaller and 0.6–14% faster.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VX_tcu_unit holds Q = NUM_TCU_BLOCKS blocks, one per issue slot. Per block: a TCU_LD path through VX_tcu_agu (client 1 of the LSU scheduler on block 0) into VX_tcu_meta, and the compute path VX_tcu_core. WGMMA adds per-block A buffers, one shared B buffer broadcast to all blocks, a lockstep gate so one CTA owns the B buffer at a time, and an arbiter putting Q+1 readers on one bank-parallel LMEM port shared with DXA.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TFR is the in-house, fully synthesizable FEDP (the tensor-arithmetic work from our lab): integer and floating point share one 4-cycle pipeline — multiply, align, accumulate, normalize &amp; round. Class-wise shared multipliers (one 11×11 Wallace tree for TF32/FP16/BF16, two 4×4 for FP8/BF8), a difference-matrix maximum-exponent finder, carry-save reduction with a MOD-4 grouping tree, Kogge-Stone final adds. The addend C enters at stage 1, which is what lets MX scale factors be applied per lane. Bit-exact against RTX 4090 / RTX 5080 tensor-core outputs across 1M+ randomized vectors.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is stored compressed with 2-of-4 metadata; B stays dense. The kernel issues one TCU_LD that brings the per-warp metadata into the TCU SRAM of every block; a scoreboard bit orders the sparse MMA behind it. The sparse mux array selects, per row of A, the two B candidates of every four that match the kept positions, so each FEDP computes as many products as a dense micro-op but covers twice the K positions. Only asymmetric configurations halve the micro-ops: at NT = 8 or 32 the doubled B block fits the one B register the micro-op already names; symmetric layouts halve tcN instead and keep the uop count.</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warps that issue together — one per issue slot — form a warpgroup; each runs on its own tensor block and owns 2·tcM output rows, all reading the same B tile, so the warpgroup tile grows in M with the issue width (64 rows at NT = 32, IW = 4). B always comes from shared memory through a 32-bit descriptor: 16-bit offset, 16-bit row stride, stride 0 meaning block-major; A from shared memory (SS) or f24–f27 (RS). Warps are not lockstepped cycle by cycle; three checks keep shared state consistent: issue-slot lock, single-CTA gate, and a B-key match against the leader block.</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DXA is a cluster-shared engine that executes one warp instruction as an asynchronous, descriptor-driven, tiled global-to-local copy: ranks 1–5, out-of-bounds clamp with a constant fill, optional multicast to co-resident CTAs, and a K-major transpose that feeds the WGMMA B path directly. The host programs what is constant for an operand into one of 16 descriptors over DCRs; the kernel supplies what changes per tile — descriptor, coordinates, destination, barrier — in one instruction whose four lanes are packed with vx_wgather. The warp is freed at issue; completion goes to the named barrier.</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fixed-function units plus the ray-tracing unit, all exposed as RISC-V extensions under custom-1 and advertised through MISA bits 6–8. RASTER and OM live at cluster level, TEX and RTU at socket level, each with its own read-only or coherent cache. The interface law: every value crossing between a fixed-function unit and SIMT is handed through a scoreboarded register or a launch message; no shared mutable side band outlives the operation. The rasterizer pushes fragment waves as 1-warp CTAs through the KMU launch bus — the root fix for the dropped-draw-call class of multi-core bugs.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socket RTU core serves SOCKET_SIZE / NUM_RTU_CORES cores over a three-channel bus: arm (may block), req (ray beats and CONTINUE, always ready), win (slot writes, STATUS last); core-to-RTU binding is static so a CONTINUE always reaches the RTU that owns its TRACE. Three structures: staging (one entry per {source, warp} — the single home of a ray), a slot pool whose fill engine launches lane by lane, and a context-pool scheduler: a three-stage SELECT → ALIGN → EXEC walker over a context-indexed BRAM with a ~30-state per-context FSM, wake-bit events and no stall network, one micro-step per cycle. Per-context state lives as an address into plain BRAMs, not a mux. A 16-entry short stack plus a rank-path restart from root is exact to 63 levels; PEs: box slab test (1 child/cycle), watertight triangle test (1 tri/cycle), 18-FMA transform, LUT+Newton reciprocal.</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numbers in ci/baselines/synthesis are the goldens the FPGA and ASIC gates compare against. On the U55C the core at 16 warps × 16 threads with RVC closes at 298 MHz in 172k LUTs; the TFR tensor unit with every format, sparsity and WGMMA at 292 MHz in 117k LUTs and 768 DSPs. On ASAP7 through the open flow the cache bank reaches 1.23 GHz and the core 587 MHz.</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tif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5" name="Background">
            <a:extLst>
              <a:ext uri="{FF2B5EF4-FFF2-40B4-BE49-F238E27FC236}">
                <a16:creationId xmlns:a16="http://schemas.microsoft.com/office/drawing/2014/main" id="{4C1E4286-FD2F-814C-A4E5-B50094C0B6DB}"/>
              </a:ext>
            </a:extLst>
          </p:cNvPr>
          <p:cNvSpPr>
            <a:spLocks noChangeAspect="1"/>
          </p:cNvSpPr>
          <p:nvPr/>
        </p:nvSpPr>
        <p:spPr>
          <a:xfrm>
            <a:off x="0" y="1"/>
            <a:ext cx="12192000" cy="68685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5" name="Header rule">
            <a:extLst>
              <a:ext uri="{FF2B5EF4-FFF2-40B4-BE49-F238E27FC236}">
                <a16:creationId xmlns:a16="http://schemas.microsoft.com/office/drawing/2014/main" id="{9D6D4E19-3FBE-DF40-B8C1-98D35A8D9F51}"/>
              </a:ext>
            </a:extLst>
          </p:cNvPr>
          <p:cNvSpPr/>
          <p:nvPr/>
        </p:nvSpPr>
        <p:spPr>
          <a:xfrm>
            <a:off x="853440" y="402336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7" name="Header rule">
            <a:extLst>
              <a:ext uri="{FF2B5EF4-FFF2-40B4-BE49-F238E27FC236}">
                <a16:creationId xmlns:a16="http://schemas.microsoft.com/office/drawing/2014/main" id="{09B1960F-507A-E84C-8B64-1891B754A975}"/>
              </a:ext>
            </a:extLst>
          </p:cNvPr>
          <p:cNvSpPr/>
          <p:nvPr/>
        </p:nvSpPr>
        <p:spPr>
          <a:xfrm>
            <a:off x="853440" y="243840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pic>
        <p:nvPicPr>
          <p:cNvPr id="3" name="logo lockup" hidden="1">
            <a:extLst>
              <a:ext uri="{FF2B5EF4-FFF2-40B4-BE49-F238E27FC236}">
                <a16:creationId xmlns:a16="http://schemas.microsoft.com/office/drawing/2014/main" id="{A0682890-AF0C-4247-AD31-1CB6F62F7850}"/>
              </a:ext>
            </a:extLst>
          </p:cNvPr>
          <p:cNvPicPr>
            <a:picLocks noChangeAspect="1"/>
          </p:cNvPicPr>
          <p:nvPr/>
        </p:nvPicPr>
        <p:blipFill>
          <a:blip r:embed="rId2"/>
          <a:stretch>
            <a:fillRect/>
          </a:stretch>
        </p:blipFill>
        <p:spPr>
          <a:xfrm>
            <a:off x="853440" y="631500"/>
            <a:ext cx="4572000" cy="508000"/>
          </a:xfrm>
          <a:prstGeom prst="rect">
            <a:avLst/>
          </a:prstGeom>
        </p:spPr>
      </p:pic>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12" name="TextBox 11" hidden="1">
            <a:extLst>
              <a:ext uri="{FF2B5EF4-FFF2-40B4-BE49-F238E27FC236}">
                <a16:creationId xmlns:a16="http://schemas.microsoft.com/office/drawing/2014/main" id="{992A067E-6CB9-C14C-9A18-33F98E6EF3A7}"/>
              </a:ext>
            </a:extLst>
          </p:cNvPr>
          <p:cNvSpPr txBox="1"/>
          <p:nvPr/>
        </p:nvSpPr>
        <p:spPr>
          <a:xfrm>
            <a:off x="865632" y="633984"/>
            <a:ext cx="1066800" cy="499872"/>
          </a:xfrm>
          <a:prstGeom prst="rect">
            <a:avLst/>
          </a:prstGeom>
          <a:solidFill>
            <a:srgbClr val="FF00FF"/>
          </a:solidFill>
          <a:ln w="6350">
            <a:noFill/>
          </a:ln>
        </p:spPr>
        <p:txBody>
          <a:bodyPr wrap="square" lIns="24384" tIns="12192" rIns="24384" bIns="0" rtlCol="0" anchor="ctr" anchorCtr="1">
            <a:normAutofit fontScale="92500" lnSpcReduction="20000"/>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67" dirty="0">
                <a:solidFill>
                  <a:schemeClr val="bg1"/>
                </a:solidFill>
              </a:rPr>
              <a:t>Resize the UCLA logo to match the size &amp; position of this box</a:t>
            </a:r>
          </a:p>
        </p:txBody>
      </p:sp>
      <p:sp>
        <p:nvSpPr>
          <p:cNvPr id="2" name="TextBox 1">
            <a:extLst>
              <a:ext uri="{FF2B5EF4-FFF2-40B4-BE49-F238E27FC236}">
                <a16:creationId xmlns:a16="http://schemas.microsoft.com/office/drawing/2014/main" id="{E2AB141D-50D8-B545-AC99-DA856384CC54}"/>
              </a:ext>
            </a:extLst>
          </p:cNvPr>
          <p:cNvSpPr txBox="1"/>
          <p:nvPr/>
        </p:nvSpPr>
        <p:spPr>
          <a:xfrm>
            <a:off x="8793019" y="406400"/>
            <a:ext cx="1902691" cy="379656"/>
          </a:xfrm>
          <a:prstGeom prst="rect">
            <a:avLst/>
          </a:prstGeom>
          <a:noFill/>
        </p:spPr>
        <p:txBody>
          <a:bodyPr wrap="square" rtlCol="0">
            <a:spAutoFit/>
          </a:bodyPr>
          <a:lstStyle/>
          <a:p>
            <a:endParaRPr lang="en-US" sz="1867" dirty="0"/>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
        <p:nvSpPr>
          <p:cNvPr id="19" name="TextBox 18" hidden="1">
            <a:extLst>
              <a:ext uri="{FF2B5EF4-FFF2-40B4-BE49-F238E27FC236}">
                <a16:creationId xmlns:a16="http://schemas.microsoft.com/office/drawing/2014/main" id="{DAEABCCE-008D-444A-9E36-5D3414A07090}"/>
              </a:ext>
            </a:extLst>
          </p:cNvPr>
          <p:cNvSpPr txBox="1"/>
          <p:nvPr/>
        </p:nvSpPr>
        <p:spPr>
          <a:xfrm>
            <a:off x="865632" y="633984"/>
            <a:ext cx="1066800" cy="499872"/>
          </a:xfrm>
          <a:prstGeom prst="rect">
            <a:avLst/>
          </a:prstGeom>
          <a:solidFill>
            <a:srgbClr val="FF00FF"/>
          </a:solidFill>
          <a:ln w="6350">
            <a:noFill/>
          </a:ln>
        </p:spPr>
        <p:txBody>
          <a:bodyPr wrap="square" lIns="24384" tIns="12192" rIns="24384" bIns="0" rtlCol="0" anchor="ctr" anchorCtr="1">
            <a:normAutofit fontScale="92500" lnSpcReduction="20000"/>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067" dirty="0">
                <a:solidFill>
                  <a:schemeClr val="bg1"/>
                </a:solidFill>
              </a:rPr>
              <a:t>Resize the UCLA logo to match the size &amp; position of this box</a:t>
            </a:r>
          </a:p>
        </p:txBody>
      </p:sp>
      <p:sp>
        <p:nvSpPr>
          <p:cNvPr id="20" name="TextBox 19">
            <a:extLst>
              <a:ext uri="{FF2B5EF4-FFF2-40B4-BE49-F238E27FC236}">
                <a16:creationId xmlns:a16="http://schemas.microsoft.com/office/drawing/2014/main" id="{7B98486D-C649-D848-B5F6-E86CD5336334}"/>
              </a:ext>
            </a:extLst>
          </p:cNvPr>
          <p:cNvSpPr txBox="1"/>
          <p:nvPr/>
        </p:nvSpPr>
        <p:spPr>
          <a:xfrm>
            <a:off x="8793019" y="406400"/>
            <a:ext cx="1902691" cy="379656"/>
          </a:xfrm>
          <a:prstGeom prst="rect">
            <a:avLst/>
          </a:prstGeom>
          <a:noFill/>
        </p:spPr>
        <p:txBody>
          <a:bodyPr wrap="square" rtlCol="0">
            <a:spAutoFit/>
          </a:bodyPr>
          <a:lstStyle/>
          <a:p>
            <a:endParaRPr lang="en-US" sz="1867" dirty="0"/>
          </a:p>
        </p:txBody>
      </p:sp>
    </p:spTree>
    <p:extLst>
      <p:ext uri="{BB962C8B-B14F-4D97-AF65-F5344CB8AC3E}">
        <p14:creationId xmlns:p14="http://schemas.microsoft.com/office/powerpoint/2010/main" val="3959784480"/>
      </p:ext>
    </p:extLst>
  </p:cSld>
  <p:clrMapOvr>
    <a:masterClrMapping/>
  </p:clrMapOvr>
  <p:hf hdr="0" ftr="0" dt="0"/>
  <p:extLst>
    <p:ext uri="{DCECCB84-F9BA-43D5-87BE-67443E8EF086}">
      <p15:sldGuideLst xmlns:p15="http://schemas.microsoft.com/office/powerpoint/2012/main">
        <p15:guide id="5" orient="horz" pos="300">
          <p15:clr>
            <a:srgbClr val="FBAE40"/>
          </p15:clr>
        </p15:guide>
        <p15:guide id="6" orient="horz" pos="540">
          <p15:clr>
            <a:srgbClr val="FBAE40"/>
          </p15:clr>
        </p15:guide>
        <p15:guide id="7" pos="40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12192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3113960386"/>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4" name="Text Placeholder 3">
            <a:extLst>
              <a:ext uri="{FF2B5EF4-FFF2-40B4-BE49-F238E27FC236}">
                <a16:creationId xmlns:a16="http://schemas.microsoft.com/office/drawing/2014/main" id="{DF2C5F55-93C0-9344-9E3D-94935F3D2760}"/>
              </a:ext>
            </a:extLst>
          </p:cNvPr>
          <p:cNvSpPr>
            <a:spLocks noGrp="1"/>
          </p:cNvSpPr>
          <p:nvPr>
            <p:ph type="body" sz="quarter" idx="20" hasCustomPrompt="1"/>
          </p:nvPr>
        </p:nvSpPr>
        <p:spPr>
          <a:xfrm>
            <a:off x="853439" y="3535680"/>
            <a:ext cx="10363200" cy="295402"/>
          </a:xfrm>
          <a:prstGeom prst="rect">
            <a:avLst/>
          </a:prstGeom>
        </p:spPr>
        <p:txBody>
          <a:bodyPr>
            <a:spAutoFit/>
          </a:bodyPr>
          <a:lstStyle>
            <a:lvl1pPr marL="0" indent="0">
              <a:buFontTx/>
              <a:buNone/>
              <a:defRPr sz="2133" b="1" i="0" cap="all" baseline="0">
                <a:latin typeface="Helvetica" pitchFamily="2" charset="0"/>
              </a:defRPr>
            </a:lvl1pPr>
            <a:lvl2pPr>
              <a:buFontTx/>
              <a:buNone/>
              <a:defRPr b="1"/>
            </a:lvl2pPr>
            <a:lvl3pPr marL="914377" indent="0">
              <a:buFontTx/>
              <a:buNone/>
              <a:defRPr b="1"/>
            </a:lvl3pPr>
            <a:lvl4pPr marL="1371566" indent="0">
              <a:buFontTx/>
              <a:buNone/>
              <a:defRPr b="1"/>
            </a:lvl4pPr>
            <a:lvl5pPr marL="1828754" indent="0">
              <a:buFontTx/>
              <a:buNone/>
              <a:defRPr b="1"/>
            </a:lvl5pPr>
          </a:lstStyle>
          <a:p>
            <a:pPr lvl="0"/>
            <a:r>
              <a:rPr lang="en-US" dirty="0"/>
              <a:t>ADDITIONAL TEXT GOES HERE </a:t>
            </a:r>
          </a:p>
        </p:txBody>
      </p:sp>
      <p:sp>
        <p:nvSpPr>
          <p:cNvPr id="7" name="Header rule">
            <a:extLst>
              <a:ext uri="{FF2B5EF4-FFF2-40B4-BE49-F238E27FC236}">
                <a16:creationId xmlns:a16="http://schemas.microsoft.com/office/drawing/2014/main" id="{09B1960F-507A-E84C-8B64-1891B754A975}"/>
              </a:ext>
            </a:extLst>
          </p:cNvPr>
          <p:cNvSpPr/>
          <p:nvPr/>
        </p:nvSpPr>
        <p:spPr>
          <a:xfrm>
            <a:off x="853440" y="329184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graphicFrame>
        <p:nvGraphicFramePr>
          <p:cNvPr id="9" name="Table 8" hidden="1">
            <a:extLst>
              <a:ext uri="{FF2B5EF4-FFF2-40B4-BE49-F238E27FC236}">
                <a16:creationId xmlns:a16="http://schemas.microsoft.com/office/drawing/2014/main" id="{D23CA481-98CA-0745-833B-EFD0DBCDDA4E}"/>
              </a:ext>
            </a:extLst>
          </p:cNvPr>
          <p:cNvGraphicFramePr>
            <a:graphicFrameLocks noGrp="1"/>
          </p:cNvGraphicFramePr>
          <p:nvPr>
            <p:extLst>
              <p:ext uri="{D42A27DB-BD31-4B8C-83A1-F6EECF244321}">
                <p14:modId xmlns:p14="http://schemas.microsoft.com/office/powerpoint/2010/main" val="3279498072"/>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2" name="Table 11" hidden="1">
            <a:extLst>
              <a:ext uri="{FF2B5EF4-FFF2-40B4-BE49-F238E27FC236}">
                <a16:creationId xmlns:a16="http://schemas.microsoft.com/office/drawing/2014/main" id="{EF7DC21F-99F8-4F48-9203-63793CFF7D9C}"/>
              </a:ext>
            </a:extLst>
          </p:cNvPr>
          <p:cNvGraphicFramePr>
            <a:graphicFrameLocks noGrp="1"/>
          </p:cNvGraphicFramePr>
          <p:nvPr>
            <p:extLst>
              <p:ext uri="{D42A27DB-BD31-4B8C-83A1-F6EECF244321}">
                <p14:modId xmlns:p14="http://schemas.microsoft.com/office/powerpoint/2010/main" val="4083986431"/>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14"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9507"/>
            <a:ext cx="10363200" cy="664797"/>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a:t>Section Divider</a:t>
            </a:r>
            <a:endParaRPr lang="en-US" dirty="0"/>
          </a:p>
        </p:txBody>
      </p:sp>
    </p:spTree>
    <p:extLst>
      <p:ext uri="{BB962C8B-B14F-4D97-AF65-F5344CB8AC3E}">
        <p14:creationId xmlns:p14="http://schemas.microsoft.com/office/powerpoint/2010/main" val="1700030544"/>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er w/copy">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463040" y="2072640"/>
            <a:ext cx="9144000" cy="775790"/>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463040" y="1584960"/>
            <a:ext cx="914400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3" name="Title 2">
            <a:extLst>
              <a:ext uri="{FF2B5EF4-FFF2-40B4-BE49-F238E27FC236}">
                <a16:creationId xmlns:a16="http://schemas.microsoft.com/office/drawing/2014/main" id="{8B117F2E-F782-844A-A783-F9F40B77A93D}"/>
              </a:ext>
            </a:extLst>
          </p:cNvPr>
          <p:cNvSpPr>
            <a:spLocks noGrp="1"/>
          </p:cNvSpPr>
          <p:nvPr>
            <p:ph type="title" hasCustomPrompt="1"/>
          </p:nvPr>
        </p:nvSpPr>
        <p:spPr>
          <a:xfrm>
            <a:off x="853436" y="489869"/>
            <a:ext cx="10363200" cy="519972"/>
          </a:xfrm>
        </p:spPr>
        <p:txBody>
          <a:bodyPr anchor="b" anchorCtr="0"/>
          <a:lstStyle/>
          <a:p>
            <a:r>
              <a:rPr lang="en-US" dirty="0"/>
              <a:t>Header w/copy</a:t>
            </a:r>
          </a:p>
        </p:txBody>
      </p:sp>
    </p:spTree>
    <p:extLst>
      <p:ext uri="{BB962C8B-B14F-4D97-AF65-F5344CB8AC3E}">
        <p14:creationId xmlns:p14="http://schemas.microsoft.com/office/powerpoint/2010/main" val="3171329003"/>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ader w/bullet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463040" y="2072640"/>
            <a:ext cx="9144000" cy="775790"/>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463040" y="1584960"/>
            <a:ext cx="914400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4" name="Title 3">
            <a:extLst>
              <a:ext uri="{FF2B5EF4-FFF2-40B4-BE49-F238E27FC236}">
                <a16:creationId xmlns:a16="http://schemas.microsoft.com/office/drawing/2014/main" id="{34576D38-1D07-4944-9AE7-710415891258}"/>
              </a:ext>
            </a:extLst>
          </p:cNvPr>
          <p:cNvSpPr>
            <a:spLocks noGrp="1"/>
          </p:cNvSpPr>
          <p:nvPr>
            <p:ph type="title" hasCustomPrompt="1"/>
          </p:nvPr>
        </p:nvSpPr>
        <p:spPr/>
        <p:txBody>
          <a:bodyPr/>
          <a:lstStyle/>
          <a:p>
            <a:r>
              <a:rPr lang="en-US" dirty="0"/>
              <a:t>Header w/copy and bullets</a:t>
            </a:r>
          </a:p>
        </p:txBody>
      </p:sp>
      <p:sp>
        <p:nvSpPr>
          <p:cNvPr id="5" name="Text Placeholder 4">
            <a:extLst>
              <a:ext uri="{FF2B5EF4-FFF2-40B4-BE49-F238E27FC236}">
                <a16:creationId xmlns:a16="http://schemas.microsoft.com/office/drawing/2014/main" id="{FEB3799F-3DE7-0C45-B34C-091D879B69B2}"/>
              </a:ext>
            </a:extLst>
          </p:cNvPr>
          <p:cNvSpPr>
            <a:spLocks noGrp="1"/>
          </p:cNvSpPr>
          <p:nvPr>
            <p:ph type="body" sz="quarter" idx="21" hasCustomPrompt="1"/>
          </p:nvPr>
        </p:nvSpPr>
        <p:spPr>
          <a:xfrm>
            <a:off x="1463041" y="3048001"/>
            <a:ext cx="9144000" cy="518519"/>
          </a:xfrm>
        </p:spPr>
        <p:txBody>
          <a:bodyPr lIns="365760">
            <a:spAutoFit/>
          </a:bodyPr>
          <a:lstStyle>
            <a:lvl1pPr>
              <a:defRPr/>
            </a:lvl1pPr>
          </a:lstStyle>
          <a:p>
            <a:pPr lvl="0"/>
            <a:r>
              <a:rPr lang="en-US" dirty="0"/>
              <a:t>Most bulleted slides should have no more than 5 bullets with only about 5-6 words per bullet.</a:t>
            </a:r>
          </a:p>
        </p:txBody>
      </p:sp>
    </p:spTree>
    <p:extLst>
      <p:ext uri="{BB962C8B-B14F-4D97-AF65-F5344CB8AC3E}">
        <p14:creationId xmlns:p14="http://schemas.microsoft.com/office/powerpoint/2010/main" val="3172573535"/>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er w/two columns">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A3E27AB-E22C-2E4F-A3EA-44DAE3ABD63C}"/>
              </a:ext>
            </a:extLst>
          </p:cNvPr>
          <p:cNvSpPr>
            <a:spLocks noGrp="1"/>
          </p:cNvSpPr>
          <p:nvPr>
            <p:ph type="body" sz="quarter" idx="13" hasCustomPrompt="1"/>
          </p:nvPr>
        </p:nvSpPr>
        <p:spPr>
          <a:xfrm>
            <a:off x="1463040" y="2072640"/>
            <a:ext cx="4511040" cy="1551579"/>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24" name="Text Placeholder 23">
            <a:extLst>
              <a:ext uri="{FF2B5EF4-FFF2-40B4-BE49-F238E27FC236}">
                <a16:creationId xmlns:a16="http://schemas.microsoft.com/office/drawing/2014/main" id="{B75E8B6C-2945-AB43-B572-F1D51C630C53}"/>
              </a:ext>
            </a:extLst>
          </p:cNvPr>
          <p:cNvSpPr>
            <a:spLocks noGrp="1"/>
          </p:cNvSpPr>
          <p:nvPr>
            <p:ph type="body" sz="quarter" idx="15" hasCustomPrompt="1"/>
          </p:nvPr>
        </p:nvSpPr>
        <p:spPr>
          <a:xfrm>
            <a:off x="1463040" y="1584960"/>
            <a:ext cx="451104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One Subhead</a:t>
            </a: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705600" y="2072640"/>
            <a:ext cx="4511040" cy="1551579"/>
          </a:xfrm>
          <a:prstGeom prst="rect">
            <a:avLst/>
          </a:prstGeom>
        </p:spPr>
        <p:txBody>
          <a:bodyPr>
            <a:spAutoFit/>
          </a:bodyPr>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705600" y="1584960"/>
            <a:ext cx="4511040" cy="287259"/>
          </a:xfrm>
          <a:prstGeom prst="rect">
            <a:avLst/>
          </a:prstGeom>
        </p:spPr>
        <p:txBody>
          <a:bodyPr>
            <a:spAutoFit/>
          </a:bodyPr>
          <a:lstStyle>
            <a:lvl1pPr marL="0" indent="0">
              <a:lnSpc>
                <a:spcPct val="100000"/>
              </a:lnSpc>
              <a:buFontTx/>
              <a:buNone/>
              <a:defRPr b="1" i="0" cap="all" baseline="0">
                <a:latin typeface="Helvetica" pitchFamily="2" charset="0"/>
              </a:defRPr>
            </a:lvl1pPr>
          </a:lstStyle>
          <a:p>
            <a:pPr lvl="0"/>
            <a:r>
              <a:rPr lang="en-US" dirty="0"/>
              <a:t>Column Two Subhead</a:t>
            </a:r>
          </a:p>
        </p:txBody>
      </p:sp>
      <p:sp>
        <p:nvSpPr>
          <p:cNvPr id="2" name="Title 1">
            <a:extLst>
              <a:ext uri="{FF2B5EF4-FFF2-40B4-BE49-F238E27FC236}">
                <a16:creationId xmlns:a16="http://schemas.microsoft.com/office/drawing/2014/main" id="{B3E3FFDB-27DF-174A-9ED2-F20F22E29A5C}"/>
              </a:ext>
            </a:extLst>
          </p:cNvPr>
          <p:cNvSpPr>
            <a:spLocks noGrp="1"/>
          </p:cNvSpPr>
          <p:nvPr>
            <p:ph type="title" hasCustomPrompt="1"/>
          </p:nvPr>
        </p:nvSpPr>
        <p:spPr/>
        <p:txBody>
          <a:bodyPr/>
          <a:lstStyle/>
          <a:p>
            <a:r>
              <a:rPr lang="en-US" dirty="0"/>
              <a:t>Header w/two columns</a:t>
            </a:r>
          </a:p>
        </p:txBody>
      </p:sp>
    </p:spTree>
    <p:extLst>
      <p:ext uri="{BB962C8B-B14F-4D97-AF65-F5344CB8AC3E}">
        <p14:creationId xmlns:p14="http://schemas.microsoft.com/office/powerpoint/2010/main" val="2916060793"/>
      </p:ext>
    </p:extLst>
  </p:cSld>
  <p:clrMapOvr>
    <a:masterClrMapping/>
  </p:clrMapOvr>
  <p:hf hdr="0" ftr="0" dt="0"/>
  <p:extLst>
    <p:ext uri="{DCECCB84-F9BA-43D5-87BE-67443E8EF086}">
      <p15:sldGuideLst xmlns:p15="http://schemas.microsoft.com/office/powerpoint/2012/main">
        <p15:guide id="1" pos="2880">
          <p15:clr>
            <a:srgbClr val="FBAE40"/>
          </p15:clr>
        </p15:guide>
        <p15:guide id="2" pos="30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er w/table">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3" name="Title 2">
            <a:extLst>
              <a:ext uri="{FF2B5EF4-FFF2-40B4-BE49-F238E27FC236}">
                <a16:creationId xmlns:a16="http://schemas.microsoft.com/office/drawing/2014/main" id="{3BE623E0-A664-AE40-BA0B-DD28927DB98C}"/>
              </a:ext>
            </a:extLst>
          </p:cNvPr>
          <p:cNvSpPr>
            <a:spLocks noGrp="1"/>
          </p:cNvSpPr>
          <p:nvPr>
            <p:ph type="title" hasCustomPrompt="1"/>
          </p:nvPr>
        </p:nvSpPr>
        <p:spPr/>
        <p:txBody>
          <a:bodyPr/>
          <a:lstStyle/>
          <a:p>
            <a:r>
              <a:rPr lang="en-US" dirty="0"/>
              <a:t>Header w/table</a:t>
            </a:r>
          </a:p>
        </p:txBody>
      </p:sp>
      <p:sp>
        <p:nvSpPr>
          <p:cNvPr id="4" name="Table Placeholder 3">
            <a:extLst>
              <a:ext uri="{FF2B5EF4-FFF2-40B4-BE49-F238E27FC236}">
                <a16:creationId xmlns:a16="http://schemas.microsoft.com/office/drawing/2014/main" id="{DC239404-90E7-C24E-AFE4-2269257F0B4F}"/>
              </a:ext>
            </a:extLst>
          </p:cNvPr>
          <p:cNvSpPr>
            <a:spLocks noGrp="1"/>
          </p:cNvSpPr>
          <p:nvPr>
            <p:ph type="tbl" sz="quarter" idx="20"/>
          </p:nvPr>
        </p:nvSpPr>
        <p:spPr>
          <a:xfrm>
            <a:off x="1463040" y="1584960"/>
            <a:ext cx="8534400" cy="258597"/>
          </a:xfrm>
          <a:prstGeom prst="rect">
            <a:avLst/>
          </a:prstGeom>
          <a:solidFill>
            <a:srgbClr val="DBE7F5"/>
          </a:solidFill>
        </p:spPr>
        <p:txBody>
          <a:bodyPr anchor="t" anchorCtr="1"/>
          <a:lstStyle>
            <a:lvl1pPr marL="0" indent="0" algn="ctr">
              <a:buNone/>
              <a:defRPr>
                <a:solidFill>
                  <a:srgbClr val="898989"/>
                </a:solidFill>
              </a:defRPr>
            </a:lvl1pPr>
          </a:lstStyle>
          <a:p>
            <a:r>
              <a:rPr lang="en-US"/>
              <a:t>Click icon to add table</a:t>
            </a:r>
            <a:endParaRPr lang="en-US" dirty="0"/>
          </a:p>
        </p:txBody>
      </p:sp>
      <p:sp>
        <p:nvSpPr>
          <p:cNvPr id="7" name="Text Placeholder 3">
            <a:extLst>
              <a:ext uri="{FF2B5EF4-FFF2-40B4-BE49-F238E27FC236}">
                <a16:creationId xmlns:a16="http://schemas.microsoft.com/office/drawing/2014/main" id="{333AD3F6-9F07-D947-93D3-62C883A521CD}"/>
              </a:ext>
            </a:extLst>
          </p:cNvPr>
          <p:cNvSpPr>
            <a:spLocks noGrp="1"/>
          </p:cNvSpPr>
          <p:nvPr>
            <p:ph type="body" sz="quarter" idx="12" hasCustomPrompt="1"/>
          </p:nvPr>
        </p:nvSpPr>
        <p:spPr>
          <a:xfrm>
            <a:off x="10319746" y="1584961"/>
            <a:ext cx="1262655" cy="1805623"/>
          </a:xfrm>
          <a:prstGeom prst="rect">
            <a:avLst/>
          </a:prstGeom>
        </p:spPr>
        <p:txBody>
          <a:bodyPr wrap="square" lIns="0">
            <a:spAutoFit/>
          </a:bodyPr>
          <a:lstStyle>
            <a:lvl1pPr marL="0" indent="0" algn="l">
              <a:lnSpc>
                <a:spcPct val="100000"/>
              </a:lnSpc>
              <a:buNone/>
              <a:defRPr sz="1067" b="0">
                <a:solidFill>
                  <a:srgbClr val="FC28FC"/>
                </a:solidFill>
              </a:defRPr>
            </a:lvl1pPr>
            <a:lvl2pPr marL="457189" indent="0">
              <a:buNone/>
              <a:defRPr>
                <a:solidFill>
                  <a:srgbClr val="FF0000"/>
                </a:solidFill>
              </a:defRPr>
            </a:lvl2pPr>
            <a:lvl3pPr marL="914377" indent="0">
              <a:buNone/>
              <a:defRPr>
                <a:solidFill>
                  <a:srgbClr val="FF0000"/>
                </a:solidFill>
              </a:defRPr>
            </a:lvl3pPr>
            <a:lvl4pPr marL="1371566" indent="0">
              <a:buNone/>
              <a:defRPr>
                <a:solidFill>
                  <a:srgbClr val="FF0000"/>
                </a:solidFill>
              </a:defRPr>
            </a:lvl4pPr>
            <a:lvl5pPr marL="1828754" indent="0">
              <a:buNone/>
              <a:defRPr>
                <a:solidFill>
                  <a:srgbClr val="FF0000"/>
                </a:solidFill>
              </a:defRPr>
            </a:lvl5pPr>
          </a:lstStyle>
          <a:p>
            <a:pPr lvl="0"/>
            <a:r>
              <a:rPr lang="en-US" dirty="0"/>
              <a:t>Input data using the custom table. If you’re not sure you’ll need this table, we recommend HIDING the slide temporarily instead of deleting it. Once deleted, the custom table can be recovered from the master source file. </a:t>
            </a:r>
          </a:p>
        </p:txBody>
      </p:sp>
    </p:spTree>
    <p:extLst>
      <p:ext uri="{BB962C8B-B14F-4D97-AF65-F5344CB8AC3E}">
        <p14:creationId xmlns:p14="http://schemas.microsoft.com/office/powerpoint/2010/main" val="771876391"/>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er w/one image on Left">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6096000" y="2072640"/>
            <a:ext cx="5120637" cy="1551579"/>
          </a:xfrm>
          <a:prstGeom prst="rect">
            <a:avLst/>
          </a:prstGeom>
        </p:spPr>
        <p:txBody>
          <a:bodyPr lIns="36576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6095999" y="1584960"/>
            <a:ext cx="5120639" cy="287259"/>
          </a:xfrm>
          <a:prstGeom prst="rect">
            <a:avLst/>
          </a:prstGeom>
        </p:spPr>
        <p:txBody>
          <a:bodyPr lIns="365760" rIns="0">
            <a:spAutoFit/>
          </a:bodyPr>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853440" y="1584960"/>
            <a:ext cx="524256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left</a:t>
            </a:r>
          </a:p>
        </p:txBody>
      </p:sp>
    </p:spTree>
    <p:extLst>
      <p:ext uri="{BB962C8B-B14F-4D97-AF65-F5344CB8AC3E}">
        <p14:creationId xmlns:p14="http://schemas.microsoft.com/office/powerpoint/2010/main" val="2082759098"/>
      </p:ext>
    </p:extLst>
  </p:cSld>
  <p:clrMapOvr>
    <a:masterClrMapping/>
  </p:clrMapOvr>
  <p:hf hdr="0" ftr="0" dt="0"/>
  <p:extLst>
    <p:ext uri="{DCECCB84-F9BA-43D5-87BE-67443E8EF086}">
      <p15:sldGuideLst xmlns:p15="http://schemas.microsoft.com/office/powerpoint/2012/main">
        <p15:guide id="1" pos="2880">
          <p15:clr>
            <a:srgbClr val="FBAE40"/>
          </p15:clr>
        </p15:guide>
        <p15:guide id="2" pos="31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er w/one image on Right">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853439" y="2072640"/>
            <a:ext cx="5120640" cy="1551579"/>
          </a:xfrm>
          <a:prstGeom prst="rect">
            <a:avLst/>
          </a:prstGeom>
        </p:spPr>
        <p:txBody>
          <a:bodyPr lIns="0" rIns="36576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 Ut </a:t>
            </a:r>
            <a:r>
              <a:rPr lang="en-US" sz="1867" b="0" i="0" kern="1200" dirty="0" err="1">
                <a:solidFill>
                  <a:srgbClr val="58595B"/>
                </a:solidFill>
                <a:effectLst/>
                <a:latin typeface="Helvetica" pitchFamily="2" charset="0"/>
                <a:ea typeface="+mn-ea"/>
                <a:cs typeface="+mn-cs"/>
              </a:rPr>
              <a:t>enim</a:t>
            </a:r>
            <a:r>
              <a:rPr lang="en-US" sz="1867" b="0" i="0" kern="1200" dirty="0">
                <a:solidFill>
                  <a:srgbClr val="58595B"/>
                </a:solidFill>
                <a:effectLst/>
                <a:latin typeface="Helvetica" pitchFamily="2" charset="0"/>
                <a:ea typeface="+mn-ea"/>
                <a:cs typeface="+mn-cs"/>
              </a:rPr>
              <a:t> ad minim </a:t>
            </a:r>
            <a:r>
              <a:rPr lang="en-US" sz="1867" b="0" i="0" kern="1200" dirty="0" err="1">
                <a:solidFill>
                  <a:srgbClr val="58595B"/>
                </a:solidFill>
                <a:effectLst/>
                <a:latin typeface="Helvetica" pitchFamily="2" charset="0"/>
                <a:ea typeface="+mn-ea"/>
                <a:cs typeface="+mn-cs"/>
              </a:rPr>
              <a:t>veniam</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quis</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nostrud</a:t>
            </a:r>
            <a:r>
              <a:rPr lang="en-US" sz="1867" b="0" i="0" kern="1200" dirty="0">
                <a:solidFill>
                  <a:srgbClr val="58595B"/>
                </a:solidFill>
                <a:effectLst/>
                <a:latin typeface="Helvetica" pitchFamily="2" charset="0"/>
                <a:ea typeface="+mn-ea"/>
                <a:cs typeface="+mn-cs"/>
              </a:rPr>
              <a:t> exercitation </a:t>
            </a:r>
            <a:r>
              <a:rPr lang="en-US" sz="1867" b="0" i="0" kern="1200" dirty="0" err="1">
                <a:solidFill>
                  <a:srgbClr val="58595B"/>
                </a:solidFill>
                <a:effectLst/>
                <a:latin typeface="Helvetica" pitchFamily="2" charset="0"/>
                <a:ea typeface="+mn-ea"/>
                <a:cs typeface="+mn-cs"/>
              </a:rPr>
              <a:t>ullamco</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laboris</a:t>
            </a:r>
            <a:r>
              <a:rPr lang="en-US" sz="1867" b="0" i="0" kern="1200" dirty="0">
                <a:solidFill>
                  <a:srgbClr val="58595B"/>
                </a:solidFill>
                <a:effectLst/>
                <a:latin typeface="Helvetica" pitchFamily="2" charset="0"/>
                <a:ea typeface="+mn-ea"/>
                <a:cs typeface="+mn-cs"/>
              </a:rPr>
              <a:t> nisi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aliquip</a:t>
            </a:r>
            <a:r>
              <a:rPr lang="en-US" sz="1867" b="0" i="0" kern="1200" dirty="0">
                <a:solidFill>
                  <a:srgbClr val="58595B"/>
                </a:solidFill>
                <a:effectLst/>
                <a:latin typeface="Helvetica" pitchFamily="2" charset="0"/>
                <a:ea typeface="+mn-ea"/>
                <a:cs typeface="+mn-cs"/>
              </a:rPr>
              <a:t> ex </a:t>
            </a:r>
            <a:r>
              <a:rPr lang="en-US" sz="1867" b="0" i="0" kern="1200" dirty="0" err="1">
                <a:solidFill>
                  <a:srgbClr val="58595B"/>
                </a:solidFill>
                <a:effectLst/>
                <a:latin typeface="Helvetica" pitchFamily="2" charset="0"/>
                <a:ea typeface="+mn-ea"/>
                <a:cs typeface="+mn-cs"/>
              </a:rPr>
              <a:t>ead</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853441" y="1584960"/>
            <a:ext cx="5120639" cy="292608"/>
          </a:xfrm>
          <a:prstGeom prst="rect">
            <a:avLst/>
          </a:prstGeom>
        </p:spPr>
        <p:txBody>
          <a:bodyPr lIns="0" rIns="365760"/>
          <a:lstStyle>
            <a:lvl1pPr marL="0" indent="0">
              <a:lnSpc>
                <a:spcPct val="100000"/>
              </a:lnSpc>
              <a:buFontTx/>
              <a:buNone/>
              <a:defRPr b="1" i="0" cap="all" baseline="0">
                <a:latin typeface="Helvetica" pitchFamily="2" charset="0"/>
              </a:defRPr>
            </a:lvl1pPr>
          </a:lstStyle>
          <a:p>
            <a:pPr lvl="0"/>
            <a:r>
              <a:rPr lang="en-US" dirty="0"/>
              <a:t>SUBHEAD</a:t>
            </a:r>
          </a:p>
        </p:txBody>
      </p:sp>
      <p:sp>
        <p:nvSpPr>
          <p:cNvPr id="3" name="Picture Placeholder 2">
            <a:extLst>
              <a:ext uri="{FF2B5EF4-FFF2-40B4-BE49-F238E27FC236}">
                <a16:creationId xmlns:a16="http://schemas.microsoft.com/office/drawing/2014/main" id="{3567B317-BBC9-8047-B52F-0FE9612A42BF}"/>
              </a:ext>
            </a:extLst>
          </p:cNvPr>
          <p:cNvSpPr>
            <a:spLocks noGrp="1"/>
          </p:cNvSpPr>
          <p:nvPr>
            <p:ph type="pic" sz="quarter" idx="22"/>
          </p:nvPr>
        </p:nvSpPr>
        <p:spPr>
          <a:xfrm>
            <a:off x="5974079" y="1584960"/>
            <a:ext cx="524256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E9E129D3-DC40-9145-85FB-07D3D32FEFDC}"/>
              </a:ext>
            </a:extLst>
          </p:cNvPr>
          <p:cNvSpPr>
            <a:spLocks noGrp="1"/>
          </p:cNvSpPr>
          <p:nvPr>
            <p:ph type="title" hasCustomPrompt="1"/>
          </p:nvPr>
        </p:nvSpPr>
        <p:spPr/>
        <p:txBody>
          <a:bodyPr/>
          <a:lstStyle/>
          <a:p>
            <a:r>
              <a:rPr lang="en-US" dirty="0"/>
              <a:t>Header w/one image on right</a:t>
            </a:r>
          </a:p>
        </p:txBody>
      </p:sp>
    </p:spTree>
    <p:extLst>
      <p:ext uri="{BB962C8B-B14F-4D97-AF65-F5344CB8AC3E}">
        <p14:creationId xmlns:p14="http://schemas.microsoft.com/office/powerpoint/2010/main" val="860160863"/>
      </p:ext>
    </p:extLst>
  </p:cSld>
  <p:clrMapOvr>
    <a:masterClrMapping/>
  </p:clrMapOvr>
  <p:hf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er w/two image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2083852" y="1584960"/>
            <a:ext cx="2537554" cy="258597"/>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853441" y="4389120"/>
            <a:ext cx="4998719" cy="960456"/>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w/two images</a:t>
            </a:r>
          </a:p>
        </p:txBody>
      </p:sp>
      <p:sp>
        <p:nvSpPr>
          <p:cNvPr id="13" name="Picture Placeholder 2">
            <a:extLst>
              <a:ext uri="{FF2B5EF4-FFF2-40B4-BE49-F238E27FC236}">
                <a16:creationId xmlns:a16="http://schemas.microsoft.com/office/drawing/2014/main" id="{9C652879-E485-9847-B5DA-F17C66D89A13}"/>
              </a:ext>
            </a:extLst>
          </p:cNvPr>
          <p:cNvSpPr>
            <a:spLocks noGrp="1"/>
          </p:cNvSpPr>
          <p:nvPr>
            <p:ph type="pic" sz="quarter" idx="29"/>
          </p:nvPr>
        </p:nvSpPr>
        <p:spPr>
          <a:xfrm>
            <a:off x="7448503" y="1584960"/>
            <a:ext cx="2537554" cy="258597"/>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4" name="Text Placeholder 19">
            <a:extLst>
              <a:ext uri="{FF2B5EF4-FFF2-40B4-BE49-F238E27FC236}">
                <a16:creationId xmlns:a16="http://schemas.microsoft.com/office/drawing/2014/main" id="{3075D6A2-6D65-FC47-AC64-35561CC02CFD}"/>
              </a:ext>
            </a:extLst>
          </p:cNvPr>
          <p:cNvSpPr>
            <a:spLocks noGrp="1"/>
          </p:cNvSpPr>
          <p:nvPr>
            <p:ph type="body" sz="quarter" idx="30" hasCustomPrompt="1"/>
          </p:nvPr>
        </p:nvSpPr>
        <p:spPr>
          <a:xfrm>
            <a:off x="6217921" y="4389120"/>
            <a:ext cx="4998719" cy="960456"/>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Tree>
    <p:extLst>
      <p:ext uri="{BB962C8B-B14F-4D97-AF65-F5344CB8AC3E}">
        <p14:creationId xmlns:p14="http://schemas.microsoft.com/office/powerpoint/2010/main" val="2157054281"/>
      </p:ext>
    </p:extLst>
  </p:cSld>
  <p:clrMapOvr>
    <a:masterClrMapping/>
  </p:clrMapOvr>
  <p:hf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mall header w/two captioned images caption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a:xfrm>
            <a:off x="11582400" y="6339840"/>
            <a:ext cx="609600" cy="422744"/>
          </a:xfrm>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 name="Rectangle 1">
            <a:extLst>
              <a:ext uri="{FF2B5EF4-FFF2-40B4-BE49-F238E27FC236}">
                <a16:creationId xmlns:a16="http://schemas.microsoft.com/office/drawing/2014/main" id="{3735DA87-8D0D-5646-9263-BA8534F57B0F}"/>
              </a:ext>
            </a:extLst>
          </p:cNvPr>
          <p:cNvSpPr/>
          <p:nvPr/>
        </p:nvSpPr>
        <p:spPr>
          <a:xfrm>
            <a:off x="0" y="0"/>
            <a:ext cx="12192000" cy="155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20" name="Title 1">
            <a:extLst>
              <a:ext uri="{FF2B5EF4-FFF2-40B4-BE49-F238E27FC236}">
                <a16:creationId xmlns:a16="http://schemas.microsoft.com/office/drawing/2014/main" id="{CD6FC555-1AA9-E647-94A1-A53C5C1DD7CF}"/>
              </a:ext>
            </a:extLst>
          </p:cNvPr>
          <p:cNvSpPr txBox="1">
            <a:spLocks/>
          </p:cNvSpPr>
          <p:nvPr/>
        </p:nvSpPr>
        <p:spPr>
          <a:xfrm>
            <a:off x="853439" y="487680"/>
            <a:ext cx="10363200" cy="36576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2400" dirty="0"/>
              <a:t>Small Header w/two captioned images</a:t>
            </a:r>
          </a:p>
        </p:txBody>
      </p:sp>
      <p:sp>
        <p:nvSpPr>
          <p:cNvPr id="6" name="Header rule">
            <a:extLst>
              <a:ext uri="{FF2B5EF4-FFF2-40B4-BE49-F238E27FC236}">
                <a16:creationId xmlns:a16="http://schemas.microsoft.com/office/drawing/2014/main" id="{A64E2F76-6F70-6E41-8E67-76251B3CBB36}"/>
              </a:ext>
            </a:extLst>
          </p:cNvPr>
          <p:cNvSpPr/>
          <p:nvPr/>
        </p:nvSpPr>
        <p:spPr>
          <a:xfrm>
            <a:off x="853440" y="898199"/>
            <a:ext cx="10363200" cy="48768"/>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9" name="Text Placeholder 8">
            <a:extLst>
              <a:ext uri="{FF2B5EF4-FFF2-40B4-BE49-F238E27FC236}">
                <a16:creationId xmlns:a16="http://schemas.microsoft.com/office/drawing/2014/main" id="{8D21123F-3052-7448-8323-EBC781A2C598}"/>
              </a:ext>
            </a:extLst>
          </p:cNvPr>
          <p:cNvSpPr>
            <a:spLocks noGrp="1"/>
          </p:cNvSpPr>
          <p:nvPr>
            <p:ph type="body" sz="quarter" idx="24" hasCustomPrompt="1"/>
          </p:nvPr>
        </p:nvSpPr>
        <p:spPr>
          <a:xfrm>
            <a:off x="853267" y="5486401"/>
            <a:ext cx="4998719" cy="178852"/>
          </a:xfrm>
          <a:prstGeom prst="rect">
            <a:avLst/>
          </a:prstGeom>
        </p:spPr>
        <p:txBody>
          <a:bodyPr wrap="square" anchor="t" anchorCtr="0">
            <a:spAutoFit/>
          </a:bodyPr>
          <a:lstStyle>
            <a:lvl1pPr marL="0" indent="0">
              <a:lnSpc>
                <a:spcPts val="1467"/>
              </a:lnSpc>
              <a:buNone/>
              <a:defRPr sz="1067">
                <a:latin typeface="+mn-lt"/>
              </a:defRPr>
            </a:lvl1pPr>
            <a:lvl2pPr>
              <a:defRPr sz="1067">
                <a:latin typeface="+mn-lt"/>
              </a:defRPr>
            </a:lvl2pPr>
            <a:lvl3pPr>
              <a:defRPr sz="1067">
                <a:latin typeface="+mn-lt"/>
              </a:defRPr>
            </a:lvl3pPr>
            <a:lvl4pPr>
              <a:defRPr sz="1067">
                <a:latin typeface="+mn-lt"/>
              </a:defRPr>
            </a:lvl4pPr>
            <a:lvl5pPr>
              <a:defRPr sz="1067">
                <a:latin typeface="+mn-lt"/>
              </a:defRPr>
            </a:lvl5pPr>
          </a:lstStyle>
          <a:p>
            <a:pPr lvl="0"/>
            <a:r>
              <a:rPr lang="en-US" dirty="0"/>
              <a:t>Caption goes here, one line recommended, two lines max. lorem ipsum</a:t>
            </a:r>
          </a:p>
        </p:txBody>
      </p:sp>
      <p:sp>
        <p:nvSpPr>
          <p:cNvPr id="11" name="Rectangle 10">
            <a:extLst>
              <a:ext uri="{FF2B5EF4-FFF2-40B4-BE49-F238E27FC236}">
                <a16:creationId xmlns:a16="http://schemas.microsoft.com/office/drawing/2014/main" id="{15ECEDA9-F4E9-D546-AADD-9E9431B373F9}"/>
              </a:ext>
            </a:extLst>
          </p:cNvPr>
          <p:cNvSpPr/>
          <p:nvPr/>
        </p:nvSpPr>
        <p:spPr>
          <a:xfrm>
            <a:off x="0" y="0"/>
            <a:ext cx="12192000" cy="1558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12" name="Title 1">
            <a:extLst>
              <a:ext uri="{FF2B5EF4-FFF2-40B4-BE49-F238E27FC236}">
                <a16:creationId xmlns:a16="http://schemas.microsoft.com/office/drawing/2014/main" id="{30B111C0-E62E-C246-80CF-91DB63D57A70}"/>
              </a:ext>
            </a:extLst>
          </p:cNvPr>
          <p:cNvSpPr txBox="1">
            <a:spLocks/>
          </p:cNvSpPr>
          <p:nvPr/>
        </p:nvSpPr>
        <p:spPr>
          <a:xfrm>
            <a:off x="853439" y="487680"/>
            <a:ext cx="10363200" cy="365760"/>
          </a:xfrm>
          <a:prstGeom prst="rect">
            <a:avLst/>
          </a:prstGeom>
        </p:spPr>
        <p:txBody>
          <a:bodyPr vert="horz" wrap="none" lIns="0" tIns="0" rIns="0" bIns="0" rtlCol="0" anchor="t" anchorCtr="0">
            <a:noAutofit/>
          </a:bodyPr>
          <a:lstStyle>
            <a:lvl1pPr algn="l" defTabSz="685800" rtl="0" eaLnBrk="1" latinLnBrk="0" hangingPunct="1">
              <a:lnSpc>
                <a:spcPct val="90000"/>
              </a:lnSpc>
              <a:spcBef>
                <a:spcPct val="0"/>
              </a:spcBef>
              <a:buNone/>
              <a:defRPr sz="2800" b="1" i="0" kern="1200" baseline="0">
                <a:solidFill>
                  <a:srgbClr val="58595B"/>
                </a:solidFill>
                <a:latin typeface="Helvetica" pitchFamily="2" charset="0"/>
                <a:ea typeface="+mj-ea"/>
                <a:cs typeface="+mj-cs"/>
              </a:defRPr>
            </a:lvl1pPr>
          </a:lstStyle>
          <a:p>
            <a:r>
              <a:rPr lang="en-US" sz="2400" dirty="0"/>
              <a:t>Small Header w/two captioned images</a:t>
            </a:r>
          </a:p>
        </p:txBody>
      </p:sp>
      <p:sp>
        <p:nvSpPr>
          <p:cNvPr id="13" name="Header rule">
            <a:extLst>
              <a:ext uri="{FF2B5EF4-FFF2-40B4-BE49-F238E27FC236}">
                <a16:creationId xmlns:a16="http://schemas.microsoft.com/office/drawing/2014/main" id="{89329647-72E2-B74F-AFC5-F88F766072F0}"/>
              </a:ext>
            </a:extLst>
          </p:cNvPr>
          <p:cNvSpPr/>
          <p:nvPr/>
        </p:nvSpPr>
        <p:spPr>
          <a:xfrm>
            <a:off x="853440" y="898199"/>
            <a:ext cx="10363200" cy="48768"/>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10" name="Picture Placeholder 2">
            <a:extLst>
              <a:ext uri="{FF2B5EF4-FFF2-40B4-BE49-F238E27FC236}">
                <a16:creationId xmlns:a16="http://schemas.microsoft.com/office/drawing/2014/main" id="{3B0E2BCC-7E9A-8848-B8C5-2789C328FDF4}"/>
              </a:ext>
            </a:extLst>
          </p:cNvPr>
          <p:cNvSpPr>
            <a:spLocks noGrp="1"/>
          </p:cNvSpPr>
          <p:nvPr>
            <p:ph type="pic" sz="quarter" idx="23"/>
          </p:nvPr>
        </p:nvSpPr>
        <p:spPr>
          <a:xfrm>
            <a:off x="853269" y="1385303"/>
            <a:ext cx="4998719" cy="402336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8">
            <a:extLst>
              <a:ext uri="{FF2B5EF4-FFF2-40B4-BE49-F238E27FC236}">
                <a16:creationId xmlns:a16="http://schemas.microsoft.com/office/drawing/2014/main" id="{B9DA235E-5166-4A4E-85BC-FDE49E99E6E3}"/>
              </a:ext>
            </a:extLst>
          </p:cNvPr>
          <p:cNvSpPr>
            <a:spLocks noGrp="1"/>
          </p:cNvSpPr>
          <p:nvPr>
            <p:ph type="body" sz="quarter" idx="25" hasCustomPrompt="1"/>
          </p:nvPr>
        </p:nvSpPr>
        <p:spPr>
          <a:xfrm>
            <a:off x="6217919" y="5486401"/>
            <a:ext cx="4998719" cy="178852"/>
          </a:xfrm>
          <a:prstGeom prst="rect">
            <a:avLst/>
          </a:prstGeom>
        </p:spPr>
        <p:txBody>
          <a:bodyPr wrap="square" anchor="t" anchorCtr="0">
            <a:spAutoFit/>
          </a:bodyPr>
          <a:lstStyle>
            <a:lvl1pPr marL="0" indent="0">
              <a:lnSpc>
                <a:spcPts val="1467"/>
              </a:lnSpc>
              <a:buNone/>
              <a:defRPr sz="1067">
                <a:latin typeface="+mn-lt"/>
              </a:defRPr>
            </a:lvl1pPr>
            <a:lvl2pPr>
              <a:defRPr sz="1067">
                <a:latin typeface="+mn-lt"/>
              </a:defRPr>
            </a:lvl2pPr>
            <a:lvl3pPr>
              <a:defRPr sz="1067">
                <a:latin typeface="+mn-lt"/>
              </a:defRPr>
            </a:lvl3pPr>
            <a:lvl4pPr>
              <a:defRPr sz="1067">
                <a:latin typeface="+mn-lt"/>
              </a:defRPr>
            </a:lvl4pPr>
            <a:lvl5pPr>
              <a:defRPr sz="1067">
                <a:latin typeface="+mn-lt"/>
              </a:defRPr>
            </a:lvl5pPr>
          </a:lstStyle>
          <a:p>
            <a:pPr lvl="0"/>
            <a:r>
              <a:rPr lang="en-US" dirty="0"/>
              <a:t>Caption goes here, one line recommended, two lines max. lorem ipsum</a:t>
            </a:r>
          </a:p>
        </p:txBody>
      </p:sp>
      <p:sp>
        <p:nvSpPr>
          <p:cNvPr id="17" name="Picture Placeholder 2">
            <a:extLst>
              <a:ext uri="{FF2B5EF4-FFF2-40B4-BE49-F238E27FC236}">
                <a16:creationId xmlns:a16="http://schemas.microsoft.com/office/drawing/2014/main" id="{2298A9C0-48AD-FD43-A59A-12E1524D052B}"/>
              </a:ext>
            </a:extLst>
          </p:cNvPr>
          <p:cNvSpPr>
            <a:spLocks noGrp="1"/>
          </p:cNvSpPr>
          <p:nvPr>
            <p:ph type="pic" sz="quarter" idx="26"/>
          </p:nvPr>
        </p:nvSpPr>
        <p:spPr>
          <a:xfrm>
            <a:off x="6217921" y="1385303"/>
            <a:ext cx="4998719" cy="4023360"/>
          </a:xfrm>
          <a:prstGeom prst="rect">
            <a:avLst/>
          </a:prstGeom>
          <a:solidFill>
            <a:srgbClr val="DBE7F5"/>
          </a:solidFill>
        </p:spPr>
        <p:txBody>
          <a:bodyPr wrap="none" tIns="182880" anchor="t" anchorCtr="1">
            <a:noAutofit/>
          </a:bodyPr>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Tree>
    <p:extLst>
      <p:ext uri="{BB962C8B-B14F-4D97-AF65-F5344CB8AC3E}">
        <p14:creationId xmlns:p14="http://schemas.microsoft.com/office/powerpoint/2010/main" val="3535479035"/>
      </p:ext>
    </p:extLst>
  </p:cSld>
  <p:clrMapOvr>
    <a:masterClrMapping/>
  </p:clrMapOvr>
  <p:hf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eader w/three images">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1230412" y="1584960"/>
            <a:ext cx="2537553" cy="258597"/>
          </a:xfrm>
          <a:prstGeom prst="rect">
            <a:avLst/>
          </a:prstGeom>
          <a:solidFill>
            <a:srgbClr val="DBE7F5"/>
          </a:solidFill>
        </p:spPr>
        <p:txBody>
          <a:bodyPr wrap="none"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6" name="Text Placeholder 19">
            <a:extLst>
              <a:ext uri="{FF2B5EF4-FFF2-40B4-BE49-F238E27FC236}">
                <a16:creationId xmlns:a16="http://schemas.microsoft.com/office/drawing/2014/main" id="{D690DD6C-A294-D34A-8F02-8254600AA0CF}"/>
              </a:ext>
            </a:extLst>
          </p:cNvPr>
          <p:cNvSpPr>
            <a:spLocks noGrp="1"/>
          </p:cNvSpPr>
          <p:nvPr>
            <p:ph type="body" sz="quarter" idx="24" hasCustomPrompt="1"/>
          </p:nvPr>
        </p:nvSpPr>
        <p:spPr>
          <a:xfrm>
            <a:off x="7924800" y="4389121"/>
            <a:ext cx="3291840" cy="1219052"/>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17" name="Picture Placeholder 2">
            <a:extLst>
              <a:ext uri="{FF2B5EF4-FFF2-40B4-BE49-F238E27FC236}">
                <a16:creationId xmlns:a16="http://schemas.microsoft.com/office/drawing/2014/main" id="{4893D48C-9A05-6D48-AEBE-B035AC90CB7B}"/>
              </a:ext>
            </a:extLst>
          </p:cNvPr>
          <p:cNvSpPr>
            <a:spLocks noGrp="1"/>
          </p:cNvSpPr>
          <p:nvPr>
            <p:ph type="pic" sz="quarter" idx="25"/>
          </p:nvPr>
        </p:nvSpPr>
        <p:spPr>
          <a:xfrm>
            <a:off x="7924800" y="1584960"/>
            <a:ext cx="329184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8" name="Text Placeholder 19">
            <a:extLst>
              <a:ext uri="{FF2B5EF4-FFF2-40B4-BE49-F238E27FC236}">
                <a16:creationId xmlns:a16="http://schemas.microsoft.com/office/drawing/2014/main" id="{8415C831-E177-844F-9712-8A40A7EF2C79}"/>
              </a:ext>
            </a:extLst>
          </p:cNvPr>
          <p:cNvSpPr>
            <a:spLocks noGrp="1"/>
          </p:cNvSpPr>
          <p:nvPr>
            <p:ph type="body" sz="quarter" idx="26" hasCustomPrompt="1"/>
          </p:nvPr>
        </p:nvSpPr>
        <p:spPr>
          <a:xfrm>
            <a:off x="4389120" y="4389121"/>
            <a:ext cx="3291840" cy="1219052"/>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19" name="Picture Placeholder 2">
            <a:extLst>
              <a:ext uri="{FF2B5EF4-FFF2-40B4-BE49-F238E27FC236}">
                <a16:creationId xmlns:a16="http://schemas.microsoft.com/office/drawing/2014/main" id="{2A52D487-6A99-CB44-ADDA-84E2583B5DE2}"/>
              </a:ext>
            </a:extLst>
          </p:cNvPr>
          <p:cNvSpPr>
            <a:spLocks noGrp="1"/>
          </p:cNvSpPr>
          <p:nvPr>
            <p:ph type="pic" sz="quarter" idx="27"/>
          </p:nvPr>
        </p:nvSpPr>
        <p:spPr>
          <a:xfrm>
            <a:off x="4389035" y="1584960"/>
            <a:ext cx="329184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12" name="Text Placeholder 19">
            <a:extLst>
              <a:ext uri="{FF2B5EF4-FFF2-40B4-BE49-F238E27FC236}">
                <a16:creationId xmlns:a16="http://schemas.microsoft.com/office/drawing/2014/main" id="{1F4621DD-0EC3-7B40-9C5B-544E9945AB7E}"/>
              </a:ext>
            </a:extLst>
          </p:cNvPr>
          <p:cNvSpPr>
            <a:spLocks noGrp="1"/>
          </p:cNvSpPr>
          <p:nvPr>
            <p:ph type="body" sz="quarter" idx="28" hasCustomPrompt="1"/>
          </p:nvPr>
        </p:nvSpPr>
        <p:spPr>
          <a:xfrm>
            <a:off x="853440" y="4389121"/>
            <a:ext cx="3291840" cy="1219052"/>
          </a:xfrm>
          <a:prstGeom prst="rect">
            <a:avLst/>
          </a:prstGeom>
        </p:spPr>
        <p:txBody>
          <a:bodyPr lIns="0" tIns="182880" b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baseline="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a:t>
            </a:r>
          </a:p>
        </p:txBody>
      </p:sp>
      <p:sp>
        <p:nvSpPr>
          <p:cNvPr id="2" name="Title 1">
            <a:extLst>
              <a:ext uri="{FF2B5EF4-FFF2-40B4-BE49-F238E27FC236}">
                <a16:creationId xmlns:a16="http://schemas.microsoft.com/office/drawing/2014/main" id="{83A7ADB9-B0E1-624C-B3FB-2E094D93977F}"/>
              </a:ext>
            </a:extLst>
          </p:cNvPr>
          <p:cNvSpPr>
            <a:spLocks noGrp="1"/>
          </p:cNvSpPr>
          <p:nvPr>
            <p:ph type="title" hasCustomPrompt="1"/>
          </p:nvPr>
        </p:nvSpPr>
        <p:spPr/>
        <p:txBody>
          <a:bodyPr/>
          <a:lstStyle/>
          <a:p>
            <a:r>
              <a:rPr lang="en-US" dirty="0"/>
              <a:t>Header w/three images</a:t>
            </a:r>
          </a:p>
        </p:txBody>
      </p:sp>
    </p:spTree>
    <p:extLst>
      <p:ext uri="{BB962C8B-B14F-4D97-AF65-F5344CB8AC3E}">
        <p14:creationId xmlns:p14="http://schemas.microsoft.com/office/powerpoint/2010/main" val="1002952708"/>
      </p:ext>
    </p:extLst>
  </p:cSld>
  <p:clrMapOvr>
    <a:masterClrMapping/>
  </p:clrMapOvr>
  <p:hf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er/wide image">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853440" y="4876801"/>
            <a:ext cx="10363200" cy="701859"/>
          </a:xfrm>
          <a:prstGeom prst="rect">
            <a:avLst/>
          </a:prstGeom>
        </p:spPr>
        <p:txBody>
          <a:bodyPr lIns="0" tIns="18288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a:t>
            </a: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853440" y="1584960"/>
            <a:ext cx="1036320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w/wide image</a:t>
            </a:r>
          </a:p>
        </p:txBody>
      </p:sp>
    </p:spTree>
    <p:extLst>
      <p:ext uri="{BB962C8B-B14F-4D97-AF65-F5344CB8AC3E}">
        <p14:creationId xmlns:p14="http://schemas.microsoft.com/office/powerpoint/2010/main" val="12679140"/>
      </p:ext>
    </p:extLst>
  </p:cSld>
  <p:clrMapOvr>
    <a:masterClrMapping/>
  </p:clrMapOvr>
  <p:hf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Header w/video">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11" name="Picture Placeholder 2">
            <a:extLst>
              <a:ext uri="{FF2B5EF4-FFF2-40B4-BE49-F238E27FC236}">
                <a16:creationId xmlns:a16="http://schemas.microsoft.com/office/drawing/2014/main" id="{1DAC8BF1-9424-6B48-95ED-2528BCFCB126}"/>
              </a:ext>
            </a:extLst>
          </p:cNvPr>
          <p:cNvSpPr>
            <a:spLocks noGrp="1"/>
          </p:cNvSpPr>
          <p:nvPr>
            <p:ph type="pic" sz="quarter" idx="23"/>
          </p:nvPr>
        </p:nvSpPr>
        <p:spPr>
          <a:xfrm>
            <a:off x="2438400" y="1584960"/>
            <a:ext cx="731520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picture</a:t>
            </a:r>
            <a:endParaRPr lang="en-US" dirty="0"/>
          </a:p>
        </p:txBody>
      </p:sp>
      <p:sp>
        <p:nvSpPr>
          <p:cNvPr id="2" name="Title 1">
            <a:extLst>
              <a:ext uri="{FF2B5EF4-FFF2-40B4-BE49-F238E27FC236}">
                <a16:creationId xmlns:a16="http://schemas.microsoft.com/office/drawing/2014/main" id="{786BA509-2CC8-C04F-8CC6-05C0F1AD7FCC}"/>
              </a:ext>
            </a:extLst>
          </p:cNvPr>
          <p:cNvSpPr>
            <a:spLocks noGrp="1"/>
          </p:cNvSpPr>
          <p:nvPr>
            <p:ph type="title" hasCustomPrompt="1"/>
          </p:nvPr>
        </p:nvSpPr>
        <p:spPr/>
        <p:txBody>
          <a:bodyPr/>
          <a:lstStyle/>
          <a:p>
            <a:r>
              <a:rPr lang="en-US" dirty="0"/>
              <a:t>Header w/video</a:t>
            </a:r>
          </a:p>
        </p:txBody>
      </p:sp>
    </p:spTree>
    <p:extLst>
      <p:ext uri="{BB962C8B-B14F-4D97-AF65-F5344CB8AC3E}">
        <p14:creationId xmlns:p14="http://schemas.microsoft.com/office/powerpoint/2010/main" val="2690920502"/>
      </p:ext>
    </p:extLst>
  </p:cSld>
  <p:clrMapOvr>
    <a:masterClrMapping/>
  </p:clrMapOvr>
  <p:hf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er w/video and copy">
    <p:spTree>
      <p:nvGrpSpPr>
        <p:cNvPr id="1" name=""/>
        <p:cNvGrpSpPr/>
        <p:nvPr/>
      </p:nvGrpSpPr>
      <p:grpSpPr>
        <a:xfrm>
          <a:off x="0" y="0"/>
          <a:ext cx="0" cy="0"/>
          <a:chOff x="0" y="0"/>
          <a:chExt cx="0" cy="0"/>
        </a:xfrm>
      </p:grpSpPr>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9" name="Text Placeholder 19">
            <a:extLst>
              <a:ext uri="{FF2B5EF4-FFF2-40B4-BE49-F238E27FC236}">
                <a16:creationId xmlns:a16="http://schemas.microsoft.com/office/drawing/2014/main" id="{B011BE62-FF06-D74A-B248-36401D84BE10}"/>
              </a:ext>
            </a:extLst>
          </p:cNvPr>
          <p:cNvSpPr>
            <a:spLocks noGrp="1"/>
          </p:cNvSpPr>
          <p:nvPr>
            <p:ph type="body" sz="quarter" idx="20" hasCustomPrompt="1"/>
          </p:nvPr>
        </p:nvSpPr>
        <p:spPr>
          <a:xfrm>
            <a:off x="7559040" y="2072641"/>
            <a:ext cx="3657600" cy="1292983"/>
          </a:xfrm>
          <a:prstGeom prst="rect">
            <a:avLst/>
          </a:prstGeom>
        </p:spPr>
        <p:txBody>
          <a:bodyPr lIns="365760" rIns="0"/>
          <a:lstStyle>
            <a:lvl1pPr marL="0" marR="0" indent="0" algn="l" defTabSz="914377" rtl="0" eaLnBrk="1" fontAlgn="auto" latinLnBrk="0" hangingPunct="1">
              <a:lnSpc>
                <a:spcPct val="100000"/>
              </a:lnSpc>
              <a:spcBef>
                <a:spcPts val="1000"/>
              </a:spcBef>
              <a:spcAft>
                <a:spcPts val="0"/>
              </a:spcAft>
              <a:buClrTx/>
              <a:buSzTx/>
              <a:buFont typeface="Arial" panose="020B0604020202020204" pitchFamily="34" charset="0"/>
              <a:buNone/>
              <a:tabLst/>
              <a:defRPr b="0" i="0">
                <a:solidFill>
                  <a:srgbClr val="58595B"/>
                </a:solidFill>
                <a:latin typeface="Helvetica Regular" pitchFamily="2" charset="0"/>
              </a:defRPr>
            </a:lvl1pPr>
          </a:lstStyle>
          <a:p>
            <a:pPr marL="0" marR="0" lvl="0" indent="0" algn="l" defTabSz="914377"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867" b="0" i="0" kern="1200" dirty="0">
                <a:solidFill>
                  <a:srgbClr val="58595B"/>
                </a:solidFill>
                <a:effectLst/>
                <a:latin typeface="Helvetica" pitchFamily="2" charset="0"/>
                <a:ea typeface="+mn-ea"/>
                <a:cs typeface="+mn-cs"/>
              </a:rPr>
              <a:t>Lorem ipsum dolor sit </a:t>
            </a:r>
            <a:r>
              <a:rPr lang="en-US" sz="1867" b="0" i="0" kern="1200" dirty="0" err="1">
                <a:solidFill>
                  <a:srgbClr val="58595B"/>
                </a:solidFill>
                <a:effectLst/>
                <a:latin typeface="Helvetica" pitchFamily="2" charset="0"/>
                <a:ea typeface="+mn-ea"/>
                <a:cs typeface="+mn-cs"/>
              </a:rPr>
              <a:t>amet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consectetur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adipiscing</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elit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sed</a:t>
            </a:r>
            <a:r>
              <a:rPr lang="en-US" sz="1867" b="0" i="0" kern="1200" dirty="0">
                <a:solidFill>
                  <a:srgbClr val="58595B"/>
                </a:solidFill>
                <a:effectLst/>
                <a:latin typeface="Helvetica" pitchFamily="2" charset="0"/>
                <a:ea typeface="+mn-ea"/>
                <a:cs typeface="+mn-cs"/>
              </a:rPr>
              <a:t> do </a:t>
            </a:r>
            <a:r>
              <a:rPr lang="en-US" sz="1867" b="0" i="0" kern="1200" dirty="0" err="1">
                <a:solidFill>
                  <a:srgbClr val="58595B"/>
                </a:solidFill>
                <a:effectLst/>
                <a:latin typeface="Helvetica" pitchFamily="2" charset="0"/>
                <a:ea typeface="+mn-ea"/>
                <a:cs typeface="+mn-cs"/>
              </a:rPr>
              <a:t>eiusmod</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tempor</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incididunt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ut</a:t>
            </a:r>
            <a:r>
              <a:rPr lang="en-US" sz="1867" b="0" i="0" kern="1200" dirty="0">
                <a:solidFill>
                  <a:srgbClr val="58595B"/>
                </a:solidFill>
                <a:effectLst/>
                <a:latin typeface="Helvetica" pitchFamily="2" charset="0"/>
                <a:ea typeface="+mn-ea"/>
                <a:cs typeface="+mn-cs"/>
              </a:rPr>
              <a:t> </a:t>
            </a:r>
            <a:r>
              <a:rPr lang="en-US" sz="1867" b="0" i="0" kern="1200" dirty="0" err="1">
                <a:solidFill>
                  <a:srgbClr val="58595B"/>
                </a:solidFill>
                <a:effectLst/>
                <a:latin typeface="Helvetica" pitchFamily="2" charset="0"/>
                <a:ea typeface="+mn-ea"/>
                <a:cs typeface="+mn-cs"/>
              </a:rPr>
              <a:t>labore</a:t>
            </a:r>
            <a:r>
              <a:rPr lang="en-US" sz="1867" b="0" i="0" kern="1200" dirty="0">
                <a:solidFill>
                  <a:srgbClr val="58595B"/>
                </a:solidFill>
                <a:effectLst/>
                <a:latin typeface="Helvetica" pitchFamily="2" charset="0"/>
                <a:ea typeface="+mn-ea"/>
                <a:cs typeface="+mn-cs"/>
              </a:rPr>
              <a:t> et dolore magna </a:t>
            </a:r>
            <a:r>
              <a:rPr lang="en-US" sz="1867" b="0" i="0" kern="1200" dirty="0" err="1">
                <a:solidFill>
                  <a:srgbClr val="58595B"/>
                </a:solidFill>
                <a:effectLst/>
                <a:latin typeface="Helvetica" pitchFamily="2" charset="0"/>
                <a:ea typeface="+mn-ea"/>
                <a:cs typeface="+mn-cs"/>
              </a:rPr>
              <a:t>aliqua</a:t>
            </a:r>
            <a:r>
              <a:rPr lang="en-US" sz="1867" b="0" i="0" kern="1200" dirty="0">
                <a:solidFill>
                  <a:srgbClr val="58595B"/>
                </a:solidFill>
                <a:effectLst/>
                <a:latin typeface="Helvetica" pitchFamily="2" charset="0"/>
                <a:ea typeface="+mn-ea"/>
                <a:cs typeface="+mn-cs"/>
              </a:rPr>
              <a:t>.</a:t>
            </a:r>
          </a:p>
        </p:txBody>
      </p:sp>
      <p:sp>
        <p:nvSpPr>
          <p:cNvPr id="10" name="Text Placeholder 23">
            <a:extLst>
              <a:ext uri="{FF2B5EF4-FFF2-40B4-BE49-F238E27FC236}">
                <a16:creationId xmlns:a16="http://schemas.microsoft.com/office/drawing/2014/main" id="{EB34CDE8-07FA-F046-AA33-DDF5668DE685}"/>
              </a:ext>
            </a:extLst>
          </p:cNvPr>
          <p:cNvSpPr>
            <a:spLocks noGrp="1"/>
          </p:cNvSpPr>
          <p:nvPr>
            <p:ph type="body" sz="quarter" idx="21" hasCustomPrompt="1"/>
          </p:nvPr>
        </p:nvSpPr>
        <p:spPr>
          <a:xfrm>
            <a:off x="7559040" y="1584960"/>
            <a:ext cx="3657600" cy="287259"/>
          </a:xfrm>
          <a:prstGeom prst="rect">
            <a:avLst/>
          </a:prstGeom>
        </p:spPr>
        <p:txBody>
          <a:bodyPr lIns="365760" rIns="0"/>
          <a:lstStyle>
            <a:lvl1pPr marL="0" indent="0">
              <a:lnSpc>
                <a:spcPct val="100000"/>
              </a:lnSpc>
              <a:buFontTx/>
              <a:buNone/>
              <a:defRPr b="1" i="0" cap="all" baseline="0">
                <a:latin typeface="Helvetica" pitchFamily="2" charset="0"/>
              </a:defRPr>
            </a:lvl1pPr>
          </a:lstStyle>
          <a:p>
            <a:pPr lvl="0"/>
            <a:r>
              <a:rPr lang="en-US" dirty="0"/>
              <a:t>SUBHEAD</a:t>
            </a:r>
          </a:p>
        </p:txBody>
      </p:sp>
      <p:sp>
        <p:nvSpPr>
          <p:cNvPr id="4" name="Media Placeholder 3">
            <a:extLst>
              <a:ext uri="{FF2B5EF4-FFF2-40B4-BE49-F238E27FC236}">
                <a16:creationId xmlns:a16="http://schemas.microsoft.com/office/drawing/2014/main" id="{EDEC991D-2A90-BD44-8865-BCD7365AA034}"/>
              </a:ext>
            </a:extLst>
          </p:cNvPr>
          <p:cNvSpPr>
            <a:spLocks noGrp="1"/>
          </p:cNvSpPr>
          <p:nvPr>
            <p:ph type="media" sz="quarter" idx="23"/>
          </p:nvPr>
        </p:nvSpPr>
        <p:spPr>
          <a:xfrm>
            <a:off x="853440" y="1584960"/>
            <a:ext cx="6705600" cy="258597"/>
          </a:xfrm>
          <a:prstGeom prst="rect">
            <a:avLst/>
          </a:prstGeom>
          <a:solidFill>
            <a:srgbClr val="DBE7F5"/>
          </a:solidFill>
        </p:spPr>
        <p:txBody>
          <a:bodyPr anchor="t" anchorCtr="1"/>
          <a:lstStyle>
            <a:lvl1pPr marL="0" indent="0" algn="ctr">
              <a:buFontTx/>
              <a:buNone/>
              <a:defRPr b="0" i="0">
                <a:solidFill>
                  <a:srgbClr val="898989"/>
                </a:solidFill>
                <a:latin typeface="Helvetica Regular" pitchFamily="2" charset="0"/>
              </a:defRPr>
            </a:lvl1pPr>
          </a:lstStyle>
          <a:p>
            <a:r>
              <a:rPr lang="en-US"/>
              <a:t>Click icon to add media</a:t>
            </a:r>
            <a:endParaRPr lang="en-US" dirty="0"/>
          </a:p>
        </p:txBody>
      </p:sp>
      <p:sp>
        <p:nvSpPr>
          <p:cNvPr id="2" name="Title 1">
            <a:extLst>
              <a:ext uri="{FF2B5EF4-FFF2-40B4-BE49-F238E27FC236}">
                <a16:creationId xmlns:a16="http://schemas.microsoft.com/office/drawing/2014/main" id="{B215D343-E871-2D4D-89DF-1CBE83C41245}"/>
              </a:ext>
            </a:extLst>
          </p:cNvPr>
          <p:cNvSpPr>
            <a:spLocks noGrp="1"/>
          </p:cNvSpPr>
          <p:nvPr>
            <p:ph type="title" hasCustomPrompt="1"/>
          </p:nvPr>
        </p:nvSpPr>
        <p:spPr/>
        <p:txBody>
          <a:bodyPr/>
          <a:lstStyle/>
          <a:p>
            <a:r>
              <a:rPr lang="en-US" dirty="0"/>
              <a:t>Header w/video and copy</a:t>
            </a:r>
          </a:p>
        </p:txBody>
      </p:sp>
    </p:spTree>
    <p:extLst>
      <p:ext uri="{BB962C8B-B14F-4D97-AF65-F5344CB8AC3E}">
        <p14:creationId xmlns:p14="http://schemas.microsoft.com/office/powerpoint/2010/main" val="544177606"/>
      </p:ext>
    </p:extLst>
  </p:cSld>
  <p:clrMapOvr>
    <a:masterClrMapping/>
  </p:clrMapOvr>
  <p:hf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tatement w/white background">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1"/>
            <a:ext cx="12192000" cy="61325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6" name="Title 3" hidden="1">
            <a:extLst>
              <a:ext uri="{FF2B5EF4-FFF2-40B4-BE49-F238E27FC236}">
                <a16:creationId xmlns:a16="http://schemas.microsoft.com/office/drawing/2014/main" id="{47BA5E82-2DE4-214E-A6B1-6C2A16953F79}"/>
              </a:ext>
            </a:extLst>
          </p:cNvPr>
          <p:cNvSpPr txBox="1">
            <a:spLocks/>
          </p:cNvSpPr>
          <p:nvPr/>
        </p:nvSpPr>
        <p:spPr>
          <a:xfrm>
            <a:off x="1828800" y="1828896"/>
            <a:ext cx="8534400" cy="2462021"/>
          </a:xfrm>
          <a:prstGeom prst="rect">
            <a:avLst/>
          </a:prstGeom>
          <a:solidFill>
            <a:schemeClr val="bg1"/>
          </a:solidFill>
        </p:spPr>
        <p:txBody>
          <a:bodyPr vert="horz" wrap="square" lIns="0" tIns="0" rIns="0" bIns="0" rtlCol="0" anchor="ctr" anchorCtr="1">
            <a:sp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spcBef>
                <a:spcPts val="0"/>
              </a:spcBef>
            </a:pPr>
            <a:r>
              <a:rPr lang="en-US" sz="5333" b="0" i="0" dirty="0">
                <a:solidFill>
                  <a:srgbClr val="2774AE"/>
                </a:solidFill>
                <a:latin typeface="Helvetica Regular" pitchFamily="2" charset="0"/>
              </a:rPr>
              <a:t>Lorem ipsum dolor sit </a:t>
            </a:r>
            <a:r>
              <a:rPr lang="en-US" sz="5333" b="0" i="0" dirty="0" err="1">
                <a:solidFill>
                  <a:srgbClr val="2774AE"/>
                </a:solidFill>
                <a:latin typeface="Helvetica Regular" pitchFamily="2" charset="0"/>
              </a:rPr>
              <a:t>amet</a:t>
            </a:r>
            <a:r>
              <a:rPr lang="en-US" sz="5333" b="0" i="0" dirty="0">
                <a:solidFill>
                  <a:srgbClr val="2774AE"/>
                </a:solidFill>
                <a:latin typeface="Helvetica Regular" pitchFamily="2" charset="0"/>
              </a:rPr>
              <a:t> ex </a:t>
            </a:r>
            <a:r>
              <a:rPr lang="en-US" sz="5333" b="0" i="0" dirty="0" err="1">
                <a:solidFill>
                  <a:srgbClr val="2774AE"/>
                </a:solidFill>
                <a:latin typeface="Helvetica Regular" pitchFamily="2" charset="0"/>
              </a:rPr>
              <a:t>eum</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reque</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graece</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nam</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harum</a:t>
            </a:r>
            <a:r>
              <a:rPr lang="en-US" sz="5333" b="0" i="0" dirty="0">
                <a:solidFill>
                  <a:srgbClr val="2774AE"/>
                </a:solidFill>
                <a:latin typeface="Helvetica Regular" pitchFamily="2" charset="0"/>
              </a:rPr>
              <a:t> </a:t>
            </a:r>
            <a:r>
              <a:rPr lang="en-US" sz="5333" b="0" i="0" dirty="0" err="1">
                <a:solidFill>
                  <a:srgbClr val="2774AE"/>
                </a:solidFill>
                <a:latin typeface="Helvetica Regular" pitchFamily="2" charset="0"/>
              </a:rPr>
              <a:t>vonsequat</a:t>
            </a:r>
            <a:endParaRPr lang="en-US" sz="5333" b="0" i="0" dirty="0">
              <a:solidFill>
                <a:srgbClr val="2774AE"/>
              </a:solidFill>
              <a:latin typeface="Helvetica Regular" pitchFamily="2" charset="0"/>
            </a:endParaRPr>
          </a:p>
        </p:txBody>
      </p:sp>
      <p:sp>
        <p:nvSpPr>
          <p:cNvPr id="4" name="Text Placeholder 3">
            <a:extLst>
              <a:ext uri="{FF2B5EF4-FFF2-40B4-BE49-F238E27FC236}">
                <a16:creationId xmlns:a16="http://schemas.microsoft.com/office/drawing/2014/main" id="{9D1F839A-7F1F-7444-AF82-48ECCE4F3858}"/>
              </a:ext>
            </a:extLst>
          </p:cNvPr>
          <p:cNvSpPr>
            <a:spLocks noGrp="1"/>
          </p:cNvSpPr>
          <p:nvPr>
            <p:ph type="body" sz="quarter" idx="21" hasCustomPrompt="1"/>
          </p:nvPr>
        </p:nvSpPr>
        <p:spPr>
          <a:xfrm>
            <a:off x="1828800" y="1828801"/>
            <a:ext cx="8534400" cy="2220095"/>
          </a:xfrm>
        </p:spPr>
        <p:txBody>
          <a:bodyPr anchor="ctr" anchorCtr="0"/>
          <a:lstStyle>
            <a:lvl1pPr marL="0" indent="0" algn="ctr">
              <a:buNone/>
              <a:defRPr sz="5333">
                <a:solidFill>
                  <a:srgbClr val="2774AE"/>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720082039"/>
      </p:ext>
    </p:extLst>
  </p:cSld>
  <p:clrMapOvr>
    <a:masterClrMapping/>
  </p:clrMapOvr>
  <p:hf hdr="0" ftr="0" dt="0"/>
  <p:extLst>
    <p:ext uri="{DCECCB84-F9BA-43D5-87BE-67443E8EF086}">
      <p15:sldGuideLst xmlns:p15="http://schemas.microsoft.com/office/powerpoint/2012/main">
        <p15:guide id="1"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12192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extLst>
              <p:ext uri="{D42A27DB-BD31-4B8C-83A1-F6EECF244321}">
                <p14:modId xmlns:p14="http://schemas.microsoft.com/office/powerpoint/2010/main" val="1736718671"/>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3" name="TextBox 2">
            <a:extLst>
              <a:ext uri="{FF2B5EF4-FFF2-40B4-BE49-F238E27FC236}">
                <a16:creationId xmlns:a16="http://schemas.microsoft.com/office/drawing/2014/main" id="{5F64B9DE-6557-C54A-BF36-8E798604EA3F}"/>
              </a:ext>
            </a:extLst>
          </p:cNvPr>
          <p:cNvSpPr txBox="1"/>
          <p:nvPr/>
        </p:nvSpPr>
        <p:spPr>
          <a:xfrm>
            <a:off x="853440" y="2499360"/>
            <a:ext cx="10363200" cy="738664"/>
          </a:xfrm>
          <a:prstGeom prst="rect">
            <a:avLst/>
          </a:prstGeom>
          <a:noFill/>
        </p:spPr>
        <p:txBody>
          <a:bodyPr wrap="square" lIns="0" tIns="0" rIns="0" bIns="0" rtlCol="0" anchor="b" anchorCtr="0">
            <a:spAutoFit/>
          </a:bodyPr>
          <a:lstStyle/>
          <a:p>
            <a:pPr algn="ctr"/>
            <a:r>
              <a:rPr lang="en-US" sz="4800" b="1" i="0" baseline="0" dirty="0">
                <a:solidFill>
                  <a:srgbClr val="58595B"/>
                </a:solidFill>
                <a:latin typeface="Helvetica" pitchFamily="2" charset="0"/>
              </a:rPr>
              <a:t>Q&amp;A</a:t>
            </a:r>
          </a:p>
        </p:txBody>
      </p:sp>
      <p:sp>
        <p:nvSpPr>
          <p:cNvPr id="7" name="Header rule">
            <a:extLst>
              <a:ext uri="{FF2B5EF4-FFF2-40B4-BE49-F238E27FC236}">
                <a16:creationId xmlns:a16="http://schemas.microsoft.com/office/drawing/2014/main" id="{09B1960F-507A-E84C-8B64-1891B754A975}"/>
              </a:ext>
            </a:extLst>
          </p:cNvPr>
          <p:cNvSpPr/>
          <p:nvPr/>
        </p:nvSpPr>
        <p:spPr>
          <a:xfrm>
            <a:off x="853440" y="3291840"/>
            <a:ext cx="10363200" cy="48768"/>
          </a:xfrm>
          <a:prstGeom prst="rect">
            <a:avLst/>
          </a:prstGeom>
          <a:solidFill>
            <a:srgbClr val="2C75AC"/>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extLst>
              <p:ext uri="{D42A27DB-BD31-4B8C-83A1-F6EECF244321}">
                <p14:modId xmlns:p14="http://schemas.microsoft.com/office/powerpoint/2010/main" val="42495035"/>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extLst>
              <p:ext uri="{D42A27DB-BD31-4B8C-83A1-F6EECF244321}">
                <p14:modId xmlns:p14="http://schemas.microsoft.com/office/powerpoint/2010/main" val="2393666196"/>
              </p:ext>
            </p:extLst>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Tree>
    <p:extLst>
      <p:ext uri="{BB962C8B-B14F-4D97-AF65-F5344CB8AC3E}">
        <p14:creationId xmlns:p14="http://schemas.microsoft.com/office/powerpoint/2010/main" val="1155635478"/>
      </p:ext>
    </p:extLst>
  </p:cSld>
  <p:clrMapOvr>
    <a:masterClrMapping/>
  </p:clrMapOvr>
  <p:hf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hank You">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4C1E4286-FD2F-814C-A4E5-B50094C0B6DB}"/>
              </a:ext>
            </a:extLst>
          </p:cNvPr>
          <p:cNvSpPr/>
          <p:nvPr/>
        </p:nvSpPr>
        <p:spPr>
          <a:xfrm>
            <a:off x="0" y="0"/>
            <a:ext cx="12192000" cy="60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ctr"/>
            <a:endParaRPr lang="en-US" sz="5333" b="0" i="0" dirty="0">
              <a:latin typeface="Helvetica Regular" pitchFamily="2" charset="0"/>
            </a:endParaRPr>
          </a:p>
        </p:txBody>
      </p:sp>
      <p:graphicFrame>
        <p:nvGraphicFramePr>
          <p:cNvPr id="11" name="Table 10" hidden="1">
            <a:extLst>
              <a:ext uri="{FF2B5EF4-FFF2-40B4-BE49-F238E27FC236}">
                <a16:creationId xmlns:a16="http://schemas.microsoft.com/office/drawing/2014/main" id="{A59B268B-FC1E-1745-BAE9-3F02C5965F2C}"/>
              </a:ext>
            </a:extLst>
          </p:cNvPr>
          <p:cNvGraphicFramePr>
            <a:graphicFrameLocks noGrp="1"/>
          </p:cNvGraphicFramePr>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graphicFrame>
        <p:nvGraphicFramePr>
          <p:cNvPr id="8" name="Table 7" hidden="1">
            <a:extLst>
              <a:ext uri="{FF2B5EF4-FFF2-40B4-BE49-F238E27FC236}">
                <a16:creationId xmlns:a16="http://schemas.microsoft.com/office/drawing/2014/main" id="{3E58A6EC-219D-294A-BBEF-94C49557B0E2}"/>
              </a:ext>
            </a:extLst>
          </p:cNvPr>
          <p:cNvGraphicFramePr>
            <a:graphicFrameLocks noGrp="1"/>
          </p:cNvGraphicFramePr>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graphicFrame>
        <p:nvGraphicFramePr>
          <p:cNvPr id="10" name="Table 9" hidden="1">
            <a:extLst>
              <a:ext uri="{FF2B5EF4-FFF2-40B4-BE49-F238E27FC236}">
                <a16:creationId xmlns:a16="http://schemas.microsoft.com/office/drawing/2014/main" id="{C425352E-7739-E248-9E50-3F3E8D851A47}"/>
              </a:ext>
            </a:extLst>
          </p:cNvPr>
          <p:cNvGraphicFramePr>
            <a:graphicFrameLocks noGrp="1"/>
          </p:cNvGraphicFramePr>
          <p:nvPr/>
        </p:nvGraphicFramePr>
        <p:xfrm>
          <a:off x="853440" y="2377440"/>
          <a:ext cx="10363200" cy="902208"/>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902208">
                <a:tc>
                  <a:txBody>
                    <a:bodyPr/>
                    <a:lstStyle/>
                    <a:p>
                      <a:pPr>
                        <a:lnSpc>
                          <a:spcPct val="100000"/>
                        </a:lnSpc>
                      </a:pPr>
                      <a:r>
                        <a:rPr lang="en-US" sz="4800" b="1" dirty="0">
                          <a:ln>
                            <a:noFill/>
                          </a:ln>
                          <a:solidFill>
                            <a:srgbClr val="58595B"/>
                          </a:solidFill>
                          <a:latin typeface="Helvetica" pitchFamily="2" charset="0"/>
                          <a:cs typeface="Arial" panose="020B0604020202020204" pitchFamily="34" charset="0"/>
                        </a:rPr>
                        <a:t>Thank You</a:t>
                      </a:r>
                      <a:endParaRPr lang="en-US" sz="4800" dirty="0">
                        <a:ln>
                          <a:noFill/>
                        </a:ln>
                      </a:endParaRPr>
                    </a:p>
                  </a:txBody>
                  <a:tcPr marL="60960" marR="121920" marT="121920" marB="48768">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2" name="Picture 1"/>
          <p:cNvPicPr>
            <a:picLocks noChangeAspect="1"/>
          </p:cNvPicPr>
          <p:nvPr/>
        </p:nvPicPr>
        <p:blipFill>
          <a:blip r:embed="rId2"/>
          <a:stretch>
            <a:fillRect/>
          </a:stretch>
        </p:blipFill>
        <p:spPr>
          <a:xfrm>
            <a:off x="3042195" y="3042690"/>
            <a:ext cx="6107611" cy="772621"/>
          </a:xfrm>
          <a:prstGeom prst="rect">
            <a:avLst/>
          </a:prstGeom>
        </p:spPr>
      </p:pic>
    </p:spTree>
    <p:extLst>
      <p:ext uri="{BB962C8B-B14F-4D97-AF65-F5344CB8AC3E}">
        <p14:creationId xmlns:p14="http://schemas.microsoft.com/office/powerpoint/2010/main" val="3486891473"/>
      </p:ext>
    </p:extLst>
  </p:cSld>
  <p:clrMapOvr>
    <a:masterClrMapping/>
  </p:clrMapOvr>
  <p:hf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304800" y="152400"/>
            <a:ext cx="11277600" cy="838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1F394D"/>
              </a:buClr>
              <a:buSzPts val="3200"/>
              <a:buFont typeface="Tahoma"/>
              <a:buNone/>
              <a:defRPr>
                <a:solidFill>
                  <a:srgbClr val="1F394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23" name="Google Shape;23;p20"/>
          <p:cNvSpPr txBox="1">
            <a:spLocks noGrp="1"/>
          </p:cNvSpPr>
          <p:nvPr>
            <p:ph type="ftr" idx="11"/>
          </p:nvPr>
        </p:nvSpPr>
        <p:spPr>
          <a:xfrm>
            <a:off x="304800" y="6579370"/>
            <a:ext cx="7823200" cy="2286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200" b="0" i="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24" name="Google Shape;24;p20"/>
          <p:cNvSpPr txBox="1">
            <a:spLocks noGrp="1"/>
          </p:cNvSpPr>
          <p:nvPr>
            <p:ph type="sldNum" idx="12"/>
          </p:nvPr>
        </p:nvSpPr>
        <p:spPr>
          <a:xfrm>
            <a:off x="11277600" y="6604233"/>
            <a:ext cx="1016000" cy="228600"/>
          </a:xfrm>
          <a:prstGeom prst="rect">
            <a:avLst/>
          </a:prstGeom>
          <a:noFill/>
          <a:ln>
            <a:noFill/>
          </a:ln>
        </p:spPr>
        <p:txBody>
          <a:bodyPr spcFirstLastPara="1" wrap="square" lIns="91425" tIns="45700" rIns="91425" bIns="45700" anchor="t" anchorCtr="0">
            <a:noAutofit/>
          </a:bodyPr>
          <a:lstStyle>
            <a:lvl1pPr marL="0" marR="0" lvl="0"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1pPr>
            <a:lvl2pPr marL="0" marR="0" lvl="1"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2pPr>
            <a:lvl3pPr marL="0" marR="0" lvl="2"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3pPr>
            <a:lvl4pPr marL="0" marR="0" lvl="3"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4pPr>
            <a:lvl5pPr marL="0" marR="0" lvl="4"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5pPr>
            <a:lvl6pPr marL="0" marR="0" lvl="5"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6pPr>
            <a:lvl7pPr marL="0" marR="0" lvl="6"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7pPr>
            <a:lvl8pPr marL="0" marR="0" lvl="7"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8pPr>
            <a:lvl9pPr marL="0" marR="0" lvl="8" indent="0" algn="ctr">
              <a:lnSpc>
                <a:spcPct val="100000"/>
              </a:lnSpc>
              <a:spcBef>
                <a:spcPts val="0"/>
              </a:spcBef>
              <a:spcAft>
                <a:spcPts val="0"/>
              </a:spcAft>
              <a:buClr>
                <a:srgbClr val="000000"/>
              </a:buClr>
              <a:buSzPts val="1050"/>
              <a:buFont typeface="Arial"/>
              <a:buNone/>
              <a:defRPr sz="1050" b="1" i="0" u="none" strike="noStrike" cap="none">
                <a:solidFill>
                  <a:srgbClr val="000000"/>
                </a:solidFill>
                <a:latin typeface="Tahoma"/>
                <a:ea typeface="Tahoma"/>
                <a:cs typeface="Tahoma"/>
                <a:sym typeface="Tahoma"/>
              </a:defRPr>
            </a:lvl9pPr>
          </a:lstStyle>
          <a:p>
            <a:pPr marL="0" lvl="0" indent="0" algn="ctr" rtl="0">
              <a:spcBef>
                <a:spcPts val="0"/>
              </a:spcBef>
              <a:spcAft>
                <a:spcPts val="0"/>
              </a:spcAft>
              <a:buNone/>
            </a:pPr>
            <a:fld id="{00000000-1234-1234-1234-123412341234}" type="slidenum">
              <a:rPr lang="en-US" smtClean="0"/>
              <a:t>‹#›</a:t>
            </a:fld>
            <a:endParaRPr lang="en-US"/>
          </a:p>
        </p:txBody>
      </p:sp>
      <p:sp>
        <p:nvSpPr>
          <p:cNvPr id="25" name="Google Shape;25;p20"/>
          <p:cNvSpPr txBox="1">
            <a:spLocks noGrp="1"/>
          </p:cNvSpPr>
          <p:nvPr>
            <p:ph type="body" idx="1"/>
          </p:nvPr>
        </p:nvSpPr>
        <p:spPr>
          <a:xfrm>
            <a:off x="304800" y="1143000"/>
            <a:ext cx="11582400" cy="51816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600"/>
              </a:spcBef>
              <a:spcAft>
                <a:spcPts val="0"/>
              </a:spcAft>
              <a:buSzPts val="2400"/>
              <a:buChar char="|"/>
              <a:defRPr sz="2400">
                <a:latin typeface="Tahoma"/>
                <a:ea typeface="Tahoma"/>
                <a:cs typeface="Tahoma"/>
                <a:sym typeface="Tahoma"/>
              </a:defRPr>
            </a:lvl1pPr>
            <a:lvl2pPr marL="914400" lvl="1" indent="-325119" algn="l">
              <a:lnSpc>
                <a:spcPct val="100000"/>
              </a:lnSpc>
              <a:spcBef>
                <a:spcPts val="500"/>
              </a:spcBef>
              <a:spcAft>
                <a:spcPts val="0"/>
              </a:spcAft>
              <a:buSzPts val="1520"/>
              <a:buChar char="•"/>
              <a:defRPr sz="2000">
                <a:solidFill>
                  <a:srgbClr val="232F4E"/>
                </a:solidFill>
                <a:latin typeface="Tahoma"/>
                <a:ea typeface="Tahoma"/>
                <a:cs typeface="Tahoma"/>
                <a:sym typeface="Tahoma"/>
              </a:defRPr>
            </a:lvl2pPr>
            <a:lvl3pPr marL="1371600" lvl="2" indent="-315467" algn="l">
              <a:lnSpc>
                <a:spcPct val="100000"/>
              </a:lnSpc>
              <a:spcBef>
                <a:spcPts val="500"/>
              </a:spcBef>
              <a:spcAft>
                <a:spcPts val="0"/>
              </a:spcAft>
              <a:buSzPts val="1368"/>
              <a:buChar char="?"/>
              <a:defRPr sz="1800">
                <a:latin typeface="Tahoma"/>
                <a:ea typeface="Tahoma"/>
                <a:cs typeface="Tahoma"/>
                <a:sym typeface="Tahoma"/>
              </a:defRPr>
            </a:lvl3pPr>
            <a:lvl4pPr marL="1828800" lvl="3" indent="-299719" algn="l">
              <a:lnSpc>
                <a:spcPct val="100000"/>
              </a:lnSpc>
              <a:spcBef>
                <a:spcPts val="400"/>
              </a:spcBef>
              <a:spcAft>
                <a:spcPts val="0"/>
              </a:spcAft>
              <a:buSzPts val="1120"/>
              <a:buChar char="◻"/>
              <a:defRPr sz="1600">
                <a:latin typeface="Tahoma"/>
                <a:ea typeface="Tahoma"/>
                <a:cs typeface="Tahoma"/>
                <a:sym typeface="Tahoma"/>
              </a:defRPr>
            </a:lvl4pPr>
            <a:lvl5pPr marL="2286000" lvl="4" indent="-290829" algn="l">
              <a:lnSpc>
                <a:spcPct val="100000"/>
              </a:lnSpc>
              <a:spcBef>
                <a:spcPts val="300"/>
              </a:spcBef>
              <a:spcAft>
                <a:spcPts val="0"/>
              </a:spcAft>
              <a:buSzPts val="980"/>
              <a:buChar char="◻"/>
              <a:defRPr sz="1400">
                <a:latin typeface="Tahoma"/>
                <a:ea typeface="Tahoma"/>
                <a:cs typeface="Tahoma"/>
                <a:sym typeface="Tahoma"/>
              </a:defRPr>
            </a:lvl5pPr>
            <a:lvl6pPr marL="2743200" lvl="5" indent="-314325" algn="l">
              <a:lnSpc>
                <a:spcPct val="100000"/>
              </a:lnSpc>
              <a:spcBef>
                <a:spcPts val="300"/>
              </a:spcBef>
              <a:spcAft>
                <a:spcPts val="0"/>
              </a:spcAft>
              <a:buSzPts val="1350"/>
              <a:buChar char="?"/>
              <a:defRPr/>
            </a:lvl6pPr>
            <a:lvl7pPr marL="3200400" lvl="6" indent="-314325" algn="l">
              <a:lnSpc>
                <a:spcPct val="100000"/>
              </a:lnSpc>
              <a:spcBef>
                <a:spcPts val="300"/>
              </a:spcBef>
              <a:spcAft>
                <a:spcPts val="0"/>
              </a:spcAft>
              <a:buSzPts val="1350"/>
              <a:buChar char="?"/>
              <a:defRPr/>
            </a:lvl7pPr>
            <a:lvl8pPr marL="3657600" lvl="7" indent="-314325" algn="l">
              <a:lnSpc>
                <a:spcPct val="100000"/>
              </a:lnSpc>
              <a:spcBef>
                <a:spcPts val="300"/>
              </a:spcBef>
              <a:spcAft>
                <a:spcPts val="0"/>
              </a:spcAft>
              <a:buSzPts val="1350"/>
              <a:buChar char="?"/>
              <a:defRPr/>
            </a:lvl8pPr>
            <a:lvl9pPr marL="4114800" lvl="8" indent="-314325" algn="l">
              <a:lnSpc>
                <a:spcPct val="100000"/>
              </a:lnSpc>
              <a:spcBef>
                <a:spcPts val="300"/>
              </a:spcBef>
              <a:spcAft>
                <a:spcPts val="0"/>
              </a:spcAft>
              <a:buSzPts val="1350"/>
              <a:buChar char="?"/>
              <a:defRPr/>
            </a:lvl9pPr>
          </a:lstStyle>
          <a:p>
            <a:pPr lvl="0"/>
            <a:r>
              <a:rPr lang="en-US"/>
              <a:t>Click to edit Master text styles</a:t>
            </a:r>
          </a:p>
        </p:txBody>
      </p:sp>
    </p:spTree>
    <p:extLst>
      <p:ext uri="{BB962C8B-B14F-4D97-AF65-F5344CB8AC3E}">
        <p14:creationId xmlns:p14="http://schemas.microsoft.com/office/powerpoint/2010/main" val="3207801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2032000" y="3429000"/>
            <a:ext cx="10160000" cy="12192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dk1"/>
              </a:buClr>
              <a:buSzPts val="3200"/>
              <a:buFont typeface="Tahoma"/>
              <a:buNone/>
              <a:defRPr sz="3200">
                <a:solidFill>
                  <a:schemeClr val="dk1"/>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4064000" y="4648200"/>
            <a:ext cx="8128000" cy="914400"/>
          </a:xfrm>
          <a:prstGeom prst="rect">
            <a:avLst/>
          </a:prstGeom>
          <a:noFill/>
          <a:ln>
            <a:noFill/>
          </a:ln>
        </p:spPr>
        <p:txBody>
          <a:bodyPr spcFirstLastPara="1" wrap="square" lIns="91425" tIns="45700" rIns="91425" bIns="45700" anchor="t" anchorCtr="0">
            <a:normAutofit/>
          </a:bodyPr>
          <a:lstStyle>
            <a:lvl1pPr lvl="0" algn="r">
              <a:lnSpc>
                <a:spcPct val="100000"/>
              </a:lnSpc>
              <a:spcBef>
                <a:spcPts val="600"/>
              </a:spcBef>
              <a:spcAft>
                <a:spcPts val="0"/>
              </a:spcAft>
              <a:buSzPts val="2000"/>
              <a:buNone/>
              <a:defRPr sz="2000">
                <a:solidFill>
                  <a:schemeClr val="dk2"/>
                </a:solidFill>
                <a:latin typeface="Tahoma"/>
                <a:ea typeface="Tahoma"/>
                <a:cs typeface="Tahoma"/>
                <a:sym typeface="Tahoma"/>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a:endParaRPr/>
          </a:p>
        </p:txBody>
      </p:sp>
      <p:sp>
        <p:nvSpPr>
          <p:cNvPr id="18" name="Google Shape;18;p17"/>
          <p:cNvSpPr txBox="1">
            <a:spLocks noGrp="1"/>
          </p:cNvSpPr>
          <p:nvPr>
            <p:ph type="dt" idx="10"/>
          </p:nvPr>
        </p:nvSpPr>
        <p:spPr>
          <a:xfrm>
            <a:off x="8534400" y="6355080"/>
            <a:ext cx="3048000" cy="36576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864864" y="6355080"/>
            <a:ext cx="4632960" cy="365760"/>
          </a:xfrm>
          <a:prstGeom prst="rect">
            <a:avLst/>
          </a:prstGeom>
          <a:noFill/>
          <a:ln>
            <a:noFill/>
          </a:ln>
        </p:spPr>
        <p:txBody>
          <a:bodyPr spcFirstLastPara="1" wrap="square" lIns="91425" tIns="45700" rIns="91425" bIns="45700" anchor="t"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1621536" y="6355080"/>
            <a:ext cx="1625600" cy="36576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1pPr>
            <a:lvl2pPr marL="0" marR="0" lvl="1"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2pPr>
            <a:lvl3pPr marL="0" marR="0" lvl="2"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3pPr>
            <a:lvl4pPr marL="0" marR="0" lvl="3"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4pPr>
            <a:lvl5pPr marL="0" marR="0" lvl="4"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5pPr>
            <a:lvl6pPr marL="0" marR="0" lvl="5"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6pPr>
            <a:lvl7pPr marL="0" marR="0" lvl="6"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7pPr>
            <a:lvl8pPr marL="0" marR="0" lvl="7"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8pPr>
            <a:lvl9pPr marL="0" marR="0" lvl="8" indent="0" algn="l">
              <a:lnSpc>
                <a:spcPct val="100000"/>
              </a:lnSpc>
              <a:spcBef>
                <a:spcPts val="0"/>
              </a:spcBef>
              <a:spcAft>
                <a:spcPts val="0"/>
              </a:spcAft>
              <a:buClr>
                <a:srgbClr val="000000"/>
              </a:buClr>
              <a:buSzPts val="1200"/>
              <a:buFont typeface="Arial"/>
              <a:buNone/>
              <a:defRPr sz="1200" b="0" i="0" u="none" strike="noStrike" cap="none">
                <a:solidFill>
                  <a:srgbClr val="000000"/>
                </a:solidFill>
                <a:latin typeface="Tahoma"/>
                <a:ea typeface="Tahoma"/>
                <a:cs typeface="Tahoma"/>
                <a:sym typeface="Tahoma"/>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15122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828800" y="1876991"/>
            <a:ext cx="8534400" cy="2220095"/>
          </a:xfrm>
          <a:prstGeom prst="rect">
            <a:avLst/>
          </a:prstGeom>
        </p:spPr>
        <p:txBody>
          <a:bodyPr lIns="0" tIns="0" rIns="0" bIns="0" anchor="ctr" anchorCtr="0">
            <a:spAutoFit/>
          </a:bodyPr>
          <a:lstStyle>
            <a:lvl1pPr marL="0" indent="0" algn="ctr">
              <a:buNone/>
              <a:defRPr sz="5333">
                <a:solidFill>
                  <a:schemeClr val="bg1"/>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1323441850"/>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398261031"/>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602524551"/>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27697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813961933"/>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87910558"/>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964256447"/>
      </p:ext>
    </p:extLst>
  </p:cSld>
  <p:clrMapOvr>
    <a:masterClrMapping/>
  </p:clrMapOvr>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716309375"/>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748488137"/>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978061848"/>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2231959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100853665"/>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8334039"/>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970938148"/>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37333909"/>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92645706"/>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3018434"/>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4202281"/>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Tree>
    <p:extLst>
      <p:ext uri="{BB962C8B-B14F-4D97-AF65-F5344CB8AC3E}">
        <p14:creationId xmlns:p14="http://schemas.microsoft.com/office/powerpoint/2010/main" val="3439137675"/>
      </p:ext>
    </p:extLst>
  </p:cSld>
  <p:clrMapOvr>
    <a:masterClrMapping/>
  </p:clrMapOvr>
  <p:hf hdr="0" ftr="0" dt="0"/>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3" name="Google Shape;23;p4"/>
          <p:cNvSpPr txBox="1">
            <a:spLocks noGrp="1"/>
          </p:cNvSpPr>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545271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828800" y="1876991"/>
            <a:ext cx="8534400" cy="2220095"/>
          </a:xfrm>
          <a:prstGeom prst="rect">
            <a:avLst/>
          </a:prstGeom>
        </p:spPr>
        <p:txBody>
          <a:bodyPr lIns="0" tIns="0" rIns="0" bIns="0" anchor="ctr" anchorCtr="0">
            <a:spAutoFit/>
          </a:bodyPr>
          <a:lstStyle>
            <a:lvl1pPr marL="0" indent="0" algn="ctr">
              <a:buNone/>
              <a:defRPr sz="5333">
                <a:solidFill>
                  <a:schemeClr val="bg1"/>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2622372510"/>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031993230"/>
      </p:ext>
    </p:extLst>
  </p:cSld>
  <p:clrMapOvr>
    <a:masterClrMapping/>
  </p:clrMapOvr>
  <p:hf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895810520"/>
      </p:ext>
    </p:extLst>
  </p:cSld>
  <p:clrMapOvr>
    <a:masterClrMapping/>
  </p:clrMapOvr>
  <p:hf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97880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725732221"/>
      </p:ext>
    </p:extLst>
  </p:cSld>
  <p:clrMapOvr>
    <a:masterClrMapping/>
  </p:clrMapOvr>
  <p:hf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342647852"/>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949043557"/>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058742263"/>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706950940"/>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068912162"/>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852706679"/>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25158161"/>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79253723"/>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70403308"/>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52932273"/>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059083232"/>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405707901"/>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409314718"/>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Tree>
    <p:extLst>
      <p:ext uri="{BB962C8B-B14F-4D97-AF65-F5344CB8AC3E}">
        <p14:creationId xmlns:p14="http://schemas.microsoft.com/office/powerpoint/2010/main" val="1454178778"/>
      </p:ext>
    </p:extLst>
  </p:cSld>
  <p:clrMapOvr>
    <a:masterClrMapping/>
  </p:clrMapOvr>
  <p:hf hdr="0" ftr="0" dt="0"/>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3" name="Google Shape;23;p4"/>
          <p:cNvSpPr txBox="1">
            <a:spLocks noGrp="1"/>
          </p:cNvSpPr>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931515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Statement w/dark backgroun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7C5EC3F5-808B-184C-A89B-4B25F801B6AC}"/>
              </a:ext>
            </a:extLst>
          </p:cNvPr>
          <p:cNvSpPr>
            <a:spLocks noGrp="1"/>
          </p:cNvSpPr>
          <p:nvPr>
            <p:ph type="body" sz="quarter" idx="21" hasCustomPrompt="1"/>
          </p:nvPr>
        </p:nvSpPr>
        <p:spPr>
          <a:xfrm>
            <a:off x="1828800" y="1876991"/>
            <a:ext cx="8534400" cy="2220095"/>
          </a:xfrm>
          <a:prstGeom prst="rect">
            <a:avLst/>
          </a:prstGeom>
        </p:spPr>
        <p:txBody>
          <a:bodyPr lIns="0" tIns="0" rIns="0" bIns="0" anchor="ctr" anchorCtr="0">
            <a:spAutoFit/>
          </a:bodyPr>
          <a:lstStyle>
            <a:lvl1pPr marL="0" indent="0" algn="ctr">
              <a:buNone/>
              <a:defRPr sz="5333">
                <a:solidFill>
                  <a:schemeClr val="bg1"/>
                </a:solidFill>
              </a:defRPr>
            </a:lvl1pPr>
            <a:lvl2pPr marL="365751" indent="0" algn="ctr">
              <a:buNone/>
              <a:defRPr sz="5333">
                <a:solidFill>
                  <a:srgbClr val="2774AE"/>
                </a:solidFill>
              </a:defRPr>
            </a:lvl2pPr>
            <a:lvl3pPr marL="731502" indent="0" algn="ctr">
              <a:buNone/>
              <a:defRPr sz="5333">
                <a:solidFill>
                  <a:srgbClr val="2774AE"/>
                </a:solidFill>
              </a:defRPr>
            </a:lvl3pPr>
            <a:lvl4pPr marL="1097253" indent="0" algn="ctr">
              <a:buNone/>
              <a:defRPr sz="5333">
                <a:solidFill>
                  <a:srgbClr val="2774AE"/>
                </a:solidFill>
              </a:defRPr>
            </a:lvl4pPr>
            <a:lvl5pPr marL="1463003" indent="0" algn="ctr">
              <a:buNone/>
              <a:defRPr sz="5333">
                <a:solidFill>
                  <a:srgbClr val="2774AE"/>
                </a:solidFill>
              </a:defRPr>
            </a:lvl5pPr>
          </a:lstStyle>
          <a:p>
            <a:pPr lvl="0"/>
            <a:r>
              <a:rPr lang="en-US" dirty="0"/>
              <a:t>Lorem ipsum dolor sit </a:t>
            </a:r>
            <a:r>
              <a:rPr lang="en-US" dirty="0" err="1"/>
              <a:t>amet</a:t>
            </a:r>
            <a:r>
              <a:rPr lang="en-US" dirty="0"/>
              <a:t> ex </a:t>
            </a:r>
            <a:r>
              <a:rPr lang="en-US" dirty="0" err="1"/>
              <a:t>eum</a:t>
            </a:r>
            <a:r>
              <a:rPr lang="en-US" dirty="0"/>
              <a:t> </a:t>
            </a:r>
            <a:r>
              <a:rPr lang="en-US" dirty="0" err="1"/>
              <a:t>reque</a:t>
            </a:r>
            <a:r>
              <a:rPr lang="en-US" dirty="0"/>
              <a:t> </a:t>
            </a:r>
            <a:r>
              <a:rPr lang="en-US" dirty="0" err="1"/>
              <a:t>graece</a:t>
            </a:r>
            <a:r>
              <a:rPr lang="en-US" dirty="0"/>
              <a:t> </a:t>
            </a:r>
            <a:r>
              <a:rPr lang="en-US" dirty="0" err="1"/>
              <a:t>nam</a:t>
            </a:r>
            <a:r>
              <a:rPr lang="en-US" dirty="0"/>
              <a:t> </a:t>
            </a:r>
            <a:r>
              <a:rPr lang="en-US" dirty="0" err="1"/>
              <a:t>harum</a:t>
            </a:r>
            <a:r>
              <a:rPr lang="en-US" dirty="0"/>
              <a:t> </a:t>
            </a:r>
            <a:r>
              <a:rPr lang="en-US" dirty="0" err="1"/>
              <a:t>vonsequat</a:t>
            </a:r>
            <a:endParaRPr lang="en-US" dirty="0"/>
          </a:p>
        </p:txBody>
      </p:sp>
    </p:spTree>
    <p:extLst>
      <p:ext uri="{BB962C8B-B14F-4D97-AF65-F5344CB8AC3E}">
        <p14:creationId xmlns:p14="http://schemas.microsoft.com/office/powerpoint/2010/main" val="3108357771"/>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589694068"/>
      </p:ext>
    </p:extLst>
  </p:cSld>
  <p:clrMapOvr>
    <a:masterClrMapping/>
  </p:clrMapOvr>
  <p:hf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134703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971946280"/>
      </p:ext>
    </p:extLst>
  </p:cSld>
  <p:clrMapOvr>
    <a:masterClrMapping/>
  </p:clrMapOvr>
  <p:hf hdr="0" ftr="0" dt="0"/>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557301166"/>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208023305"/>
      </p:ext>
    </p:extLst>
  </p:cSld>
  <p:clrMapOvr>
    <a:masterClrMapping/>
  </p:clrMapOvr>
  <p:hf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662671389"/>
      </p:ext>
    </p:extLst>
  </p:cSld>
  <p:clrMapOvr>
    <a:masterClrMapping/>
  </p:clrMapOvr>
  <p:hf hdr="0" ftr="0" dt="0"/>
</p:sldLayout>
</file>

<file path=ppt/slideLayouts/slideLayout6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73838721"/>
      </p:ext>
    </p:extLst>
  </p:cSld>
  <p:clrMapOvr>
    <a:masterClrMapping/>
  </p:clrMapOvr>
  <p:hf hdr="0" ftr="0" dt="0"/>
</p:sldLayout>
</file>

<file path=ppt/slideLayouts/slideLayout6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347434848"/>
      </p:ext>
    </p:extLst>
  </p:cSld>
  <p:clrMapOvr>
    <a:masterClrMapping/>
  </p:clrMapOvr>
  <p:hf hdr="0" ftr="0" dt="0"/>
</p:sldLayout>
</file>

<file path=ppt/slideLayouts/slideLayout6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519759852"/>
      </p:ext>
    </p:extLst>
  </p:cSld>
  <p:clrMapOvr>
    <a:masterClrMapping/>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42619028"/>
      </p:ext>
    </p:extLst>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82034544"/>
      </p:ext>
    </p:extLst>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074962388"/>
      </p:ext>
    </p:extLst>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27195476"/>
      </p:ext>
    </p:extLst>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840000685"/>
      </p:ext>
    </p:extLst>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221444198"/>
      </p:ext>
    </p:extLst>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635861504"/>
      </p:ext>
    </p:extLst>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itle Opener">
    <p:spTree>
      <p:nvGrpSpPr>
        <p:cNvPr id="1" name=""/>
        <p:cNvGrpSpPr/>
        <p:nvPr/>
      </p:nvGrpSpPr>
      <p:grpSpPr>
        <a:xfrm>
          <a:off x="0" y="0"/>
          <a:ext cx="0" cy="0"/>
          <a:chOff x="0" y="0"/>
          <a:chExt cx="0" cy="0"/>
        </a:xfrm>
      </p:grpSpPr>
      <p:sp>
        <p:nvSpPr>
          <p:cNvPr id="30" name="Date Placeholder 29">
            <a:extLst>
              <a:ext uri="{FF2B5EF4-FFF2-40B4-BE49-F238E27FC236}">
                <a16:creationId xmlns:a16="http://schemas.microsoft.com/office/drawing/2014/main" id="{1F6F2740-8429-6B4A-A574-66C4F5DDF862}"/>
              </a:ext>
            </a:extLst>
          </p:cNvPr>
          <p:cNvSpPr>
            <a:spLocks noGrp="1"/>
          </p:cNvSpPr>
          <p:nvPr>
            <p:ph type="dt" sz="half" idx="18"/>
          </p:nvPr>
        </p:nvSpPr>
        <p:spPr>
          <a:xfrm>
            <a:off x="9876712" y="6339840"/>
            <a:ext cx="1255776" cy="487680"/>
          </a:xfrm>
          <a:prstGeom prst="rect">
            <a:avLst/>
          </a:prstGeom>
        </p:spPr>
        <p:txBody>
          <a:bodyPr/>
          <a:lstStyle/>
          <a:p>
            <a:endParaRPr lang="en-US"/>
          </a:p>
        </p:txBody>
      </p:sp>
      <p:sp>
        <p:nvSpPr>
          <p:cNvPr id="31" name="Slide Number Placeholder 30">
            <a:extLst>
              <a:ext uri="{FF2B5EF4-FFF2-40B4-BE49-F238E27FC236}">
                <a16:creationId xmlns:a16="http://schemas.microsoft.com/office/drawing/2014/main" id="{761AA930-3E3D-D743-BA3C-3CC35B2CB369}"/>
              </a:ext>
            </a:extLst>
          </p:cNvPr>
          <p:cNvSpPr>
            <a:spLocks noGrp="1"/>
          </p:cNvSpPr>
          <p:nvPr>
            <p:ph type="sldNum" sz="quarter" idx="19"/>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6" name="Content Placeholder 22">
            <a:extLst>
              <a:ext uri="{FF2B5EF4-FFF2-40B4-BE49-F238E27FC236}">
                <a16:creationId xmlns:a16="http://schemas.microsoft.com/office/drawing/2014/main" id="{C424A90F-84FD-434F-AF04-DB8738AB4794}"/>
              </a:ext>
            </a:extLst>
          </p:cNvPr>
          <p:cNvSpPr>
            <a:spLocks noGrp="1"/>
          </p:cNvSpPr>
          <p:nvPr>
            <p:ph sz="quarter" idx="22" hasCustomPrompt="1"/>
          </p:nvPr>
        </p:nvSpPr>
        <p:spPr>
          <a:xfrm>
            <a:off x="853440" y="6219032"/>
            <a:ext cx="2180084"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Title, Department Name</a:t>
            </a:r>
          </a:p>
        </p:txBody>
      </p:sp>
      <p:sp>
        <p:nvSpPr>
          <p:cNvPr id="28" name="Content Placeholder 22">
            <a:extLst>
              <a:ext uri="{FF2B5EF4-FFF2-40B4-BE49-F238E27FC236}">
                <a16:creationId xmlns:a16="http://schemas.microsoft.com/office/drawing/2014/main" id="{6013CCDF-D30B-8B49-870C-487BC9166588}"/>
              </a:ext>
            </a:extLst>
          </p:cNvPr>
          <p:cNvSpPr>
            <a:spLocks noGrp="1"/>
          </p:cNvSpPr>
          <p:nvPr>
            <p:ph sz="quarter" idx="23" hasCustomPrompt="1"/>
          </p:nvPr>
        </p:nvSpPr>
        <p:spPr>
          <a:xfrm>
            <a:off x="853440" y="5975192"/>
            <a:ext cx="1503232" cy="221599"/>
          </a:xfrm>
          <a:prstGeom prst="rect">
            <a:avLst/>
          </a:prstGeom>
        </p:spPr>
        <p:txBody>
          <a:bodyPr wrap="none" lIns="9144" tIns="0" bIns="0" anchor="b" anchorCtr="0">
            <a:spAutoFit/>
          </a:bodyPr>
          <a:lstStyle>
            <a:lvl1pPr marL="0" indent="0">
              <a:spcBef>
                <a:spcPts val="400"/>
              </a:spcBef>
              <a:buFontTx/>
              <a:buNone/>
              <a:defRPr sz="1600" b="0" i="0">
                <a:solidFill>
                  <a:srgbClr val="898989"/>
                </a:solidFill>
                <a:latin typeface="Helvetica Regular" pitchFamily="2" charset="0"/>
              </a:defRPr>
            </a:lvl1pPr>
            <a:lvl2pPr>
              <a:defRPr sz="1600"/>
            </a:lvl2pPr>
            <a:lvl3pPr>
              <a:defRPr sz="1600"/>
            </a:lvl3pPr>
            <a:lvl4pPr>
              <a:defRPr sz="1600"/>
            </a:lvl4pPr>
            <a:lvl5pPr>
              <a:defRPr sz="1600"/>
            </a:lvl5pPr>
          </a:lstStyle>
          <a:p>
            <a:r>
              <a:rPr lang="en-US" sz="1600" dirty="0">
                <a:solidFill>
                  <a:srgbClr val="58595B"/>
                </a:solidFill>
                <a:latin typeface="Helvetica" pitchFamily="2" charset="0"/>
              </a:rPr>
              <a:t>Presenter Name</a:t>
            </a:r>
          </a:p>
        </p:txBody>
      </p:sp>
      <p:sp>
        <p:nvSpPr>
          <p:cNvPr id="13" name="Picture Placeholder 5">
            <a:extLst>
              <a:ext uri="{FF2B5EF4-FFF2-40B4-BE49-F238E27FC236}">
                <a16:creationId xmlns:a16="http://schemas.microsoft.com/office/drawing/2014/main" id="{4C1BE7FB-0098-1444-898A-9FEDB68EF2C5}"/>
              </a:ext>
            </a:extLst>
          </p:cNvPr>
          <p:cNvSpPr>
            <a:spLocks noGrp="1"/>
          </p:cNvSpPr>
          <p:nvPr>
            <p:ph type="pic" sz="quarter" idx="24" hasCustomPrompt="1"/>
          </p:nvPr>
        </p:nvSpPr>
        <p:spPr>
          <a:xfrm>
            <a:off x="863598" y="635002"/>
            <a:ext cx="7419517" cy="1375519"/>
          </a:xfrm>
          <a:prstGeom prst="rect">
            <a:avLst/>
          </a:prstGeom>
        </p:spPr>
        <p:txBody>
          <a:bodyPr wrap="square" lIns="0" tIns="0" rIns="0" anchor="t" anchorCtr="0">
            <a:noAutofit/>
          </a:bodyPr>
          <a:lstStyle>
            <a:lvl1pPr marL="0" indent="0" algn="l">
              <a:buNone/>
              <a:defRPr sz="1333" u="none"/>
            </a:lvl1pPr>
          </a:lstStyle>
          <a:p>
            <a:r>
              <a:rPr lang="en-US" dirty="0"/>
              <a:t>Click the icon to insert the </a:t>
            </a:r>
            <a:r>
              <a:rPr lang="en-US" dirty="0" err="1"/>
              <a:t>Bxd-blk</a:t>
            </a:r>
            <a:r>
              <a:rPr lang="en-US" dirty="0"/>
              <a:t> or Boxed-</a:t>
            </a:r>
            <a:r>
              <a:rPr lang="en-US" dirty="0" err="1"/>
              <a:t>BlackType</a:t>
            </a:r>
            <a:r>
              <a:rPr lang="en-US" dirty="0"/>
              <a:t>, </a:t>
            </a:r>
            <a:r>
              <a:rPr lang="en-US" dirty="0" err="1"/>
              <a:t>svg</a:t>
            </a:r>
            <a:r>
              <a:rPr lang="en-US" dirty="0"/>
              <a:t> or </a:t>
            </a:r>
            <a:r>
              <a:rPr lang="en-US" dirty="0" err="1"/>
              <a:t>png</a:t>
            </a:r>
            <a:r>
              <a:rPr lang="en-US" dirty="0"/>
              <a:t> format version of your department logo. Follow the pink instructions.</a:t>
            </a:r>
          </a:p>
        </p:txBody>
      </p:sp>
      <p:sp>
        <p:nvSpPr>
          <p:cNvPr id="8" name="Text Placeholder 7">
            <a:extLst>
              <a:ext uri="{FF2B5EF4-FFF2-40B4-BE49-F238E27FC236}">
                <a16:creationId xmlns:a16="http://schemas.microsoft.com/office/drawing/2014/main" id="{2FA6F6D3-C084-D543-B260-D6C73FE285CF}"/>
              </a:ext>
            </a:extLst>
          </p:cNvPr>
          <p:cNvSpPr>
            <a:spLocks noGrp="1"/>
          </p:cNvSpPr>
          <p:nvPr>
            <p:ph type="body" sz="quarter" idx="31" hasCustomPrompt="1"/>
          </p:nvPr>
        </p:nvSpPr>
        <p:spPr>
          <a:xfrm>
            <a:off x="853440" y="2523744"/>
            <a:ext cx="10363200" cy="1470061"/>
          </a:xfrm>
          <a:prstGeom prst="rect">
            <a:avLst/>
          </a:prstGeom>
        </p:spPr>
        <p:txBody>
          <a:bodyPr wrap="square" anchor="ctr" anchorCtr="0">
            <a:spAutoFit/>
          </a:bodyPr>
          <a:lstStyle>
            <a:lvl1pPr marL="0" indent="0">
              <a:buNone/>
              <a:defRPr sz="4800" b="1">
                <a:latin typeface="+mj-lt"/>
              </a:defRPr>
            </a:lvl1pPr>
            <a:lvl2pPr marL="0" indent="0">
              <a:buFont typeface="Arial" panose="020B0604020202020204" pitchFamily="34" charset="0"/>
              <a:buNone/>
              <a:defRPr sz="4800" b="1">
                <a:latin typeface="+mj-lt"/>
              </a:defRPr>
            </a:lvl2pPr>
            <a:lvl3pPr marL="484620" indent="0">
              <a:buNone/>
              <a:defRPr sz="4800" b="1">
                <a:latin typeface="+mj-lt"/>
              </a:defRPr>
            </a:lvl3pPr>
            <a:lvl4pPr marL="0" indent="0">
              <a:buNone/>
              <a:defRPr sz="4800" b="1">
                <a:latin typeface="+mj-lt"/>
              </a:defRPr>
            </a:lvl4pPr>
            <a:lvl5pPr marL="0" indent="0">
              <a:buNone/>
              <a:defRPr sz="4800" b="1">
                <a:latin typeface="+mj-lt"/>
              </a:defRPr>
            </a:lvl5pPr>
          </a:lstStyle>
          <a:p>
            <a:pPr lvl="0"/>
            <a:r>
              <a:rPr lang="en-US" dirty="0"/>
              <a:t>Presentation Opener Title</a:t>
            </a:r>
          </a:p>
          <a:p>
            <a:pPr lvl="0"/>
            <a:r>
              <a:rPr lang="en-US" dirty="0"/>
              <a:t>Goes Here</a:t>
            </a:r>
          </a:p>
        </p:txBody>
      </p:sp>
    </p:spTree>
    <p:extLst>
      <p:ext uri="{BB962C8B-B14F-4D97-AF65-F5344CB8AC3E}">
        <p14:creationId xmlns:p14="http://schemas.microsoft.com/office/powerpoint/2010/main" val="4272875308"/>
      </p:ext>
    </p:extLst>
  </p:cSld>
  <p:clrMapOvr>
    <a:masterClrMapping/>
  </p:clrMapOvr>
  <p:hf hdr="0" ftr="0" dt="0"/>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itle and body" type="tx" preserve="1">
  <p:cSld name="Title and 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t>Click to edit Master title style</a:t>
            </a:r>
            <a:endParaRPr/>
          </a:p>
        </p:txBody>
      </p:sp>
      <p:sp>
        <p:nvSpPr>
          <p:cNvPr id="22" name="Google Shape;22;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3" name="Google Shape;23;p4"/>
          <p:cNvSpPr txBox="1">
            <a:spLocks noGrp="1"/>
          </p:cNvSpPr>
          <p:nvPr>
            <p:ph type="sldNum" idx="12"/>
          </p:nvPr>
        </p:nvSpPr>
        <p:spPr>
          <a:xfrm>
            <a:off x="11320333" y="6241345"/>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2505045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294036635"/>
      </p:ext>
    </p:extLst>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71389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695520592"/>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193133939"/>
      </p:ext>
    </p:extLst>
  </p:cSld>
  <p:clrMapOvr>
    <a:masterClrMapping/>
  </p:clrMapOvr>
  <p:hf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2513023"/>
      </p:ext>
    </p:extLst>
  </p:cSld>
  <p:clrMapOvr>
    <a:masterClrMapping/>
  </p:clrMapOvr>
  <p:hf hdr="0" ftr="0" dt="0"/>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702327200"/>
      </p:ext>
    </p:extLst>
  </p:cSld>
  <p:clrMapOvr>
    <a:masterClrMapping/>
  </p:clrMapOvr>
  <p:hf hdr="0" ftr="0" dt="0"/>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052907931"/>
      </p:ext>
    </p:extLst>
  </p:cSld>
  <p:clrMapOvr>
    <a:masterClrMapping/>
  </p:clrMapOvr>
  <p:hf hdr="0" ftr="0" dt="0"/>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492293904"/>
      </p:ext>
    </p:extLst>
  </p:cSld>
  <p:clrMapOvr>
    <a:masterClrMapping/>
  </p:clrMapOvr>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Tree>
    <p:extLst>
      <p:ext uri="{BB962C8B-B14F-4D97-AF65-F5344CB8AC3E}">
        <p14:creationId xmlns:p14="http://schemas.microsoft.com/office/powerpoint/2010/main" val="4104693688"/>
      </p:ext>
    </p:extLst>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34455442"/>
      </p:ext>
    </p:extLst>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71864473"/>
      </p:ext>
    </p:extLst>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925784099"/>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75976060"/>
      </p:ext>
    </p:extLst>
  </p:cSld>
  <p:clrMapOvr>
    <a:masterClrMapping/>
  </p:clrMapOvr>
  <p:hf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AE5B72-3FDB-47C0-93E3-825C39E9992C}"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84516733"/>
      </p:ext>
    </p:extLst>
  </p:cSld>
  <p:clrMapOvr>
    <a:masterClrMapping/>
  </p:clrMapOvr>
  <p:hf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753120727"/>
      </p:ext>
    </p:extLst>
  </p:cSld>
  <p:clrMapOvr>
    <a:masterClrMapping/>
  </p:clrMapOvr>
  <p:hf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221549079"/>
      </p:ext>
    </p:extLst>
  </p:cSld>
  <p:clrMapOvr>
    <a:masterClrMapping/>
  </p:clrMapOvr>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theme" Target="../theme/theme2.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Relationship Id="rId16" Type="http://schemas.openxmlformats.org/officeDocument/2006/relationships/slideLayout" Target="../slideLayouts/slideLayout37.xml"/><Relationship Id="rId17" Type="http://schemas.openxmlformats.org/officeDocument/2006/relationships/slideLayout" Target="../slideLayouts/slideLayout38.xml"/><Relationship Id="rId18" Type="http://schemas.openxmlformats.org/officeDocument/2006/relationships/slideLayout" Target="../slideLayouts/slideLayout39.xml"/><Relationship Id="rId1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theme" Target="../theme/theme4.xml"/><Relationship Id="rId4" Type="http://schemas.openxmlformats.org/officeDocument/2006/relationships/image" Target="../media/image5.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9" Type="http://schemas.openxmlformats.org/officeDocument/2006/relationships/slideLayout" Target="../slideLayouts/slideLayout50.xml"/><Relationship Id="rId10" Type="http://schemas.openxmlformats.org/officeDocument/2006/relationships/slideLayout" Target="../slideLayouts/slideLayout51.xml"/><Relationship Id="rId11" Type="http://schemas.openxmlformats.org/officeDocument/2006/relationships/slideLayout" Target="../slideLayouts/slideLayout52.xml"/><Relationship Id="rId12" Type="http://schemas.openxmlformats.org/officeDocument/2006/relationships/slideLayout" Target="../slideLayouts/slideLayout53.xml"/><Relationship Id="rId13" Type="http://schemas.openxmlformats.org/officeDocument/2006/relationships/slideLayout" Target="../slideLayouts/slideLayout54.xml"/><Relationship Id="rId14" Type="http://schemas.openxmlformats.org/officeDocument/2006/relationships/slideLayout" Target="../slideLayouts/slideLayout55.xml"/><Relationship Id="rId15" Type="http://schemas.openxmlformats.org/officeDocument/2006/relationships/slideLayout" Target="../slideLayouts/slideLayout56.xml"/><Relationship Id="rId16" Type="http://schemas.openxmlformats.org/officeDocument/2006/relationships/slideLayout" Target="../slideLayouts/slideLayout57.xml"/><Relationship Id="rId17" Type="http://schemas.openxmlformats.org/officeDocument/2006/relationships/slideLayout" Target="../slideLayouts/slideLayout58.xml"/><Relationship Id="rId18" Type="http://schemas.openxmlformats.org/officeDocument/2006/relationships/slideLayout" Target="../slideLayouts/slideLayout59.xml"/><Relationship Id="rId19"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theme" Target="../theme/theme6.xml"/><Relationship Id="rId3"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slideLayout" Target="../slideLayouts/slideLayout62.xml"/><Relationship Id="rId3" Type="http://schemas.openxmlformats.org/officeDocument/2006/relationships/slideLayout" Target="../slideLayouts/slideLayout63.xml"/><Relationship Id="rId4" Type="http://schemas.openxmlformats.org/officeDocument/2006/relationships/slideLayout" Target="../slideLayouts/slideLayout64.xml"/><Relationship Id="rId5" Type="http://schemas.openxmlformats.org/officeDocument/2006/relationships/slideLayout" Target="../slideLayouts/slideLayout65.xml"/><Relationship Id="rId6" Type="http://schemas.openxmlformats.org/officeDocument/2006/relationships/slideLayout" Target="../slideLayouts/slideLayout66.xml"/><Relationship Id="rId7" Type="http://schemas.openxmlformats.org/officeDocument/2006/relationships/slideLayout" Target="../slideLayouts/slideLayout67.xml"/><Relationship Id="rId8" Type="http://schemas.openxmlformats.org/officeDocument/2006/relationships/slideLayout" Target="../slideLayouts/slideLayout68.xml"/><Relationship Id="rId9" Type="http://schemas.openxmlformats.org/officeDocument/2006/relationships/slideLayout" Target="../slideLayouts/slideLayout69.xml"/><Relationship Id="rId10" Type="http://schemas.openxmlformats.org/officeDocument/2006/relationships/slideLayout" Target="../slideLayouts/slideLayout70.xml"/><Relationship Id="rId11" Type="http://schemas.openxmlformats.org/officeDocument/2006/relationships/slideLayout" Target="../slideLayouts/slideLayout71.xml"/><Relationship Id="rId12" Type="http://schemas.openxmlformats.org/officeDocument/2006/relationships/slideLayout" Target="../slideLayouts/slideLayout72.xml"/><Relationship Id="rId13" Type="http://schemas.openxmlformats.org/officeDocument/2006/relationships/slideLayout" Target="../slideLayouts/slideLayout73.xml"/><Relationship Id="rId14" Type="http://schemas.openxmlformats.org/officeDocument/2006/relationships/slideLayout" Target="../slideLayouts/slideLayout74.xml"/><Relationship Id="rId15" Type="http://schemas.openxmlformats.org/officeDocument/2006/relationships/slideLayout" Target="../slideLayouts/slideLayout75.xml"/><Relationship Id="rId16" Type="http://schemas.openxmlformats.org/officeDocument/2006/relationships/slideLayout" Target="../slideLayouts/slideLayout76.xml"/><Relationship Id="rId17" Type="http://schemas.openxmlformats.org/officeDocument/2006/relationships/slideLayout" Target="../slideLayouts/slideLayout77.xml"/><Relationship Id="rId18" Type="http://schemas.openxmlformats.org/officeDocument/2006/relationships/slideLayout" Target="../slideLayouts/slideLayout78.xml"/><Relationship Id="rId19"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slideLayout" Target="../slideLayouts/slideLayout80.xml"/><Relationship Id="rId3" Type="http://schemas.openxmlformats.org/officeDocument/2006/relationships/slideLayout" Target="../slideLayouts/slideLayout81.xml"/><Relationship Id="rId4" Type="http://schemas.openxmlformats.org/officeDocument/2006/relationships/slideLayout" Target="../slideLayouts/slideLayout82.xml"/><Relationship Id="rId5" Type="http://schemas.openxmlformats.org/officeDocument/2006/relationships/slideLayout" Target="../slideLayouts/slideLayout83.xml"/><Relationship Id="rId6" Type="http://schemas.openxmlformats.org/officeDocument/2006/relationships/slideLayout" Target="../slideLayouts/slideLayout84.xml"/><Relationship Id="rId7" Type="http://schemas.openxmlformats.org/officeDocument/2006/relationships/slideLayout" Target="../slideLayouts/slideLayout85.xml"/><Relationship Id="rId8" Type="http://schemas.openxmlformats.org/officeDocument/2006/relationships/slideLayout" Target="../slideLayouts/slideLayout86.xml"/><Relationship Id="rId9" Type="http://schemas.openxmlformats.org/officeDocument/2006/relationships/slideLayout" Target="../slideLayouts/slideLayout87.xml"/><Relationship Id="rId10" Type="http://schemas.openxmlformats.org/officeDocument/2006/relationships/slideLayout" Target="../slideLayouts/slideLayout88.xml"/><Relationship Id="rId11" Type="http://schemas.openxmlformats.org/officeDocument/2006/relationships/slideLayout" Target="../slideLayouts/slideLayout89.xml"/><Relationship Id="rId12" Type="http://schemas.openxmlformats.org/officeDocument/2006/relationships/slideLayout" Target="../slideLayouts/slideLayout90.xml"/><Relationship Id="rId13" Type="http://schemas.openxmlformats.org/officeDocument/2006/relationships/slideLayout" Target="../slideLayouts/slideLayout91.xml"/><Relationship Id="rId14" Type="http://schemas.openxmlformats.org/officeDocument/2006/relationships/slideLayout" Target="../slideLayouts/slideLayout92.xml"/><Relationship Id="rId15" Type="http://schemas.openxmlformats.org/officeDocument/2006/relationships/slideLayout" Target="../slideLayouts/slideLayout93.xml"/><Relationship Id="rId16" Type="http://schemas.openxmlformats.org/officeDocument/2006/relationships/slideLayout" Target="../slideLayouts/slideLayout94.xml"/><Relationship Id="rId17"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Brand logo">
            <a:extLst>
              <a:ext uri="{FF2B5EF4-FFF2-40B4-BE49-F238E27FC236}">
                <a16:creationId xmlns:a16="http://schemas.microsoft.com/office/drawing/2014/main" id="{B905BEBE-FC81-0D47-9AF4-9E3655228635}"/>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457201" y="6155475"/>
            <a:ext cx="1830252" cy="354621"/>
          </a:xfrm>
          <a:prstGeom prst="rect">
            <a:avLst/>
          </a:prstGeom>
        </p:spPr>
      </p:pic>
      <p:sp>
        <p:nvSpPr>
          <p:cNvPr id="17" name="Header rule">
            <a:extLst>
              <a:ext uri="{FF2B5EF4-FFF2-40B4-BE49-F238E27FC236}">
                <a16:creationId xmlns:a16="http://schemas.microsoft.com/office/drawing/2014/main" id="{98E6E0B5-9270-574F-A10E-09DA8982DB02}"/>
              </a:ext>
            </a:extLst>
          </p:cNvPr>
          <p:cNvSpPr/>
          <p:nvPr/>
        </p:nvSpPr>
        <p:spPr>
          <a:xfrm>
            <a:off x="853440" y="1095523"/>
            <a:ext cx="10363200" cy="48768"/>
          </a:xfrm>
          <a:prstGeom prst="rect">
            <a:avLst/>
          </a:prstGeom>
          <a:solidFill>
            <a:srgbClr val="2774AE"/>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lstStyle/>
          <a:p>
            <a:pPr algn="ctr"/>
            <a:endParaRPr lang="en-US" sz="1867" b="0" i="0" dirty="0">
              <a:latin typeface="Helvetica Regular" pitchFamily="2" charset="0"/>
            </a:endParaRPr>
          </a:p>
        </p:txBody>
      </p:sp>
      <p:sp>
        <p:nvSpPr>
          <p:cNvPr id="22" name="Title Placeholder">
            <a:extLst>
              <a:ext uri="{FF2B5EF4-FFF2-40B4-BE49-F238E27FC236}">
                <a16:creationId xmlns:a16="http://schemas.microsoft.com/office/drawing/2014/main" id="{7143B24C-1C3A-8E4C-BD32-A8A3EF401E90}"/>
              </a:ext>
            </a:extLst>
          </p:cNvPr>
          <p:cNvSpPr>
            <a:spLocks noGrp="1"/>
          </p:cNvSpPr>
          <p:nvPr>
            <p:ph type="title"/>
          </p:nvPr>
        </p:nvSpPr>
        <p:spPr>
          <a:xfrm>
            <a:off x="853439" y="489869"/>
            <a:ext cx="10363200" cy="519972"/>
          </a:xfrm>
          <a:prstGeom prst="rect">
            <a:avLst/>
          </a:prstGeom>
        </p:spPr>
        <p:txBody>
          <a:bodyPr vert="horz" wrap="square" lIns="0" tIns="0" rIns="0" bIns="0" rtlCol="0" anchor="b" anchorCtr="0">
            <a:spAutoFit/>
          </a:bodyPr>
          <a:lstStyle/>
          <a:p>
            <a:r>
              <a:rPr lang="en-US" dirty="0"/>
              <a:t>Click to edit Master title</a:t>
            </a:r>
          </a:p>
        </p:txBody>
      </p:sp>
      <p:sp>
        <p:nvSpPr>
          <p:cNvPr id="27" name="Slide Number Placeholder">
            <a:extLst>
              <a:ext uri="{FF2B5EF4-FFF2-40B4-BE49-F238E27FC236}">
                <a16:creationId xmlns:a16="http://schemas.microsoft.com/office/drawing/2014/main" id="{BB99265C-2058-D148-A5A5-70540F68B968}"/>
              </a:ext>
            </a:extLst>
          </p:cNvPr>
          <p:cNvSpPr>
            <a:spLocks noGrp="1"/>
          </p:cNvSpPr>
          <p:nvPr>
            <p:ph type="sldNum" sz="quarter" idx="4"/>
          </p:nvPr>
        </p:nvSpPr>
        <p:spPr>
          <a:xfrm>
            <a:off x="11582400" y="6339840"/>
            <a:ext cx="609600" cy="422744"/>
          </a:xfrm>
          <a:prstGeom prst="rect">
            <a:avLst/>
          </a:prstGeom>
        </p:spPr>
        <p:txBody>
          <a:bodyPr vert="horz" wrap="square" lIns="0" tIns="0" rIns="0" bIns="256032" rtlCol="0" anchor="t" anchorCtr="0">
            <a:spAutoFit/>
          </a:bodyPr>
          <a:lstStyle>
            <a:lvl1pPr algn="l">
              <a:lnSpc>
                <a:spcPct val="100000"/>
              </a:lnSpc>
              <a:defRPr sz="1067" b="0" i="0">
                <a:solidFill>
                  <a:srgbClr val="898989"/>
                </a:solidFill>
                <a:latin typeface="Helvetica Regular" pitchFamily="2" charset="0"/>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
        <p:nvSpPr>
          <p:cNvPr id="4" name="Text Placeholder 3">
            <a:extLst>
              <a:ext uri="{FF2B5EF4-FFF2-40B4-BE49-F238E27FC236}">
                <a16:creationId xmlns:a16="http://schemas.microsoft.com/office/drawing/2014/main" id="{883B9C53-1485-764E-86F1-EF642FC86547}"/>
              </a:ext>
            </a:extLst>
          </p:cNvPr>
          <p:cNvSpPr>
            <a:spLocks noGrp="1"/>
          </p:cNvSpPr>
          <p:nvPr>
            <p:ph type="body" idx="1"/>
          </p:nvPr>
        </p:nvSpPr>
        <p:spPr>
          <a:xfrm>
            <a:off x="1463041" y="1584961"/>
            <a:ext cx="9753599" cy="1567695"/>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639991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hf hdr="0" ftr="0" dt="0"/>
  <p:txStyles>
    <p:titleStyle>
      <a:lvl1pPr algn="l" defTabSz="914377" rtl="0" eaLnBrk="1" latinLnBrk="0" hangingPunct="1">
        <a:lnSpc>
          <a:spcPct val="90000"/>
        </a:lnSpc>
        <a:spcBef>
          <a:spcPct val="0"/>
        </a:spcBef>
        <a:buNone/>
        <a:defRPr sz="3733" b="1" i="0" kern="1200" baseline="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b="0" kern="1200">
          <a:solidFill>
            <a:srgbClr val="58595B"/>
          </a:solidFill>
          <a:latin typeface="+mn-lt"/>
          <a:ea typeface="+mn-ea"/>
          <a:cs typeface="+mn-cs"/>
        </a:defRPr>
      </a:lvl1pPr>
      <a:lvl2pPr marL="597393" indent="-231642" algn="l" defTabSz="914377" rtl="0" eaLnBrk="1" latinLnBrk="0" hangingPunct="1">
        <a:lnSpc>
          <a:spcPct val="90000"/>
        </a:lnSpc>
        <a:spcBef>
          <a:spcPts val="500"/>
        </a:spcBef>
        <a:spcAft>
          <a:spcPts val="0"/>
        </a:spcAft>
        <a:buFont typeface="Arial" panose="020B0604020202020204" pitchFamily="34" charset="0"/>
        <a:buChar char="•"/>
        <a:defRPr sz="1867" b="0" i="0" kern="1200" baseline="0">
          <a:solidFill>
            <a:srgbClr val="58595B"/>
          </a:solidFill>
          <a:latin typeface="+mn-lt"/>
          <a:ea typeface="+mn-ea"/>
          <a:cs typeface="+mn-cs"/>
        </a:defRPr>
      </a:lvl2pPr>
      <a:lvl3pPr marL="963144" indent="-231642" algn="l" defTabSz="914377" rtl="0" eaLnBrk="1" latinLnBrk="0" hangingPunct="1">
        <a:lnSpc>
          <a:spcPct val="90000"/>
        </a:lnSpc>
        <a:spcBef>
          <a:spcPts val="500"/>
        </a:spcBef>
        <a:spcAft>
          <a:spcPts val="0"/>
        </a:spcAft>
        <a:buFont typeface="Arial" panose="020B0604020202020204" pitchFamily="34" charset="0"/>
        <a:buChar char="•"/>
        <a:defRPr sz="1867" b="0" kern="1200">
          <a:solidFill>
            <a:srgbClr val="58595B"/>
          </a:solidFill>
          <a:latin typeface="+mn-lt"/>
          <a:ea typeface="+mn-ea"/>
          <a:cs typeface="+mn-cs"/>
        </a:defRPr>
      </a:lvl3pPr>
      <a:lvl4pPr marL="1328895" indent="-231642" algn="l" defTabSz="914377" rtl="0" eaLnBrk="1" latinLnBrk="0" hangingPunct="1">
        <a:lnSpc>
          <a:spcPct val="90000"/>
        </a:lnSpc>
        <a:spcBef>
          <a:spcPts val="500"/>
        </a:spcBef>
        <a:spcAft>
          <a:spcPts val="0"/>
        </a:spcAft>
        <a:buFont typeface="Arial" panose="020B0604020202020204" pitchFamily="34" charset="0"/>
        <a:buChar char="•"/>
        <a:defRPr sz="1867" b="0" i="0" kern="1200">
          <a:solidFill>
            <a:srgbClr val="58595B"/>
          </a:solidFill>
          <a:latin typeface="+mn-lt"/>
          <a:ea typeface="+mn-ea"/>
          <a:cs typeface="+mn-cs"/>
        </a:defRPr>
      </a:lvl4pPr>
      <a:lvl5pPr marL="1694646" indent="-231642" algn="l" defTabSz="914377" rtl="0" eaLnBrk="1" latinLnBrk="0" hangingPunct="1">
        <a:lnSpc>
          <a:spcPct val="90000"/>
        </a:lnSpc>
        <a:spcBef>
          <a:spcPts val="500"/>
        </a:spcBef>
        <a:spcAft>
          <a:spcPts val="0"/>
        </a:spcAft>
        <a:buFont typeface="Arial" panose="020B0604020202020204" pitchFamily="34" charset="0"/>
        <a:buChar char="•"/>
        <a:defRPr sz="1867" b="0" kern="1200">
          <a:solidFill>
            <a:srgbClr val="58595B"/>
          </a:solidFill>
          <a:latin typeface="+mn-lt"/>
          <a:ea typeface="+mn-ea"/>
          <a:cs typeface="+mn-cs"/>
        </a:defRPr>
      </a:lvl5pPr>
      <a:lvl6pPr marL="838179" indent="-868658" algn="l" defTabSz="914377" rtl="0" eaLnBrk="1" latinLnBrk="0" hangingPunct="1">
        <a:lnSpc>
          <a:spcPct val="90000"/>
        </a:lnSpc>
        <a:spcBef>
          <a:spcPts val="0"/>
        </a:spcBef>
        <a:spcAft>
          <a:spcPts val="800"/>
        </a:spcAft>
        <a:buFont typeface="Arial" panose="020B0604020202020204" pitchFamily="34" charset="0"/>
        <a:buNone/>
        <a:defRPr sz="133" kern="1200">
          <a:solidFill>
            <a:schemeClr val="tx1"/>
          </a:solidFill>
          <a:latin typeface="+mn-lt"/>
          <a:ea typeface="+mn-ea"/>
          <a:cs typeface="+mn-cs"/>
        </a:defRPr>
      </a:lvl6pPr>
      <a:lvl7pPr marL="743693" indent="-259074" algn="l" defTabSz="914377" rtl="0" eaLnBrk="1" latinLnBrk="0" hangingPunct="1">
        <a:lnSpc>
          <a:spcPct val="90000"/>
        </a:lnSpc>
        <a:spcBef>
          <a:spcPts val="0"/>
        </a:spcBef>
        <a:spcAft>
          <a:spcPts val="800"/>
        </a:spcAft>
        <a:buFont typeface="Arial" panose="020B0604020202020204" pitchFamily="34" charset="0"/>
        <a:buChar char="•"/>
        <a:defRPr sz="7200" kern="1200">
          <a:solidFill>
            <a:schemeClr val="tx1"/>
          </a:solidFill>
          <a:latin typeface="+mn-lt"/>
          <a:ea typeface="+mn-ea"/>
          <a:cs typeface="+mn-cs"/>
        </a:defRPr>
      </a:lvl7pPr>
      <a:lvl8pPr marL="365751" indent="-228594" algn="l" defTabSz="914377" rtl="0" eaLnBrk="1" latinLnBrk="0" hangingPunct="1">
        <a:lnSpc>
          <a:spcPct val="90000"/>
        </a:lnSpc>
        <a:spcBef>
          <a:spcPts val="0"/>
        </a:spcBef>
        <a:spcAft>
          <a:spcPts val="800"/>
        </a:spcAft>
        <a:buFont typeface="Arial" panose="020B0604020202020204" pitchFamily="34" charset="0"/>
        <a:buChar char="•"/>
        <a:defRPr sz="133"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5533"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1"/>
            <a:ext cx="12192000" cy="68486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914400" y="475565"/>
          <a:ext cx="10363200" cy="610852"/>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610852">
                <a:tc>
                  <a:txBody>
                    <a:bodyPr/>
                    <a:lstStyle/>
                    <a:p>
                      <a:pPr>
                        <a:lnSpc>
                          <a:spcPct val="100000"/>
                        </a:lnSpc>
                      </a:pPr>
                      <a:r>
                        <a:rPr lang="en-US" sz="3700" b="0" i="0" dirty="0">
                          <a:ln>
                            <a:noFill/>
                          </a:ln>
                          <a:solidFill>
                            <a:srgbClr val="58595B"/>
                          </a:solidFill>
                          <a:latin typeface="Helvetica Regular" pitchFamily="2" charset="0"/>
                          <a:cs typeface="Arial" panose="020B0604020202020204" pitchFamily="34" charset="0"/>
                        </a:rPr>
                        <a:t>Preferred Header Size</a:t>
                      </a:r>
                      <a:endParaRPr lang="en-US" sz="3700" b="0" i="0" dirty="0">
                        <a:ln>
                          <a:noFill/>
                        </a:ln>
                        <a:latin typeface="Helvetica Regular" pitchFamily="2" charset="0"/>
                      </a:endParaRPr>
                    </a:p>
                  </a:txBody>
                  <a:tcPr marL="0" marR="0" marT="0" marB="24384">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6152549"/>
            <a:ext cx="1834037" cy="374583"/>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11582400" y="6339840"/>
            <a:ext cx="609600" cy="508922"/>
          </a:xfrm>
          <a:prstGeom prst="rect">
            <a:avLst/>
          </a:prstGeom>
        </p:spPr>
        <p:txBody>
          <a:bodyPr vert="horz" wrap="square" lIns="0" tIns="0" rIns="0" bIns="341376"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z="1067" smtClean="0">
                <a:solidFill>
                  <a:schemeClr val="bg1"/>
                </a:solidFill>
              </a:rPr>
              <a:pPr/>
              <a:t>‹#›</a:t>
            </a:fld>
            <a:endParaRPr lang="en-US" sz="1067" dirty="0">
              <a:solidFill>
                <a:schemeClr val="bg1"/>
              </a:solidFill>
            </a:endParaRPr>
          </a:p>
        </p:txBody>
      </p:sp>
    </p:spTree>
    <p:extLst>
      <p:ext uri="{BB962C8B-B14F-4D97-AF65-F5344CB8AC3E}">
        <p14:creationId xmlns:p14="http://schemas.microsoft.com/office/powerpoint/2010/main" val="2731349684"/>
      </p:ext>
    </p:extLst>
  </p:cSld>
  <p:clrMap bg1="lt1" tx1="dk1" bg2="lt2" tx2="dk2" accent1="accent1" accent2="accent2" accent3="accent3" accent4="accent4" accent5="accent5" accent6="accent6" hlink="hlink" folHlink="folHlink"/>
  <p:sldLayoutIdLst>
    <p:sldLayoutId id="2147483693" r:id="rId1"/>
    <p:sldLayoutId id="2147483772" r:id="rId2"/>
  </p:sldLayoutIdLst>
  <p:hf hdr="0" ftr="0"/>
  <p:txStyles>
    <p:titleStyle>
      <a:lvl1pPr algn="l" defTabSz="914377" rtl="0" eaLnBrk="1" latinLnBrk="0" hangingPunct="1">
        <a:lnSpc>
          <a:spcPct val="90000"/>
        </a:lnSpc>
        <a:spcBef>
          <a:spcPct val="0"/>
        </a:spcBef>
        <a:buNone/>
        <a:defRPr sz="3733" b="1" i="0" kern="120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kern="1200">
          <a:solidFill>
            <a:srgbClr val="58595B"/>
          </a:solidFill>
          <a:latin typeface="Helvetica" pitchFamily="2" charset="0"/>
          <a:ea typeface="+mn-ea"/>
          <a:cs typeface="+mn-cs"/>
        </a:defRPr>
      </a:lvl1pPr>
      <a:lvl2pPr marL="457189" indent="0" algn="l" defTabSz="914377" rtl="0" eaLnBrk="1" latinLnBrk="0" hangingPunct="1">
        <a:lnSpc>
          <a:spcPct val="100000"/>
        </a:lnSpc>
        <a:spcBef>
          <a:spcPts val="500"/>
        </a:spcBef>
        <a:buFontTx/>
        <a:buNone/>
        <a:defRPr sz="1867" kern="1200">
          <a:solidFill>
            <a:srgbClr val="58595B"/>
          </a:solidFill>
          <a:latin typeface="Helvetica"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b="1" i="0" kern="1200">
          <a:solidFill>
            <a:srgbClr val="58595B"/>
          </a:solidFill>
          <a:latin typeface="Helvetica"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1766246449"/>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1"/>
            <a:ext cx="12192000" cy="68486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914400" y="475565"/>
          <a:ext cx="10363200" cy="610852"/>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610852">
                <a:tc>
                  <a:txBody>
                    <a:bodyPr/>
                    <a:lstStyle/>
                    <a:p>
                      <a:pPr>
                        <a:lnSpc>
                          <a:spcPct val="100000"/>
                        </a:lnSpc>
                      </a:pPr>
                      <a:r>
                        <a:rPr lang="en-US" sz="3700" b="0" i="0" dirty="0">
                          <a:ln>
                            <a:noFill/>
                          </a:ln>
                          <a:solidFill>
                            <a:srgbClr val="58595B"/>
                          </a:solidFill>
                          <a:latin typeface="Helvetica Regular" pitchFamily="2" charset="0"/>
                          <a:cs typeface="Arial" panose="020B0604020202020204" pitchFamily="34" charset="0"/>
                        </a:rPr>
                        <a:t>Preferred Header Size</a:t>
                      </a:r>
                      <a:endParaRPr lang="en-US" sz="3700" b="0" i="0" dirty="0">
                        <a:ln>
                          <a:noFill/>
                        </a:ln>
                        <a:latin typeface="Helvetica Regular" pitchFamily="2" charset="0"/>
                      </a:endParaRPr>
                    </a:p>
                  </a:txBody>
                  <a:tcPr marL="0" marR="0" marT="0" marB="24384">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6152549"/>
            <a:ext cx="1834037" cy="374583"/>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11582400" y="6339840"/>
            <a:ext cx="609600" cy="508922"/>
          </a:xfrm>
          <a:prstGeom prst="rect">
            <a:avLst/>
          </a:prstGeom>
        </p:spPr>
        <p:txBody>
          <a:bodyPr vert="horz" wrap="square" lIns="0" tIns="0" rIns="0" bIns="341376"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z="1067" smtClean="0">
                <a:solidFill>
                  <a:schemeClr val="bg1"/>
                </a:solidFill>
              </a:rPr>
              <a:pPr/>
              <a:t>‹#›</a:t>
            </a:fld>
            <a:endParaRPr lang="en-US" sz="1067" dirty="0">
              <a:solidFill>
                <a:schemeClr val="bg1"/>
              </a:solidFill>
            </a:endParaRPr>
          </a:p>
        </p:txBody>
      </p:sp>
    </p:spTree>
    <p:extLst>
      <p:ext uri="{BB962C8B-B14F-4D97-AF65-F5344CB8AC3E}">
        <p14:creationId xmlns:p14="http://schemas.microsoft.com/office/powerpoint/2010/main" val="1084022337"/>
      </p:ext>
    </p:extLst>
  </p:cSld>
  <p:clrMap bg1="lt1" tx1="dk1" bg2="lt2" tx2="dk2" accent1="accent1" accent2="accent2" accent3="accent3" accent4="accent4" accent5="accent5" accent6="accent6" hlink="hlink" folHlink="folHlink"/>
  <p:sldLayoutIdLst>
    <p:sldLayoutId id="2147483714" r:id="rId1"/>
    <p:sldLayoutId id="2147483773" r:id="rId2"/>
  </p:sldLayoutIdLst>
  <p:hf hdr="0" ftr="0"/>
  <p:txStyles>
    <p:titleStyle>
      <a:lvl1pPr algn="l" defTabSz="914377" rtl="0" eaLnBrk="1" latinLnBrk="0" hangingPunct="1">
        <a:lnSpc>
          <a:spcPct val="90000"/>
        </a:lnSpc>
        <a:spcBef>
          <a:spcPct val="0"/>
        </a:spcBef>
        <a:buNone/>
        <a:defRPr sz="3733" b="1" i="0" kern="120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kern="1200">
          <a:solidFill>
            <a:srgbClr val="58595B"/>
          </a:solidFill>
          <a:latin typeface="Helvetica" pitchFamily="2" charset="0"/>
          <a:ea typeface="+mn-ea"/>
          <a:cs typeface="+mn-cs"/>
        </a:defRPr>
      </a:lvl1pPr>
      <a:lvl2pPr marL="457189" indent="0" algn="l" defTabSz="914377" rtl="0" eaLnBrk="1" latinLnBrk="0" hangingPunct="1">
        <a:lnSpc>
          <a:spcPct val="100000"/>
        </a:lnSpc>
        <a:spcBef>
          <a:spcPts val="500"/>
        </a:spcBef>
        <a:buFontTx/>
        <a:buNone/>
        <a:defRPr sz="1867" kern="1200">
          <a:solidFill>
            <a:srgbClr val="58595B"/>
          </a:solidFill>
          <a:latin typeface="Helvetica"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b="1" i="0" kern="1200">
          <a:solidFill>
            <a:srgbClr val="58595B"/>
          </a:solidFill>
          <a:latin typeface="Helvetica"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016439887"/>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00578B"/>
            </a:gs>
            <a:gs pos="100000">
              <a:srgbClr val="2774AE"/>
            </a:gs>
          </a:gsLst>
          <a:lin ang="0" scaled="0"/>
        </a:gradFill>
        <a:effectLst/>
      </p:bgPr>
    </p:bg>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7C7160C-D279-C84E-A714-5CF37C5CC49F}"/>
              </a:ext>
            </a:extLst>
          </p:cNvPr>
          <p:cNvSpPr/>
          <p:nvPr/>
        </p:nvSpPr>
        <p:spPr>
          <a:xfrm>
            <a:off x="0" y="1"/>
            <a:ext cx="12192000" cy="68486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b="0" i="0" dirty="0">
              <a:latin typeface="Helvetica Regular" pitchFamily="2" charset="0"/>
            </a:endParaRPr>
          </a:p>
        </p:txBody>
      </p:sp>
      <p:graphicFrame>
        <p:nvGraphicFramePr>
          <p:cNvPr id="15" name="Table 14" hidden="1">
            <a:extLst>
              <a:ext uri="{FF2B5EF4-FFF2-40B4-BE49-F238E27FC236}">
                <a16:creationId xmlns:a16="http://schemas.microsoft.com/office/drawing/2014/main" id="{2684D85E-2681-5C44-AFBC-F0E79677A166}"/>
              </a:ext>
            </a:extLst>
          </p:cNvPr>
          <p:cNvGraphicFramePr>
            <a:graphicFrameLocks noGrp="1"/>
          </p:cNvGraphicFramePr>
          <p:nvPr>
            <p:extLst>
              <p:ext uri="{D42A27DB-BD31-4B8C-83A1-F6EECF244321}">
                <p14:modId xmlns:p14="http://schemas.microsoft.com/office/powerpoint/2010/main" val="1915787603"/>
              </p:ext>
            </p:extLst>
          </p:nvPr>
        </p:nvGraphicFramePr>
        <p:xfrm>
          <a:off x="914400" y="475565"/>
          <a:ext cx="10363200" cy="610852"/>
        </p:xfrm>
        <a:graphic>
          <a:graphicData uri="http://schemas.openxmlformats.org/drawingml/2006/table">
            <a:tbl>
              <a:tblPr firstRow="1" bandRow="1">
                <a:tableStyleId>{5C22544A-7EE6-4342-B048-85BDC9FD1C3A}</a:tableStyleId>
              </a:tblPr>
              <a:tblGrid>
                <a:gridCol w="10363200">
                  <a:extLst>
                    <a:ext uri="{9D8B030D-6E8A-4147-A177-3AD203B41FA5}">
                      <a16:colId xmlns:a16="http://schemas.microsoft.com/office/drawing/2014/main" val="4064186770"/>
                    </a:ext>
                  </a:extLst>
                </a:gridCol>
              </a:tblGrid>
              <a:tr h="610852">
                <a:tc>
                  <a:txBody>
                    <a:bodyPr/>
                    <a:lstStyle/>
                    <a:p>
                      <a:pPr>
                        <a:lnSpc>
                          <a:spcPct val="100000"/>
                        </a:lnSpc>
                      </a:pPr>
                      <a:r>
                        <a:rPr lang="en-US" sz="3700" b="0" i="0" dirty="0">
                          <a:ln>
                            <a:noFill/>
                          </a:ln>
                          <a:solidFill>
                            <a:srgbClr val="58595B"/>
                          </a:solidFill>
                          <a:latin typeface="Helvetica Regular" pitchFamily="2" charset="0"/>
                          <a:cs typeface="Arial" panose="020B0604020202020204" pitchFamily="34" charset="0"/>
                        </a:rPr>
                        <a:t>Preferred Header Size</a:t>
                      </a:r>
                      <a:endParaRPr lang="en-US" sz="3700" b="0" i="0" dirty="0">
                        <a:ln>
                          <a:noFill/>
                        </a:ln>
                        <a:latin typeface="Helvetica Regular" pitchFamily="2" charset="0"/>
                      </a:endParaRPr>
                    </a:p>
                  </a:txBody>
                  <a:tcPr marL="0" marR="0" marT="0" marB="24384">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rgbClr val="2774A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7412292"/>
                  </a:ext>
                </a:extLst>
              </a:tr>
            </a:tbl>
          </a:graphicData>
        </a:graphic>
      </p:graphicFrame>
      <p:pic>
        <p:nvPicPr>
          <p:cNvPr id="9" name="brand logo-white">
            <a:extLst>
              <a:ext uri="{FF2B5EF4-FFF2-40B4-BE49-F238E27FC236}">
                <a16:creationId xmlns:a16="http://schemas.microsoft.com/office/drawing/2014/main" id="{51676347-45D6-CD47-AAC8-2B1B35815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6152549"/>
            <a:ext cx="1834037" cy="374583"/>
          </a:xfrm>
          <a:prstGeom prst="rect">
            <a:avLst/>
          </a:prstGeom>
        </p:spPr>
      </p:pic>
      <p:sp>
        <p:nvSpPr>
          <p:cNvPr id="11" name="Slide Number Placeholder">
            <a:extLst>
              <a:ext uri="{FF2B5EF4-FFF2-40B4-BE49-F238E27FC236}">
                <a16:creationId xmlns:a16="http://schemas.microsoft.com/office/drawing/2014/main" id="{DA79644A-3B18-374D-AEC4-AF294BA47711}"/>
              </a:ext>
            </a:extLst>
          </p:cNvPr>
          <p:cNvSpPr txBox="1">
            <a:spLocks/>
          </p:cNvSpPr>
          <p:nvPr/>
        </p:nvSpPr>
        <p:spPr>
          <a:xfrm>
            <a:off x="11582400" y="6339840"/>
            <a:ext cx="609600" cy="508922"/>
          </a:xfrm>
          <a:prstGeom prst="rect">
            <a:avLst/>
          </a:prstGeom>
        </p:spPr>
        <p:txBody>
          <a:bodyPr vert="horz" wrap="square" lIns="0" tIns="0" rIns="0" bIns="341376" rtlCol="0" anchor="t" anchorCtr="0">
            <a:spAutoFit/>
          </a:bodyPr>
          <a:lstStyle>
            <a:defPPr>
              <a:defRPr lang="en-US"/>
            </a:defPPr>
            <a:lvl1pPr marL="0" algn="l" defTabSz="685800" rtl="0" eaLnBrk="1" latinLnBrk="0" hangingPunct="1">
              <a:lnSpc>
                <a:spcPct val="100000"/>
              </a:lnSpc>
              <a:defRPr sz="800" b="0" i="0" kern="1200">
                <a:solidFill>
                  <a:srgbClr val="898989"/>
                </a:solidFill>
                <a:latin typeface="Helvetica Regular" pitchFamily="2" charset="0"/>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fld id="{B6238B5B-F19C-E947-A0BC-87BD7983F871}" type="slidenum">
              <a:rPr lang="en-US" sz="1067" smtClean="0">
                <a:solidFill>
                  <a:schemeClr val="bg1"/>
                </a:solidFill>
              </a:rPr>
              <a:pPr/>
              <a:t>‹#›</a:t>
            </a:fld>
            <a:endParaRPr lang="en-US" sz="1067" dirty="0">
              <a:solidFill>
                <a:schemeClr val="bg1"/>
              </a:solidFill>
            </a:endParaRPr>
          </a:p>
        </p:txBody>
      </p:sp>
    </p:spTree>
    <p:extLst>
      <p:ext uri="{BB962C8B-B14F-4D97-AF65-F5344CB8AC3E}">
        <p14:creationId xmlns:p14="http://schemas.microsoft.com/office/powerpoint/2010/main" val="3314835941"/>
      </p:ext>
    </p:extLst>
  </p:cSld>
  <p:clrMap bg1="lt1" tx1="dk1" bg2="lt2" tx2="dk2" accent1="accent1" accent2="accent2" accent3="accent3" accent4="accent4" accent5="accent5" accent6="accent6" hlink="hlink" folHlink="folHlink"/>
  <p:sldLayoutIdLst>
    <p:sldLayoutId id="2147483735" r:id="rId1"/>
  </p:sldLayoutIdLst>
  <p:hf hdr="0" ftr="0"/>
  <p:txStyles>
    <p:titleStyle>
      <a:lvl1pPr algn="l" defTabSz="914377" rtl="0" eaLnBrk="1" latinLnBrk="0" hangingPunct="1">
        <a:lnSpc>
          <a:spcPct val="90000"/>
        </a:lnSpc>
        <a:spcBef>
          <a:spcPct val="0"/>
        </a:spcBef>
        <a:buNone/>
        <a:defRPr sz="3733" b="1" i="0" kern="1200">
          <a:solidFill>
            <a:srgbClr val="58595B"/>
          </a:solidFill>
          <a:latin typeface="Helvetica"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1867" kern="1200">
          <a:solidFill>
            <a:srgbClr val="58595B"/>
          </a:solidFill>
          <a:latin typeface="Helvetica" pitchFamily="2" charset="0"/>
          <a:ea typeface="+mn-ea"/>
          <a:cs typeface="+mn-cs"/>
        </a:defRPr>
      </a:lvl1pPr>
      <a:lvl2pPr marL="457189" indent="0" algn="l" defTabSz="914377" rtl="0" eaLnBrk="1" latinLnBrk="0" hangingPunct="1">
        <a:lnSpc>
          <a:spcPct val="100000"/>
        </a:lnSpc>
        <a:spcBef>
          <a:spcPts val="500"/>
        </a:spcBef>
        <a:buFontTx/>
        <a:buNone/>
        <a:defRPr sz="1867" kern="1200">
          <a:solidFill>
            <a:srgbClr val="58595B"/>
          </a:solidFill>
          <a:latin typeface="Helvetica"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67" b="1" i="0" kern="1200">
          <a:solidFill>
            <a:srgbClr val="58595B"/>
          </a:solidFill>
          <a:latin typeface="Helvetica"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67" kern="1200">
          <a:solidFill>
            <a:srgbClr val="58595B"/>
          </a:solidFill>
          <a:latin typeface="Helvetica"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3408473596"/>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l" rtl="0">
              <a:spcBef>
                <a:spcPts val="0"/>
              </a:spcBef>
              <a:spcAft>
                <a:spcPts val="0"/>
              </a:spcAft>
              <a:buNone/>
            </a:pPr>
            <a:r>
              <a:rPr lang="en-US"/>
              <a:t>a</a:t>
            </a:r>
            <a:fld id="{00000000-1234-1234-1234-123412341234}" type="slidenum">
              <a:rPr lang="en-US" smtClean="0"/>
              <a:t>‹#›</a:t>
            </a:fld>
            <a:endParaRPr/>
          </a:p>
        </p:txBody>
      </p:sp>
    </p:spTree>
    <p:extLst>
      <p:ext uri="{BB962C8B-B14F-4D97-AF65-F5344CB8AC3E}">
        <p14:creationId xmlns:p14="http://schemas.microsoft.com/office/powerpoint/2010/main" val="650863742"/>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3.xml"/><Relationship Id="rId4" Type="http://schemas.openxmlformats.org/officeDocument/2006/relationships/image" Target="../media/image10.pn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8.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448056" y="2468880"/>
            <a:ext cx="10332720" cy="1554480"/>
          </a:xfrm>
        </p:spPr>
        <p:txBody>
          <a:bodyPr/>
          <a:lstStyle/>
          <a:p>
            <a:r>
              <a:rPr sz="5400"/>
              <a:t>Vortex 3.0 Architecture</a:t>
            </a:r>
          </a:p>
        </p:txBody>
      </p:sp>
      <p:sp>
        <p:nvSpPr>
          <p:cNvPr id="3" name="Subtitle 2"/>
          <p:cNvSpPr>
            <a:spLocks noGrp="1"/>
          </p:cNvSpPr>
          <p:nvPr>
            <p:ph type="subTitle" idx="1"/>
          </p:nvPr>
        </p:nvSpPr>
        <p:spPr>
          <a:xfrm>
            <a:off x="1508760" y="4114800"/>
            <a:ext cx="7772400" cy="1280160"/>
          </a:xfrm>
        </p:spPr>
        <p:txBody>
          <a:bodyPr/>
          <a:lstStyle/>
          <a:p>
            <a:r>
              <a:rPr sz="3200" b="1"/>
              <a:t>Blaise Tine</a:t>
            </a:r>
          </a:p>
          <a:p>
            <a:r>
              <a:rPr sz="1800"/>
              <a:t>MICRO-59 Tutorial · November 2026</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pic>
        <p:nvPicPr>
          <p:cNvPr id="5" name="Picture 4" descr="old_s1_Picture_3.png"/>
          <p:cNvPicPr>
            <a:picLocks noChangeAspect="1"/>
          </p:cNvPicPr>
          <p:nvPr/>
        </p:nvPicPr>
        <p:blipFill>
          <a:blip r:embed="rId3"/>
          <a:stretch>
            <a:fillRect/>
          </a:stretch>
        </p:blipFill>
        <p:spPr>
          <a:xfrm>
            <a:off x="448056" y="6153912"/>
            <a:ext cx="1892807" cy="365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Agenda</a:t>
            </a:r>
          </a:p>
        </p:txBody>
      </p:sp>
      <p:sp>
        <p:nvSpPr>
          <p:cNvPr id="3" name="Text Placeholder 2"/>
          <p:cNvSpPr>
            <a:spLocks noGrp="1"/>
          </p:cNvSpPr>
          <p:nvPr>
            <p:ph type="body" idx="1"/>
          </p:nvPr>
        </p:nvSpPr>
        <p:spPr>
          <a:xfrm>
            <a:off x="822960" y="1371600"/>
            <a:ext cx="10515600" cy="4754880"/>
          </a:xfrm>
        </p:spPr>
        <p:txBody>
          <a:bodyPr wrap="square"/>
          <a:lstStyle/>
          <a:p>
            <a:pPr lvl="1" marL="342900" indent="-228600">
              <a:spcBef>
                <a:spcPts val="800"/>
              </a:spcBef>
              <a:buFont typeface="Arial"/>
              <a:buChar char="•"/>
            </a:pPr>
            <a:r>
              <a:rPr sz="2200" b="0" i="0">
                <a:solidFill>
                  <a:srgbClr val="000000"/>
                </a:solidFill>
              </a:rPr>
              <a:t>Platform and what changed in v3.0</a:t>
            </a:r>
          </a:p>
          <a:p>
            <a:pPr lvl="1" marL="342900" indent="-228600">
              <a:spcBef>
                <a:spcPts val="800"/>
              </a:spcBef>
              <a:buFont typeface="Arial"/>
              <a:buChar char="•"/>
            </a:pPr>
            <a:r>
              <a:rPr sz="2200" b="0" i="0">
                <a:solidFill>
                  <a:srgbClr val="000000"/>
                </a:solidFill>
              </a:rPr>
              <a:t>Core pipeline: issue, atomics, FPU, caches, virtual memory</a:t>
            </a:r>
          </a:p>
          <a:p>
            <a:pPr lvl="1" marL="342900" indent="-228600">
              <a:spcBef>
                <a:spcPts val="800"/>
              </a:spcBef>
              <a:buFont typeface="Arial"/>
              <a:buChar char="•"/>
            </a:pPr>
            <a:r>
              <a:rPr sz="2200" b="0" i="0">
                <a:solidFill>
                  <a:srgbClr val="000000"/>
                </a:solidFill>
              </a:rPr>
              <a:t>Control plane: command processor, KMU, CTA dispatch, barriers</a:t>
            </a:r>
          </a:p>
          <a:p>
            <a:pPr lvl="1" marL="342900" indent="-228600">
              <a:spcBef>
                <a:spcPts val="800"/>
              </a:spcBef>
              <a:buFont typeface="Arial"/>
              <a:buChar char="•"/>
            </a:pPr>
            <a:r>
              <a:rPr sz="2200" b="0" i="0">
                <a:solidFill>
                  <a:srgbClr val="000000"/>
                </a:solidFill>
              </a:rPr>
              <a:t>Tensor cores: TFR fused dot product, sparsity, WGMMA; DXA copy engine</a:t>
            </a:r>
          </a:p>
          <a:p>
            <a:pPr lvl="1" marL="342900" indent="-228600">
              <a:spcBef>
                <a:spcPts val="800"/>
              </a:spcBef>
              <a:buFont typeface="Arial"/>
              <a:buChar char="•"/>
            </a:pPr>
            <a:r>
              <a:rPr sz="2200" b="0" i="0">
                <a:solidFill>
                  <a:srgbClr val="000000"/>
                </a:solidFill>
              </a:rPr>
              <a:t>Graphics and ray-tracing units</a:t>
            </a:r>
          </a:p>
          <a:p>
            <a:pPr lvl="1" marL="342900" indent="-228600">
              <a:spcBef>
                <a:spcPts val="800"/>
              </a:spcBef>
              <a:buFont typeface="Arial"/>
              <a:buChar char="•"/>
            </a:pPr>
            <a:r>
              <a:rPr sz="2200" b="0" i="0">
                <a:solidFill>
                  <a:srgbClr val="000000"/>
                </a:solidFill>
              </a:rPr>
              <a:t>Synthesis: what the CI goldens say</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Vortex GPGPU Platform</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pic>
        <p:nvPicPr>
          <p:cNvPr id="5" name="Picture 4" descr="vortex_framework_stack.png"/>
          <p:cNvPicPr>
            <a:picLocks noChangeAspect="1"/>
          </p:cNvPicPr>
          <p:nvPr/>
        </p:nvPicPr>
        <p:blipFill>
          <a:blip r:embed="rId4"/>
          <a:stretch>
            <a:fillRect/>
          </a:stretch>
        </p:blipFill>
        <p:spPr>
          <a:xfrm>
            <a:off x="1155191" y="1234440"/>
            <a:ext cx="9851136" cy="4617720"/>
          </a:xfrm>
          <a:prstGeom prst="rect">
            <a:avLst/>
          </a:prstGeom>
        </p:spPr>
      </p:pic>
      <p:sp>
        <p:nvSpPr>
          <p:cNvPr id="6" name="TextBox 5"/>
          <p:cNvSpPr txBox="1"/>
          <p:nvPr/>
        </p:nvSpPr>
        <p:spPr>
          <a:xfrm>
            <a:off x="548640" y="5870448"/>
            <a:ext cx="11064240" cy="274320"/>
          </a:xfrm>
          <a:prstGeom prst="rect">
            <a:avLst/>
          </a:prstGeom>
          <a:noFill/>
        </p:spPr>
        <p:txBody>
          <a:bodyPr wrap="square" lIns="27432" rIns="27432" tIns="27432" bIns="27432" anchor="t">
            <a:spAutoFit/>
          </a:bodyPr>
          <a:lstStyle/>
          <a:p>
            <a:pPr algn="ctr"/>
            <a:r>
              <a:rPr sz="950" b="0" i="1">
                <a:solidFill>
                  <a:srgbClr val="555555"/>
                </a:solidFill>
              </a:rPr>
              <a:t>Vortex 3.0 framework stack — docs/assets/img/vortex_framework_stack.svg (github.com/vortexgpgpu/vortex)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What's New in Vortex 3.0</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685800" y="1280160"/>
            <a:ext cx="3611880" cy="292608"/>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000000"/>
                </a:solidFill>
              </a:rPr>
              <a:t>Compute</a:t>
            </a:r>
          </a:p>
        </p:txBody>
      </p:sp>
      <p:sp>
        <p:nvSpPr>
          <p:cNvPr id="6" name="TextBox 5"/>
          <p:cNvSpPr txBox="1"/>
          <p:nvPr/>
        </p:nvSpPr>
        <p:spPr>
          <a:xfrm>
            <a:off x="731520" y="1627631"/>
            <a:ext cx="3520440" cy="1965960"/>
          </a:xfrm>
          <a:prstGeom prst="rect">
            <a:avLst/>
          </a:prstGeom>
          <a:noFill/>
        </p:spPr>
        <p:txBody>
          <a:bodyPr wrap="square" lIns="27432" rIns="27432" tIns="27432" bIns="27432" anchor="t">
            <a:spAutoFit/>
          </a:bodyPr>
          <a:lstStyle/>
          <a:p>
            <a:pPr algn="l"/>
            <a:r>
              <a:rPr sz="1200" b="0" i="0">
                <a:solidFill>
                  <a:srgbClr val="000000"/>
                </a:solidFill>
              </a:rPr>
              <a:t>• TFR tensor backend: FP8/BF8/TF32 (+fp16/bf16/i8/i4)</a:t>
            </a:r>
          </a:p>
          <a:p>
            <a:pPr algn="l"/>
            <a:r>
              <a:rPr sz="1200" b="0" i="0">
                <a:solidFill>
                  <a:srgbClr val="000000"/>
                </a:solidFill>
              </a:rPr>
              <a:t>• 2:4 structured sparsity, WGMMA</a:t>
            </a:r>
          </a:p>
          <a:p>
            <a:pPr algn="l"/>
            <a:r>
              <a:rPr sz="1200" b="0" i="0">
                <a:solidFill>
                  <a:srgbClr val="000000"/>
                </a:solidFill>
              </a:rPr>
              <a:t>• DXA async global→local copies + multicast</a:t>
            </a:r>
          </a:p>
          <a:p>
            <a:pPr algn="l"/>
            <a:r>
              <a:rPr sz="1200" b="0" i="0">
                <a:solidFill>
                  <a:srgbClr val="000000"/>
                </a:solidFill>
              </a:rPr>
              <a:t>• Async barriers: arrive / wait / expect_tx</a:t>
            </a:r>
          </a:p>
          <a:p>
            <a:pPr algn="l"/>
            <a:r>
              <a:rPr sz="1200" b="0" i="0">
                <a:solidFill>
                  <a:srgbClr val="000000"/>
                </a:solidFill>
              </a:rPr>
              <a:t>• In-house IEEE FPU, F32 + F64 (no FPnew)</a:t>
            </a:r>
          </a:p>
          <a:p>
            <a:pPr algn="l"/>
            <a:r>
              <a:rPr sz="1200" b="0" i="0">
                <a:solidFill>
                  <a:srgbClr val="000000"/>
                </a:solidFill>
              </a:rPr>
              <a:t>• RISC-V A (atomics), C (RVC), Zicond, pack-loads</a:t>
            </a:r>
          </a:p>
        </p:txBody>
      </p:sp>
      <p:sp>
        <p:nvSpPr>
          <p:cNvPr id="7" name="Rectangle 6"/>
          <p:cNvSpPr/>
          <p:nvPr/>
        </p:nvSpPr>
        <p:spPr>
          <a:xfrm>
            <a:off x="4434840" y="1280160"/>
            <a:ext cx="3611880" cy="292608"/>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000000"/>
                </a:solidFill>
              </a:rPr>
              <a:t>Control plane</a:t>
            </a:r>
          </a:p>
        </p:txBody>
      </p:sp>
      <p:sp>
        <p:nvSpPr>
          <p:cNvPr id="8" name="TextBox 7"/>
          <p:cNvSpPr txBox="1"/>
          <p:nvPr/>
        </p:nvSpPr>
        <p:spPr>
          <a:xfrm>
            <a:off x="4480560" y="1627631"/>
            <a:ext cx="3520440" cy="1965960"/>
          </a:xfrm>
          <a:prstGeom prst="rect">
            <a:avLst/>
          </a:prstGeom>
          <a:noFill/>
        </p:spPr>
        <p:txBody>
          <a:bodyPr wrap="square" lIns="27432" rIns="27432" tIns="27432" bIns="27432" anchor="t">
            <a:spAutoFit/>
          </a:bodyPr>
          <a:lstStyle/>
          <a:p>
            <a:pPr algn="l"/>
            <a:r>
              <a:rPr sz="1200" b="0" i="0">
                <a:solidFill>
                  <a:srgbClr val="000000"/>
                </a:solidFill>
              </a:rPr>
              <a:t>• Command Processor v3: host-resident ring</a:t>
            </a:r>
          </a:p>
          <a:p>
            <a:pPr algn="l"/>
            <a:r>
              <a:rPr sz="1200" b="0" i="0">
                <a:solidFill>
                  <a:srgbClr val="000000"/>
                </a:solidFill>
              </a:rPr>
              <a:t>• KMU hardware kernel scheduler, CTA clustering</a:t>
            </a:r>
          </a:p>
          <a:p>
            <a:pPr algn="l"/>
            <a:r>
              <a:rPr sz="1200" b="0" i="0">
                <a:solidFill>
                  <a:srgbClr val="000000"/>
                </a:solidFill>
              </a:rPr>
              <a:t>• vortex2.h async runtime: queues, events, modules</a:t>
            </a:r>
          </a:p>
          <a:p>
            <a:pPr algn="l"/>
            <a:r>
              <a:rPr sz="1200" b="0" i="0">
                <a:solidFill>
                  <a:srgbClr val="000000"/>
                </a:solidFill>
              </a:rPr>
              <a:t>• Multi-kernel .vxbin (VXSYMTAB)</a:t>
            </a:r>
          </a:p>
          <a:p>
            <a:pPr algn="l"/>
            <a:r>
              <a:rPr sz="1200" b="0" i="0">
                <a:solidFill>
                  <a:srgbClr val="000000"/>
                </a:solidFill>
              </a:rPr>
              <a:t>• Trap/exception foundation (ECALL/EBREAK/MRET)</a:t>
            </a:r>
          </a:p>
        </p:txBody>
      </p:sp>
      <p:sp>
        <p:nvSpPr>
          <p:cNvPr id="9" name="Rectangle 8"/>
          <p:cNvSpPr/>
          <p:nvPr/>
        </p:nvSpPr>
        <p:spPr>
          <a:xfrm>
            <a:off x="8183880" y="1280160"/>
            <a:ext cx="3611880" cy="292608"/>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000000"/>
                </a:solidFill>
              </a:rPr>
              <a:t>Graphics</a:t>
            </a:r>
          </a:p>
        </p:txBody>
      </p:sp>
      <p:sp>
        <p:nvSpPr>
          <p:cNvPr id="10" name="TextBox 9"/>
          <p:cNvSpPr txBox="1"/>
          <p:nvPr/>
        </p:nvSpPr>
        <p:spPr>
          <a:xfrm>
            <a:off x="8229600" y="1627631"/>
            <a:ext cx="3520440" cy="1965960"/>
          </a:xfrm>
          <a:prstGeom prst="rect">
            <a:avLst/>
          </a:prstGeom>
          <a:noFill/>
        </p:spPr>
        <p:txBody>
          <a:bodyPr wrap="square" lIns="27432" rIns="27432" tIns="27432" bIns="27432" anchor="t">
            <a:spAutoFit/>
          </a:bodyPr>
          <a:lstStyle/>
          <a:p>
            <a:pPr algn="l"/>
            <a:r>
              <a:rPr sz="1200" b="0" i="0">
                <a:solidFill>
                  <a:srgbClr val="000000"/>
                </a:solidFill>
              </a:rPr>
              <a:t>• RASTER / TEX / OM fixed-function pipeline</a:t>
            </a:r>
          </a:p>
          <a:p>
            <a:pPr algn="l"/>
            <a:r>
              <a:rPr sz="1200" b="0" i="0">
                <a:solidFill>
                  <a:srgbClr val="000000"/>
                </a:solidFill>
              </a:rPr>
              <a:t>• Ray-tracing unit (RTU): BVH traversal in HW</a:t>
            </a:r>
          </a:p>
          <a:p>
            <a:pPr algn="l"/>
            <a:r>
              <a:rPr sz="1200" b="0" i="0">
                <a:solidFill>
                  <a:srgbClr val="000000"/>
                </a:solidFill>
              </a:rPr>
              <a:t>• Vulkan via Mesa Gallium driver vortexpipe</a:t>
            </a:r>
          </a:p>
          <a:p>
            <a:pPr algn="l"/>
            <a:r>
              <a:rPr sz="1200" b="0" i="0">
                <a:solidFill>
                  <a:srgbClr val="000000"/>
                </a:solidFill>
              </a:rPr>
              <a:t>• OpenCL images on the TEX fast path</a:t>
            </a:r>
          </a:p>
        </p:txBody>
      </p:sp>
      <p:sp>
        <p:nvSpPr>
          <p:cNvPr id="11" name="Rectangle 10"/>
          <p:cNvSpPr/>
          <p:nvPr/>
        </p:nvSpPr>
        <p:spPr>
          <a:xfrm>
            <a:off x="685800" y="3749039"/>
            <a:ext cx="3611880" cy="292608"/>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000000"/>
                </a:solidFill>
              </a:rPr>
              <a:t>Memory</a:t>
            </a:r>
          </a:p>
        </p:txBody>
      </p:sp>
      <p:sp>
        <p:nvSpPr>
          <p:cNvPr id="12" name="TextBox 11"/>
          <p:cNvSpPr txBox="1"/>
          <p:nvPr/>
        </p:nvSpPr>
        <p:spPr>
          <a:xfrm>
            <a:off x="731520" y="4096511"/>
            <a:ext cx="3520440" cy="1965960"/>
          </a:xfrm>
          <a:prstGeom prst="rect">
            <a:avLst/>
          </a:prstGeom>
          <a:noFill/>
        </p:spPr>
        <p:txBody>
          <a:bodyPr wrap="square" lIns="27432" rIns="27432" tIns="27432" bIns="27432" anchor="t">
            <a:spAutoFit/>
          </a:bodyPr>
          <a:lstStyle/>
          <a:p>
            <a:pPr algn="l"/>
            <a:r>
              <a:rPr sz="1200" b="0" i="0">
                <a:solidFill>
                  <a:srgbClr val="000000"/>
                </a:solidFill>
              </a:rPr>
              <a:t>• Sectored L2/L3 (one tag per 2 blocks)</a:t>
            </a:r>
          </a:p>
          <a:p>
            <a:pPr algn="l"/>
            <a:r>
              <a:rPr sz="1200" b="0" i="0">
                <a:solidFill>
                  <a:srgbClr val="000000"/>
                </a:solidFill>
              </a:rPr>
              <a:t>• Cache fill-forwarding (FILL_FORWARD)</a:t>
            </a:r>
          </a:p>
          <a:p>
            <a:pPr algn="l"/>
            <a:r>
              <a:rPr sz="1200" b="0" i="0">
                <a:solidFill>
                  <a:srgbClr val="000000"/>
                </a:solidFill>
              </a:rPr>
              <a:t>• MMU v2: socket TLBs, cluster L2 TLB, 2-walker PTW</a:t>
            </a:r>
          </a:p>
          <a:p>
            <a:pPr algn="l"/>
            <a:r>
              <a:rPr sz="1200" b="0" i="0">
                <a:solidFill>
                  <a:srgbClr val="000000"/>
                </a:solidFill>
              </a:rPr>
              <a:t>• LMEM and ALU/LSU/FPU scale with NT / issue width</a:t>
            </a:r>
          </a:p>
        </p:txBody>
      </p:sp>
      <p:sp>
        <p:nvSpPr>
          <p:cNvPr id="13" name="Rectangle 12"/>
          <p:cNvSpPr/>
          <p:nvPr/>
        </p:nvSpPr>
        <p:spPr>
          <a:xfrm>
            <a:off x="4434840" y="3749039"/>
            <a:ext cx="3611880" cy="292608"/>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000000"/>
                </a:solidFill>
              </a:rPr>
              <a:t>Software</a:t>
            </a:r>
          </a:p>
        </p:txBody>
      </p:sp>
      <p:sp>
        <p:nvSpPr>
          <p:cNvPr id="14" name="TextBox 13"/>
          <p:cNvSpPr txBox="1"/>
          <p:nvPr/>
        </p:nvSpPr>
        <p:spPr>
          <a:xfrm>
            <a:off x="4480560" y="4096511"/>
            <a:ext cx="3520440" cy="1965960"/>
          </a:xfrm>
          <a:prstGeom prst="rect">
            <a:avLst/>
          </a:prstGeom>
          <a:noFill/>
        </p:spPr>
        <p:txBody>
          <a:bodyPr wrap="square" lIns="27432" rIns="27432" tIns="27432" bIns="27432" anchor="t">
            <a:spAutoFit/>
          </a:bodyPr>
          <a:lstStyle/>
          <a:p>
            <a:pPr algn="l"/>
            <a:r>
              <a:rPr sz="1200" b="0" i="0">
                <a:solidFill>
                  <a:srgbClr val="000000"/>
                </a:solidFill>
              </a:rPr>
              <a:t>• LLVM 20 (VOLT), POCL 7.0, chipStar HIP (rv32+rv64)</a:t>
            </a:r>
          </a:p>
          <a:p>
            <a:pPr algn="l"/>
            <a:r>
              <a:rPr sz="1200" b="0" i="0">
                <a:solidFill>
                  <a:srgbClr val="000000"/>
                </a:solidFill>
              </a:rPr>
              <a:t>• Rodinia + atomics benchmarks in CI</a:t>
            </a:r>
          </a:p>
          <a:p>
            <a:pPr algn="l"/>
            <a:r>
              <a:rPr sz="1200" b="0" i="0">
                <a:solidFill>
                  <a:srgbClr val="000000"/>
                </a:solidFill>
              </a:rPr>
              <a:t>• SDK install layout, $VORTEX_PATH + pkg-config</a:t>
            </a:r>
          </a:p>
        </p:txBody>
      </p:sp>
      <p:sp>
        <p:nvSpPr>
          <p:cNvPr id="15" name="Rectangle 14"/>
          <p:cNvSpPr/>
          <p:nvPr/>
        </p:nvSpPr>
        <p:spPr>
          <a:xfrm>
            <a:off x="8183880" y="3749039"/>
            <a:ext cx="3611880" cy="292608"/>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200" b="1" i="0">
                <a:solidFill>
                  <a:srgbClr val="000000"/>
                </a:solidFill>
              </a:rPr>
              <a:t>Infrastructure</a:t>
            </a:r>
          </a:p>
        </p:txBody>
      </p:sp>
      <p:sp>
        <p:nvSpPr>
          <p:cNvPr id="16" name="TextBox 15"/>
          <p:cNvSpPr txBox="1"/>
          <p:nvPr/>
        </p:nvSpPr>
        <p:spPr>
          <a:xfrm>
            <a:off x="8229600" y="4096511"/>
            <a:ext cx="3520440" cy="1965960"/>
          </a:xfrm>
          <a:prstGeom prst="rect">
            <a:avLst/>
          </a:prstGeom>
          <a:noFill/>
        </p:spPr>
        <p:txBody>
          <a:bodyPr wrap="square" lIns="27432" rIns="27432" tIns="27432" bIns="27432" anchor="t">
            <a:spAutoFit/>
          </a:bodyPr>
          <a:lstStyle/>
          <a:p>
            <a:pPr algn="l"/>
            <a:r>
              <a:rPr sz="1200" b="0" i="0">
                <a:solidFill>
                  <a:srgbClr val="000000"/>
                </a:solidFill>
              </a:rPr>
              <a:t>• TOML build config, VX_CFG_ namespace</a:t>
            </a:r>
          </a:p>
          <a:p>
            <a:pPr algn="l"/>
            <a:r>
              <a:rPr sz="1200" b="0" i="0">
                <a:solidFill>
                  <a:srgbClr val="000000"/>
                </a:solidFill>
              </a:rPr>
              <a:t>• SimX v3 TLM, multi-threaded, functional mode</a:t>
            </a:r>
          </a:p>
          <a:p>
            <a:pPr algn="l"/>
            <a:r>
              <a:rPr sz="1200" b="0" i="0">
                <a:solidFill>
                  <a:srgbClr val="000000"/>
                </a:solidFill>
              </a:rPr>
              <a:t>• gem5, SST, FireSim (U55C), Alveo V80 (aved)</a:t>
            </a:r>
          </a:p>
          <a:p>
            <a:pPr algn="l"/>
            <a:r>
              <a:rPr sz="1200" b="0" i="0">
                <a:solidFill>
                  <a:srgbClr val="000000"/>
                </a:solidFill>
              </a:rPr>
              <a:t>• Yosys+OpenSTA &amp; DC multi-PDK ASIC flows</a:t>
            </a:r>
          </a:p>
          <a:p>
            <a:pPr algn="l"/>
            <a:r>
              <a:rPr sz="1200" b="0" i="0">
                <a:solidFill>
                  <a:srgbClr val="000000"/>
                </a:solidFill>
              </a:rPr>
              <a:t>• CI gates: parity, perf, FPGA, ASIC · Perfetto · AGENTS.md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GPU Hierarchy in v3.0</a:t>
            </a:r>
          </a:p>
        </p:txBody>
      </p:sp>
      <p:sp>
        <p:nvSpPr>
          <p:cNvPr id="3" name="Text Placeholder 2"/>
          <p:cNvSpPr>
            <a:spLocks noGrp="1"/>
          </p:cNvSpPr>
          <p:nvPr>
            <p:ph type="body" idx="1"/>
          </p:nvPr>
        </p:nvSpPr>
        <p:spPr>
          <a:xfrm>
            <a:off x="731520" y="1234440"/>
            <a:ext cx="4206240" cy="4937760"/>
          </a:xfrm>
        </p:spPr>
        <p:txBody>
          <a:bodyPr wrap="square"/>
          <a:lstStyle/>
          <a:p>
            <a:pPr marL="0" indent="0">
              <a:spcBef>
                <a:spcPts val="500"/>
              </a:spcBef>
              <a:buNone/>
            </a:pPr>
            <a:r>
              <a:rPr sz="1400" b="1" i="0">
                <a:solidFill>
                  <a:srgbClr val="1F394D"/>
                </a:solidFill>
              </a:rPr>
              <a:t>Processor</a:t>
            </a:r>
          </a:p>
          <a:p>
            <a:pPr lvl="1" marL="342900" indent="-228600">
              <a:spcBef>
                <a:spcPts val="100"/>
              </a:spcBef>
              <a:buFont typeface="Arial"/>
              <a:buChar char="•"/>
            </a:pPr>
            <a:r>
              <a:rPr sz="1200" b="0" i="0">
                <a:solidFill>
                  <a:srgbClr val="000000"/>
                </a:solidFill>
              </a:rPr>
              <a:t>CP: command ring → DMA / DCR / launch / events</a:t>
            </a:r>
          </a:p>
          <a:p>
            <a:pPr lvl="1" marL="342900" indent="-228600">
              <a:spcBef>
                <a:spcPts val="100"/>
              </a:spcBef>
              <a:buFont typeface="Arial"/>
              <a:buChar char="•"/>
            </a:pPr>
            <a:r>
              <a:rPr sz="1200" b="0" i="0">
                <a:solidFill>
                  <a:srgbClr val="000000"/>
                </a:solidFill>
              </a:rPr>
              <a:t>KMU: grid walk, launch-bus tree (VX_kmu_bus_arb)</a:t>
            </a:r>
          </a:p>
          <a:p>
            <a:pPr lvl="1" marL="342900" indent="-228600">
              <a:spcBef>
                <a:spcPts val="100"/>
              </a:spcBef>
              <a:buFont typeface="Arial"/>
              <a:buChar char="•"/>
            </a:pPr>
            <a:r>
              <a:rPr sz="1200" b="0" i="0">
                <a:solidFill>
                  <a:srgbClr val="000000"/>
                </a:solidFill>
              </a:rPr>
              <a:t>Global barrier arbiter, DCR bus, optional L3</a:t>
            </a:r>
          </a:p>
          <a:p>
            <a:pPr marL="0" indent="0">
              <a:spcBef>
                <a:spcPts val="500"/>
              </a:spcBef>
              <a:buNone/>
            </a:pPr>
            <a:r>
              <a:rPr sz="1400" b="1" i="0">
                <a:solidFill>
                  <a:srgbClr val="1F394D"/>
                </a:solidFill>
              </a:rPr>
              <a:t>Cluster</a:t>
            </a:r>
          </a:p>
          <a:p>
            <a:pPr lvl="1" marL="342900" indent="-228600">
              <a:spcBef>
                <a:spcPts val="100"/>
              </a:spcBef>
              <a:buFont typeface="Arial"/>
              <a:buChar char="•"/>
            </a:pPr>
            <a:r>
              <a:rPr sz="1200" b="0" i="0">
                <a:solidFill>
                  <a:srgbClr val="000000"/>
                </a:solidFill>
              </a:rPr>
              <a:t>Shared L2 (sectored), DXA core, RASTER + OM</a:t>
            </a:r>
          </a:p>
          <a:p>
            <a:pPr lvl="1" marL="342900" indent="-228600">
              <a:spcBef>
                <a:spcPts val="100"/>
              </a:spcBef>
              <a:buFont typeface="Arial"/>
              <a:buChar char="•"/>
            </a:pPr>
            <a:r>
              <a:rPr sz="1200" b="0" i="0">
                <a:solidFill>
                  <a:srgbClr val="000000"/>
                </a:solidFill>
              </a:rPr>
              <a:t>Cluster L2 TLB + 2-walker PTW (VM)</a:t>
            </a:r>
          </a:p>
          <a:p>
            <a:pPr marL="0" indent="0">
              <a:spcBef>
                <a:spcPts val="500"/>
              </a:spcBef>
              <a:buNone/>
            </a:pPr>
            <a:r>
              <a:rPr sz="1400" b="1" i="0">
                <a:solidFill>
                  <a:srgbClr val="1F394D"/>
                </a:solidFill>
              </a:rPr>
              <a:t>Socket</a:t>
            </a:r>
          </a:p>
          <a:p>
            <a:pPr lvl="1" marL="342900" indent="-228600">
              <a:spcBef>
                <a:spcPts val="100"/>
              </a:spcBef>
              <a:buFont typeface="Arial"/>
              <a:buChar char="•"/>
            </a:pPr>
            <a:r>
              <a:rPr sz="1200" b="0" i="0">
                <a:solidFill>
                  <a:srgbClr val="000000"/>
                </a:solidFill>
              </a:rPr>
              <a:t>L1 I/D caches (shared by SOCKET_SIZE cores)</a:t>
            </a:r>
          </a:p>
          <a:p>
            <a:pPr lvl="1" marL="342900" indent="-228600">
              <a:spcBef>
                <a:spcPts val="100"/>
              </a:spcBef>
              <a:buFont typeface="Arial"/>
              <a:buChar char="•"/>
            </a:pPr>
            <a:r>
              <a:rPr sz="1200" b="0" i="0">
                <a:solidFill>
                  <a:srgbClr val="000000"/>
                </a:solidFill>
              </a:rPr>
              <a:t>TEX core, RTU core, dMMU / iMMU</a:t>
            </a:r>
          </a:p>
          <a:p>
            <a:pPr marL="0" indent="0">
              <a:spcBef>
                <a:spcPts val="500"/>
              </a:spcBef>
              <a:buNone/>
            </a:pPr>
            <a:r>
              <a:rPr sz="1400" b="1" i="0">
                <a:solidFill>
                  <a:srgbClr val="1F394D"/>
                </a:solidFill>
              </a:rPr>
              <a:t>Core</a:t>
            </a:r>
          </a:p>
          <a:p>
            <a:pPr lvl="1" marL="342900" indent="-228600">
              <a:spcBef>
                <a:spcPts val="100"/>
              </a:spcBef>
              <a:buFont typeface="Arial"/>
              <a:buChar char="•"/>
            </a:pPr>
            <a:r>
              <a:rPr sz="1200" b="0" i="0">
                <a:solidFill>
                  <a:srgbClr val="000000"/>
                </a:solidFill>
              </a:rPr>
              <a:t>6-stage SIMT pipeline, LMEM, bar unit</a:t>
            </a:r>
          </a:p>
          <a:p>
            <a:pPr lvl="1" marL="342900" indent="-228600">
              <a:spcBef>
                <a:spcPts val="100"/>
              </a:spcBef>
              <a:buFont typeface="Arial"/>
              <a:buChar char="•"/>
            </a:pPr>
            <a:r>
              <a:rPr sz="1200" b="0" i="0">
                <a:solidFill>
                  <a:srgbClr val="000000"/>
                </a:solidFill>
              </a:rPr>
              <a:t>CTA dispatcher (per-core slots), TCU blocks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5120640" y="1280160"/>
            <a:ext cx="6492240" cy="4846320"/>
          </a:xfrm>
          <a:prstGeom prst="rect">
            <a:avLst/>
          </a:prstGeom>
          <a:solidFill>
            <a:srgbClr val="F4F6F9"/>
          </a:solidFill>
          <a:ln w="9525">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5166359" y="1298448"/>
            <a:ext cx="6400800" cy="228600"/>
          </a:xfrm>
          <a:prstGeom prst="rect">
            <a:avLst/>
          </a:prstGeom>
          <a:noFill/>
        </p:spPr>
        <p:txBody>
          <a:bodyPr wrap="square" lIns="27432" rIns="27432" tIns="27432" bIns="27432" anchor="t">
            <a:spAutoFit/>
          </a:bodyPr>
          <a:lstStyle/>
          <a:p>
            <a:pPr algn="l"/>
            <a:r>
              <a:rPr sz="1000" b="1" i="0">
                <a:solidFill>
                  <a:srgbClr val="404040"/>
                </a:solidFill>
              </a:rPr>
              <a:t>Processor</a:t>
            </a:r>
          </a:p>
        </p:txBody>
      </p:sp>
      <p:sp>
        <p:nvSpPr>
          <p:cNvPr id="7" name="Rectangle 6"/>
          <p:cNvSpPr/>
          <p:nvPr/>
        </p:nvSpPr>
        <p:spPr>
          <a:xfrm>
            <a:off x="5257800" y="1572768"/>
            <a:ext cx="1485900" cy="41148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Command Processor (CP)</a:t>
            </a:r>
          </a:p>
        </p:txBody>
      </p:sp>
      <p:sp>
        <p:nvSpPr>
          <p:cNvPr id="8" name="Rectangle 7"/>
          <p:cNvSpPr/>
          <p:nvPr/>
        </p:nvSpPr>
        <p:spPr>
          <a:xfrm>
            <a:off x="6835140" y="1572768"/>
            <a:ext cx="1485900" cy="41148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KMU + launch bus</a:t>
            </a:r>
          </a:p>
        </p:txBody>
      </p:sp>
      <p:sp>
        <p:nvSpPr>
          <p:cNvPr id="9" name="Rectangle 8"/>
          <p:cNvSpPr/>
          <p:nvPr/>
        </p:nvSpPr>
        <p:spPr>
          <a:xfrm>
            <a:off x="8412480" y="1572768"/>
            <a:ext cx="1485900" cy="41148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GBAR / DCR</a:t>
            </a:r>
          </a:p>
        </p:txBody>
      </p:sp>
      <p:sp>
        <p:nvSpPr>
          <p:cNvPr id="10" name="Rectangle 9"/>
          <p:cNvSpPr/>
          <p:nvPr/>
        </p:nvSpPr>
        <p:spPr>
          <a:xfrm>
            <a:off x="9989820" y="1572768"/>
            <a:ext cx="1485900" cy="41148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L3 cache (opt.)</a:t>
            </a:r>
          </a:p>
        </p:txBody>
      </p:sp>
      <p:sp>
        <p:nvSpPr>
          <p:cNvPr id="11" name="Rectangle 10"/>
          <p:cNvSpPr/>
          <p:nvPr/>
        </p:nvSpPr>
        <p:spPr>
          <a:xfrm>
            <a:off x="5257800" y="2103120"/>
            <a:ext cx="6217920" cy="3886200"/>
          </a:xfrm>
          <a:prstGeom prst="rect">
            <a:avLst/>
          </a:prstGeom>
          <a:solidFill>
            <a:srgbClr val="EEF3F8"/>
          </a:solidFill>
          <a:ln w="9525">
            <a:solidFill>
              <a:srgbClr val="7B93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12" name="TextBox 11"/>
          <p:cNvSpPr txBox="1"/>
          <p:nvPr/>
        </p:nvSpPr>
        <p:spPr>
          <a:xfrm>
            <a:off x="5303520" y="2121408"/>
            <a:ext cx="6126480" cy="228600"/>
          </a:xfrm>
          <a:prstGeom prst="rect">
            <a:avLst/>
          </a:prstGeom>
          <a:noFill/>
        </p:spPr>
        <p:txBody>
          <a:bodyPr wrap="square" lIns="27432" rIns="27432" tIns="27432" bIns="27432" anchor="t">
            <a:spAutoFit/>
          </a:bodyPr>
          <a:lstStyle/>
          <a:p>
            <a:pPr algn="l"/>
            <a:r>
              <a:rPr sz="1000" b="1" i="0">
                <a:solidFill>
                  <a:srgbClr val="404040"/>
                </a:solidFill>
              </a:rPr>
              <a:t>Cluster  (× NUM_CLUSTERS)</a:t>
            </a:r>
          </a:p>
        </p:txBody>
      </p:sp>
      <p:sp>
        <p:nvSpPr>
          <p:cNvPr id="13" name="Rectangle 12"/>
          <p:cNvSpPr/>
          <p:nvPr/>
        </p:nvSpPr>
        <p:spPr>
          <a:xfrm>
            <a:off x="5394959" y="2377439"/>
            <a:ext cx="1130198" cy="384048"/>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L2 cache (sectored)</a:t>
            </a:r>
          </a:p>
        </p:txBody>
      </p:sp>
      <p:sp>
        <p:nvSpPr>
          <p:cNvPr id="14" name="Rectangle 13"/>
          <p:cNvSpPr/>
          <p:nvPr/>
        </p:nvSpPr>
        <p:spPr>
          <a:xfrm>
            <a:off x="6598310" y="2377439"/>
            <a:ext cx="1130198" cy="384048"/>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DXA core</a:t>
            </a:r>
          </a:p>
        </p:txBody>
      </p:sp>
      <p:sp>
        <p:nvSpPr>
          <p:cNvPr id="15" name="Rectangle 14"/>
          <p:cNvSpPr/>
          <p:nvPr/>
        </p:nvSpPr>
        <p:spPr>
          <a:xfrm>
            <a:off x="7801660" y="2377439"/>
            <a:ext cx="1130198" cy="384048"/>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RASTER</a:t>
            </a:r>
          </a:p>
        </p:txBody>
      </p:sp>
      <p:sp>
        <p:nvSpPr>
          <p:cNvPr id="16" name="Rectangle 15"/>
          <p:cNvSpPr/>
          <p:nvPr/>
        </p:nvSpPr>
        <p:spPr>
          <a:xfrm>
            <a:off x="9005011" y="2377439"/>
            <a:ext cx="1130198" cy="384048"/>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OM</a:t>
            </a:r>
          </a:p>
        </p:txBody>
      </p:sp>
      <p:sp>
        <p:nvSpPr>
          <p:cNvPr id="17" name="Rectangle 16"/>
          <p:cNvSpPr/>
          <p:nvPr/>
        </p:nvSpPr>
        <p:spPr>
          <a:xfrm>
            <a:off x="10208361" y="2377439"/>
            <a:ext cx="1130198" cy="384048"/>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L2 TLB + PTW</a:t>
            </a:r>
          </a:p>
        </p:txBody>
      </p:sp>
      <p:sp>
        <p:nvSpPr>
          <p:cNvPr id="18" name="Rectangle 17"/>
          <p:cNvSpPr/>
          <p:nvPr/>
        </p:nvSpPr>
        <p:spPr>
          <a:xfrm>
            <a:off x="5394959" y="2880360"/>
            <a:ext cx="5943600" cy="2971800"/>
          </a:xfrm>
          <a:prstGeom prst="rect">
            <a:avLst/>
          </a:prstGeom>
          <a:solidFill>
            <a:srgbClr val="E8F0F7"/>
          </a:solidFill>
          <a:ln w="9525">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19" name="TextBox 18"/>
          <p:cNvSpPr txBox="1"/>
          <p:nvPr/>
        </p:nvSpPr>
        <p:spPr>
          <a:xfrm>
            <a:off x="5440679" y="2898648"/>
            <a:ext cx="5852160" cy="228600"/>
          </a:xfrm>
          <a:prstGeom prst="rect">
            <a:avLst/>
          </a:prstGeom>
          <a:noFill/>
        </p:spPr>
        <p:txBody>
          <a:bodyPr wrap="square" lIns="27432" rIns="27432" tIns="27432" bIns="27432" anchor="t">
            <a:spAutoFit/>
          </a:bodyPr>
          <a:lstStyle/>
          <a:p>
            <a:pPr algn="l"/>
            <a:r>
              <a:rPr sz="1000" b="1" i="0">
                <a:solidFill>
                  <a:srgbClr val="404040"/>
                </a:solidFill>
              </a:rPr>
              <a:t>Socket  (× NUM_SOCKETS)</a:t>
            </a:r>
          </a:p>
        </p:txBody>
      </p:sp>
      <p:sp>
        <p:nvSpPr>
          <p:cNvPr id="20" name="Rectangle 19"/>
          <p:cNvSpPr/>
          <p:nvPr/>
        </p:nvSpPr>
        <p:spPr>
          <a:xfrm>
            <a:off x="5532120" y="3154679"/>
            <a:ext cx="1362456" cy="384048"/>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L1 I$ / D$</a:t>
            </a:r>
          </a:p>
        </p:txBody>
      </p:sp>
      <p:sp>
        <p:nvSpPr>
          <p:cNvPr id="21" name="Rectangle 20"/>
          <p:cNvSpPr/>
          <p:nvPr/>
        </p:nvSpPr>
        <p:spPr>
          <a:xfrm>
            <a:off x="6967728" y="3154679"/>
            <a:ext cx="1362456" cy="384048"/>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TEX core + tcache</a:t>
            </a:r>
          </a:p>
        </p:txBody>
      </p:sp>
      <p:sp>
        <p:nvSpPr>
          <p:cNvPr id="22" name="Rectangle 21"/>
          <p:cNvSpPr/>
          <p:nvPr/>
        </p:nvSpPr>
        <p:spPr>
          <a:xfrm>
            <a:off x="8403336" y="3154679"/>
            <a:ext cx="1362456" cy="384048"/>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RTU core + rtcache</a:t>
            </a:r>
          </a:p>
        </p:txBody>
      </p:sp>
      <p:sp>
        <p:nvSpPr>
          <p:cNvPr id="23" name="Rectangle 22"/>
          <p:cNvSpPr/>
          <p:nvPr/>
        </p:nvSpPr>
        <p:spPr>
          <a:xfrm>
            <a:off x="9838944" y="3154679"/>
            <a:ext cx="1362456" cy="384048"/>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dMMU / iMMU</a:t>
            </a:r>
          </a:p>
        </p:txBody>
      </p:sp>
      <p:sp>
        <p:nvSpPr>
          <p:cNvPr id="24" name="Rectangle 23"/>
          <p:cNvSpPr/>
          <p:nvPr/>
        </p:nvSpPr>
        <p:spPr>
          <a:xfrm>
            <a:off x="5532120" y="3657600"/>
            <a:ext cx="1828800" cy="2103120"/>
          </a:xfrm>
          <a:prstGeom prst="rect">
            <a:avLst/>
          </a:prstGeom>
          <a:solidFill>
            <a:srgbClr val="FFFBE6"/>
          </a:solidFill>
          <a:ln w="9525">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5" name="TextBox 24"/>
          <p:cNvSpPr txBox="1"/>
          <p:nvPr/>
        </p:nvSpPr>
        <p:spPr>
          <a:xfrm>
            <a:off x="5577840" y="3675887"/>
            <a:ext cx="1737360" cy="228600"/>
          </a:xfrm>
          <a:prstGeom prst="rect">
            <a:avLst/>
          </a:prstGeom>
          <a:noFill/>
        </p:spPr>
        <p:txBody>
          <a:bodyPr wrap="square" lIns="27432" rIns="27432" tIns="27432" bIns="27432" anchor="t">
            <a:spAutoFit/>
          </a:bodyPr>
          <a:lstStyle/>
          <a:p>
            <a:pPr algn="l"/>
            <a:r>
              <a:rPr sz="1000" b="1" i="0">
                <a:solidFill>
                  <a:srgbClr val="404040"/>
                </a:solidFill>
              </a:rPr>
              <a:t>Core 0</a:t>
            </a:r>
          </a:p>
        </p:txBody>
      </p:sp>
      <p:sp>
        <p:nvSpPr>
          <p:cNvPr id="26" name="TextBox 25"/>
          <p:cNvSpPr txBox="1"/>
          <p:nvPr/>
        </p:nvSpPr>
        <p:spPr>
          <a:xfrm>
            <a:off x="5605272" y="3931920"/>
            <a:ext cx="1691640" cy="1783080"/>
          </a:xfrm>
          <a:prstGeom prst="rect">
            <a:avLst/>
          </a:prstGeom>
          <a:noFill/>
        </p:spPr>
        <p:txBody>
          <a:bodyPr wrap="square" lIns="27432" rIns="27432" tIns="27432" bIns="27432" anchor="t">
            <a:spAutoFit/>
          </a:bodyPr>
          <a:lstStyle/>
          <a:p>
            <a:pPr algn="l"/>
            <a:r>
              <a:rPr sz="900" b="0" i="0">
                <a:solidFill>
                  <a:srgbClr val="000000"/>
                </a:solidFill>
              </a:rPr>
              <a:t>SIMT pipeline</a:t>
            </a:r>
          </a:p>
          <a:p>
            <a:pPr algn="l"/>
            <a:r>
              <a:rPr sz="900" b="0" i="0">
                <a:solidFill>
                  <a:srgbClr val="000000"/>
                </a:solidFill>
              </a:rPr>
              <a:t>ALU · FPU · LSU · SFU</a:t>
            </a:r>
          </a:p>
          <a:p>
            <a:pPr algn="l"/>
            <a:r>
              <a:rPr sz="900" b="0" i="0">
                <a:solidFill>
                  <a:srgbClr val="000000"/>
                </a:solidFill>
              </a:rPr>
              <a:t>TCU blocks</a:t>
            </a:r>
          </a:p>
          <a:p>
            <a:pPr algn="l"/>
            <a:r>
              <a:rPr sz="900" b="0" i="0">
                <a:solidFill>
                  <a:srgbClr val="000000"/>
                </a:solidFill>
              </a:rPr>
              <a:t>LMEM (banked)</a:t>
            </a:r>
          </a:p>
          <a:p>
            <a:pPr algn="l"/>
            <a:r>
              <a:rPr sz="900" b="0" i="0">
                <a:solidFill>
                  <a:srgbClr val="000000"/>
                </a:solidFill>
              </a:rPr>
              <a:t>bar unit · CTA dispatch</a:t>
            </a:r>
          </a:p>
          <a:p>
            <a:pPr algn="l"/>
            <a:r>
              <a:rPr sz="900" b="0" i="0">
                <a:solidFill>
                  <a:srgbClr val="000000"/>
                </a:solidFill>
              </a:rPr>
              <a:t>decompressor · traps</a:t>
            </a:r>
          </a:p>
        </p:txBody>
      </p:sp>
      <p:sp>
        <p:nvSpPr>
          <p:cNvPr id="27" name="Rectangle 26"/>
          <p:cNvSpPr/>
          <p:nvPr/>
        </p:nvSpPr>
        <p:spPr>
          <a:xfrm>
            <a:off x="7452360" y="3657600"/>
            <a:ext cx="1828800" cy="2103120"/>
          </a:xfrm>
          <a:prstGeom prst="rect">
            <a:avLst/>
          </a:prstGeom>
          <a:solidFill>
            <a:srgbClr val="FFFBE6"/>
          </a:solidFill>
          <a:ln w="9525">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8" name="TextBox 27"/>
          <p:cNvSpPr txBox="1"/>
          <p:nvPr/>
        </p:nvSpPr>
        <p:spPr>
          <a:xfrm>
            <a:off x="7498080" y="3675887"/>
            <a:ext cx="1737360" cy="228600"/>
          </a:xfrm>
          <a:prstGeom prst="rect">
            <a:avLst/>
          </a:prstGeom>
          <a:noFill/>
        </p:spPr>
        <p:txBody>
          <a:bodyPr wrap="square" lIns="27432" rIns="27432" tIns="27432" bIns="27432" anchor="t">
            <a:spAutoFit/>
          </a:bodyPr>
          <a:lstStyle/>
          <a:p>
            <a:pPr algn="l"/>
            <a:r>
              <a:rPr sz="1000" b="1" i="0">
                <a:solidFill>
                  <a:srgbClr val="404040"/>
                </a:solidFill>
              </a:rPr>
              <a:t>Core 1</a:t>
            </a:r>
          </a:p>
        </p:txBody>
      </p:sp>
      <p:sp>
        <p:nvSpPr>
          <p:cNvPr id="29" name="TextBox 28"/>
          <p:cNvSpPr txBox="1"/>
          <p:nvPr/>
        </p:nvSpPr>
        <p:spPr>
          <a:xfrm>
            <a:off x="7525512" y="3931920"/>
            <a:ext cx="1691640" cy="1783080"/>
          </a:xfrm>
          <a:prstGeom prst="rect">
            <a:avLst/>
          </a:prstGeom>
          <a:noFill/>
        </p:spPr>
        <p:txBody>
          <a:bodyPr wrap="square" lIns="27432" rIns="27432" tIns="27432" bIns="27432" anchor="t">
            <a:spAutoFit/>
          </a:bodyPr>
          <a:lstStyle/>
          <a:p>
            <a:pPr algn="l"/>
            <a:r>
              <a:rPr sz="900" b="0" i="0">
                <a:solidFill>
                  <a:srgbClr val="000000"/>
                </a:solidFill>
              </a:rPr>
              <a:t>SIMT pipeline</a:t>
            </a:r>
          </a:p>
          <a:p>
            <a:pPr algn="l"/>
            <a:r>
              <a:rPr sz="900" b="0" i="0">
                <a:solidFill>
                  <a:srgbClr val="000000"/>
                </a:solidFill>
              </a:rPr>
              <a:t>ALU · FPU · LSU · SFU</a:t>
            </a:r>
          </a:p>
          <a:p>
            <a:pPr algn="l"/>
            <a:r>
              <a:rPr sz="900" b="0" i="0">
                <a:solidFill>
                  <a:srgbClr val="000000"/>
                </a:solidFill>
              </a:rPr>
              <a:t>TCU blocks</a:t>
            </a:r>
          </a:p>
          <a:p>
            <a:pPr algn="l"/>
            <a:r>
              <a:rPr sz="900" b="0" i="0">
                <a:solidFill>
                  <a:srgbClr val="000000"/>
                </a:solidFill>
              </a:rPr>
              <a:t>LMEM (banked)</a:t>
            </a:r>
          </a:p>
          <a:p>
            <a:pPr algn="l"/>
            <a:r>
              <a:rPr sz="900" b="0" i="0">
                <a:solidFill>
                  <a:srgbClr val="000000"/>
                </a:solidFill>
              </a:rPr>
              <a:t>bar unit · CTA dispatch</a:t>
            </a:r>
          </a:p>
          <a:p>
            <a:pPr algn="l"/>
            <a:r>
              <a:rPr sz="900" b="0" i="0">
                <a:solidFill>
                  <a:srgbClr val="000000"/>
                </a:solidFill>
              </a:rPr>
              <a:t>decompressor · traps</a:t>
            </a:r>
          </a:p>
        </p:txBody>
      </p:sp>
      <p:sp>
        <p:nvSpPr>
          <p:cNvPr id="30" name="Rectangle 29"/>
          <p:cNvSpPr/>
          <p:nvPr/>
        </p:nvSpPr>
        <p:spPr>
          <a:xfrm>
            <a:off x="9372600" y="3657600"/>
            <a:ext cx="1828800" cy="2103120"/>
          </a:xfrm>
          <a:prstGeom prst="rect">
            <a:avLst/>
          </a:prstGeom>
          <a:solidFill>
            <a:srgbClr val="FFFBE6"/>
          </a:solidFill>
          <a:ln w="9525">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1" name="TextBox 30"/>
          <p:cNvSpPr txBox="1"/>
          <p:nvPr/>
        </p:nvSpPr>
        <p:spPr>
          <a:xfrm>
            <a:off x="9418320" y="3675887"/>
            <a:ext cx="1737360" cy="228600"/>
          </a:xfrm>
          <a:prstGeom prst="rect">
            <a:avLst/>
          </a:prstGeom>
          <a:noFill/>
        </p:spPr>
        <p:txBody>
          <a:bodyPr wrap="square" lIns="27432" rIns="27432" tIns="27432" bIns="27432" anchor="t">
            <a:spAutoFit/>
          </a:bodyPr>
          <a:lstStyle/>
          <a:p>
            <a:pPr algn="l"/>
            <a:r>
              <a:rPr sz="1000" b="1" i="0">
                <a:solidFill>
                  <a:srgbClr val="404040"/>
                </a:solidFill>
              </a:rPr>
              <a:t>Core …</a:t>
            </a:r>
          </a:p>
        </p:txBody>
      </p:sp>
      <p:sp>
        <p:nvSpPr>
          <p:cNvPr id="32" name="TextBox 31"/>
          <p:cNvSpPr txBox="1"/>
          <p:nvPr/>
        </p:nvSpPr>
        <p:spPr>
          <a:xfrm>
            <a:off x="9445752" y="3931920"/>
            <a:ext cx="1691640" cy="1783080"/>
          </a:xfrm>
          <a:prstGeom prst="rect">
            <a:avLst/>
          </a:prstGeom>
          <a:noFill/>
        </p:spPr>
        <p:txBody>
          <a:bodyPr wrap="square" lIns="27432" rIns="27432" tIns="27432" bIns="27432" anchor="t">
            <a:spAutoFit/>
          </a:bodyPr>
          <a:lstStyle/>
          <a:p>
            <a:pPr algn="l"/>
            <a:r>
              <a:rPr sz="900" b="0" i="0">
                <a:solidFill>
                  <a:srgbClr val="000000"/>
                </a:solidFill>
              </a:rPr>
              <a:t>SIMT pipeline</a:t>
            </a:r>
          </a:p>
          <a:p>
            <a:pPr algn="l"/>
            <a:r>
              <a:rPr sz="900" b="0" i="0">
                <a:solidFill>
                  <a:srgbClr val="000000"/>
                </a:solidFill>
              </a:rPr>
              <a:t>ALU · FPU · LSU · SFU</a:t>
            </a:r>
          </a:p>
          <a:p>
            <a:pPr algn="l"/>
            <a:r>
              <a:rPr sz="900" b="0" i="0">
                <a:solidFill>
                  <a:srgbClr val="000000"/>
                </a:solidFill>
              </a:rPr>
              <a:t>TCU blocks</a:t>
            </a:r>
          </a:p>
          <a:p>
            <a:pPr algn="l"/>
            <a:r>
              <a:rPr sz="900" b="0" i="0">
                <a:solidFill>
                  <a:srgbClr val="000000"/>
                </a:solidFill>
              </a:rPr>
              <a:t>LMEM (banked)</a:t>
            </a:r>
          </a:p>
          <a:p>
            <a:pPr algn="l"/>
            <a:r>
              <a:rPr sz="900" b="0" i="0">
                <a:solidFill>
                  <a:srgbClr val="000000"/>
                </a:solidFill>
              </a:rPr>
              <a:t>bar unit · CTA dispatch</a:t>
            </a:r>
          </a:p>
          <a:p>
            <a:pPr algn="l"/>
            <a:r>
              <a:rPr sz="900" b="0" i="0">
                <a:solidFill>
                  <a:srgbClr val="000000"/>
                </a:solidFill>
              </a:rPr>
              <a:t>decompressor · traps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Core Pipeline: What Changed in v3.0</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pic>
        <p:nvPicPr>
          <p:cNvPr id="5" name="Picture 4" descr="old_s6_Picture_3.png"/>
          <p:cNvPicPr>
            <a:picLocks noChangeAspect="1"/>
          </p:cNvPicPr>
          <p:nvPr/>
        </p:nvPicPr>
        <p:blipFill>
          <a:blip r:embed="rId4"/>
          <a:stretch>
            <a:fillRect/>
          </a:stretch>
        </p:blipFill>
        <p:spPr>
          <a:xfrm>
            <a:off x="548640" y="1254355"/>
            <a:ext cx="6766560" cy="4257848"/>
          </a:xfrm>
          <a:prstGeom prst="rect">
            <a:avLst/>
          </a:prstGeom>
        </p:spPr>
      </p:pic>
      <p:sp>
        <p:nvSpPr>
          <p:cNvPr id="6" name="Rectangle 5"/>
          <p:cNvSpPr/>
          <p:nvPr/>
        </p:nvSpPr>
        <p:spPr>
          <a:xfrm>
            <a:off x="7498079" y="1280160"/>
            <a:ext cx="1005840" cy="658368"/>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1" i="0">
                <a:solidFill>
                  <a:srgbClr val="FFFFFF"/>
                </a:solidFill>
              </a:rPr>
              <a:t>Schedule</a:t>
            </a:r>
          </a:p>
        </p:txBody>
      </p:sp>
      <p:sp>
        <p:nvSpPr>
          <p:cNvPr id="7" name="TextBox 6"/>
          <p:cNvSpPr txBox="1"/>
          <p:nvPr/>
        </p:nvSpPr>
        <p:spPr>
          <a:xfrm>
            <a:off x="8595360" y="1280160"/>
            <a:ext cx="3017520" cy="658368"/>
          </a:xfrm>
          <a:prstGeom prst="rect">
            <a:avLst/>
          </a:prstGeom>
          <a:noFill/>
        </p:spPr>
        <p:txBody>
          <a:bodyPr wrap="square" lIns="27432" rIns="27432" tIns="27432" bIns="27432" anchor="ctr">
            <a:spAutoFit/>
          </a:bodyPr>
          <a:lstStyle/>
          <a:p>
            <a:pPr algn="l"/>
            <a:r>
              <a:rPr sz="1050" b="0" i="0">
                <a:solidFill>
                  <a:srgbClr val="000000"/>
                </a:solidFill>
              </a:rPr>
              <a:t>GTO warp select · ibuffer-capacity gate · CTA dispatcher · per-warp trap CSRs</a:t>
            </a:r>
          </a:p>
        </p:txBody>
      </p:sp>
      <p:sp>
        <p:nvSpPr>
          <p:cNvPr id="8" name="Rectangle 7"/>
          <p:cNvSpPr/>
          <p:nvPr/>
        </p:nvSpPr>
        <p:spPr>
          <a:xfrm>
            <a:off x="7498079" y="2029967"/>
            <a:ext cx="1005840" cy="658368"/>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1" i="0">
                <a:solidFill>
                  <a:srgbClr val="FFFFFF"/>
                </a:solidFill>
              </a:rPr>
              <a:t>Fetch</a:t>
            </a:r>
          </a:p>
        </p:txBody>
      </p:sp>
      <p:sp>
        <p:nvSpPr>
          <p:cNvPr id="9" name="TextBox 8"/>
          <p:cNvSpPr txBox="1"/>
          <p:nvPr/>
        </p:nvSpPr>
        <p:spPr>
          <a:xfrm>
            <a:off x="8595360" y="2029967"/>
            <a:ext cx="3017520" cy="658368"/>
          </a:xfrm>
          <a:prstGeom prst="rect">
            <a:avLst/>
          </a:prstGeom>
          <a:noFill/>
        </p:spPr>
        <p:txBody>
          <a:bodyPr wrap="square" lIns="27432" rIns="27432" tIns="27432" bIns="27432" anchor="ctr">
            <a:spAutoFit/>
          </a:bodyPr>
          <a:lstStyle/>
          <a:p>
            <a:pPr algn="l"/>
            <a:r>
              <a:rPr sz="1050" b="0" i="0">
                <a:solidFill>
                  <a:srgbClr val="000000"/>
                </a:solidFill>
              </a:rPr>
              <a:t>RVC decompressor (VX_decompressor) · follow-request for straddling 32-bit ops</a:t>
            </a:r>
          </a:p>
        </p:txBody>
      </p:sp>
      <p:sp>
        <p:nvSpPr>
          <p:cNvPr id="10" name="Rectangle 9"/>
          <p:cNvSpPr/>
          <p:nvPr/>
        </p:nvSpPr>
        <p:spPr>
          <a:xfrm>
            <a:off x="7498079" y="2779775"/>
            <a:ext cx="1005840" cy="658368"/>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1" i="0">
                <a:solidFill>
                  <a:srgbClr val="FFFFFF"/>
                </a:solidFill>
              </a:rPr>
              <a:t>Decode</a:t>
            </a:r>
          </a:p>
        </p:txBody>
      </p:sp>
      <p:sp>
        <p:nvSpPr>
          <p:cNvPr id="11" name="TextBox 10"/>
          <p:cNvSpPr txBox="1"/>
          <p:nvPr/>
        </p:nvSpPr>
        <p:spPr>
          <a:xfrm>
            <a:off x="8595360" y="2779775"/>
            <a:ext cx="3017520" cy="658368"/>
          </a:xfrm>
          <a:prstGeom prst="rect">
            <a:avLst/>
          </a:prstGeom>
          <a:noFill/>
        </p:spPr>
        <p:txBody>
          <a:bodyPr wrap="square" lIns="27432" rIns="27432" tIns="27432" bIns="27432" anchor="ctr">
            <a:spAutoFit/>
          </a:bodyPr>
          <a:lstStyle/>
          <a:p>
            <a:pPr algn="l"/>
            <a:r>
              <a:rPr sz="1050" b="0" i="0">
                <a:solidFill>
                  <a:srgbClr val="000000"/>
                </a:solidFill>
              </a:rPr>
              <a:t>Zicond, A-ext, pack-load, TCU/DXA/RTU/TEX/OM opcodes · rd/wr XREGS masks</a:t>
            </a:r>
          </a:p>
        </p:txBody>
      </p:sp>
      <p:sp>
        <p:nvSpPr>
          <p:cNvPr id="12" name="Rectangle 11"/>
          <p:cNvSpPr/>
          <p:nvPr/>
        </p:nvSpPr>
        <p:spPr>
          <a:xfrm>
            <a:off x="7498079" y="3529583"/>
            <a:ext cx="1005840" cy="658368"/>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1" i="0">
                <a:solidFill>
                  <a:srgbClr val="FFFFFF"/>
                </a:solidFill>
              </a:rPr>
              <a:t>Issue</a:t>
            </a:r>
          </a:p>
        </p:txBody>
      </p:sp>
      <p:sp>
        <p:nvSpPr>
          <p:cNvPr id="13" name="TextBox 12"/>
          <p:cNvSpPr txBox="1"/>
          <p:nvPr/>
        </p:nvSpPr>
        <p:spPr>
          <a:xfrm>
            <a:off x="8595360" y="3529583"/>
            <a:ext cx="3017520" cy="658368"/>
          </a:xfrm>
          <a:prstGeom prst="rect">
            <a:avLst/>
          </a:prstGeom>
          <a:noFill/>
        </p:spPr>
        <p:txBody>
          <a:bodyPr wrap="square" lIns="27432" rIns="27432" tIns="27432" bIns="27432" anchor="ctr">
            <a:spAutoFit/>
          </a:bodyPr>
          <a:lstStyle/>
          <a:p>
            <a:pPr algn="l"/>
            <a:r>
              <a:rPr sz="1050" b="0" i="0">
                <a:solidFill>
                  <a:srgbClr val="000000"/>
                </a:solidFill>
              </a:rPr>
              <a:t>uop sequencer (TCU, PACKLD, GFX) · scoreboard XREGS + fu_lock · bank-conflict-free TCU reads</a:t>
            </a:r>
          </a:p>
        </p:txBody>
      </p:sp>
      <p:sp>
        <p:nvSpPr>
          <p:cNvPr id="14" name="Rectangle 13"/>
          <p:cNvSpPr/>
          <p:nvPr/>
        </p:nvSpPr>
        <p:spPr>
          <a:xfrm>
            <a:off x="7498079" y="4279392"/>
            <a:ext cx="1005840" cy="658368"/>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1" i="0">
                <a:solidFill>
                  <a:srgbClr val="FFFFFF"/>
                </a:solidFill>
              </a:rPr>
              <a:t>Execute</a:t>
            </a:r>
          </a:p>
        </p:txBody>
      </p:sp>
      <p:sp>
        <p:nvSpPr>
          <p:cNvPr id="15" name="TextBox 14"/>
          <p:cNvSpPr txBox="1"/>
          <p:nvPr/>
        </p:nvSpPr>
        <p:spPr>
          <a:xfrm>
            <a:off x="8595360" y="4279392"/>
            <a:ext cx="3017520" cy="658368"/>
          </a:xfrm>
          <a:prstGeom prst="rect">
            <a:avLst/>
          </a:prstGeom>
          <a:noFill/>
        </p:spPr>
        <p:txBody>
          <a:bodyPr wrap="square" lIns="27432" rIns="27432" tIns="27432" bIns="27432" anchor="ctr">
            <a:spAutoFit/>
          </a:bodyPr>
          <a:lstStyle/>
          <a:p>
            <a:pPr algn="l"/>
            <a:r>
              <a:rPr sz="1050" b="0" i="0">
                <a:solidFill>
                  <a:srgbClr val="000000"/>
                </a:solidFill>
              </a:rPr>
              <a:t>VX_fpu_std F32/F64 · AMO path · TCU with WGMMA/2:4 · DXA/TEX/RTU issue via SFU</a:t>
            </a:r>
          </a:p>
        </p:txBody>
      </p:sp>
      <p:sp>
        <p:nvSpPr>
          <p:cNvPr id="16" name="Rectangle 15"/>
          <p:cNvSpPr/>
          <p:nvPr/>
        </p:nvSpPr>
        <p:spPr>
          <a:xfrm>
            <a:off x="7498079" y="5029200"/>
            <a:ext cx="1005840" cy="658368"/>
          </a:xfrm>
          <a:prstGeom prst="rect">
            <a:avLst/>
          </a:prstGeom>
          <a:solidFill>
            <a:srgbClr val="1F394D"/>
          </a:solidFill>
          <a:ln w="12700">
            <a:solidFill>
              <a:srgbClr val="1F394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1" i="0">
                <a:solidFill>
                  <a:srgbClr val="FFFFFF"/>
                </a:solidFill>
              </a:rPr>
              <a:t>Commit</a:t>
            </a:r>
          </a:p>
        </p:txBody>
      </p:sp>
      <p:sp>
        <p:nvSpPr>
          <p:cNvPr id="17" name="TextBox 16"/>
          <p:cNvSpPr txBox="1"/>
          <p:nvPr/>
        </p:nvSpPr>
        <p:spPr>
          <a:xfrm>
            <a:off x="8595360" y="5029200"/>
            <a:ext cx="3017520" cy="658368"/>
          </a:xfrm>
          <a:prstGeom prst="rect">
            <a:avLst/>
          </a:prstGeom>
          <a:noFill/>
        </p:spPr>
        <p:txBody>
          <a:bodyPr wrap="square" lIns="27432" rIns="27432" tIns="27432" bIns="27432" anchor="ctr">
            <a:spAutoFit/>
          </a:bodyPr>
          <a:lstStyle/>
          <a:p>
            <a:pPr algn="l"/>
            <a:r>
              <a:rPr sz="1050" b="0" i="0">
                <a:solidFill>
                  <a:srgbClr val="000000"/>
                </a:solidFill>
              </a:rPr>
              <a:t>async bar unit release · txbar completions from DXA · LSU drain before __syncthreads</a:t>
            </a:r>
          </a:p>
        </p:txBody>
      </p:sp>
      <p:sp>
        <p:nvSpPr>
          <p:cNvPr id="18" name="TextBox 17"/>
          <p:cNvSpPr txBox="1"/>
          <p:nvPr/>
        </p:nvSpPr>
        <p:spPr>
          <a:xfrm>
            <a:off x="548640" y="5623560"/>
            <a:ext cx="6766560" cy="365760"/>
          </a:xfrm>
          <a:prstGeom prst="rect">
            <a:avLst/>
          </a:prstGeom>
          <a:noFill/>
        </p:spPr>
        <p:txBody>
          <a:bodyPr wrap="square" lIns="27432" rIns="27432" tIns="27432" bIns="27432" anchor="t">
            <a:spAutoFit/>
          </a:bodyPr>
          <a:lstStyle/>
          <a:p>
            <a:pPr algn="l"/>
            <a:r>
              <a:rPr sz="950" b="0" i="1">
                <a:solidFill>
                  <a:srgbClr val="555555"/>
                </a:solidFill>
              </a:rPr>
              <a:t>Figure: Vortex core pipeline (unchanged topology). Colors: schedule/fetch/decode (yellow), issue (green), execute (blue), commit (pink).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Scoreboard Planes and the Macro-op Sequencer</a:t>
            </a:r>
          </a:p>
        </p:txBody>
      </p:sp>
      <p:sp>
        <p:nvSpPr>
          <p:cNvPr id="3" name="Text Placeholder 2"/>
          <p:cNvSpPr>
            <a:spLocks noGrp="1"/>
          </p:cNvSpPr>
          <p:nvPr>
            <p:ph type="body" idx="1"/>
          </p:nvPr>
        </p:nvSpPr>
        <p:spPr>
          <a:xfrm>
            <a:off x="731520" y="1188720"/>
            <a:ext cx="6035040" cy="4937760"/>
          </a:xfrm>
        </p:spPr>
        <p:txBody>
          <a:bodyPr wrap="square"/>
          <a:lstStyle/>
          <a:p>
            <a:pPr marL="0" indent="0">
              <a:spcBef>
                <a:spcPts val="500"/>
              </a:spcBef>
              <a:buNone/>
            </a:pPr>
            <a:r>
              <a:rPr sz="1400" b="1" i="0">
                <a:solidFill>
                  <a:srgbClr val="1F394D"/>
                </a:solidFill>
              </a:rPr>
              <a:t>Scoreboard</a:t>
            </a:r>
          </a:p>
          <a:p>
            <a:pPr lvl="1" marL="342900" indent="-228600">
              <a:spcBef>
                <a:spcPts val="100"/>
              </a:spcBef>
              <a:buFont typeface="Arial"/>
              <a:buChar char="•"/>
            </a:pPr>
            <a:r>
              <a:rPr sz="1200" b="0" i="0">
                <a:solidFill>
                  <a:srgbClr val="000000"/>
                </a:solidFill>
                <a:latin typeface="Consolas"/>
              </a:rPr>
              <a:t>inuse_xregs</a:t>
            </a:r>
            <a:r>
              <a:rPr sz="1200" b="0" i="0">
                <a:solidFill>
                  <a:srgbClr val="000000"/>
                </a:solidFill>
              </a:rPr>
              <a:t> plane: fflags / frm; decode emits rd_xregs / wr_xregs masks</a:t>
            </a:r>
          </a:p>
          <a:p>
            <a:pPr lvl="1" marL="342900" indent="-228600">
              <a:spcBef>
                <a:spcPts val="100"/>
              </a:spcBef>
              <a:buFont typeface="Arial"/>
              <a:buChar char="•"/>
            </a:pPr>
            <a:r>
              <a:rPr sz="1200" b="0" i="0">
                <a:solidFill>
                  <a:srgbClr val="000000"/>
                </a:solidFill>
                <a:latin typeface="Consolas"/>
              </a:rPr>
              <a:t>fu_lock</a:t>
            </a:r>
            <a:r>
              <a:rPr sz="1200" b="0" i="0">
                <a:solidFill>
                  <a:srgbClr val="000000"/>
                </a:solidFill>
              </a:rPr>
              <a:t> on first uop, </a:t>
            </a:r>
            <a:r>
              <a:rPr sz="1200" b="0" i="0">
                <a:solidFill>
                  <a:srgbClr val="000000"/>
                </a:solidFill>
                <a:latin typeface="Consolas"/>
              </a:rPr>
              <a:t>fu_unlock</a:t>
            </a:r>
            <a:r>
              <a:rPr sz="1200" b="0" i="0">
                <a:solidFill>
                  <a:srgbClr val="000000"/>
                </a:solidFill>
              </a:rPr>
              <a:t> on last: no other warp issues to that FU</a:t>
            </a:r>
          </a:p>
          <a:p>
            <a:pPr lvl="1" marL="342900" indent="-228600">
              <a:spcBef>
                <a:spcPts val="100"/>
              </a:spcBef>
              <a:buFont typeface="Arial"/>
              <a:buChar char="•"/>
            </a:pPr>
            <a:r>
              <a:rPr sz="1200" b="0" i="0">
                <a:solidFill>
                  <a:srgbClr val="000000"/>
                </a:solidFill>
              </a:rPr>
              <a:t>set by VX_tcu_uops for WGMMA; single-uop ops lock nothing</a:t>
            </a:r>
          </a:p>
          <a:p>
            <a:pPr marL="0" indent="0">
              <a:spcBef>
                <a:spcPts val="500"/>
              </a:spcBef>
              <a:buNone/>
            </a:pPr>
            <a:r>
              <a:rPr sz="1400" b="1" i="0">
                <a:solidFill>
                  <a:srgbClr val="1F394D"/>
                </a:solidFill>
              </a:rPr>
              <a:t>VX_uop_sequencer (per warp)</a:t>
            </a:r>
          </a:p>
          <a:p>
            <a:pPr lvl="1" marL="342900" indent="-228600">
              <a:spcBef>
                <a:spcPts val="100"/>
              </a:spcBef>
              <a:buFont typeface="Arial"/>
              <a:buChar char="•"/>
            </a:pPr>
            <a:r>
              <a:rPr sz="1200" b="0" i="0">
                <a:solidFill>
                  <a:srgbClr val="000000"/>
                </a:solidFill>
              </a:rPr>
              <a:t>expander slots: UOP_PACKLD · UOP_TCU · UOP_GFX (RTU windows + fragment export share one)</a:t>
            </a:r>
          </a:p>
          <a:p>
            <a:pPr lvl="1" marL="342900" indent="-228600">
              <a:spcBef>
                <a:spcPts val="100"/>
              </a:spcBef>
              <a:buFont typeface="Arial"/>
              <a:buChar char="•"/>
            </a:pPr>
            <a:r>
              <a:rPr sz="1200" b="0" i="0">
                <a:solidFill>
                  <a:srgbClr val="000000"/>
                </a:solidFill>
              </a:rPr>
              <a:t>one uop / cycle; macro never commits; ⌈registers ÷ 3⌉ uops per register window</a:t>
            </a:r>
          </a:p>
          <a:p>
            <a:pPr lvl="1" marL="342900" indent="-228600">
              <a:spcBef>
                <a:spcPts val="100"/>
              </a:spcBef>
              <a:buFont typeface="Arial"/>
              <a:buChar char="•"/>
            </a:pPr>
            <a:r>
              <a:rPr sz="1200" b="0" i="0">
                <a:solidFill>
                  <a:srgbClr val="000000"/>
                </a:solidFill>
              </a:rPr>
              <a:t>VX_opc_unit operand collector reads banked registers; TCU offsets permuted → zero bank conflicts</a:t>
            </a:r>
          </a:p>
          <a:p>
            <a:pPr marL="0" indent="0">
              <a:spcBef>
                <a:spcPts val="500"/>
              </a:spcBef>
              <a:buNone/>
            </a:pPr>
            <a:r>
              <a:rPr sz="1400" b="1" i="0">
                <a:solidFill>
                  <a:srgbClr val="1F394D"/>
                </a:solidFill>
              </a:rPr>
              <a:t>Pack-load intrinsics</a:t>
            </a:r>
          </a:p>
          <a:p>
            <a:pPr lvl="1" marL="342900" indent="-228600">
              <a:spcBef>
                <a:spcPts val="100"/>
              </a:spcBef>
              <a:buFont typeface="Arial"/>
              <a:buChar char="•"/>
            </a:pPr>
            <a:r>
              <a:rPr sz="1200" b="0" i="0">
                <a:solidFill>
                  <a:srgbClr val="000000"/>
                </a:solidFill>
                <a:latin typeface="Consolas"/>
              </a:rPr>
              <a:t>vx_packlb_f</a:t>
            </a:r>
            <a:r>
              <a:rPr sz="1200" b="0" i="0">
                <a:solidFill>
                  <a:srgbClr val="000000"/>
                </a:solidFill>
              </a:rPr>
              <a:t> (4 × byte) / </a:t>
            </a:r>
            <a:r>
              <a:rPr sz="1200" b="0" i="0">
                <a:solidFill>
                  <a:srgbClr val="000000"/>
                </a:solidFill>
                <a:latin typeface="Consolas"/>
              </a:rPr>
              <a:t>vx_packlh_f</a:t>
            </a:r>
            <a:r>
              <a:rPr sz="1200" b="0" i="0">
                <a:solidFill>
                  <a:srgbClr val="000000"/>
                </a:solidFill>
              </a:rPr>
              <a:t> (2 × half) → N LSU uops, </a:t>
            </a:r>
            <a:r>
              <a:rPr sz="1200" b="0" i="0">
                <a:solidFill>
                  <a:srgbClr val="000000"/>
                </a:solidFill>
                <a:latin typeface="Consolas"/>
              </a:rPr>
              <a:t>eff_rs1 = rs1 + rs2 × uop_idx</a:t>
            </a:r>
          </a:p>
          <a:p>
            <a:pPr lvl="1" marL="342900" indent="-228600">
              <a:spcBef>
                <a:spcPts val="100"/>
              </a:spcBef>
              <a:buFont typeface="Arial"/>
              <a:buChar char="•"/>
            </a:pPr>
            <a:r>
              <a:rPr sz="1200" b="0" i="0">
                <a:solidFill>
                  <a:srgbClr val="000000"/>
                </a:solidFill>
              </a:rPr>
              <a:t>used by vx_tensor.h for tile-row packing</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040880" y="1371600"/>
            <a:ext cx="457200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macro-op in IBuffer (e.g. WGMMA, PACKLB, TRACE)</a:t>
            </a:r>
          </a:p>
        </p:txBody>
      </p:sp>
      <p:cxnSp>
        <p:nvCxnSpPr>
          <p:cNvPr id="6" name="Connector 5"/>
          <p:cNvCxnSpPr/>
          <p:nvPr/>
        </p:nvCxnSpPr>
        <p:spPr>
          <a:xfrm>
            <a:off x="9326880" y="182880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040880" y="2103120"/>
            <a:ext cx="4572000" cy="4572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VX_uop_sequencer: expander slot by opcode class</a:t>
            </a:r>
          </a:p>
        </p:txBody>
      </p:sp>
      <p:cxnSp>
        <p:nvCxnSpPr>
          <p:cNvPr id="8" name="Connector 7"/>
          <p:cNvCxnSpPr/>
          <p:nvPr/>
        </p:nvCxnSpPr>
        <p:spPr>
          <a:xfrm>
            <a:off x="9326880" y="256032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040880" y="2834640"/>
            <a:ext cx="855878"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uop 0</a:t>
            </a:r>
          </a:p>
          <a:p>
            <a:pPr algn="ctr"/>
            <a:r>
              <a:rPr sz="1000" b="0" i="0">
                <a:solidFill>
                  <a:srgbClr val="000000"/>
                </a:solidFill>
              </a:rPr>
              <a:t>fu_lock</a:t>
            </a:r>
          </a:p>
        </p:txBody>
      </p:sp>
      <p:cxnSp>
        <p:nvCxnSpPr>
          <p:cNvPr id="10" name="Connector 9"/>
          <p:cNvCxnSpPr/>
          <p:nvPr/>
        </p:nvCxnSpPr>
        <p:spPr>
          <a:xfrm>
            <a:off x="7896758" y="3108960"/>
            <a:ext cx="73152"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969910" y="2834640"/>
            <a:ext cx="855878"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uop 1</a:t>
            </a:r>
          </a:p>
        </p:txBody>
      </p:sp>
      <p:cxnSp>
        <p:nvCxnSpPr>
          <p:cNvPr id="12" name="Connector 11"/>
          <p:cNvCxnSpPr/>
          <p:nvPr/>
        </p:nvCxnSpPr>
        <p:spPr>
          <a:xfrm>
            <a:off x="8825788" y="3108960"/>
            <a:ext cx="73152"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898940" y="2834640"/>
            <a:ext cx="855878"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uop 2</a:t>
            </a:r>
          </a:p>
        </p:txBody>
      </p:sp>
      <p:cxnSp>
        <p:nvCxnSpPr>
          <p:cNvPr id="14" name="Connector 13"/>
          <p:cNvCxnSpPr/>
          <p:nvPr/>
        </p:nvCxnSpPr>
        <p:spPr>
          <a:xfrm>
            <a:off x="9754819" y="3108960"/>
            <a:ext cx="73152"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827971" y="2834640"/>
            <a:ext cx="855878"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a:t>
            </a:r>
          </a:p>
        </p:txBody>
      </p:sp>
      <p:cxnSp>
        <p:nvCxnSpPr>
          <p:cNvPr id="16" name="Connector 15"/>
          <p:cNvCxnSpPr/>
          <p:nvPr/>
        </p:nvCxnSpPr>
        <p:spPr>
          <a:xfrm>
            <a:off x="10683849" y="3108960"/>
            <a:ext cx="73152"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0757001" y="2834640"/>
            <a:ext cx="855878" cy="54864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uop n</a:t>
            </a:r>
          </a:p>
          <a:p>
            <a:pPr algn="ctr"/>
            <a:r>
              <a:rPr sz="1000" b="0" i="0">
                <a:solidFill>
                  <a:srgbClr val="000000"/>
                </a:solidFill>
              </a:rPr>
              <a:t>fu_unlock</a:t>
            </a:r>
          </a:p>
        </p:txBody>
      </p:sp>
      <p:cxnSp>
        <p:nvCxnSpPr>
          <p:cNvPr id="18" name="Connector 17"/>
          <p:cNvCxnSpPr/>
          <p:nvPr/>
        </p:nvCxnSpPr>
        <p:spPr>
          <a:xfrm>
            <a:off x="9326880" y="338328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040880" y="3657600"/>
            <a:ext cx="4572000" cy="45720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scoreboard: GPR + XREGS planes, FU lock table</a:t>
            </a:r>
          </a:p>
        </p:txBody>
      </p:sp>
      <p:cxnSp>
        <p:nvCxnSpPr>
          <p:cNvPr id="20" name="Connector 19"/>
          <p:cNvCxnSpPr/>
          <p:nvPr/>
        </p:nvCxnSpPr>
        <p:spPr>
          <a:xfrm>
            <a:off x="9326880" y="411480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040880" y="4389120"/>
            <a:ext cx="4572000" cy="45720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100" b="0" i="0">
                <a:solidFill>
                  <a:srgbClr val="000000"/>
                </a:solidFill>
              </a:rPr>
              <a:t>VX_opc_unit → FU (locked to this warp until unlock)</a:t>
            </a:r>
          </a:p>
        </p:txBody>
      </p:sp>
      <p:graphicFrame>
        <p:nvGraphicFramePr>
          <p:cNvPr id="22" name="Table 21"/>
          <p:cNvGraphicFramePr>
            <a:graphicFrameLocks noGrp="1"/>
          </p:cNvGraphicFramePr>
          <p:nvPr/>
        </p:nvGraphicFramePr>
        <p:xfrm>
          <a:off x="7040880" y="5074920"/>
          <a:ext cx="4572000" cy="950976"/>
        </p:xfrm>
        <a:graphic>
          <a:graphicData uri="http://schemas.openxmlformats.org/drawingml/2006/table">
            <a:tbl>
              <a:tblPr firstRow="0" bandRow="0">
                <a:tableStyleId>{5940675A-B579-460E-94D1-54222C63F5DA}</a:tableStyleId>
              </a:tblPr>
              <a:tblGrid>
                <a:gridCol w="2743200"/>
                <a:gridCol w="1828800"/>
              </a:tblGrid>
              <a:tr h="237744">
                <a:tc>
                  <a:txBody>
                    <a:bodyPr wrap="square"/>
                    <a:lstStyle/>
                    <a:p>
                      <a:pPr algn="l"/>
                      <a:r>
                        <a:rPr sz="1000" b="1" i="0">
                          <a:solidFill>
                            <a:srgbClr val="FFFFFF"/>
                          </a:solidFill>
                        </a:rPr>
                        <a:t>Macro</a:t>
                      </a:r>
                    </a:p>
                  </a:txBody>
                  <a:tcPr marL="45720" marR="45720" marT="18288" marB="18288" anchor="ctr">
                    <a:solidFill>
                      <a:srgbClr val="1F394D"/>
                    </a:solidFill>
                  </a:tcPr>
                </a:tc>
                <a:tc>
                  <a:txBody>
                    <a:bodyPr wrap="square"/>
                    <a:lstStyle/>
                    <a:p>
                      <a:pPr algn="l"/>
                      <a:r>
                        <a:rPr sz="1000" b="1" i="0">
                          <a:solidFill>
                            <a:srgbClr val="FFFFFF"/>
                          </a:solidFill>
                        </a:rPr>
                        <a:t>uops</a:t>
                      </a:r>
                    </a:p>
                  </a:txBody>
                  <a:tcPr marL="45720" marR="45720" marT="18288" marB="18288" anchor="ctr">
                    <a:solidFill>
                      <a:srgbClr val="1F394D"/>
                    </a:solidFill>
                  </a:tcPr>
                </a:tc>
              </a:tr>
              <a:tr h="237744">
                <a:tc>
                  <a:txBody>
                    <a:bodyPr wrap="square"/>
                    <a:lstStyle/>
                    <a:p>
                      <a:pPr algn="l"/>
                      <a:r>
                        <a:rPr sz="1000" b="0" i="0">
                          <a:solidFill>
                            <a:srgbClr val="000000"/>
                          </a:solidFill>
                        </a:rPr>
                        <a:t>RTU TRACE: 1 GP word + f0–f7</a:t>
                      </a:r>
                    </a:p>
                  </a:txBody>
                  <a:tcPr marL="45720" marR="45720" marT="18288" marB="18288" anchor="ctr">
                    <a:solidFill>
                      <a:srgbClr val="FFFFFF"/>
                    </a:solidFill>
                  </a:tcPr>
                </a:tc>
                <a:tc>
                  <a:txBody>
                    <a:bodyPr wrap="square"/>
                    <a:lstStyle/>
                    <a:p>
                      <a:pPr algn="l"/>
                      <a:r>
                        <a:rPr sz="1000" b="0" i="0">
                          <a:solidFill>
                            <a:srgbClr val="000000"/>
                          </a:solidFill>
                        </a:rPr>
                        <a:t>4 = 1 + ⌈8÷3⌉</a:t>
                      </a:r>
                    </a:p>
                  </a:txBody>
                  <a:tcPr marL="45720" marR="45720" marT="18288" marB="18288" anchor="ctr">
                    <a:solidFill>
                      <a:srgbClr val="FFFFFF"/>
                    </a:solidFill>
                  </a:tcPr>
                </a:tc>
              </a:tr>
              <a:tr h="237744">
                <a:tc>
                  <a:txBody>
                    <a:bodyPr wrap="square"/>
                    <a:lstStyle/>
                    <a:p>
                      <a:pPr algn="l"/>
                      <a:r>
                        <a:rPr sz="1000" b="0" i="0">
                          <a:solidFill>
                            <a:srgbClr val="000000"/>
                          </a:solidFill>
                        </a:rPr>
                        <a:t>WGMMA, NT=32, NRC=32</a:t>
                      </a:r>
                    </a:p>
                  </a:txBody>
                  <a:tcPr marL="45720" marR="45720" marT="18288" marB="18288" anchor="ctr">
                    <a:solidFill>
                      <a:srgbClr val="F2F6FA"/>
                    </a:solidFill>
                  </a:tcPr>
                </a:tc>
                <a:tc>
                  <a:txBody>
                    <a:bodyPr wrap="square"/>
                    <a:lstStyle/>
                    <a:p>
                      <a:pPr algn="l"/>
                      <a:r>
                        <a:rPr sz="1000" b="0" i="0">
                          <a:solidFill>
                            <a:srgbClr val="000000"/>
                          </a:solidFill>
                        </a:rPr>
                        <a:t>64 compute uops (+1 setup)</a:t>
                      </a:r>
                    </a:p>
                  </a:txBody>
                  <a:tcPr marL="45720" marR="45720" marT="18288" marB="18288" anchor="ctr">
                    <a:solidFill>
                      <a:srgbClr val="F2F6FA"/>
                    </a:solidFill>
                  </a:tcPr>
                </a:tc>
              </a:tr>
              <a:tr h="237744">
                <a:tc>
                  <a:txBody>
                    <a:bodyPr wrap="square"/>
                    <a:lstStyle/>
                    <a:p>
                      <a:pPr algn="l"/>
                      <a:r>
                        <a:rPr sz="1000" b="0" i="0">
                          <a:solidFill>
                            <a:srgbClr val="000000"/>
                          </a:solidFill>
                        </a:rPr>
                        <a:t>PACKLB</a:t>
                      </a:r>
                    </a:p>
                  </a:txBody>
                  <a:tcPr marL="45720" marR="45720" marT="18288" marB="18288" anchor="ctr">
                    <a:solidFill>
                      <a:srgbClr val="FFFFFF"/>
                    </a:solidFill>
                  </a:tcPr>
                </a:tc>
                <a:tc>
                  <a:txBody>
                    <a:bodyPr wrap="square"/>
                    <a:lstStyle/>
                    <a:p>
                      <a:pPr algn="l"/>
                      <a:r>
                        <a:rPr sz="1000" b="0" i="0">
                          <a:solidFill>
                            <a:srgbClr val="000000"/>
                          </a:solidFill>
                        </a:rPr>
                        <a:t>4 LSU uops</a:t>
                      </a:r>
                    </a:p>
                  </a:txBody>
                  <a:tcPr marL="45720" marR="45720" marT="18288" marB="18288"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Hardware Atomics: RISC-V A Extension</a:t>
            </a:r>
          </a:p>
        </p:txBody>
      </p:sp>
      <p:sp>
        <p:nvSpPr>
          <p:cNvPr id="3" name="Text Placeholder 2"/>
          <p:cNvSpPr>
            <a:spLocks noGrp="1"/>
          </p:cNvSpPr>
          <p:nvPr>
            <p:ph type="body" idx="1"/>
          </p:nvPr>
        </p:nvSpPr>
        <p:spPr>
          <a:xfrm>
            <a:off x="731520" y="1188720"/>
            <a:ext cx="6035040" cy="4937760"/>
          </a:xfrm>
        </p:spPr>
        <p:txBody>
          <a:bodyPr wrap="square"/>
          <a:lstStyle/>
          <a:p>
            <a:pPr marL="0" indent="0">
              <a:spcBef>
                <a:spcPts val="500"/>
              </a:spcBef>
              <a:buNone/>
            </a:pPr>
            <a:r>
              <a:rPr sz="1350" b="1" i="0">
                <a:solidFill>
                  <a:srgbClr val="1F394D"/>
                </a:solidFill>
              </a:rPr>
              <a:t>Ops</a:t>
            </a:r>
          </a:p>
          <a:p>
            <a:pPr lvl="1" marL="342900" indent="-228600">
              <a:spcBef>
                <a:spcPts val="100"/>
              </a:spcBef>
              <a:buFont typeface="Arial"/>
              <a:buChar char="•"/>
            </a:pPr>
            <a:r>
              <a:rPr sz="1150" b="0" i="0">
                <a:solidFill>
                  <a:srgbClr val="000000"/>
                </a:solidFill>
              </a:rPr>
              <a:t>LR / SC · AMOADD, SWAP, XOR, OR, AND, MIN(U), MAX(U) · .W / .D · Zacas AMOCAS (optional)</a:t>
            </a:r>
          </a:p>
          <a:p>
            <a:pPr lvl="1" marL="342900" indent="-228600">
              <a:spcBef>
                <a:spcPts val="100"/>
              </a:spcBef>
              <a:buFont typeface="Arial"/>
              <a:buChar char="•"/>
            </a:pPr>
            <a:r>
              <a:rPr sz="1150" b="0" i="0">
                <a:solidFill>
                  <a:srgbClr val="000000"/>
                </a:solidFill>
              </a:rPr>
              <a:t>opcode 0x2F; aq/rl captured, no ordering effect</a:t>
            </a:r>
          </a:p>
          <a:p>
            <a:pPr marL="0" indent="0">
              <a:spcBef>
                <a:spcPts val="500"/>
              </a:spcBef>
              <a:buNone/>
            </a:pPr>
            <a:r>
              <a:rPr sz="1350" b="1" i="0">
                <a:solidFill>
                  <a:srgbClr val="1F394D"/>
                </a:solidFill>
              </a:rPr>
              <a:t>Datapath</a:t>
            </a:r>
          </a:p>
          <a:p>
            <a:pPr lvl="1" marL="342900" indent="-228600">
              <a:spcBef>
                <a:spcPts val="100"/>
              </a:spcBef>
              <a:buFont typeface="Arial"/>
              <a:buChar char="•"/>
            </a:pPr>
            <a:r>
              <a:rPr sz="1150" b="0" i="0">
                <a:solidFill>
                  <a:srgbClr val="000000"/>
                </a:solidFill>
              </a:rPr>
              <a:t>decode → LSU slice attaches </a:t>
            </a:r>
            <a:r>
              <a:rPr sz="1150" b="0" i="0">
                <a:solidFill>
                  <a:srgbClr val="000000"/>
                </a:solidFill>
                <a:latin typeface="Consolas"/>
              </a:rPr>
              <a:t>amo_req_t {hart_id, op, unsigned, cmp}</a:t>
            </a:r>
            <a:r>
              <a:rPr sz="1150" b="0" i="0">
                <a:solidFill>
                  <a:srgbClr val="000000"/>
                </a:solidFill>
              </a:rPr>
              <a:t>, rw = 0, no_merge</a:t>
            </a:r>
          </a:p>
          <a:p>
            <a:pPr lvl="1" marL="342900" indent="-228600">
              <a:spcBef>
                <a:spcPts val="100"/>
              </a:spcBef>
              <a:buFont typeface="Arial"/>
              <a:buChar char="•"/>
            </a:pPr>
            <a:r>
              <a:rPr sz="1150" b="0" i="0">
                <a:solidFill>
                  <a:srgbClr val="000000"/>
                </a:solidFill>
              </a:rPr>
              <a:t>VX_lmem_switch → local-memory bank (3-cycle RMW) or dcache → … → LLC bank</a:t>
            </a:r>
          </a:p>
          <a:p>
            <a:pPr marL="0" indent="0">
              <a:spcBef>
                <a:spcPts val="500"/>
              </a:spcBef>
              <a:buNone/>
            </a:pPr>
            <a:r>
              <a:rPr sz="1350" b="1" i="0">
                <a:solidFill>
                  <a:srgbClr val="1F394D"/>
                </a:solidFill>
              </a:rPr>
              <a:t>LLC commit stage (VX_cache_amo, IS_LLC)</a:t>
            </a:r>
          </a:p>
          <a:p>
            <a:pPr lvl="1" marL="342900" indent="-228600">
              <a:spcBef>
                <a:spcPts val="100"/>
              </a:spcBef>
              <a:buFont typeface="Arial"/>
              <a:buChar char="•"/>
            </a:pPr>
            <a:r>
              <a:rPr sz="1150" b="0" i="0">
                <a:solidFill>
                  <a:srgbClr val="000000"/>
                </a:solidFill>
                <a:latin typeface="Consolas"/>
              </a:rPr>
              <a:t>amo_hit = atomic ∧ hit ∧ core_req</a:t>
            </a:r>
            <a:r>
              <a:rPr sz="1150" b="0" i="0">
                <a:solidFill>
                  <a:srgbClr val="000000"/>
                </a:solidFill>
              </a:rPr>
              <a:t>; </a:t>
            </a:r>
            <a:r>
              <a:rPr sz="1150" b="0" i="0">
                <a:solidFill>
                  <a:srgbClr val="000000"/>
                </a:solidFill>
                <a:latin typeface="Consolas"/>
              </a:rPr>
              <a:t>sc_fail = SC ∧ ¬res_check</a:t>
            </a:r>
          </a:p>
          <a:p>
            <a:pPr lvl="1" marL="342900" indent="-228600">
              <a:spcBef>
                <a:spcPts val="100"/>
              </a:spcBef>
              <a:buFont typeface="Arial"/>
              <a:buChar char="•"/>
            </a:pPr>
            <a:r>
              <a:rPr sz="1150" b="0" i="0">
                <a:solidFill>
                  <a:srgbClr val="000000"/>
                </a:solidFill>
              </a:rPr>
              <a:t>VX_amo_alu (combinational) → writeback queue → 2-cycle settling → synthetic store</a:t>
            </a:r>
          </a:p>
          <a:p>
            <a:pPr marL="0" indent="0">
              <a:spcBef>
                <a:spcPts val="500"/>
              </a:spcBef>
              <a:buNone/>
            </a:pPr>
            <a:r>
              <a:rPr sz="1350" b="1" i="0">
                <a:solidFill>
                  <a:srgbClr val="1F394D"/>
                </a:solidFill>
              </a:rPr>
              <a:t>Reservations (VX_amo_unit)</a:t>
            </a:r>
          </a:p>
          <a:p>
            <a:pPr lvl="1" marL="342900" indent="-228600">
              <a:spcBef>
                <a:spcPts val="100"/>
              </a:spcBef>
              <a:buFont typeface="Arial"/>
              <a:buChar char="•"/>
            </a:pPr>
            <a:r>
              <a:rPr sz="1150" b="0" i="0">
                <a:solidFill>
                  <a:srgbClr val="000000"/>
                </a:solidFill>
              </a:rPr>
              <a:t>direct-mapped stations </a:t>
            </a:r>
            <a:r>
              <a:rPr sz="1150" b="0" i="0">
                <a:solidFill>
                  <a:srgbClr val="000000"/>
                </a:solidFill>
                <a:latin typeface="Consolas"/>
              </a:rPr>
              <a:t>{valid, hold credit, hart_id, tag}</a:t>
            </a:r>
          </a:p>
          <a:p>
            <a:pPr lvl="1" marL="342900" indent="-228600">
              <a:spcBef>
                <a:spcPts val="100"/>
              </a:spcBef>
              <a:buFont typeface="Arial"/>
              <a:buChar char="•"/>
            </a:pPr>
            <a:r>
              <a:rPr sz="1150" b="0" i="0">
                <a:solidFill>
                  <a:srgbClr val="000000"/>
                </a:solidFill>
              </a:rPr>
              <a:t>foreign LR refused up to 63× at LLC (7× in LMEM) → LR/SC forward progress</a:t>
            </a:r>
          </a:p>
          <a:p>
            <a:pPr marL="0" indent="0">
              <a:spcBef>
                <a:spcPts val="500"/>
              </a:spcBef>
              <a:buNone/>
            </a:pPr>
            <a:r>
              <a:rPr sz="1350" b="1" i="0">
                <a:solidFill>
                  <a:srgbClr val="1F394D"/>
                </a:solidFill>
              </a:rPr>
              <a:t>Config</a:t>
            </a:r>
          </a:p>
          <a:p>
            <a:pPr lvl="1" marL="342900" indent="-228600">
              <a:spcBef>
                <a:spcPts val="100"/>
              </a:spcBef>
              <a:buFont typeface="Arial"/>
              <a:buChar char="•"/>
            </a:pPr>
            <a:r>
              <a:rPr sz="1150" b="0" i="0">
                <a:solidFill>
                  <a:srgbClr val="000000"/>
                </a:solidFill>
              </a:rPr>
              <a:t>VX_CFG_EXT_A_ENABLE · VX_CFG_AMO_RS_SIZE = max(NW, NC×NW / L2 banks)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040880" y="1371600"/>
            <a:ext cx="457200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Decode 0x2F → LSU slice (amo_req_t, rw=0, no_merge)</a:t>
            </a:r>
          </a:p>
        </p:txBody>
      </p:sp>
      <p:cxnSp>
        <p:nvCxnSpPr>
          <p:cNvPr id="6" name="Connector 5"/>
          <p:cNvCxnSpPr/>
          <p:nvPr/>
        </p:nvCxnSpPr>
        <p:spPr>
          <a:xfrm>
            <a:off x="9326880" y="182880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229600" y="2103120"/>
            <a:ext cx="2194560" cy="41148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VX_lmem_switch</a:t>
            </a:r>
          </a:p>
        </p:txBody>
      </p:sp>
      <p:cxnSp>
        <p:nvCxnSpPr>
          <p:cNvPr id="8" name="Connector 7"/>
          <p:cNvCxnSpPr/>
          <p:nvPr/>
        </p:nvCxnSpPr>
        <p:spPr>
          <a:xfrm flipH="1">
            <a:off x="7863840" y="2514600"/>
            <a:ext cx="54864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241280" y="2514600"/>
            <a:ext cx="54864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7040880" y="2834640"/>
            <a:ext cx="2011680" cy="137160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VX_local_mem bank</a:t>
            </a:r>
          </a:p>
          <a:p>
            <a:pPr algn="ctr"/>
            <a:r>
              <a:rPr sz="950" b="0" i="0">
                <a:solidFill>
                  <a:srgbClr val="000000"/>
                </a:solidFill>
              </a:rPr>
              <a:t>read (= response)</a:t>
            </a:r>
          </a:p>
          <a:p>
            <a:pPr algn="ctr"/>
            <a:r>
              <a:rPr sz="950" b="0" i="0">
                <a:solidFill>
                  <a:srgbClr val="000000"/>
                </a:solidFill>
              </a:rPr>
              <a:t>→ capture / reservation</a:t>
            </a:r>
          </a:p>
          <a:p>
            <a:pPr algn="ctr"/>
            <a:r>
              <a:rPr sz="950" b="0" i="0">
                <a:solidFill>
                  <a:srgbClr val="000000"/>
                </a:solidFill>
              </a:rPr>
              <a:t>→ write back (3 cycles)</a:t>
            </a:r>
          </a:p>
        </p:txBody>
      </p:sp>
      <p:sp>
        <p:nvSpPr>
          <p:cNvPr id="11" name="Rectangle 10"/>
          <p:cNvSpPr/>
          <p:nvPr/>
        </p:nvSpPr>
        <p:spPr>
          <a:xfrm>
            <a:off x="9601200" y="2834640"/>
            <a:ext cx="2011680" cy="13716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dcache → L2 → LLC bank</a:t>
            </a:r>
          </a:p>
          <a:p>
            <a:pPr algn="ctr"/>
            <a:r>
              <a:rPr sz="950" b="0" i="0">
                <a:solidFill>
                  <a:srgbClr val="000000"/>
                </a:solidFill>
              </a:rPr>
              <a:t>commit: amo_hit, sc_fail</a:t>
            </a:r>
          </a:p>
          <a:p>
            <a:pPr algn="ctr"/>
            <a:r>
              <a:rPr sz="950" b="0" i="0">
                <a:solidFill>
                  <a:srgbClr val="000000"/>
                </a:solidFill>
              </a:rPr>
              <a:t>VX_amo_alu → wb queue</a:t>
            </a:r>
          </a:p>
          <a:p>
            <a:pPr algn="ctr"/>
            <a:r>
              <a:rPr sz="950" b="0" i="0">
                <a:solidFill>
                  <a:srgbClr val="000000"/>
                </a:solidFill>
              </a:rPr>
              <a:t>→ settling → store</a:t>
            </a:r>
          </a:p>
        </p:txBody>
      </p:sp>
      <p:sp>
        <p:nvSpPr>
          <p:cNvPr id="12" name="Rectangle 11"/>
          <p:cNvSpPr/>
          <p:nvPr/>
        </p:nvSpPr>
        <p:spPr>
          <a:xfrm>
            <a:off x="9601200" y="4343400"/>
            <a:ext cx="2011680" cy="6858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VX_amo_unit</a:t>
            </a:r>
          </a:p>
          <a:p>
            <a:pPr algn="ctr"/>
            <a:r>
              <a:rPr sz="1000" b="0" i="0">
                <a:solidFill>
                  <a:srgbClr val="000000"/>
                </a:solidFill>
              </a:rPr>
              <a:t>reservation stations</a:t>
            </a:r>
          </a:p>
        </p:txBody>
      </p:sp>
      <p:sp>
        <p:nvSpPr>
          <p:cNvPr id="13" name="Rectangle 12"/>
          <p:cNvSpPr/>
          <p:nvPr/>
        </p:nvSpPr>
        <p:spPr>
          <a:xfrm>
            <a:off x="7040880" y="4343400"/>
            <a:ext cx="2011680" cy="6858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VX_amo_unit (≤ 4 stations)</a:t>
            </a:r>
          </a:p>
        </p:txBody>
      </p:sp>
      <p:cxnSp>
        <p:nvCxnSpPr>
          <p:cNvPr id="14" name="Connector 13"/>
          <p:cNvCxnSpPr/>
          <p:nvPr/>
        </p:nvCxnSpPr>
        <p:spPr>
          <a:xfrm>
            <a:off x="8046720" y="420624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607040" y="4206240"/>
            <a:ext cx="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7040880" y="5212080"/>
            <a:ext cx="4572000" cy="822960"/>
          </a:xfrm>
          <a:prstGeom prst="rect">
            <a:avLst/>
          </a:prstGeom>
          <a:solidFill>
            <a:srgbClr val="FFFBE6"/>
          </a:solidFill>
          <a:ln w="12700">
            <a:solidFill>
              <a:srgbClr val="D4B106"/>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00" b="0" i="0">
                <a:solidFill>
                  <a:srgbClr val="333333"/>
                </a:solidFill>
              </a:rPr>
              <a:t>Response old value / SC result → rd. Width is derived from byteen popcount (4 → .W, 8 → .D); Zacas widens every memory request by XLEN, so it is off by default.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In-House FPU: VX_fpu_std (F32 + F64)</a:t>
            </a:r>
          </a:p>
        </p:txBody>
      </p:sp>
      <p:sp>
        <p:nvSpPr>
          <p:cNvPr id="3" name="Text Placeholder 2"/>
          <p:cNvSpPr>
            <a:spLocks noGrp="1"/>
          </p:cNvSpPr>
          <p:nvPr>
            <p:ph type="body" idx="1"/>
          </p:nvPr>
        </p:nvSpPr>
        <p:spPr>
          <a:xfrm>
            <a:off x="731520" y="1188720"/>
            <a:ext cx="6035040" cy="4937760"/>
          </a:xfrm>
        </p:spPr>
        <p:txBody>
          <a:bodyPr wrap="square"/>
          <a:lstStyle/>
          <a:p>
            <a:pPr marL="0" indent="0">
              <a:spcBef>
                <a:spcPts val="500"/>
              </a:spcBef>
              <a:buNone/>
            </a:pPr>
            <a:r>
              <a:rPr sz="1350" b="1" i="0">
                <a:solidFill>
                  <a:srgbClr val="1F394D"/>
                </a:solidFill>
              </a:rPr>
              <a:t>Front end (VX_fpu_unit)</a:t>
            </a:r>
          </a:p>
          <a:p>
            <a:pPr lvl="1" marL="342900" indent="-228600">
              <a:spcBef>
                <a:spcPts val="100"/>
              </a:spcBef>
              <a:buFont typeface="Arial"/>
              <a:buChar char="•"/>
            </a:pPr>
            <a:r>
              <a:rPr sz="1150" b="0" i="0">
                <a:solidFill>
                  <a:srgbClr val="000000"/>
                </a:solidFill>
              </a:rPr>
              <a:t>lane dispatch → tag store (</a:t>
            </a:r>
            <a:r>
              <a:rPr sz="1150" b="0" i="0">
                <a:solidFill>
                  <a:srgbClr val="000000"/>
                </a:solidFill>
                <a:latin typeface="Consolas"/>
              </a:rPr>
              <a:t>FPU_QUEUE_SIZE = 2·SIMD/lanes</a:t>
            </a:r>
            <a:r>
              <a:rPr sz="1150" b="0" i="0">
                <a:solidFill>
                  <a:srgbClr val="000000"/>
                </a:solidFill>
              </a:rPr>
              <a:t>) → frm resolve (DYN → warp fcsr)</a:t>
            </a:r>
          </a:p>
          <a:p>
            <a:pPr lvl="1" marL="342900" indent="-228600">
              <a:spcBef>
                <a:spcPts val="100"/>
              </a:spcBef>
              <a:buFont typeface="Arial"/>
              <a:buChar char="•"/>
            </a:pPr>
            <a:r>
              <a:rPr sz="1150" b="0" i="0">
                <a:solidFill>
                  <a:srgbClr val="000000"/>
                </a:solidFill>
              </a:rPr>
              <a:t>op[3:2] selects the core; flags OR-ed across packets; results in completion order</a:t>
            </a:r>
          </a:p>
          <a:p>
            <a:pPr marL="0" indent="0">
              <a:spcBef>
                <a:spcPts val="500"/>
              </a:spcBef>
              <a:buNone/>
            </a:pPr>
            <a:r>
              <a:rPr sz="1350" b="1" i="0">
                <a:solidFill>
                  <a:srgbClr val="1F394D"/>
                </a:solidFill>
              </a:rPr>
              <a:t>Four cores, PE-serialized</a:t>
            </a:r>
          </a:p>
          <a:p>
            <a:pPr lvl="1" marL="342900" indent="-228600">
              <a:spcBef>
                <a:spcPts val="100"/>
              </a:spcBef>
              <a:buFont typeface="Arial"/>
              <a:buChar char="•"/>
            </a:pPr>
            <a:r>
              <a:rPr sz="1150" b="0" i="0">
                <a:solidFill>
                  <a:srgbClr val="000000"/>
                </a:solidFill>
              </a:rPr>
              <a:t>FMA: separate </a:t>
            </a:r>
            <a:r>
              <a:rPr sz="1150" b="0" i="0">
                <a:solidFill>
                  <a:srgbClr val="000000"/>
                </a:solidFill>
                <a:latin typeface="Consolas"/>
              </a:rPr>
              <a:t>fma32</a:t>
            </a:r>
            <a:r>
              <a:rPr sz="1150" b="0" i="0">
                <a:solidFill>
                  <a:srgbClr val="000000"/>
                </a:solidFill>
              </a:rPr>
              <a:t> (23, 8) and </a:t>
            </a:r>
            <a:r>
              <a:rPr sz="1150" b="0" i="0">
                <a:solidFill>
                  <a:srgbClr val="000000"/>
                </a:solidFill>
                <a:latin typeface="Consolas"/>
              </a:rPr>
              <a:t>fma64</a:t>
            </a:r>
            <a:r>
              <a:rPr sz="1150" b="0" i="0">
                <a:solidFill>
                  <a:srgbClr val="000000"/>
                </a:solidFill>
              </a:rPr>
              <a:t> (52, 11), selected by fmt[0]</a:t>
            </a:r>
          </a:p>
          <a:p>
            <a:pPr lvl="1" marL="342900" indent="-228600">
              <a:spcBef>
                <a:spcPts val="100"/>
              </a:spcBef>
              <a:buFont typeface="Arial"/>
              <a:buChar char="•"/>
            </a:pPr>
            <a:r>
              <a:rPr sz="1150" b="0" i="0">
                <a:solidFill>
                  <a:srgbClr val="000000"/>
                </a:solidFill>
              </a:rPr>
              <a:t>DIV/SQRT: merged radix-2 non-restoring, one carry-save datapath</a:t>
            </a:r>
          </a:p>
          <a:p>
            <a:pPr lvl="1" marL="342900" indent="-228600">
              <a:spcBef>
                <a:spcPts val="100"/>
              </a:spcBef>
              <a:buFont typeface="Arial"/>
              <a:buChar char="•"/>
            </a:pPr>
            <a:r>
              <a:rPr sz="1150" b="0" i="0">
                <a:solidFill>
                  <a:srgbClr val="000000"/>
                </a:solidFill>
              </a:rPr>
              <a:t>CVT: I2F / F2I / F2F incl. FCVT.S.D subnormals</a:t>
            </a:r>
          </a:p>
          <a:p>
            <a:pPr lvl="1" marL="342900" indent="-228600">
              <a:spcBef>
                <a:spcPts val="100"/>
              </a:spcBef>
              <a:buFont typeface="Arial"/>
              <a:buChar char="•"/>
            </a:pPr>
            <a:r>
              <a:rPr sz="1150" b="0" i="0">
                <a:solidFill>
                  <a:srgbClr val="000000"/>
                </a:solidFill>
              </a:rPr>
              <a:t>NCP: sign-inject, min/max, compare, class, move (NaN-box check)</a:t>
            </a:r>
          </a:p>
          <a:p>
            <a:pPr marL="0" indent="0">
              <a:spcBef>
                <a:spcPts val="500"/>
              </a:spcBef>
              <a:buNone/>
            </a:pPr>
            <a:r>
              <a:rPr sz="1350" b="1" i="0">
                <a:solidFill>
                  <a:srgbClr val="1F394D"/>
                </a:solidFill>
              </a:rPr>
              <a:t>Backends (VX_CFG_FPU_TYPE)</a:t>
            </a:r>
          </a:p>
          <a:p>
            <a:pPr lvl="1" marL="342900" indent="-228600">
              <a:spcBef>
                <a:spcPts val="100"/>
              </a:spcBef>
              <a:buFont typeface="Arial"/>
              <a:buChar char="•"/>
            </a:pPr>
            <a:r>
              <a:rPr sz="1150" b="0" i="0">
                <a:solidFill>
                  <a:srgbClr val="000000"/>
                </a:solidFill>
              </a:rPr>
              <a:t>STD = VX_fpu_std · DSP (Vivado/Quartus IP) · DPI (rtlsim default) · FPNEW (optional)</a:t>
            </a:r>
          </a:p>
          <a:p>
            <a:pPr marL="0" indent="0">
              <a:spcBef>
                <a:spcPts val="500"/>
              </a:spcBef>
              <a:buNone/>
            </a:pPr>
            <a:r>
              <a:rPr sz="1350" b="1" i="0">
                <a:solidFill>
                  <a:srgbClr val="1F394D"/>
                </a:solidFill>
              </a:rPr>
              <a:t>Building blocks (hw/rtl/libs)</a:t>
            </a:r>
          </a:p>
          <a:p>
            <a:pPr lvl="1" marL="342900" indent="-228600">
              <a:spcBef>
                <a:spcPts val="100"/>
              </a:spcBef>
              <a:buFont typeface="Arial"/>
              <a:buChar char="•"/>
            </a:pPr>
            <a:r>
              <a:rPr sz="1150" b="0" i="0">
                <a:solidFill>
                  <a:srgbClr val="000000"/>
                </a:solidFill>
              </a:rPr>
              <a:t>VX_wallace_mul / VX_fold_mul · VX_ks_adder (Kogge-Stone) · VX_fp_rounding · VX_fp_classifier</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040880" y="1371600"/>
            <a:ext cx="4572000"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VX_fpu_unit: VX_lane_dispatch → tag store → frm resolve</a:t>
            </a:r>
          </a:p>
        </p:txBody>
      </p:sp>
      <p:cxnSp>
        <p:nvCxnSpPr>
          <p:cNvPr id="6" name="Connector 5"/>
          <p:cNvCxnSpPr/>
          <p:nvPr/>
        </p:nvCxnSpPr>
        <p:spPr>
          <a:xfrm>
            <a:off x="9326880" y="1874519"/>
            <a:ext cx="0" cy="27432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955279" y="2148840"/>
            <a:ext cx="2743200" cy="36576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request switch by op[3:2]</a:t>
            </a:r>
          </a:p>
        </p:txBody>
      </p:sp>
      <p:cxnSp>
        <p:nvCxnSpPr>
          <p:cNvPr id="8" name="Connector 7"/>
          <p:cNvCxnSpPr/>
          <p:nvPr/>
        </p:nvCxnSpPr>
        <p:spPr>
          <a:xfrm flipH="1">
            <a:off x="7543800" y="2514600"/>
            <a:ext cx="1783080"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040880" y="2834640"/>
            <a:ext cx="1005840" cy="9144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FMA</a:t>
            </a:r>
          </a:p>
          <a:p>
            <a:pPr algn="ctr"/>
            <a:r>
              <a:rPr sz="950" b="0" i="0">
                <a:solidFill>
                  <a:srgbClr val="000000"/>
                </a:solidFill>
              </a:rPr>
              <a:t>fma32 ∥ fma64</a:t>
            </a:r>
          </a:p>
        </p:txBody>
      </p:sp>
      <p:cxnSp>
        <p:nvCxnSpPr>
          <p:cNvPr id="10" name="Connector 9"/>
          <p:cNvCxnSpPr/>
          <p:nvPr/>
        </p:nvCxnSpPr>
        <p:spPr>
          <a:xfrm>
            <a:off x="7543800" y="3749039"/>
            <a:ext cx="1783080" cy="32004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705088" y="2514600"/>
            <a:ext cx="621792"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8202168" y="2834640"/>
            <a:ext cx="1005840" cy="9144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DIV / SQRT</a:t>
            </a:r>
          </a:p>
          <a:p>
            <a:pPr algn="ctr"/>
            <a:r>
              <a:rPr sz="950" b="0" i="0">
                <a:solidFill>
                  <a:srgbClr val="000000"/>
                </a:solidFill>
              </a:rPr>
              <a:t>merged</a:t>
            </a:r>
          </a:p>
        </p:txBody>
      </p:sp>
      <p:cxnSp>
        <p:nvCxnSpPr>
          <p:cNvPr id="13" name="Connector 12"/>
          <p:cNvCxnSpPr/>
          <p:nvPr/>
        </p:nvCxnSpPr>
        <p:spPr>
          <a:xfrm>
            <a:off x="8705088" y="3749039"/>
            <a:ext cx="621792" cy="32004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326880" y="2514600"/>
            <a:ext cx="539496"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9363456" y="2834640"/>
            <a:ext cx="1005840" cy="9144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CVT</a:t>
            </a:r>
          </a:p>
          <a:p>
            <a:pPr algn="ctr"/>
            <a:r>
              <a:rPr sz="950" b="0" i="0">
                <a:solidFill>
                  <a:srgbClr val="000000"/>
                </a:solidFill>
              </a:rPr>
              <a:t>merged</a:t>
            </a:r>
          </a:p>
        </p:txBody>
      </p:sp>
      <p:cxnSp>
        <p:nvCxnSpPr>
          <p:cNvPr id="16" name="Connector 15"/>
          <p:cNvCxnSpPr/>
          <p:nvPr/>
        </p:nvCxnSpPr>
        <p:spPr>
          <a:xfrm flipH="1">
            <a:off x="9326880" y="3749039"/>
            <a:ext cx="539496" cy="32004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326880" y="2514600"/>
            <a:ext cx="1700784" cy="32004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0524744" y="2834640"/>
            <a:ext cx="1005840" cy="9144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NCP</a:t>
            </a:r>
          </a:p>
          <a:p>
            <a:pPr algn="ctr"/>
            <a:r>
              <a:rPr sz="950" b="0" i="0">
                <a:solidFill>
                  <a:srgbClr val="000000"/>
                </a:solidFill>
              </a:rPr>
              <a:t>merged</a:t>
            </a:r>
          </a:p>
        </p:txBody>
      </p:sp>
      <p:cxnSp>
        <p:nvCxnSpPr>
          <p:cNvPr id="19" name="Connector 18"/>
          <p:cNvCxnSpPr/>
          <p:nvPr/>
        </p:nvCxnSpPr>
        <p:spPr>
          <a:xfrm flipH="1">
            <a:off x="9326880" y="3749039"/>
            <a:ext cx="1700784" cy="32004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955279" y="4069080"/>
            <a:ext cx="2743200" cy="36576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response arbiter → tag restore, flag OR</a:t>
            </a:r>
          </a:p>
        </p:txBody>
      </p:sp>
      <p:cxnSp>
        <p:nvCxnSpPr>
          <p:cNvPr id="21" name="Connector 20"/>
          <p:cNvCxnSpPr/>
          <p:nvPr/>
        </p:nvCxnSpPr>
        <p:spPr>
          <a:xfrm>
            <a:off x="9326880" y="443484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7040880" y="4709160"/>
            <a:ext cx="4572000" cy="41148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VX_lane_gather → commit</a:t>
            </a:r>
          </a:p>
        </p:txBody>
      </p:sp>
      <p:sp>
        <p:nvSpPr>
          <p:cNvPr id="23" name="TextBox 22"/>
          <p:cNvSpPr txBox="1"/>
          <p:nvPr/>
        </p:nvSpPr>
        <p:spPr>
          <a:xfrm>
            <a:off x="7040880" y="5257800"/>
            <a:ext cx="4572000" cy="731520"/>
          </a:xfrm>
          <a:prstGeom prst="rect">
            <a:avLst/>
          </a:prstGeom>
          <a:noFill/>
        </p:spPr>
        <p:txBody>
          <a:bodyPr wrap="square" lIns="27432" rIns="27432" tIns="27432" bIns="27432" anchor="t">
            <a:spAutoFit/>
          </a:bodyPr>
          <a:lstStyle/>
          <a:p>
            <a:pPr algn="l"/>
            <a:r>
              <a:rPr sz="950" b="0" i="1">
                <a:solidFill>
                  <a:srgbClr val="555555"/>
                </a:solidFill>
              </a:rPr>
              <a:t>FMA stages: INI → MUL → ALN (1 F32 / 2 F64) → ACC → NRM → RND1 → RND2 — min latency 7 (F32), 8 (F64). Transcendentals (rcp, rsqrt, ex2, lg2, sinpi, cospi, tanh) run on the MUFU in the SFU, not 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Cache Changes in v3.0</a:t>
            </a:r>
          </a:p>
        </p:txBody>
      </p:sp>
      <p:sp>
        <p:nvSpPr>
          <p:cNvPr id="3" name="Text Placeholder 2"/>
          <p:cNvSpPr>
            <a:spLocks noGrp="1"/>
          </p:cNvSpPr>
          <p:nvPr>
            <p:ph type="body" idx="1"/>
          </p:nvPr>
        </p:nvSpPr>
        <p:spPr>
          <a:xfrm>
            <a:off x="6400800" y="1188720"/>
            <a:ext cx="5303520" cy="4937760"/>
          </a:xfrm>
        </p:spPr>
        <p:txBody>
          <a:bodyPr wrap="square"/>
          <a:lstStyle/>
          <a:p>
            <a:pPr marL="0" indent="0">
              <a:spcBef>
                <a:spcPts val="500"/>
              </a:spcBef>
              <a:buNone/>
            </a:pPr>
            <a:r>
              <a:rPr sz="1300" b="1" i="0">
                <a:solidFill>
                  <a:srgbClr val="1F394D"/>
                </a:solidFill>
              </a:rPr>
              <a:t>Sectored L2 / L3</a:t>
            </a:r>
          </a:p>
          <a:p>
            <a:pPr lvl="1" marL="342900" indent="-228600">
              <a:spcBef>
                <a:spcPts val="100"/>
              </a:spcBef>
              <a:buFont typeface="Arial"/>
              <a:buChar char="•"/>
            </a:pPr>
            <a:r>
              <a:rPr sz="1150" b="0" i="0">
                <a:solidFill>
                  <a:srgbClr val="000000"/>
                </a:solidFill>
              </a:rPr>
              <a:t>line = 2 × MEM_BLOCK, sector = MEM_BLOCK (</a:t>
            </a:r>
            <a:r>
              <a:rPr sz="1150" b="0" i="0">
                <a:solidFill>
                  <a:srgbClr val="000000"/>
                </a:solidFill>
                <a:latin typeface="Consolas"/>
              </a:rPr>
              <a:t>VX_CFG_{L2,L3}_SECTOR_SIZE</a:t>
            </a:r>
            <a:r>
              <a:rPr sz="1150" b="0" i="0">
                <a:solidFill>
                  <a:srgbClr val="000000"/>
                </a:solidFill>
              </a:rPr>
              <a:t>)</a:t>
            </a:r>
          </a:p>
          <a:p>
            <a:pPr lvl="1" marL="342900" indent="-228600">
              <a:spcBef>
                <a:spcPts val="100"/>
              </a:spcBef>
              <a:buFont typeface="Arial"/>
              <a:buChar char="•"/>
            </a:pPr>
            <a:r>
              <a:rPr sz="1150" b="0" i="0">
                <a:solidFill>
                  <a:srgbClr val="000000"/>
                </a:solidFill>
              </a:rPr>
              <a:t>one tag per line, fills/evictions per sector → half the LLC tags</a:t>
            </a:r>
          </a:p>
          <a:p>
            <a:pPr marL="0" indent="0">
              <a:spcBef>
                <a:spcPts val="500"/>
              </a:spcBef>
              <a:buNone/>
            </a:pPr>
            <a:r>
              <a:rPr sz="1300" b="1" i="0">
                <a:solidFill>
                  <a:srgbClr val="1F394D"/>
                </a:solidFill>
              </a:rPr>
              <a:t>Word-size dcache banking</a:t>
            </a:r>
          </a:p>
          <a:p>
            <a:pPr lvl="1" marL="342900" indent="-228600">
              <a:spcBef>
                <a:spcPts val="100"/>
              </a:spcBef>
              <a:buFont typeface="Arial"/>
              <a:buChar char="•"/>
            </a:pPr>
            <a:r>
              <a:rPr sz="1150" b="0" i="0">
                <a:solidFill>
                  <a:srgbClr val="000000"/>
                </a:solidFill>
                <a:latin typeface="Consolas"/>
              </a:rPr>
              <a:t>NUM_BANKS = NUM_REQS = footprint / word</a:t>
            </a:r>
            <a:r>
              <a:rPr sz="1150" b="0" i="0">
                <a:solidFill>
                  <a:srgbClr val="000000"/>
                </a:solidFill>
              </a:rPr>
              <a:t> from the coalescer word</a:t>
            </a:r>
          </a:p>
          <a:p>
            <a:pPr lvl="1" marL="342900" indent="-228600">
              <a:spcBef>
                <a:spcPts val="100"/>
              </a:spcBef>
              <a:buFont typeface="Arial"/>
              <a:buChar char="•"/>
            </a:pPr>
            <a:r>
              <a:rPr sz="1150" b="0" i="0">
                <a:solidFill>
                  <a:srgbClr val="000000"/>
                </a:solidFill>
              </a:rPr>
              <a:t>MLP scales with NT without shrinking the line</a:t>
            </a:r>
          </a:p>
          <a:p>
            <a:pPr marL="0" indent="0">
              <a:spcBef>
                <a:spcPts val="500"/>
              </a:spcBef>
              <a:buNone/>
            </a:pPr>
            <a:r>
              <a:rPr sz="1300" b="1" i="0">
                <a:solidFill>
                  <a:srgbClr val="1F394D"/>
                </a:solidFill>
              </a:rPr>
              <a:t>Fill forwarding (FILL_FORWARD)</a:t>
            </a:r>
          </a:p>
          <a:p>
            <a:pPr lvl="1" marL="342900" indent="-228600">
              <a:spcBef>
                <a:spcPts val="100"/>
              </a:spcBef>
              <a:buFont typeface="Arial"/>
              <a:buChar char="•"/>
            </a:pPr>
            <a:r>
              <a:rPr sz="1150" b="0" i="0">
                <a:solidFill>
                  <a:srgbClr val="000000"/>
                </a:solidFill>
              </a:rPr>
              <a:t>leading run of reads served from the staged fill sector</a:t>
            </a:r>
          </a:p>
          <a:p>
            <a:pPr lvl="1" marL="342900" indent="-228600">
              <a:spcBef>
                <a:spcPts val="100"/>
              </a:spcBef>
              <a:buFont typeface="Arial"/>
              <a:buChar char="•"/>
            </a:pPr>
            <a:r>
              <a:rPr sz="1150" b="0" i="0">
                <a:solidFill>
                  <a:srgbClr val="000000"/>
                </a:solidFill>
              </a:rPr>
              <a:t>first write/AMO falls back to replay (keeps program order)</a:t>
            </a:r>
          </a:p>
          <a:p>
            <a:pPr lvl="1" marL="342900" indent="-228600">
              <a:spcBef>
                <a:spcPts val="100"/>
              </a:spcBef>
              <a:buFont typeface="Arial"/>
              <a:buChar char="•"/>
            </a:pPr>
            <a:r>
              <a:rPr sz="1150" b="0" i="0">
                <a:solidFill>
                  <a:srgbClr val="000000"/>
                </a:solidFill>
              </a:rPr>
              <a:t>sgemm −2.7% · sgemv −5.0% · sgemm-mc −2.2% cycles</a:t>
            </a:r>
          </a:p>
          <a:p>
            <a:pPr marL="0" indent="0">
              <a:spcBef>
                <a:spcPts val="500"/>
              </a:spcBef>
              <a:buNone/>
            </a:pPr>
            <a:r>
              <a:rPr sz="1300" b="1" i="0">
                <a:solidFill>
                  <a:srgbClr val="1F394D"/>
                </a:solidFill>
              </a:rPr>
              <a:t>Also</a:t>
            </a:r>
          </a:p>
          <a:p>
            <a:pPr lvl="1" marL="342900" indent="-228600">
              <a:spcBef>
                <a:spcPts val="100"/>
              </a:spcBef>
              <a:buFont typeface="Arial"/>
              <a:buChar char="•"/>
            </a:pPr>
            <a:r>
              <a:rPr sz="1150" b="0" i="0">
                <a:solidFill>
                  <a:srgbClr val="000000"/>
                </a:solidFill>
              </a:rPr>
              <a:t>LMEM window decode compares address bits above the window (no end address)</a:t>
            </a:r>
          </a:p>
          <a:p>
            <a:pPr lvl="1" marL="342900" indent="-228600">
              <a:spcBef>
                <a:spcPts val="100"/>
              </a:spcBef>
              <a:buFont typeface="Arial"/>
              <a:buChar char="•"/>
            </a:pPr>
            <a:r>
              <a:rPr sz="1150" b="0" i="0">
                <a:solidFill>
                  <a:srgbClr val="000000"/>
                </a:solidFill>
              </a:rPr>
              <a:t>SimX cache-flush parity: fans out to i/d/t/r/o caches like the RTL</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5486399" cy="1508760"/>
        </p:xfrm>
        <a:graphic>
          <a:graphicData uri="http://schemas.openxmlformats.org/drawingml/2006/table">
            <a:tbl>
              <a:tblPr firstRow="0" bandRow="0">
                <a:tableStyleId>{5940675A-B579-460E-94D1-54222C63F5DA}</a:tableStyleId>
              </a:tblPr>
              <a:tblGrid>
                <a:gridCol w="1005840"/>
                <a:gridCol w="1097280"/>
                <a:gridCol w="1280159"/>
                <a:gridCol w="2103120"/>
              </a:tblGrid>
              <a:tr h="301752">
                <a:tc>
                  <a:txBody>
                    <a:bodyPr wrap="square"/>
                    <a:lstStyle/>
                    <a:p>
                      <a:pPr algn="l"/>
                      <a:r>
                        <a:rPr sz="1100" b="1" i="0">
                          <a:solidFill>
                            <a:srgbClr val="FFFFFF"/>
                          </a:solidFill>
                        </a:rPr>
                        <a:t>Threads</a:t>
                      </a:r>
                    </a:p>
                  </a:txBody>
                  <a:tcPr marL="45720" marR="45720" marT="18288" marB="18288" anchor="ctr">
                    <a:solidFill>
                      <a:srgbClr val="1F394D"/>
                    </a:solidFill>
                  </a:tcPr>
                </a:tc>
                <a:tc>
                  <a:txBody>
                    <a:bodyPr wrap="square"/>
                    <a:lstStyle/>
                    <a:p>
                      <a:pPr algn="l"/>
                      <a:r>
                        <a:rPr sz="1100" b="1" i="0">
                          <a:solidFill>
                            <a:srgbClr val="FFFFFF"/>
                          </a:solidFill>
                        </a:rPr>
                        <a:t>Word</a:t>
                      </a:r>
                    </a:p>
                  </a:txBody>
                  <a:tcPr marL="45720" marR="45720" marT="18288" marB="18288" anchor="ctr">
                    <a:solidFill>
                      <a:srgbClr val="1F394D"/>
                    </a:solidFill>
                  </a:tcPr>
                </a:tc>
                <a:tc>
                  <a:txBody>
                    <a:bodyPr wrap="square"/>
                    <a:lstStyle/>
                    <a:p>
                      <a:pPr algn="l"/>
                      <a:r>
                        <a:rPr sz="1100" b="1" i="0">
                          <a:solidFill>
                            <a:srgbClr val="FFFFFF"/>
                          </a:solidFill>
                        </a:rPr>
                        <a:t>Dcache banks</a:t>
                      </a:r>
                    </a:p>
                  </a:txBody>
                  <a:tcPr marL="45720" marR="45720" marT="18288" marB="18288" anchor="ctr">
                    <a:solidFill>
                      <a:srgbClr val="1F394D"/>
                    </a:solidFill>
                  </a:tcPr>
                </a:tc>
                <a:tc>
                  <a:txBody>
                    <a:bodyPr wrap="square"/>
                    <a:lstStyle/>
                    <a:p>
                      <a:pPr algn="l"/>
                      <a:r>
                        <a:rPr sz="1100" b="1" i="0">
                          <a:solidFill>
                            <a:srgbClr val="FFFFFF"/>
                          </a:solidFill>
                        </a:rPr>
                        <a:t>MLP (banks × MSHR 16)</a:t>
                      </a:r>
                    </a:p>
                  </a:txBody>
                  <a:tcPr marL="45720" marR="45720" marT="18288" marB="18288" anchor="ctr">
                    <a:solidFill>
                      <a:srgbClr val="1F394D"/>
                    </a:solidFill>
                  </a:tcPr>
                </a:tc>
              </a:tr>
              <a:tr h="301752">
                <a:tc>
                  <a:txBody>
                    <a:bodyPr wrap="square"/>
                    <a:lstStyle/>
                    <a:p>
                      <a:pPr algn="l"/>
                      <a:r>
                        <a:rPr sz="1100" b="0" i="0">
                          <a:solidFill>
                            <a:srgbClr val="000000"/>
                          </a:solidFill>
                        </a:rPr>
                        <a:t>1 / 2</a:t>
                      </a:r>
                    </a:p>
                  </a:txBody>
                  <a:tcPr marL="45720" marR="45720" marT="18288" marB="18288" anchor="ctr">
                    <a:solidFill>
                      <a:srgbClr val="FFFFFF"/>
                    </a:solidFill>
                  </a:tcPr>
                </a:tc>
                <a:tc>
                  <a:txBody>
                    <a:bodyPr wrap="square"/>
                    <a:lstStyle/>
                    <a:p>
                      <a:pPr algn="l"/>
                      <a:r>
                        <a:rPr sz="1100" b="0" i="0">
                          <a:solidFill>
                            <a:srgbClr val="000000"/>
                          </a:solidFill>
                        </a:rPr>
                        <a:t>4 / 8 B</a:t>
                      </a:r>
                    </a:p>
                  </a:txBody>
                  <a:tcPr marL="45720" marR="45720" marT="18288" marB="18288" anchor="ctr">
                    <a:solidFill>
                      <a:srgbClr val="FFFFFF"/>
                    </a:solidFill>
                  </a:tcPr>
                </a:tc>
                <a:tc>
                  <a:txBody>
                    <a:bodyPr wrap="square"/>
                    <a:lstStyle/>
                    <a:p>
                      <a:pPr algn="l"/>
                      <a:r>
                        <a:rPr sz="1100" b="0" i="0">
                          <a:solidFill>
                            <a:srgbClr val="000000"/>
                          </a:solidFill>
                        </a:rPr>
                        <a:t>1</a:t>
                      </a:r>
                    </a:p>
                  </a:txBody>
                  <a:tcPr marL="45720" marR="45720" marT="18288" marB="18288" anchor="ctr">
                    <a:solidFill>
                      <a:srgbClr val="FFFFFF"/>
                    </a:solidFill>
                  </a:tcPr>
                </a:tc>
                <a:tc>
                  <a:txBody>
                    <a:bodyPr wrap="square"/>
                    <a:lstStyle/>
                    <a:p>
                      <a:pPr algn="l"/>
                      <a:r>
                        <a:rPr sz="1100" b="0" i="0">
                          <a:solidFill>
                            <a:srgbClr val="000000"/>
                          </a:solidFill>
                        </a:rPr>
                        <a:t>16</a:t>
                      </a:r>
                    </a:p>
                  </a:txBody>
                  <a:tcPr marL="45720" marR="45720" marT="18288" marB="18288" anchor="ctr">
                    <a:solidFill>
                      <a:srgbClr val="FFFFFF"/>
                    </a:solidFill>
                  </a:tcPr>
                </a:tc>
              </a:tr>
              <a:tr h="301752">
                <a:tc>
                  <a:txBody>
                    <a:bodyPr wrap="square"/>
                    <a:lstStyle/>
                    <a:p>
                      <a:pPr algn="l"/>
                      <a:r>
                        <a:rPr sz="1100" b="0" i="0">
                          <a:solidFill>
                            <a:srgbClr val="000000"/>
                          </a:solidFill>
                        </a:rPr>
                        <a:t>4 / 8</a:t>
                      </a:r>
                    </a:p>
                  </a:txBody>
                  <a:tcPr marL="45720" marR="45720" marT="18288" marB="18288" anchor="ctr">
                    <a:solidFill>
                      <a:srgbClr val="F2F6FA"/>
                    </a:solidFill>
                  </a:tcPr>
                </a:tc>
                <a:tc>
                  <a:txBody>
                    <a:bodyPr wrap="square"/>
                    <a:lstStyle/>
                    <a:p>
                      <a:pPr algn="l"/>
                      <a:r>
                        <a:rPr sz="1100" b="0" i="0">
                          <a:solidFill>
                            <a:srgbClr val="000000"/>
                          </a:solidFill>
                        </a:rPr>
                        <a:t>8 / 16 B</a:t>
                      </a:r>
                    </a:p>
                  </a:txBody>
                  <a:tcPr marL="45720" marR="45720" marT="18288" marB="18288" anchor="ctr">
                    <a:solidFill>
                      <a:srgbClr val="F2F6FA"/>
                    </a:solidFill>
                  </a:tcPr>
                </a:tc>
                <a:tc>
                  <a:txBody>
                    <a:bodyPr wrap="square"/>
                    <a:lstStyle/>
                    <a:p>
                      <a:pPr algn="l"/>
                      <a:r>
                        <a:rPr sz="1100" b="0" i="0">
                          <a:solidFill>
                            <a:srgbClr val="000000"/>
                          </a:solidFill>
                        </a:rPr>
                        <a:t>2</a:t>
                      </a:r>
                    </a:p>
                  </a:txBody>
                  <a:tcPr marL="45720" marR="45720" marT="18288" marB="18288" anchor="ctr">
                    <a:solidFill>
                      <a:srgbClr val="F2F6FA"/>
                    </a:solidFill>
                  </a:tcPr>
                </a:tc>
                <a:tc>
                  <a:txBody>
                    <a:bodyPr wrap="square"/>
                    <a:lstStyle/>
                    <a:p>
                      <a:pPr algn="l"/>
                      <a:r>
                        <a:rPr sz="1100" b="0" i="0">
                          <a:solidFill>
                            <a:srgbClr val="000000"/>
                          </a:solidFill>
                        </a:rPr>
                        <a:t>32</a:t>
                      </a:r>
                    </a:p>
                  </a:txBody>
                  <a:tcPr marL="45720" marR="45720" marT="18288" marB="18288" anchor="ctr">
                    <a:solidFill>
                      <a:srgbClr val="F2F6FA"/>
                    </a:solidFill>
                  </a:tcPr>
                </a:tc>
              </a:tr>
              <a:tr h="301752">
                <a:tc>
                  <a:txBody>
                    <a:bodyPr wrap="square"/>
                    <a:lstStyle/>
                    <a:p>
                      <a:pPr algn="l"/>
                      <a:r>
                        <a:rPr sz="1100" b="0" i="0">
                          <a:solidFill>
                            <a:srgbClr val="000000"/>
                          </a:solidFill>
                        </a:rPr>
                        <a:t>16 / 32</a:t>
                      </a:r>
                    </a:p>
                  </a:txBody>
                  <a:tcPr marL="45720" marR="45720" marT="18288" marB="18288" anchor="ctr">
                    <a:solidFill>
                      <a:srgbClr val="FFFFFF"/>
                    </a:solidFill>
                  </a:tcPr>
                </a:tc>
                <a:tc>
                  <a:txBody>
                    <a:bodyPr wrap="square"/>
                    <a:lstStyle/>
                    <a:p>
                      <a:pPr algn="l"/>
                      <a:r>
                        <a:rPr sz="1100" b="0" i="0">
                          <a:solidFill>
                            <a:srgbClr val="000000"/>
                          </a:solidFill>
                        </a:rPr>
                        <a:t>16 / 32 B</a:t>
                      </a:r>
                    </a:p>
                  </a:txBody>
                  <a:tcPr marL="45720" marR="45720" marT="18288" marB="18288" anchor="ctr">
                    <a:solidFill>
                      <a:srgbClr val="FFFFFF"/>
                    </a:solidFill>
                  </a:tcPr>
                </a:tc>
                <a:tc>
                  <a:txBody>
                    <a:bodyPr wrap="square"/>
                    <a:lstStyle/>
                    <a:p>
                      <a:pPr algn="l"/>
                      <a:r>
                        <a:rPr sz="1100" b="0" i="0">
                          <a:solidFill>
                            <a:srgbClr val="000000"/>
                          </a:solidFill>
                        </a:rPr>
                        <a:t>4</a:t>
                      </a:r>
                    </a:p>
                  </a:txBody>
                  <a:tcPr marL="45720" marR="45720" marT="18288" marB="18288" anchor="ctr">
                    <a:solidFill>
                      <a:srgbClr val="FFFFFF"/>
                    </a:solidFill>
                  </a:tcPr>
                </a:tc>
                <a:tc>
                  <a:txBody>
                    <a:bodyPr wrap="square"/>
                    <a:lstStyle/>
                    <a:p>
                      <a:pPr algn="l"/>
                      <a:r>
                        <a:rPr sz="1100" b="0" i="0">
                          <a:solidFill>
                            <a:srgbClr val="000000"/>
                          </a:solidFill>
                        </a:rPr>
                        <a:t>64</a:t>
                      </a:r>
                    </a:p>
                  </a:txBody>
                  <a:tcPr marL="45720" marR="45720" marT="18288" marB="18288" anchor="ctr">
                    <a:solidFill>
                      <a:srgbClr val="FFFFFF"/>
                    </a:solidFill>
                  </a:tcPr>
                </a:tc>
              </a:tr>
              <a:tr h="301752">
                <a:tc>
                  <a:txBody>
                    <a:bodyPr wrap="square"/>
                    <a:lstStyle/>
                    <a:p>
                      <a:pPr algn="l"/>
                      <a:r>
                        <a:rPr sz="1100" b="0" i="0">
                          <a:solidFill>
                            <a:srgbClr val="000000"/>
                          </a:solidFill>
                        </a:rPr>
                        <a:t>64</a:t>
                      </a:r>
                    </a:p>
                  </a:txBody>
                  <a:tcPr marL="45720" marR="45720" marT="18288" marB="18288" anchor="ctr">
                    <a:solidFill>
                      <a:srgbClr val="F2F6FA"/>
                    </a:solidFill>
                  </a:tcPr>
                </a:tc>
                <a:tc>
                  <a:txBody>
                    <a:bodyPr wrap="square"/>
                    <a:lstStyle/>
                    <a:p>
                      <a:pPr algn="l"/>
                      <a:r>
                        <a:rPr sz="1100" b="0" i="0">
                          <a:solidFill>
                            <a:srgbClr val="000000"/>
                          </a:solidFill>
                        </a:rPr>
                        <a:t>32 B</a:t>
                      </a:r>
                    </a:p>
                  </a:txBody>
                  <a:tcPr marL="45720" marR="45720" marT="18288" marB="18288" anchor="ctr">
                    <a:solidFill>
                      <a:srgbClr val="F2F6FA"/>
                    </a:solidFill>
                  </a:tcPr>
                </a:tc>
                <a:tc>
                  <a:txBody>
                    <a:bodyPr wrap="square"/>
                    <a:lstStyle/>
                    <a:p>
                      <a:pPr algn="l"/>
                      <a:r>
                        <a:rPr sz="1100" b="0" i="0">
                          <a:solidFill>
                            <a:srgbClr val="000000"/>
                          </a:solidFill>
                        </a:rPr>
                        <a:t>8</a:t>
                      </a:r>
                    </a:p>
                  </a:txBody>
                  <a:tcPr marL="45720" marR="45720" marT="18288" marB="18288" anchor="ctr">
                    <a:solidFill>
                      <a:srgbClr val="F2F6FA"/>
                    </a:solidFill>
                  </a:tcPr>
                </a:tc>
                <a:tc>
                  <a:txBody>
                    <a:bodyPr wrap="square"/>
                    <a:lstStyle/>
                    <a:p>
                      <a:pPr algn="l"/>
                      <a:r>
                        <a:rPr sz="1100" b="0" i="0">
                          <a:solidFill>
                            <a:srgbClr val="000000"/>
                          </a:solidFill>
                        </a:rPr>
                        <a:t>128</a:t>
                      </a:r>
                    </a:p>
                  </a:txBody>
                  <a:tcPr marL="45720" marR="45720" marT="18288" marB="18288" anchor="ctr">
                    <a:solidFill>
                      <a:srgbClr val="F2F6FA"/>
                    </a:solidFill>
                  </a:tcPr>
                </a:tc>
              </a:tr>
            </a:tbl>
          </a:graphicData>
        </a:graphic>
      </p:graphicFrame>
      <p:graphicFrame>
        <p:nvGraphicFramePr>
          <p:cNvPr id="6" name="Table 5"/>
          <p:cNvGraphicFramePr>
            <a:graphicFrameLocks noGrp="1"/>
          </p:cNvGraphicFramePr>
          <p:nvPr/>
        </p:nvGraphicFramePr>
        <p:xfrm>
          <a:off x="731520" y="3017520"/>
          <a:ext cx="5486396" cy="1920240"/>
        </p:xfrm>
        <a:graphic>
          <a:graphicData uri="http://schemas.openxmlformats.org/drawingml/2006/table">
            <a:tbl>
              <a:tblPr firstRow="0" bandRow="0">
                <a:tableStyleId>{5940675A-B579-460E-94D1-54222C63F5DA}</a:tableStyleId>
              </a:tblPr>
              <a:tblGrid>
                <a:gridCol w="1259173"/>
                <a:gridCol w="899409"/>
                <a:gridCol w="1259173"/>
                <a:gridCol w="1169232"/>
                <a:gridCol w="899409"/>
              </a:tblGrid>
              <a:tr h="274320">
                <a:tc>
                  <a:txBody>
                    <a:bodyPr wrap="square"/>
                    <a:lstStyle/>
                    <a:p>
                      <a:pPr algn="l"/>
                      <a:r>
                        <a:rPr sz="1050" b="1" i="0">
                          <a:solidFill>
                            <a:srgbClr val="FFFFFF"/>
                          </a:solidFill>
                        </a:rPr>
                        <a:t>Default</a:t>
                      </a:r>
                    </a:p>
                  </a:txBody>
                  <a:tcPr marL="45720" marR="45720" marT="18288" marB="18288" anchor="ctr">
                    <a:solidFill>
                      <a:srgbClr val="1F394D"/>
                    </a:solidFill>
                  </a:tcPr>
                </a:tc>
                <a:tc>
                  <a:txBody>
                    <a:bodyPr wrap="square"/>
                    <a:lstStyle/>
                    <a:p>
                      <a:pPr algn="l"/>
                      <a:r>
                        <a:rPr sz="1050" b="1" i="0">
                          <a:solidFill>
                            <a:srgbClr val="FFFFFF"/>
                          </a:solidFill>
                        </a:rPr>
                        <a:t>icache</a:t>
                      </a:r>
                    </a:p>
                  </a:txBody>
                  <a:tcPr marL="45720" marR="45720" marT="18288" marB="18288" anchor="ctr">
                    <a:solidFill>
                      <a:srgbClr val="1F394D"/>
                    </a:solidFill>
                  </a:tcPr>
                </a:tc>
                <a:tc>
                  <a:txBody>
                    <a:bodyPr wrap="square"/>
                    <a:lstStyle/>
                    <a:p>
                      <a:pPr algn="l"/>
                      <a:r>
                        <a:rPr sz="1050" b="1" i="0">
                          <a:solidFill>
                            <a:srgbClr val="FFFFFF"/>
                          </a:solidFill>
                        </a:rPr>
                        <a:t>dcache</a:t>
                      </a:r>
                    </a:p>
                  </a:txBody>
                  <a:tcPr marL="45720" marR="45720" marT="18288" marB="18288" anchor="ctr">
                    <a:solidFill>
                      <a:srgbClr val="1F394D"/>
                    </a:solidFill>
                  </a:tcPr>
                </a:tc>
                <a:tc>
                  <a:txBody>
                    <a:bodyPr wrap="square"/>
                    <a:lstStyle/>
                    <a:p>
                      <a:pPr algn="l"/>
                      <a:r>
                        <a:rPr sz="1050" b="1" i="0">
                          <a:solidFill>
                            <a:srgbClr val="FFFFFF"/>
                          </a:solidFill>
                        </a:rPr>
                        <a:t>L2</a:t>
                      </a:r>
                    </a:p>
                  </a:txBody>
                  <a:tcPr marL="45720" marR="45720" marT="18288" marB="18288" anchor="ctr">
                    <a:solidFill>
                      <a:srgbClr val="1F394D"/>
                    </a:solidFill>
                  </a:tcPr>
                </a:tc>
                <a:tc>
                  <a:txBody>
                    <a:bodyPr wrap="square"/>
                    <a:lstStyle/>
                    <a:p>
                      <a:pPr algn="l"/>
                      <a:r>
                        <a:rPr sz="1050" b="1" i="0">
                          <a:solidFill>
                            <a:srgbClr val="FFFFFF"/>
                          </a:solidFill>
                        </a:rPr>
                        <a:t>L3</a:t>
                      </a:r>
                    </a:p>
                  </a:txBody>
                  <a:tcPr marL="45720" marR="45720" marT="18288" marB="18288" anchor="ctr">
                    <a:solidFill>
                      <a:srgbClr val="1F394D"/>
                    </a:solidFill>
                  </a:tcPr>
                </a:tc>
              </a:tr>
              <a:tr h="274320">
                <a:tc>
                  <a:txBody>
                    <a:bodyPr wrap="square"/>
                    <a:lstStyle/>
                    <a:p>
                      <a:pPr algn="l"/>
                      <a:r>
                        <a:rPr sz="1050" b="0" i="0">
                          <a:solidFill>
                            <a:srgbClr val="000000"/>
                          </a:solidFill>
                        </a:rPr>
                        <a:t>size</a:t>
                      </a:r>
                    </a:p>
                  </a:txBody>
                  <a:tcPr marL="45720" marR="45720" marT="18288" marB="18288" anchor="ctr">
                    <a:solidFill>
                      <a:srgbClr val="FFFFFF"/>
                    </a:solidFill>
                  </a:tcPr>
                </a:tc>
                <a:tc>
                  <a:txBody>
                    <a:bodyPr wrap="square"/>
                    <a:lstStyle/>
                    <a:p>
                      <a:pPr algn="l"/>
                      <a:r>
                        <a:rPr sz="1050" b="0" i="0">
                          <a:solidFill>
                            <a:srgbClr val="000000"/>
                          </a:solidFill>
                        </a:rPr>
                        <a:t>16 KB</a:t>
                      </a:r>
                    </a:p>
                  </a:txBody>
                  <a:tcPr marL="45720" marR="45720" marT="18288" marB="18288" anchor="ctr">
                    <a:solidFill>
                      <a:srgbClr val="FFFFFF"/>
                    </a:solidFill>
                  </a:tcPr>
                </a:tc>
                <a:tc>
                  <a:txBody>
                    <a:bodyPr wrap="square"/>
                    <a:lstStyle/>
                    <a:p>
                      <a:pPr algn="l"/>
                      <a:r>
                        <a:rPr sz="1050" b="0" i="0">
                          <a:solidFill>
                            <a:srgbClr val="000000"/>
                          </a:solidFill>
                        </a:rPr>
                        <a:t>16 KB</a:t>
                      </a:r>
                    </a:p>
                  </a:txBody>
                  <a:tcPr marL="45720" marR="45720" marT="18288" marB="18288" anchor="ctr">
                    <a:solidFill>
                      <a:srgbClr val="FFFFFF"/>
                    </a:solidFill>
                  </a:tcPr>
                </a:tc>
                <a:tc>
                  <a:txBody>
                    <a:bodyPr wrap="square"/>
                    <a:lstStyle/>
                    <a:p>
                      <a:pPr algn="l"/>
                      <a:r>
                        <a:rPr sz="1050" b="0" i="0">
                          <a:solidFill>
                            <a:srgbClr val="000000"/>
                          </a:solidFill>
                        </a:rPr>
                        <a:t>1 MB</a:t>
                      </a:r>
                    </a:p>
                  </a:txBody>
                  <a:tcPr marL="45720" marR="45720" marT="18288" marB="18288" anchor="ctr">
                    <a:solidFill>
                      <a:srgbClr val="FFFFFF"/>
                    </a:solidFill>
                  </a:tcPr>
                </a:tc>
                <a:tc>
                  <a:txBody>
                    <a:bodyPr wrap="square"/>
                    <a:lstStyle/>
                    <a:p>
                      <a:pPr algn="l"/>
                      <a:r>
                        <a:rPr sz="1050" b="0" i="0">
                          <a:solidFill>
                            <a:srgbClr val="000000"/>
                          </a:solidFill>
                        </a:rPr>
                        <a:t>2 MB</a:t>
                      </a:r>
                    </a:p>
                  </a:txBody>
                  <a:tcPr marL="45720" marR="45720" marT="18288" marB="18288" anchor="ctr">
                    <a:solidFill>
                      <a:srgbClr val="FFFFFF"/>
                    </a:solidFill>
                  </a:tcPr>
                </a:tc>
              </a:tr>
              <a:tr h="274320">
                <a:tc>
                  <a:txBody>
                    <a:bodyPr wrap="square"/>
                    <a:lstStyle/>
                    <a:p>
                      <a:pPr algn="l"/>
                      <a:r>
                        <a:rPr sz="1050" b="0" i="0">
                          <a:solidFill>
                            <a:srgbClr val="000000"/>
                          </a:solidFill>
                        </a:rPr>
                        <a:t>ways</a:t>
                      </a:r>
                    </a:p>
                  </a:txBody>
                  <a:tcPr marL="45720" marR="45720" marT="18288" marB="18288" anchor="ctr">
                    <a:solidFill>
                      <a:srgbClr val="F2F6FA"/>
                    </a:solidFill>
                  </a:tcPr>
                </a:tc>
                <a:tc>
                  <a:txBody>
                    <a:bodyPr wrap="square"/>
                    <a:lstStyle/>
                    <a:p>
                      <a:pPr algn="l"/>
                      <a:r>
                        <a:rPr sz="1050" b="0" i="0">
                          <a:solidFill>
                            <a:srgbClr val="000000"/>
                          </a:solidFill>
                        </a:rPr>
                        <a:t>4</a:t>
                      </a:r>
                    </a:p>
                  </a:txBody>
                  <a:tcPr marL="45720" marR="45720" marT="18288" marB="18288" anchor="ctr">
                    <a:solidFill>
                      <a:srgbClr val="F2F6FA"/>
                    </a:solidFill>
                  </a:tcPr>
                </a:tc>
                <a:tc>
                  <a:txBody>
                    <a:bodyPr wrap="square"/>
                    <a:lstStyle/>
                    <a:p>
                      <a:pPr algn="l"/>
                      <a:r>
                        <a:rPr sz="1050" b="0" i="0">
                          <a:solidFill>
                            <a:srgbClr val="000000"/>
                          </a:solidFill>
                        </a:rPr>
                        <a:t>4</a:t>
                      </a:r>
                    </a:p>
                  </a:txBody>
                  <a:tcPr marL="45720" marR="45720" marT="18288" marB="18288" anchor="ctr">
                    <a:solidFill>
                      <a:srgbClr val="F2F6FA"/>
                    </a:solidFill>
                  </a:tcPr>
                </a:tc>
                <a:tc>
                  <a:txBody>
                    <a:bodyPr wrap="square"/>
                    <a:lstStyle/>
                    <a:p>
                      <a:pPr algn="l"/>
                      <a:r>
                        <a:rPr sz="1050" b="0" i="0">
                          <a:solidFill>
                            <a:srgbClr val="000000"/>
                          </a:solidFill>
                        </a:rPr>
                        <a:t>8</a:t>
                      </a:r>
                    </a:p>
                  </a:txBody>
                  <a:tcPr marL="45720" marR="45720" marT="18288" marB="18288" anchor="ctr">
                    <a:solidFill>
                      <a:srgbClr val="F2F6FA"/>
                    </a:solidFill>
                  </a:tcPr>
                </a:tc>
                <a:tc>
                  <a:txBody>
                    <a:bodyPr wrap="square"/>
                    <a:lstStyle/>
                    <a:p>
                      <a:pPr algn="l"/>
                      <a:r>
                        <a:rPr sz="1050" b="0" i="0">
                          <a:solidFill>
                            <a:srgbClr val="000000"/>
                          </a:solidFill>
                        </a:rPr>
                        <a:t>8</a:t>
                      </a:r>
                    </a:p>
                  </a:txBody>
                  <a:tcPr marL="45720" marR="45720" marT="18288" marB="18288" anchor="ctr">
                    <a:solidFill>
                      <a:srgbClr val="F2F6FA"/>
                    </a:solidFill>
                  </a:tcPr>
                </a:tc>
              </a:tr>
              <a:tr h="274320">
                <a:tc>
                  <a:txBody>
                    <a:bodyPr wrap="square"/>
                    <a:lstStyle/>
                    <a:p>
                      <a:pPr algn="l"/>
                      <a:r>
                        <a:rPr sz="1050" b="0" i="0">
                          <a:solidFill>
                            <a:srgbClr val="000000"/>
                          </a:solidFill>
                        </a:rPr>
                        <a:t>MSHR</a:t>
                      </a:r>
                    </a:p>
                  </a:txBody>
                  <a:tcPr marL="45720" marR="45720" marT="18288" marB="18288" anchor="ctr">
                    <a:solidFill>
                      <a:srgbClr val="FFFFFF"/>
                    </a:solidFill>
                  </a:tcPr>
                </a:tc>
                <a:tc>
                  <a:txBody>
                    <a:bodyPr wrap="square"/>
                    <a:lstStyle/>
                    <a:p>
                      <a:pPr algn="l"/>
                      <a:r>
                        <a:rPr sz="1050" b="0" i="0">
                          <a:solidFill>
                            <a:srgbClr val="000000"/>
                          </a:solidFill>
                        </a:rPr>
                        <a:t>16</a:t>
                      </a:r>
                    </a:p>
                  </a:txBody>
                  <a:tcPr marL="45720" marR="45720" marT="18288" marB="18288" anchor="ctr">
                    <a:solidFill>
                      <a:srgbClr val="FFFFFF"/>
                    </a:solidFill>
                  </a:tcPr>
                </a:tc>
                <a:tc>
                  <a:txBody>
                    <a:bodyPr wrap="square"/>
                    <a:lstStyle/>
                    <a:p>
                      <a:pPr algn="l"/>
                      <a:r>
                        <a:rPr sz="1050" b="0" i="0">
                          <a:solidFill>
                            <a:srgbClr val="000000"/>
                          </a:solidFill>
                        </a:rPr>
                        <a:t>16</a:t>
                      </a:r>
                    </a:p>
                  </a:txBody>
                  <a:tcPr marL="45720" marR="45720" marT="18288" marB="18288" anchor="ctr">
                    <a:solidFill>
                      <a:srgbClr val="FFFFFF"/>
                    </a:solidFill>
                  </a:tcPr>
                </a:tc>
                <a:tc>
                  <a:txBody>
                    <a:bodyPr wrap="square"/>
                    <a:lstStyle/>
                    <a:p>
                      <a:pPr algn="l"/>
                      <a:r>
                        <a:rPr sz="1050" b="0" i="0">
                          <a:solidFill>
                            <a:srgbClr val="000000"/>
                          </a:solidFill>
                        </a:rPr>
                        <a:t>16</a:t>
                      </a:r>
                    </a:p>
                  </a:txBody>
                  <a:tcPr marL="45720" marR="45720" marT="18288" marB="18288" anchor="ctr">
                    <a:solidFill>
                      <a:srgbClr val="FFFFFF"/>
                    </a:solidFill>
                  </a:tcPr>
                </a:tc>
                <a:tc>
                  <a:txBody>
                    <a:bodyPr wrap="square"/>
                    <a:lstStyle/>
                    <a:p>
                      <a:pPr algn="l"/>
                      <a:r>
                        <a:rPr sz="1050" b="0" i="0">
                          <a:solidFill>
                            <a:srgbClr val="000000"/>
                          </a:solidFill>
                        </a:rPr>
                        <a:t>16</a:t>
                      </a:r>
                    </a:p>
                  </a:txBody>
                  <a:tcPr marL="45720" marR="45720" marT="18288" marB="18288" anchor="ctr">
                    <a:solidFill>
                      <a:srgbClr val="FFFFFF"/>
                    </a:solidFill>
                  </a:tcPr>
                </a:tc>
              </a:tr>
              <a:tr h="274320">
                <a:tc>
                  <a:txBody>
                    <a:bodyPr wrap="square"/>
                    <a:lstStyle/>
                    <a:p>
                      <a:pPr algn="l"/>
                      <a:r>
                        <a:rPr sz="1050" b="0" i="0">
                          <a:solidFill>
                            <a:srgbClr val="000000"/>
                          </a:solidFill>
                        </a:rPr>
                        <a:t>line / sector</a:t>
                      </a:r>
                    </a:p>
                  </a:txBody>
                  <a:tcPr marL="45720" marR="45720" marT="18288" marB="18288" anchor="ctr">
                    <a:solidFill>
                      <a:srgbClr val="F2F6FA"/>
                    </a:solidFill>
                  </a:tcPr>
                </a:tc>
                <a:tc>
                  <a:txBody>
                    <a:bodyPr wrap="square"/>
                    <a:lstStyle/>
                    <a:p>
                      <a:pPr algn="l"/>
                      <a:r>
                        <a:rPr sz="1050" b="0" i="0">
                          <a:solidFill>
                            <a:srgbClr val="000000"/>
                          </a:solidFill>
                        </a:rPr>
                        <a:t>64 / 64</a:t>
                      </a:r>
                    </a:p>
                  </a:txBody>
                  <a:tcPr marL="45720" marR="45720" marT="18288" marB="18288" anchor="ctr">
                    <a:solidFill>
                      <a:srgbClr val="F2F6FA"/>
                    </a:solidFill>
                  </a:tcPr>
                </a:tc>
                <a:tc>
                  <a:txBody>
                    <a:bodyPr wrap="square"/>
                    <a:lstStyle/>
                    <a:p>
                      <a:pPr algn="l"/>
                      <a:r>
                        <a:rPr sz="1050" b="0" i="0">
                          <a:solidFill>
                            <a:srgbClr val="000000"/>
                          </a:solidFill>
                        </a:rPr>
                        <a:t>64 / 64</a:t>
                      </a:r>
                    </a:p>
                  </a:txBody>
                  <a:tcPr marL="45720" marR="45720" marT="18288" marB="18288" anchor="ctr">
                    <a:solidFill>
                      <a:srgbClr val="F2F6FA"/>
                    </a:solidFill>
                  </a:tcPr>
                </a:tc>
                <a:tc>
                  <a:txBody>
                    <a:bodyPr wrap="square"/>
                    <a:lstStyle/>
                    <a:p>
                      <a:pPr algn="l"/>
                      <a:r>
                        <a:rPr sz="1050" b="0" i="0">
                          <a:solidFill>
                            <a:srgbClr val="000000"/>
                          </a:solidFill>
                        </a:rPr>
                        <a:t>128 / 64</a:t>
                      </a:r>
                    </a:p>
                  </a:txBody>
                  <a:tcPr marL="45720" marR="45720" marT="18288" marB="18288" anchor="ctr">
                    <a:solidFill>
                      <a:srgbClr val="F2F6FA"/>
                    </a:solidFill>
                  </a:tcPr>
                </a:tc>
                <a:tc>
                  <a:txBody>
                    <a:bodyPr wrap="square"/>
                    <a:lstStyle/>
                    <a:p>
                      <a:pPr algn="l"/>
                      <a:r>
                        <a:rPr sz="1050" b="0" i="0">
                          <a:solidFill>
                            <a:srgbClr val="000000"/>
                          </a:solidFill>
                        </a:rPr>
                        <a:t>128 / 64</a:t>
                      </a:r>
                    </a:p>
                  </a:txBody>
                  <a:tcPr marL="45720" marR="45720" marT="18288" marB="18288" anchor="ctr">
                    <a:solidFill>
                      <a:srgbClr val="F2F6FA"/>
                    </a:solidFill>
                  </a:tcPr>
                </a:tc>
              </a:tr>
              <a:tr h="274320">
                <a:tc>
                  <a:txBody>
                    <a:bodyPr wrap="square"/>
                    <a:lstStyle/>
                    <a:p>
                      <a:pPr algn="l"/>
                      <a:r>
                        <a:rPr sz="1050" b="0" i="0">
                          <a:solidFill>
                            <a:srgbClr val="000000"/>
                          </a:solidFill>
                        </a:rPr>
                        <a:t>latency</a:t>
                      </a:r>
                    </a:p>
                  </a:txBody>
                  <a:tcPr marL="45720" marR="45720" marT="18288" marB="18288" anchor="ctr">
                    <a:solidFill>
                      <a:srgbClr val="FFFFFF"/>
                    </a:solidFill>
                  </a:tcPr>
                </a:tc>
                <a:tc>
                  <a:txBody>
                    <a:bodyPr wrap="square"/>
                    <a:lstStyle/>
                    <a:p>
                      <a:pPr algn="l"/>
                      <a:r>
                        <a:rPr sz="1050" b="0" i="0">
                          <a:solidFill>
                            <a:srgbClr val="000000"/>
                          </a:solidFill>
                        </a:rPr>
                        <a:t>2+</a:t>
                      </a:r>
                    </a:p>
                  </a:txBody>
                  <a:tcPr marL="45720" marR="45720" marT="18288" marB="18288" anchor="ctr">
                    <a:solidFill>
                      <a:srgbClr val="FFFFFF"/>
                    </a:solidFill>
                  </a:tcPr>
                </a:tc>
                <a:tc>
                  <a:txBody>
                    <a:bodyPr wrap="square"/>
                    <a:lstStyle/>
                    <a:p>
                      <a:pPr algn="l"/>
                      <a:r>
                        <a:rPr sz="1050" b="0" i="0">
                          <a:solidFill>
                            <a:srgbClr val="000000"/>
                          </a:solidFill>
                        </a:rPr>
                        <a:t>2+</a:t>
                      </a:r>
                    </a:p>
                  </a:txBody>
                  <a:tcPr marL="45720" marR="45720" marT="18288" marB="18288" anchor="ctr">
                    <a:solidFill>
                      <a:srgbClr val="FFFFFF"/>
                    </a:solidFill>
                  </a:tcPr>
                </a:tc>
                <a:tc>
                  <a:txBody>
                    <a:bodyPr wrap="square"/>
                    <a:lstStyle/>
                    <a:p>
                      <a:pPr algn="l"/>
                      <a:r>
                        <a:rPr sz="1050" b="0" i="0">
                          <a:solidFill>
                            <a:srgbClr val="000000"/>
                          </a:solidFill>
                        </a:rPr>
                        <a:t>4+</a:t>
                      </a:r>
                    </a:p>
                  </a:txBody>
                  <a:tcPr marL="45720" marR="45720" marT="18288" marB="18288" anchor="ctr">
                    <a:solidFill>
                      <a:srgbClr val="FFFFFF"/>
                    </a:solidFill>
                  </a:tcPr>
                </a:tc>
                <a:tc>
                  <a:txBody>
                    <a:bodyPr wrap="square"/>
                    <a:lstStyle/>
                    <a:p>
                      <a:pPr algn="l"/>
                      <a:r>
                        <a:rPr sz="1050" b="0" i="0">
                          <a:solidFill>
                            <a:srgbClr val="000000"/>
                          </a:solidFill>
                        </a:rPr>
                        <a:t>4+</a:t>
                      </a:r>
                    </a:p>
                  </a:txBody>
                  <a:tcPr marL="45720" marR="45720" marT="18288" marB="18288" anchor="ctr">
                    <a:solidFill>
                      <a:srgbClr val="FFFFFF"/>
                    </a:solidFill>
                  </a:tcPr>
                </a:tc>
              </a:tr>
              <a:tr h="274320">
                <a:tc>
                  <a:txBody>
                    <a:bodyPr wrap="square"/>
                    <a:lstStyle/>
                    <a:p>
                      <a:pPr algn="l"/>
                      <a:r>
                        <a:rPr sz="1050" b="0" i="0">
                          <a:solidFill>
                            <a:srgbClr val="000000"/>
                          </a:solidFill>
                        </a:rPr>
                        <a:t>write-back</a:t>
                      </a:r>
                    </a:p>
                  </a:txBody>
                  <a:tcPr marL="45720" marR="45720" marT="18288" marB="18288" anchor="ctr">
                    <a:solidFill>
                      <a:srgbClr val="F2F6FA"/>
                    </a:solidFill>
                  </a:tcPr>
                </a:tc>
                <a:tc>
                  <a:txBody>
                    <a:bodyPr wrap="square"/>
                    <a:lstStyle/>
                    <a:p>
                      <a:pPr algn="l"/>
                      <a:r>
                        <a:rPr sz="1050" b="0" i="0">
                          <a:solidFill>
                            <a:srgbClr val="000000"/>
                          </a:solidFill>
                        </a:rPr>
                        <a:t>—</a:t>
                      </a:r>
                    </a:p>
                  </a:txBody>
                  <a:tcPr marL="45720" marR="45720" marT="18288" marB="18288" anchor="ctr">
                    <a:solidFill>
                      <a:srgbClr val="F2F6FA"/>
                    </a:solidFill>
                  </a:tcPr>
                </a:tc>
                <a:tc>
                  <a:txBody>
                    <a:bodyPr wrap="square"/>
                    <a:lstStyle/>
                    <a:p>
                      <a:pPr algn="l"/>
                      <a:r>
                        <a:rPr sz="1050" b="0" i="0">
                          <a:solidFill>
                            <a:srgbClr val="000000"/>
                          </a:solidFill>
                        </a:rPr>
                        <a:t>if LLC &amp; 1 core</a:t>
                      </a:r>
                    </a:p>
                  </a:txBody>
                  <a:tcPr marL="45720" marR="45720" marT="18288" marB="18288" anchor="ctr">
                    <a:solidFill>
                      <a:srgbClr val="F2F6FA"/>
                    </a:solidFill>
                  </a:tcPr>
                </a:tc>
                <a:tc>
                  <a:txBody>
                    <a:bodyPr wrap="square"/>
                    <a:lstStyle/>
                    <a:p>
                      <a:pPr algn="l"/>
                      <a:r>
                        <a:rPr sz="1050" b="0" i="0">
                          <a:solidFill>
                            <a:srgbClr val="000000"/>
                          </a:solidFill>
                        </a:rPr>
                        <a:t>if LLC &amp; 1 cluster</a:t>
                      </a:r>
                    </a:p>
                  </a:txBody>
                  <a:tcPr marL="45720" marR="45720" marT="18288" marB="18288" anchor="ctr">
                    <a:solidFill>
                      <a:srgbClr val="F2F6FA"/>
                    </a:solidFill>
                  </a:tcPr>
                </a:tc>
                <a:tc>
                  <a:txBody>
                    <a:bodyPr wrap="square"/>
                    <a:lstStyle/>
                    <a:p>
                      <a:pPr algn="l"/>
                      <a:r>
                        <a:rPr sz="1050" b="0" i="0">
                          <a:solidFill>
                            <a:srgbClr val="000000"/>
                          </a:solidFill>
                        </a:rPr>
                        <a:t>if LLC</a:t>
                      </a:r>
                    </a:p>
                  </a:txBody>
                  <a:tcPr marL="45720" marR="45720" marT="18288" marB="18288" anchor="ctr">
                    <a:solidFill>
                      <a:srgbClr val="F2F6FA"/>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Virtual Memory: MMU v2 (Sv32 / Sv39)</a:t>
            </a:r>
          </a:p>
        </p:txBody>
      </p:sp>
      <p:sp>
        <p:nvSpPr>
          <p:cNvPr id="3" name="Text Placeholder 2"/>
          <p:cNvSpPr>
            <a:spLocks noGrp="1"/>
          </p:cNvSpPr>
          <p:nvPr>
            <p:ph type="body" idx="1"/>
          </p:nvPr>
        </p:nvSpPr>
        <p:spPr>
          <a:xfrm>
            <a:off x="731520" y="1188720"/>
            <a:ext cx="6035040" cy="4937760"/>
          </a:xfrm>
        </p:spPr>
        <p:txBody>
          <a:bodyPr wrap="square"/>
          <a:lstStyle/>
          <a:p>
            <a:pPr marL="0" indent="0">
              <a:spcBef>
                <a:spcPts val="500"/>
              </a:spcBef>
              <a:buNone/>
            </a:pPr>
            <a:r>
              <a:rPr sz="1300" b="1" i="0">
                <a:solidFill>
                  <a:srgbClr val="1F394D"/>
                </a:solidFill>
              </a:rPr>
              <a:t>Placement</a:t>
            </a:r>
          </a:p>
          <a:p>
            <a:pPr lvl="1" marL="342900" indent="-228600">
              <a:spcBef>
                <a:spcPts val="100"/>
              </a:spcBef>
              <a:buFont typeface="Arial"/>
              <a:buChar char="•"/>
            </a:pPr>
            <a:r>
              <a:rPr sz="1100" b="0" i="0">
                <a:solidFill>
                  <a:srgbClr val="000000"/>
                </a:solidFill>
              </a:rPr>
              <a:t>socket level, after the coalescer: dMMU (SOCKET_SIZE × DCACHE_NUM_REQS lanes), iMMU (fetch)</a:t>
            </a:r>
          </a:p>
          <a:p>
            <a:pPr lvl="1" marL="342900" indent="-228600">
              <a:spcBef>
                <a:spcPts val="100"/>
              </a:spcBef>
              <a:buFont typeface="Arial"/>
              <a:buChar char="•"/>
            </a:pPr>
            <a:r>
              <a:rPr sz="1100" b="0" i="0">
                <a:solidFill>
                  <a:srgbClr val="000000"/>
                </a:solidFill>
              </a:rPr>
              <a:t>lane-parallel hit-under-miss; VPN dedup: one walk per page</a:t>
            </a:r>
          </a:p>
          <a:p>
            <a:pPr marL="0" indent="0">
              <a:spcBef>
                <a:spcPts val="500"/>
              </a:spcBef>
              <a:buNone/>
            </a:pPr>
            <a:r>
              <a:rPr sz="1300" b="1" i="0">
                <a:solidFill>
                  <a:srgbClr val="1F394D"/>
                </a:solidFill>
              </a:rPr>
              <a:t>L1 TLB (VX_tlb_l1)</a:t>
            </a:r>
          </a:p>
          <a:p>
            <a:pPr lvl="1" marL="342900" indent="-228600">
              <a:spcBef>
                <a:spcPts val="100"/>
              </a:spcBef>
              <a:buFont typeface="Arial"/>
              <a:buChar char="•"/>
            </a:pPr>
            <a:r>
              <a:rPr sz="1100" b="0" i="0">
                <a:solidFill>
                  <a:srgbClr val="000000"/>
                </a:solidFill>
              </a:rPr>
              <a:t>CAM: DTLB 16, ITLB 8 · MSHR 4 × 2 tokens · hit = 1 registered stage</a:t>
            </a:r>
          </a:p>
          <a:p>
            <a:pPr lvl="1" marL="342900" indent="-228600">
              <a:spcBef>
                <a:spcPts val="100"/>
              </a:spcBef>
              <a:buFont typeface="Arial"/>
              <a:buChar char="•"/>
            </a:pPr>
            <a:r>
              <a:rPr sz="1100" b="0" i="0">
                <a:solidFill>
                  <a:srgbClr val="000000"/>
                </a:solidFill>
              </a:rPr>
              <a:t>permission check at hit/replay: U ∧ (¬W∨W) ∧ (¬X∨X) …</a:t>
            </a:r>
          </a:p>
          <a:p>
            <a:pPr marL="0" indent="0">
              <a:spcBef>
                <a:spcPts val="500"/>
              </a:spcBef>
              <a:buNone/>
            </a:pPr>
            <a:r>
              <a:rPr sz="1300" b="1" i="0">
                <a:solidFill>
                  <a:srgbClr val="1F394D"/>
                </a:solidFill>
              </a:rPr>
              <a:t>Cluster L2 TLB (VX_tlb_l2)</a:t>
            </a:r>
          </a:p>
          <a:p>
            <a:pPr lvl="1" marL="342900" indent="-228600">
              <a:spcBef>
                <a:spcPts val="100"/>
              </a:spcBef>
              <a:buFont typeface="Arial"/>
              <a:buChar char="•"/>
            </a:pPr>
            <a:r>
              <a:rPr sz="1100" b="0" i="0">
                <a:solidFill>
                  <a:srgbClr val="000000"/>
                </a:solidFill>
              </a:rPr>
              <a:t>512 entries 4-way (4 KB pages) + 8-entry megapage CAM · depth 4 · MSHR 8 × 4</a:t>
            </a:r>
          </a:p>
          <a:p>
            <a:pPr marL="0" indent="0">
              <a:spcBef>
                <a:spcPts val="500"/>
              </a:spcBef>
              <a:buNone/>
            </a:pPr>
            <a:r>
              <a:rPr sz="1300" b="1" i="0">
                <a:solidFill>
                  <a:srgbClr val="1F394D"/>
                </a:solidFill>
              </a:rPr>
              <a:t>PTW</a:t>
            </a:r>
          </a:p>
          <a:p>
            <a:pPr lvl="1" marL="342900" indent="-228600">
              <a:spcBef>
                <a:spcPts val="100"/>
              </a:spcBef>
              <a:buFont typeface="Arial"/>
              <a:buChar char="•"/>
            </a:pPr>
            <a:r>
              <a:rPr sz="1100" b="0" i="0">
                <a:solidFill>
                  <a:srgbClr val="000000"/>
                </a:solidFill>
              </a:rPr>
              <a:t>2 walkers, 16-entry walk cache keyed on the upper VPN → single leaf fetch on hit</a:t>
            </a:r>
          </a:p>
          <a:p>
            <a:pPr lvl="1" marL="342900" indent="-228600">
              <a:spcBef>
                <a:spcPts val="100"/>
              </a:spcBef>
              <a:buFont typeface="Arial"/>
              <a:buChar char="•"/>
            </a:pPr>
            <a:r>
              <a:rPr sz="1100" b="0" i="0">
                <a:solidFill>
                  <a:srgbClr val="000000"/>
                </a:solidFill>
              </a:rPr>
              <a:t>walker FSM IDLE → REQ → WAIT → RESP; PTE reads are cached L2 reads</a:t>
            </a:r>
          </a:p>
          <a:p>
            <a:pPr marL="0" indent="0">
              <a:spcBef>
                <a:spcPts val="500"/>
              </a:spcBef>
              <a:buNone/>
            </a:pPr>
            <a:r>
              <a:rPr sz="1300" b="1" i="0">
                <a:solidFill>
                  <a:srgbClr val="1F394D"/>
                </a:solidFill>
              </a:rPr>
              <a:t>Control</a:t>
            </a:r>
          </a:p>
          <a:p>
            <a:pPr lvl="1" marL="342900" indent="-228600">
              <a:spcBef>
                <a:spcPts val="100"/>
              </a:spcBef>
              <a:buFont typeface="Arial"/>
              <a:buChar char="•"/>
            </a:pPr>
            <a:r>
              <a:rPr sz="1100" b="0" i="0">
                <a:solidFill>
                  <a:srgbClr val="000000"/>
                </a:solidFill>
              </a:rPr>
              <a:t>DCR SATP_LO/HI (HI commits + flushes), FAULT_VA, FAULT_INFO; faults kill + report</a:t>
            </a:r>
          </a:p>
          <a:p>
            <a:pPr lvl="1" marL="342900" indent="-228600">
              <a:spcBef>
                <a:spcPts val="100"/>
              </a:spcBef>
              <a:buFont typeface="Arial"/>
              <a:buChar char="•"/>
            </a:pPr>
            <a:r>
              <a:rPr sz="1100" b="0" i="0">
                <a:solidFill>
                  <a:srgbClr val="000000"/>
                </a:solidFill>
              </a:rPr>
              <a:t>bypass for IO / OM / flush; graphics masters and RTU issue PAs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040880" y="1325880"/>
            <a:ext cx="4572000" cy="2011680"/>
          </a:xfrm>
          <a:prstGeom prst="rect">
            <a:avLst/>
          </a:prstGeom>
          <a:solidFill>
            <a:srgbClr val="EEF3F8"/>
          </a:solidFill>
          <a:ln w="9525">
            <a:solidFill>
              <a:srgbClr val="7B93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7086600" y="1344168"/>
            <a:ext cx="4480560" cy="228600"/>
          </a:xfrm>
          <a:prstGeom prst="rect">
            <a:avLst/>
          </a:prstGeom>
          <a:noFill/>
        </p:spPr>
        <p:txBody>
          <a:bodyPr wrap="square" lIns="27432" rIns="27432" tIns="27432" bIns="27432" anchor="t">
            <a:spAutoFit/>
          </a:bodyPr>
          <a:lstStyle/>
          <a:p>
            <a:pPr algn="l"/>
            <a:r>
              <a:rPr sz="1000" b="1" i="0">
                <a:solidFill>
                  <a:srgbClr val="404040"/>
                </a:solidFill>
              </a:rPr>
              <a:t>Socket</a:t>
            </a:r>
          </a:p>
        </p:txBody>
      </p:sp>
      <p:sp>
        <p:nvSpPr>
          <p:cNvPr id="7" name="Rectangle 6"/>
          <p:cNvSpPr/>
          <p:nvPr/>
        </p:nvSpPr>
        <p:spPr>
          <a:xfrm>
            <a:off x="7178040" y="1645920"/>
            <a:ext cx="1097280" cy="45720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cores</a:t>
            </a:r>
          </a:p>
        </p:txBody>
      </p:sp>
      <p:cxnSp>
        <p:nvCxnSpPr>
          <p:cNvPr id="8" name="Connector 7"/>
          <p:cNvCxnSpPr/>
          <p:nvPr/>
        </p:nvCxnSpPr>
        <p:spPr>
          <a:xfrm>
            <a:off x="8275320" y="1874519"/>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8458200" y="1645920"/>
            <a:ext cx="914400" cy="45720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coalescer</a:t>
            </a:r>
          </a:p>
        </p:txBody>
      </p:sp>
      <p:cxnSp>
        <p:nvCxnSpPr>
          <p:cNvPr id="10" name="Connector 9"/>
          <p:cNvCxnSpPr/>
          <p:nvPr/>
        </p:nvCxnSpPr>
        <p:spPr>
          <a:xfrm>
            <a:off x="9372600" y="1874519"/>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555480" y="1645920"/>
            <a:ext cx="100584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dMMU</a:t>
            </a:r>
          </a:p>
          <a:p>
            <a:pPr algn="ctr"/>
            <a:r>
              <a:rPr sz="950" b="0" i="0">
                <a:solidFill>
                  <a:srgbClr val="000000"/>
                </a:solidFill>
              </a:rPr>
              <a:t>CAM 16</a:t>
            </a:r>
          </a:p>
        </p:txBody>
      </p:sp>
      <p:cxnSp>
        <p:nvCxnSpPr>
          <p:cNvPr id="12" name="Connector 11"/>
          <p:cNvCxnSpPr/>
          <p:nvPr/>
        </p:nvCxnSpPr>
        <p:spPr>
          <a:xfrm>
            <a:off x="10561320" y="1874519"/>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10744200" y="1645920"/>
            <a:ext cx="731520" cy="4572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L1 D$</a:t>
            </a:r>
          </a:p>
        </p:txBody>
      </p:sp>
      <p:sp>
        <p:nvSpPr>
          <p:cNvPr id="14" name="Rectangle 13"/>
          <p:cNvSpPr/>
          <p:nvPr/>
        </p:nvSpPr>
        <p:spPr>
          <a:xfrm>
            <a:off x="7178040" y="2651760"/>
            <a:ext cx="1097280" cy="45720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fetch</a:t>
            </a:r>
          </a:p>
        </p:txBody>
      </p:sp>
      <p:cxnSp>
        <p:nvCxnSpPr>
          <p:cNvPr id="15" name="Connector 14"/>
          <p:cNvCxnSpPr/>
          <p:nvPr/>
        </p:nvCxnSpPr>
        <p:spPr>
          <a:xfrm>
            <a:off x="8275320" y="2880360"/>
            <a:ext cx="12801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555480" y="2651760"/>
            <a:ext cx="100584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iMMU</a:t>
            </a:r>
          </a:p>
          <a:p>
            <a:pPr algn="ctr"/>
            <a:r>
              <a:rPr sz="950" b="0" i="0">
                <a:solidFill>
                  <a:srgbClr val="000000"/>
                </a:solidFill>
              </a:rPr>
              <a:t>CAM 8</a:t>
            </a:r>
          </a:p>
        </p:txBody>
      </p:sp>
      <p:cxnSp>
        <p:nvCxnSpPr>
          <p:cNvPr id="17" name="Connector 16"/>
          <p:cNvCxnSpPr/>
          <p:nvPr/>
        </p:nvCxnSpPr>
        <p:spPr>
          <a:xfrm>
            <a:off x="10561320" y="2880360"/>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0744200" y="2651760"/>
            <a:ext cx="731520" cy="4572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L1 I$</a:t>
            </a:r>
          </a:p>
        </p:txBody>
      </p:sp>
      <p:cxnSp>
        <p:nvCxnSpPr>
          <p:cNvPr id="19" name="Connector 18"/>
          <p:cNvCxnSpPr/>
          <p:nvPr/>
        </p:nvCxnSpPr>
        <p:spPr>
          <a:xfrm>
            <a:off x="10058400" y="2103120"/>
            <a:ext cx="0" cy="548640"/>
          </a:xfrm>
          <a:prstGeom prst="line">
            <a:avLst/>
          </a:prstGeom>
          <a:ln w="15875">
            <a:solidFill>
              <a:srgbClr val="404040"/>
            </a:solidFill>
            <a:prstDash val="dash"/>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326880" y="3337560"/>
            <a:ext cx="0" cy="320040"/>
          </a:xfrm>
          <a:prstGeom prst="line">
            <a:avLst/>
          </a:prstGeom>
          <a:ln w="15875">
            <a:solidFill>
              <a:srgbClr val="40404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418320" y="3337560"/>
            <a:ext cx="2103120" cy="320040"/>
          </a:xfrm>
          <a:prstGeom prst="rect">
            <a:avLst/>
          </a:prstGeom>
          <a:noFill/>
        </p:spPr>
        <p:txBody>
          <a:bodyPr wrap="square" lIns="27432" rIns="27432" tIns="27432" bIns="27432" anchor="t">
            <a:spAutoFit/>
          </a:bodyPr>
          <a:lstStyle/>
          <a:p>
            <a:pPr algn="l"/>
            <a:r>
              <a:rPr sz="850" b="0" i="0">
                <a:solidFill>
                  <a:srgbClr val="555555"/>
                </a:solidFill>
              </a:rPr>
              <a:t>VX_tlb_bus (narrow miss fabric)</a:t>
            </a:r>
          </a:p>
        </p:txBody>
      </p:sp>
      <p:sp>
        <p:nvSpPr>
          <p:cNvPr id="22" name="Rectangle 21"/>
          <p:cNvSpPr/>
          <p:nvPr/>
        </p:nvSpPr>
        <p:spPr>
          <a:xfrm>
            <a:off x="7040880" y="3657600"/>
            <a:ext cx="4572000" cy="2377440"/>
          </a:xfrm>
          <a:prstGeom prst="rect">
            <a:avLst/>
          </a:prstGeom>
          <a:solidFill>
            <a:srgbClr val="F4F6F9"/>
          </a:solidFill>
          <a:ln w="9525">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3" name="TextBox 22"/>
          <p:cNvSpPr txBox="1"/>
          <p:nvPr/>
        </p:nvSpPr>
        <p:spPr>
          <a:xfrm>
            <a:off x="7086600" y="3675887"/>
            <a:ext cx="4480560" cy="228600"/>
          </a:xfrm>
          <a:prstGeom prst="rect">
            <a:avLst/>
          </a:prstGeom>
          <a:noFill/>
        </p:spPr>
        <p:txBody>
          <a:bodyPr wrap="square" lIns="27432" rIns="27432" tIns="27432" bIns="27432" anchor="t">
            <a:spAutoFit/>
          </a:bodyPr>
          <a:lstStyle/>
          <a:p>
            <a:pPr algn="l"/>
            <a:r>
              <a:rPr sz="1000" b="1" i="0">
                <a:solidFill>
                  <a:srgbClr val="404040"/>
                </a:solidFill>
              </a:rPr>
              <a:t>Cluster</a:t>
            </a:r>
          </a:p>
        </p:txBody>
      </p:sp>
      <p:sp>
        <p:nvSpPr>
          <p:cNvPr id="24" name="Rectangle 23"/>
          <p:cNvSpPr/>
          <p:nvPr/>
        </p:nvSpPr>
        <p:spPr>
          <a:xfrm>
            <a:off x="7178040" y="3977639"/>
            <a:ext cx="2011680" cy="8229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VX_tlb_l2</a:t>
            </a:r>
          </a:p>
          <a:p>
            <a:pPr algn="ctr"/>
            <a:r>
              <a:rPr sz="950" b="0" i="0">
                <a:solidFill>
                  <a:srgbClr val="000000"/>
                </a:solidFill>
              </a:rPr>
              <a:t>512 × 4-way + 8 megapages</a:t>
            </a:r>
          </a:p>
          <a:p>
            <a:pPr algn="ctr"/>
            <a:r>
              <a:rPr sz="950" b="0" i="0">
                <a:solidFill>
                  <a:srgbClr val="000000"/>
                </a:solidFill>
              </a:rPr>
              <a:t>MSHR 8 × 4</a:t>
            </a:r>
          </a:p>
        </p:txBody>
      </p:sp>
      <p:cxnSp>
        <p:nvCxnSpPr>
          <p:cNvPr id="25" name="Connector 24"/>
          <p:cNvCxnSpPr/>
          <p:nvPr/>
        </p:nvCxnSpPr>
        <p:spPr>
          <a:xfrm>
            <a:off x="9189720" y="4389120"/>
            <a:ext cx="22860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9418320" y="3977639"/>
            <a:ext cx="2057400" cy="82296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VX_ptw</a:t>
            </a:r>
          </a:p>
          <a:p>
            <a:pPr algn="ctr"/>
            <a:r>
              <a:rPr sz="950" b="0" i="0">
                <a:solidFill>
                  <a:srgbClr val="000000"/>
                </a:solidFill>
              </a:rPr>
              <a:t>2 walkers + 16-entry walk cache</a:t>
            </a:r>
          </a:p>
        </p:txBody>
      </p:sp>
      <p:cxnSp>
        <p:nvCxnSpPr>
          <p:cNvPr id="27" name="Connector 26"/>
          <p:cNvCxnSpPr/>
          <p:nvPr/>
        </p:nvCxnSpPr>
        <p:spPr>
          <a:xfrm>
            <a:off x="10424160" y="480060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9418320" y="5074920"/>
            <a:ext cx="2057400" cy="45720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L2 cache (PTE reads) → memory</a:t>
            </a:r>
          </a:p>
        </p:txBody>
      </p:sp>
      <p:sp>
        <p:nvSpPr>
          <p:cNvPr id="29" name="Rectangle 28"/>
          <p:cNvSpPr/>
          <p:nvPr/>
        </p:nvSpPr>
        <p:spPr>
          <a:xfrm>
            <a:off x="7178040" y="5074920"/>
            <a:ext cx="2011680" cy="45720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VX_mmu_dcr: satp, flush, faults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Command Processor v3: Architecture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2103120" cy="4480560"/>
          </a:xfrm>
          <a:prstGeom prst="rect">
            <a:avLst/>
          </a:prstGeom>
          <a:solidFill>
            <a:srgbClr val="F7F7F7"/>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777240" y="1344168"/>
            <a:ext cx="2011679" cy="228600"/>
          </a:xfrm>
          <a:prstGeom prst="rect">
            <a:avLst/>
          </a:prstGeom>
          <a:noFill/>
        </p:spPr>
        <p:txBody>
          <a:bodyPr wrap="square" lIns="27432" rIns="27432" tIns="27432" bIns="27432" anchor="t">
            <a:spAutoFit/>
          </a:bodyPr>
          <a:lstStyle/>
          <a:p>
            <a:pPr algn="l"/>
            <a:r>
              <a:rPr sz="1000" b="1" i="0">
                <a:solidFill>
                  <a:srgbClr val="404040"/>
                </a:solidFill>
              </a:rPr>
              <a:t>Host memory</a:t>
            </a:r>
          </a:p>
        </p:txBody>
      </p:sp>
      <p:sp>
        <p:nvSpPr>
          <p:cNvPr id="7" name="Rectangle 6"/>
          <p:cNvSpPr/>
          <p:nvPr/>
        </p:nvSpPr>
        <p:spPr>
          <a:xfrm>
            <a:off x="868680" y="1783080"/>
            <a:ext cx="1828800" cy="10058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command ring</a:t>
            </a:r>
          </a:p>
          <a:p>
            <a:pPr algn="ctr"/>
            <a:r>
              <a:rPr sz="950" b="0" i="0">
                <a:solidFill>
                  <a:srgbClr val="000000"/>
                </a:solidFill>
              </a:rPr>
              <a:t>64 KiB, 64 B lines</a:t>
            </a:r>
          </a:p>
          <a:p>
            <a:pPr algn="ctr"/>
            <a:r>
              <a:rPr sz="950" b="0" i="0">
                <a:solidFill>
                  <a:srgbClr val="000000"/>
                </a:solidFill>
              </a:rPr>
              <a:t>(RING_SIZE_LOG2 = 16)</a:t>
            </a:r>
          </a:p>
        </p:txBody>
      </p:sp>
      <p:sp>
        <p:nvSpPr>
          <p:cNvPr id="8" name="Rectangle 7"/>
          <p:cNvSpPr/>
          <p:nvPr/>
        </p:nvSpPr>
        <p:spPr>
          <a:xfrm>
            <a:off x="868680" y="3108960"/>
            <a:ext cx="1828800"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head slot</a:t>
            </a:r>
          </a:p>
        </p:txBody>
      </p:sp>
      <p:sp>
        <p:nvSpPr>
          <p:cNvPr id="9" name="Rectangle 8"/>
          <p:cNvSpPr/>
          <p:nvPr/>
        </p:nvSpPr>
        <p:spPr>
          <a:xfrm>
            <a:off x="868680" y="3931920"/>
            <a:ext cx="1828800"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completion slot (seqnum)</a:t>
            </a:r>
          </a:p>
        </p:txBody>
      </p:sp>
      <p:sp>
        <p:nvSpPr>
          <p:cNvPr id="10" name="Rectangle 9"/>
          <p:cNvSpPr/>
          <p:nvPr/>
        </p:nvSpPr>
        <p:spPr>
          <a:xfrm>
            <a:off x="3108960" y="1325880"/>
            <a:ext cx="6309360" cy="4480560"/>
          </a:xfrm>
          <a:prstGeom prst="rect">
            <a:avLst/>
          </a:prstGeom>
          <a:solidFill>
            <a:srgbClr val="F4F6F9"/>
          </a:solidFill>
          <a:ln w="9525">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11" name="TextBox 10"/>
          <p:cNvSpPr txBox="1"/>
          <p:nvPr/>
        </p:nvSpPr>
        <p:spPr>
          <a:xfrm>
            <a:off x="3154679" y="1344168"/>
            <a:ext cx="6217920" cy="228600"/>
          </a:xfrm>
          <a:prstGeom prst="rect">
            <a:avLst/>
          </a:prstGeom>
          <a:noFill/>
        </p:spPr>
        <p:txBody>
          <a:bodyPr wrap="square" lIns="27432" rIns="27432" tIns="27432" bIns="27432" anchor="t">
            <a:spAutoFit/>
          </a:bodyPr>
          <a:lstStyle/>
          <a:p>
            <a:pPr algn="l"/>
            <a:r>
              <a:rPr sz="1000" b="1" i="0">
                <a:solidFill>
                  <a:srgbClr val="404040"/>
                </a:solidFill>
              </a:rPr>
              <a:t>VX_cp_core  (hw/rtl/cp, 17 files)</a:t>
            </a:r>
          </a:p>
        </p:txBody>
      </p:sp>
      <p:sp>
        <p:nvSpPr>
          <p:cNvPr id="12" name="Rectangle 11"/>
          <p:cNvSpPr/>
          <p:nvPr/>
        </p:nvSpPr>
        <p:spPr>
          <a:xfrm>
            <a:off x="3246120" y="1691640"/>
            <a:ext cx="2011680" cy="45720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VX_cp_axil_regfile  ← AXI-Lite</a:t>
            </a:r>
          </a:p>
        </p:txBody>
      </p:sp>
      <p:sp>
        <p:nvSpPr>
          <p:cNvPr id="13" name="Rectangle 12"/>
          <p:cNvSpPr/>
          <p:nvPr/>
        </p:nvSpPr>
        <p:spPr>
          <a:xfrm>
            <a:off x="3246120" y="2286000"/>
            <a:ext cx="1188720" cy="5486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VX_cp_fetch</a:t>
            </a:r>
          </a:p>
          <a:p>
            <a:pPr algn="ctr"/>
            <a:r>
              <a:rPr sz="900" b="0" i="0">
                <a:solidFill>
                  <a:srgbClr val="000000"/>
                </a:solidFill>
              </a:rPr>
              <a:t>(64 B AR)</a:t>
            </a:r>
          </a:p>
        </p:txBody>
      </p:sp>
      <p:cxnSp>
        <p:nvCxnSpPr>
          <p:cNvPr id="14" name="Connector 13"/>
          <p:cNvCxnSpPr/>
          <p:nvPr/>
        </p:nvCxnSpPr>
        <p:spPr>
          <a:xfrm>
            <a:off x="4434840" y="2560320"/>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17720" y="2286000"/>
            <a:ext cx="1188720" cy="5486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VX_cp_unpack</a:t>
            </a:r>
          </a:p>
          <a:p>
            <a:pPr algn="ctr"/>
            <a:r>
              <a:rPr sz="900" b="0" i="0">
                <a:solidFill>
                  <a:srgbClr val="000000"/>
                </a:solidFill>
              </a:rPr>
              <a:t>(≤ 5 cmds / line)</a:t>
            </a:r>
          </a:p>
        </p:txBody>
      </p:sp>
      <p:cxnSp>
        <p:nvCxnSpPr>
          <p:cNvPr id="16" name="Connector 15"/>
          <p:cNvCxnSpPr/>
          <p:nvPr/>
        </p:nvCxnSpPr>
        <p:spPr>
          <a:xfrm>
            <a:off x="5806440" y="2560320"/>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989320" y="2286000"/>
            <a:ext cx="1280160" cy="5486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00" b="0" i="0">
                <a:solidFill>
                  <a:srgbClr val="000000"/>
                </a:solidFill>
              </a:rPr>
              <a:t>VX_cp_engine × N</a:t>
            </a:r>
          </a:p>
          <a:p>
            <a:pPr algn="ctr"/>
            <a:r>
              <a:rPr sz="800" b="0" i="0">
                <a:solidFill>
                  <a:srgbClr val="000000"/>
                </a:solidFill>
              </a:rPr>
              <a:t>DECODE→BID→WAIT→RETIRE</a:t>
            </a:r>
          </a:p>
        </p:txBody>
      </p:sp>
      <p:cxnSp>
        <p:nvCxnSpPr>
          <p:cNvPr id="18" name="Connector 17"/>
          <p:cNvCxnSpPr/>
          <p:nvPr/>
        </p:nvCxnSpPr>
        <p:spPr>
          <a:xfrm>
            <a:off x="7269480" y="2560320"/>
            <a:ext cx="1828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452360" y="2286000"/>
            <a:ext cx="82296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4 × RR</a:t>
            </a:r>
          </a:p>
          <a:p>
            <a:pPr algn="ctr"/>
            <a:r>
              <a:rPr sz="900" b="0" i="0">
                <a:solidFill>
                  <a:srgbClr val="000000"/>
                </a:solidFill>
              </a:rPr>
              <a:t>arbiter</a:t>
            </a:r>
          </a:p>
        </p:txBody>
      </p:sp>
      <p:sp>
        <p:nvSpPr>
          <p:cNvPr id="20" name="Rectangle 19"/>
          <p:cNvSpPr/>
          <p:nvPr/>
        </p:nvSpPr>
        <p:spPr>
          <a:xfrm>
            <a:off x="5989320" y="3063240"/>
            <a:ext cx="146304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VX_cp_launch</a:t>
            </a:r>
          </a:p>
        </p:txBody>
      </p:sp>
      <p:cxnSp>
        <p:nvCxnSpPr>
          <p:cNvPr id="21" name="Connector 20"/>
          <p:cNvCxnSpPr/>
          <p:nvPr/>
        </p:nvCxnSpPr>
        <p:spPr>
          <a:xfrm>
            <a:off x="7863840" y="2834640"/>
            <a:ext cx="0" cy="45720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452360" y="3291840"/>
            <a:ext cx="4114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5623560" y="329184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989320" y="3611880"/>
            <a:ext cx="146304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VX_cp_dma</a:t>
            </a:r>
          </a:p>
        </p:txBody>
      </p:sp>
      <p:cxnSp>
        <p:nvCxnSpPr>
          <p:cNvPr id="25" name="Connector 24"/>
          <p:cNvCxnSpPr/>
          <p:nvPr/>
        </p:nvCxnSpPr>
        <p:spPr>
          <a:xfrm flipH="1">
            <a:off x="7452360" y="3840480"/>
            <a:ext cx="4114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623560" y="384048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989320" y="4160520"/>
            <a:ext cx="146304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VX_cp_dcr_proxy</a:t>
            </a:r>
          </a:p>
        </p:txBody>
      </p:sp>
      <p:cxnSp>
        <p:nvCxnSpPr>
          <p:cNvPr id="28" name="Connector 27"/>
          <p:cNvCxnSpPr/>
          <p:nvPr/>
        </p:nvCxnSpPr>
        <p:spPr>
          <a:xfrm flipH="1">
            <a:off x="7452360" y="4389120"/>
            <a:ext cx="4114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5623560" y="438912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989320" y="4709160"/>
            <a:ext cx="146304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VX_cp_event_unit</a:t>
            </a:r>
          </a:p>
        </p:txBody>
      </p:sp>
      <p:cxnSp>
        <p:nvCxnSpPr>
          <p:cNvPr id="31" name="Connector 30"/>
          <p:cNvCxnSpPr/>
          <p:nvPr/>
        </p:nvCxnSpPr>
        <p:spPr>
          <a:xfrm flipH="1">
            <a:off x="7452360" y="4937760"/>
            <a:ext cx="4114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5623560" y="493776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63840" y="2834640"/>
            <a:ext cx="0" cy="210312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3246120" y="3063240"/>
            <a:ext cx="2377440" cy="210312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ctr"/>
            <a:r>
              <a:rPr sz="900" b="0" i="0">
                <a:solidFill>
                  <a:srgbClr val="000000"/>
                </a:solidFill>
              </a:rPr>
              <a:t>VX_cp_completion</a:t>
            </a:r>
          </a:p>
          <a:p>
            <a:pPr algn="ctr"/>
          </a:p>
          <a:p>
            <a:pPr algn="ctr"/>
            <a:r>
              <a:rPr sz="900" b="0" i="0">
                <a:solidFill>
                  <a:srgbClr val="000000"/>
                </a:solidFill>
              </a:rPr>
              <a:t>per-source latch</a:t>
            </a:r>
          </a:p>
          <a:p>
            <a:pPr algn="ctr"/>
            <a:r>
              <a:rPr sz="900" b="0" i="0">
                <a:solidFill>
                  <a:srgbClr val="000000"/>
                </a:solidFill>
              </a:rPr>
              <a:t>→ drain FIFO (2 × queues)</a:t>
            </a:r>
          </a:p>
          <a:p>
            <a:pPr algn="ctr"/>
            <a:r>
              <a:rPr sz="900" b="0" i="0">
                <a:solidFill>
                  <a:srgbClr val="000000"/>
                </a:solidFill>
              </a:rPr>
              <a:t>→ 8 B seqnum write</a:t>
            </a:r>
          </a:p>
          <a:p>
            <a:pPr algn="ctr"/>
            <a:r>
              <a:rPr sz="900" b="0" i="0">
                <a:solidFill>
                  <a:srgbClr val="000000"/>
                </a:solidFill>
              </a:rPr>
              <a:t>   to cmpl_addr (axi_host)</a:t>
            </a:r>
          </a:p>
        </p:txBody>
      </p:sp>
      <p:sp>
        <p:nvSpPr>
          <p:cNvPr id="35" name="Rectangle 34"/>
          <p:cNvSpPr/>
          <p:nvPr/>
        </p:nvSpPr>
        <p:spPr>
          <a:xfrm>
            <a:off x="7452360" y="3063240"/>
            <a:ext cx="1828800" cy="2103120"/>
          </a:xfrm>
          <a:prstGeom prst="rect">
            <a:avLst/>
          </a:prstGeom>
          <a:solidFill>
            <a:srgbClr val="FFE0B3"/>
          </a:solidFill>
          <a:ln w="12700">
            <a:solidFill>
              <a:srgbClr val="D18B2C"/>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ctr"/>
            <a:r>
              <a:rPr sz="900" b="0" i="0">
                <a:solidFill>
                  <a:srgbClr val="000000"/>
                </a:solidFill>
              </a:rPr>
              <a:t>VX_cp_gpu_slice</a:t>
            </a:r>
          </a:p>
          <a:p>
            <a:pPr algn="ctr"/>
          </a:p>
          <a:p>
            <a:pPr algn="ctr"/>
            <a:r>
              <a:rPr sz="900" b="0" i="0">
                <a:solidFill>
                  <a:srgbClr val="000000"/>
                </a:solidFill>
              </a:rPr>
              <a:t>cp_gpu_if:</a:t>
            </a:r>
          </a:p>
          <a:p>
            <a:pPr algn="ctr"/>
            <a:r>
              <a:rPr sz="900" b="0" i="0">
                <a:solidFill>
                  <a:srgbClr val="000000"/>
                </a:solidFill>
              </a:rPr>
              <a:t>dcr_req / dcr_rsp</a:t>
            </a:r>
          </a:p>
          <a:p>
            <a:pPr algn="ctr"/>
            <a:r>
              <a:rPr sz="900" b="0" i="0">
                <a:solidFill>
                  <a:srgbClr val="000000"/>
                </a:solidFill>
              </a:rPr>
              <a:t>start / busy</a:t>
            </a:r>
          </a:p>
          <a:p>
            <a:pPr algn="ctr"/>
            <a:r>
              <a:rPr sz="900" b="0" i="0">
                <a:solidFill>
                  <a:srgbClr val="000000"/>
                </a:solidFill>
              </a:rPr>
              <a:t>→ Vortex</a:t>
            </a:r>
          </a:p>
        </p:txBody>
      </p:sp>
      <p:cxnSp>
        <p:nvCxnSpPr>
          <p:cNvPr id="36" name="Connector 35"/>
          <p:cNvCxnSpPr/>
          <p:nvPr/>
        </p:nvCxnSpPr>
        <p:spPr>
          <a:xfrm>
            <a:off x="7863840" y="4937760"/>
            <a:ext cx="0" cy="22860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9601200" y="1325880"/>
            <a:ext cx="2011680" cy="4480560"/>
          </a:xfrm>
          <a:prstGeom prst="rect">
            <a:avLst/>
          </a:prstGeom>
          <a:solidFill>
            <a:srgbClr val="FFF8EE"/>
          </a:solidFill>
          <a:ln w="9525">
            <a:solidFill>
              <a:srgbClr val="D18B2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38" name="TextBox 37"/>
          <p:cNvSpPr txBox="1"/>
          <p:nvPr/>
        </p:nvSpPr>
        <p:spPr>
          <a:xfrm>
            <a:off x="9646920" y="1344168"/>
            <a:ext cx="1920240" cy="228600"/>
          </a:xfrm>
          <a:prstGeom prst="rect">
            <a:avLst/>
          </a:prstGeom>
          <a:noFill/>
        </p:spPr>
        <p:txBody>
          <a:bodyPr wrap="square" lIns="27432" rIns="27432" tIns="27432" bIns="27432" anchor="t">
            <a:spAutoFit/>
          </a:bodyPr>
          <a:lstStyle/>
          <a:p>
            <a:pPr algn="l"/>
            <a:r>
              <a:rPr sz="1000" b="1" i="0">
                <a:solidFill>
                  <a:srgbClr val="404040"/>
                </a:solidFill>
              </a:rPr>
              <a:t>Device</a:t>
            </a:r>
          </a:p>
        </p:txBody>
      </p:sp>
      <p:sp>
        <p:nvSpPr>
          <p:cNvPr id="39" name="Rectangle 38"/>
          <p:cNvSpPr/>
          <p:nvPr/>
        </p:nvSpPr>
        <p:spPr>
          <a:xfrm>
            <a:off x="9738360" y="2103120"/>
            <a:ext cx="1737360" cy="82296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device memory</a:t>
            </a:r>
          </a:p>
          <a:p>
            <a:pPr algn="ctr"/>
            <a:r>
              <a:rPr sz="950" b="0" i="0">
                <a:solidFill>
                  <a:srgbClr val="000000"/>
                </a:solidFill>
              </a:rPr>
              <a:t>(axi_dev)</a:t>
            </a:r>
          </a:p>
        </p:txBody>
      </p:sp>
      <p:sp>
        <p:nvSpPr>
          <p:cNvPr id="40" name="Rectangle 39"/>
          <p:cNvSpPr/>
          <p:nvPr/>
        </p:nvSpPr>
        <p:spPr>
          <a:xfrm>
            <a:off x="9738360" y="3749039"/>
            <a:ext cx="1737360" cy="914400"/>
          </a:xfrm>
          <a:prstGeom prst="rect">
            <a:avLst/>
          </a:prstGeom>
          <a:solidFill>
            <a:srgbClr val="FFE0B3"/>
          </a:solidFill>
          <a:ln w="12700">
            <a:solidFill>
              <a:srgbClr val="D18B2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Vortex</a:t>
            </a:r>
          </a:p>
          <a:p>
            <a:pPr algn="ctr"/>
            <a:r>
              <a:rPr sz="950" b="0" i="0">
                <a:solidFill>
                  <a:srgbClr val="000000"/>
                </a:solidFill>
              </a:rPr>
              <a:t>KMU · DCR bus</a:t>
            </a:r>
          </a:p>
          <a:p>
            <a:pPr algn="ctr"/>
            <a:r>
              <a:rPr sz="950" b="0" i="0">
                <a:solidFill>
                  <a:srgbClr val="000000"/>
                </a:solidFill>
              </a:rPr>
              <a:t>caches</a:t>
            </a:r>
          </a:p>
        </p:txBody>
      </p:sp>
      <p:cxnSp>
        <p:nvCxnSpPr>
          <p:cNvPr id="41" name="Connector 40"/>
          <p:cNvCxnSpPr/>
          <p:nvPr/>
        </p:nvCxnSpPr>
        <p:spPr>
          <a:xfrm>
            <a:off x="2697480" y="2286000"/>
            <a:ext cx="548640" cy="13716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514600" y="1920240"/>
            <a:ext cx="1005840" cy="320040"/>
          </a:xfrm>
          <a:prstGeom prst="rect">
            <a:avLst/>
          </a:prstGeom>
          <a:noFill/>
        </p:spPr>
        <p:txBody>
          <a:bodyPr wrap="square" lIns="27432" rIns="27432" tIns="27432" bIns="27432" anchor="t">
            <a:spAutoFit/>
          </a:bodyPr>
          <a:lstStyle/>
          <a:p>
            <a:pPr algn="ctr"/>
            <a:r>
              <a:rPr sz="800" b="0" i="0">
                <a:solidFill>
                  <a:srgbClr val="555555"/>
                </a:solidFill>
              </a:rPr>
              <a:t>axi_host</a:t>
            </a:r>
          </a:p>
        </p:txBody>
      </p:sp>
      <p:cxnSp>
        <p:nvCxnSpPr>
          <p:cNvPr id="43" name="Connector 42"/>
          <p:cNvCxnSpPr/>
          <p:nvPr/>
        </p:nvCxnSpPr>
        <p:spPr>
          <a:xfrm flipH="1">
            <a:off x="2697480" y="4206240"/>
            <a:ext cx="5486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2697480" y="4251960"/>
            <a:ext cx="731520" cy="274320"/>
          </a:xfrm>
          <a:prstGeom prst="rect">
            <a:avLst/>
          </a:prstGeom>
          <a:noFill/>
        </p:spPr>
        <p:txBody>
          <a:bodyPr wrap="square" lIns="27432" rIns="27432" tIns="27432" bIns="27432" anchor="t">
            <a:spAutoFit/>
          </a:bodyPr>
          <a:lstStyle/>
          <a:p>
            <a:pPr algn="ctr"/>
            <a:r>
              <a:rPr sz="800" b="0" i="0">
                <a:solidFill>
                  <a:srgbClr val="555555"/>
                </a:solidFill>
              </a:rPr>
              <a:t>seqnum</a:t>
            </a:r>
          </a:p>
        </p:txBody>
      </p:sp>
      <p:cxnSp>
        <p:nvCxnSpPr>
          <p:cNvPr id="45" name="Connector 44"/>
          <p:cNvCxnSpPr/>
          <p:nvPr/>
        </p:nvCxnSpPr>
        <p:spPr>
          <a:xfrm>
            <a:off x="7452360" y="3611880"/>
            <a:ext cx="1874520" cy="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9326880" y="2514600"/>
            <a:ext cx="0" cy="109728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326880" y="2514600"/>
            <a:ext cx="41148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15400" y="2148840"/>
            <a:ext cx="914400" cy="365760"/>
          </a:xfrm>
          <a:prstGeom prst="rect">
            <a:avLst/>
          </a:prstGeom>
          <a:noFill/>
        </p:spPr>
        <p:txBody>
          <a:bodyPr wrap="square" lIns="27432" rIns="27432" tIns="27432" bIns="27432" anchor="t">
            <a:spAutoFit/>
          </a:bodyPr>
          <a:lstStyle/>
          <a:p>
            <a:pPr algn="ctr"/>
            <a:r>
              <a:rPr sz="800" b="0" i="0">
                <a:solidFill>
                  <a:srgbClr val="555555"/>
                </a:solidFill>
              </a:rPr>
              <a:t>DMA</a:t>
            </a:r>
          </a:p>
          <a:p>
            <a:pPr algn="ctr"/>
            <a:r>
              <a:rPr sz="800" b="0" i="0">
                <a:solidFill>
                  <a:srgbClr val="555555"/>
                </a:solidFill>
              </a:rPr>
              <a:t>(axi_dev)</a:t>
            </a:r>
          </a:p>
        </p:txBody>
      </p:sp>
      <p:cxnSp>
        <p:nvCxnSpPr>
          <p:cNvPr id="49" name="Connector 48"/>
          <p:cNvCxnSpPr/>
          <p:nvPr/>
        </p:nvCxnSpPr>
        <p:spPr>
          <a:xfrm>
            <a:off x="9281160" y="4114800"/>
            <a:ext cx="45720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731520" y="5897880"/>
            <a:ext cx="10881360" cy="274320"/>
          </a:xfrm>
          <a:prstGeom prst="rect">
            <a:avLst/>
          </a:prstGeom>
          <a:noFill/>
        </p:spPr>
        <p:txBody>
          <a:bodyPr wrap="square" lIns="27432" rIns="27432" tIns="27432" bIns="27432" anchor="t">
            <a:spAutoFit/>
          </a:bodyPr>
          <a:lstStyle/>
          <a:p>
            <a:pPr algn="l"/>
            <a:r>
              <a:rPr sz="1000" b="0" i="1">
                <a:solidFill>
                  <a:srgbClr val="555555"/>
                </a:solidFill>
              </a:rPr>
              <a:t>Compile-time: VX_CP_NUM_QUEUES = 1 · VX_CP_RING_SIZE_LOG2 = 16 · VX_CP_MAX_CMDS_PER_CL = 5 · AXI TID width 6. DMA: dual-port, ≤ 4 KB INCR chunks, read-fully-then-write.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Kernel Management Unit (KMU)</a:t>
            </a:r>
          </a:p>
        </p:txBody>
      </p:sp>
      <p:sp>
        <p:nvSpPr>
          <p:cNvPr id="3" name="Text Placeholder 2"/>
          <p:cNvSpPr>
            <a:spLocks noGrp="1"/>
          </p:cNvSpPr>
          <p:nvPr>
            <p:ph type="body" idx="1"/>
          </p:nvPr>
        </p:nvSpPr>
        <p:spPr>
          <a:xfrm>
            <a:off x="731520" y="1188720"/>
            <a:ext cx="6035040" cy="4937760"/>
          </a:xfrm>
        </p:spPr>
        <p:txBody>
          <a:bodyPr wrap="square"/>
          <a:lstStyle/>
          <a:p>
            <a:pPr marL="0" indent="0">
              <a:spcBef>
                <a:spcPts val="500"/>
              </a:spcBef>
              <a:buNone/>
            </a:pPr>
            <a:r>
              <a:rPr sz="1350" b="1" i="0">
                <a:solidFill>
                  <a:srgbClr val="1F394D"/>
                </a:solidFill>
              </a:rPr>
              <a:t>Inputs (DCRs 0x010–0x023)</a:t>
            </a:r>
          </a:p>
          <a:p>
            <a:pPr lvl="1" marL="342900" indent="-228600">
              <a:spcBef>
                <a:spcPts val="100"/>
              </a:spcBef>
              <a:buFont typeface="Arial"/>
              <a:buChar char="•"/>
            </a:pPr>
            <a:r>
              <a:rPr sz="1150" b="0" i="0">
                <a:solidFill>
                  <a:srgbClr val="000000"/>
                </a:solidFill>
              </a:rPr>
              <a:t>PC, entry, param, grid_dim[3], block_dim[3], cluster_dim[3], LMEM size</a:t>
            </a:r>
          </a:p>
          <a:p>
            <a:pPr lvl="1" marL="342900" indent="-228600">
              <a:spcBef>
                <a:spcPts val="100"/>
              </a:spcBef>
              <a:buFont typeface="Arial"/>
              <a:buChar char="•"/>
            </a:pPr>
            <a:r>
              <a:rPr sz="1150" b="0" i="0">
                <a:solidFill>
                  <a:srgbClr val="000000"/>
                </a:solidFill>
              </a:rPr>
              <a:t>host precomputes </a:t>
            </a:r>
            <a:r>
              <a:rPr sz="1150" b="0" i="0">
                <a:solidFill>
                  <a:srgbClr val="000000"/>
                </a:solidFill>
                <a:latin typeface="Consolas"/>
              </a:rPr>
              <a:t>WARP_STEP</a:t>
            </a:r>
            <a:r>
              <a:rPr sz="1150" b="0" i="0">
                <a:solidFill>
                  <a:srgbClr val="000000"/>
                </a:solidFill>
              </a:rPr>
              <a:t> (NT % block[0], …) → no divider in hardware</a:t>
            </a:r>
          </a:p>
          <a:p>
            <a:pPr marL="0" indent="0">
              <a:spcBef>
                <a:spcPts val="500"/>
              </a:spcBef>
              <a:buNone/>
            </a:pPr>
            <a:r>
              <a:rPr sz="1350" b="1" i="0">
                <a:solidFill>
                  <a:srgbClr val="1F394D"/>
                </a:solidFill>
              </a:rPr>
              <a:t>Grid walk (two-level)</a:t>
            </a:r>
          </a:p>
          <a:p>
            <a:pPr lvl="1" marL="342900" indent="-228600">
              <a:spcBef>
                <a:spcPts val="100"/>
              </a:spcBef>
              <a:buFont typeface="Arial"/>
              <a:buChar char="•"/>
            </a:pPr>
            <a:r>
              <a:rPr sz="1150" b="0" i="0">
                <a:solidFill>
                  <a:srgbClr val="000000"/>
                </a:solidFill>
                <a:latin typeface="Consolas"/>
              </a:rPr>
              <a:t>intra_offset[i]</a:t>
            </a:r>
            <a:r>
              <a:rPr sz="1150" b="0" i="0">
                <a:solidFill>
                  <a:srgbClr val="000000"/>
                </a:solidFill>
              </a:rPr>
              <a:t> wraps at cluster_dim[i]; on group_complete </a:t>
            </a:r>
            <a:r>
              <a:rPr sz="1150" b="0" i="0">
                <a:solidFill>
                  <a:srgbClr val="000000"/>
                </a:solidFill>
                <a:latin typeface="Consolas"/>
              </a:rPr>
              <a:t>group_origin[i] += cluster_dim[i]</a:t>
            </a:r>
          </a:p>
          <a:p>
            <a:pPr lvl="1" marL="342900" indent="-228600">
              <a:spcBef>
                <a:spcPts val="100"/>
              </a:spcBef>
              <a:buFont typeface="Arial"/>
              <a:buChar char="•"/>
            </a:pPr>
            <a:r>
              <a:rPr sz="1150" b="0" i="0">
                <a:solidFill>
                  <a:srgbClr val="000000"/>
                </a:solidFill>
                <a:latin typeface="Consolas"/>
              </a:rPr>
              <a:t>block_idx = group_origin + intra_offset</a:t>
            </a:r>
            <a:r>
              <a:rPr sz="1150" b="0" i="0">
                <a:solidFill>
                  <a:srgbClr val="000000"/>
                </a:solidFill>
              </a:rPr>
              <a:t>; </a:t>
            </a:r>
            <a:r>
              <a:rPr sz="1150" b="0" i="0">
                <a:solidFill>
                  <a:srgbClr val="000000"/>
                </a:solidFill>
                <a:latin typeface="Consolas"/>
              </a:rPr>
              <a:t>is_first_of_cluster</a:t>
            </a:r>
            <a:r>
              <a:rPr sz="1150" b="0" i="0">
                <a:solidFill>
                  <a:srgbClr val="000000"/>
                </a:solidFill>
              </a:rPr>
              <a:t> marks member 0</a:t>
            </a:r>
          </a:p>
          <a:p>
            <a:pPr marL="0" indent="0">
              <a:spcBef>
                <a:spcPts val="500"/>
              </a:spcBef>
              <a:buNone/>
            </a:pPr>
            <a:r>
              <a:rPr sz="1350" b="1" i="0">
                <a:solidFill>
                  <a:srgbClr val="1F394D"/>
                </a:solidFill>
              </a:rPr>
              <a:t>kmu_req_t</a:t>
            </a:r>
          </a:p>
          <a:p>
            <a:pPr lvl="1" marL="342900" indent="-228600">
              <a:spcBef>
                <a:spcPts val="100"/>
              </a:spcBef>
              <a:buFont typeface="Arial"/>
              <a:buChar char="•"/>
            </a:pPr>
            <a:r>
              <a:rPr sz="1150" b="0" i="0">
                <a:solidFill>
                  <a:srgbClr val="000000"/>
                </a:solidFill>
              </a:rPr>
              <a:t>envelope {kind, PC, entry, param, ctx_id (8-bit, bumped per start), aligned_lmem_size}</a:t>
            </a:r>
          </a:p>
          <a:p>
            <a:pPr lvl="1" marL="342900" indent="-228600">
              <a:spcBef>
                <a:spcPts val="100"/>
              </a:spcBef>
              <a:buFont typeface="Arial"/>
              <a:buChar char="•"/>
            </a:pPr>
            <a:r>
              <a:rPr sz="1150" b="0" i="0">
                <a:solidFill>
                  <a:srgbClr val="000000"/>
                </a:solidFill>
              </a:rPr>
              <a:t>COMPUTE {grid, block_idx, block_dim, block_size, warp_step, cluster_size, is_first}</a:t>
            </a:r>
          </a:p>
          <a:p>
            <a:pPr lvl="1" marL="342900" indent="-228600">
              <a:spcBef>
                <a:spcPts val="100"/>
              </a:spcBef>
              <a:buFont typeface="Arial"/>
              <a:buChar char="•"/>
            </a:pPr>
            <a:r>
              <a:rPr sz="1150" b="0" i="0">
                <a:solidFill>
                  <a:srgbClr val="000000"/>
                </a:solidFill>
              </a:rPr>
              <a:t>FRAGMENT {stamps[NUM_THREADS], count} — pushed by RASTER</a:t>
            </a:r>
          </a:p>
          <a:p>
            <a:pPr lvl="1" marL="342900" indent="-228600">
              <a:spcBef>
                <a:spcPts val="100"/>
              </a:spcBef>
              <a:buFont typeface="Arial"/>
              <a:buChar char="•"/>
            </a:pPr>
            <a:r>
              <a:rPr sz="1150" b="0" i="0">
                <a:solidFill>
                  <a:srgbClr val="000000"/>
                </a:solidFill>
              </a:rPr>
              <a:t>no cta_id on the bus: VX_CSR_CTA_ID is the local dispatcher slot</a:t>
            </a:r>
          </a:p>
          <a:p>
            <a:pPr marL="0" indent="0">
              <a:spcBef>
                <a:spcPts val="500"/>
              </a:spcBef>
              <a:buNone/>
            </a:pPr>
            <a:r>
              <a:rPr sz="1350" b="1" i="0">
                <a:solidFill>
                  <a:srgbClr val="1F394D"/>
                </a:solidFill>
              </a:rPr>
              <a:t>Liveness</a:t>
            </a:r>
          </a:p>
          <a:p>
            <a:pPr lvl="1" marL="342900" indent="-228600">
              <a:spcBef>
                <a:spcPts val="100"/>
              </a:spcBef>
              <a:buFont typeface="Arial"/>
              <a:buChar char="•"/>
            </a:pPr>
            <a:r>
              <a:rPr sz="1150" b="0" i="0">
                <a:solidFill>
                  <a:srgbClr val="000000"/>
                </a:solidFill>
              </a:rPr>
              <a:t>busy tree: VX_cta_dispatch → scheduler → core → socket → cluster → Vortex</a:t>
            </a:r>
          </a:p>
          <a:p>
            <a:pPr lvl="1" marL="342900" indent="-228600">
              <a:spcBef>
                <a:spcPts val="100"/>
              </a:spcBef>
              <a:buFont typeface="Arial"/>
              <a:buChar char="•"/>
            </a:pPr>
            <a:r>
              <a:rPr sz="1150" b="0" i="0">
                <a:solidFill>
                  <a:srgbClr val="000000"/>
                </a:solidFill>
              </a:rPr>
              <a:t>grid-less start = delegated draw launch (</a:t>
            </a:r>
            <a:r>
              <a:rPr sz="1150" b="0" i="0">
                <a:solidFill>
                  <a:srgbClr val="000000"/>
                </a:solidFill>
                <a:latin typeface="Consolas"/>
              </a:rPr>
              <a:t>busy = running | raster_start</a:t>
            </a:r>
            <a:r>
              <a:rPr sz="1150" b="0" i="0">
                <a:solidFill>
                  <a:srgbClr val="000000"/>
                </a:solidFill>
              </a:rPr>
              <a:t>)</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040880" y="1371600"/>
            <a:ext cx="4572000" cy="5029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host → KMU DCRs (0x010 … 0x023) → start pulse</a:t>
            </a:r>
          </a:p>
        </p:txBody>
      </p:sp>
      <p:cxnSp>
        <p:nvCxnSpPr>
          <p:cNvPr id="6" name="Connector 5"/>
          <p:cNvCxnSpPr/>
          <p:nvPr/>
        </p:nvCxnSpPr>
        <p:spPr>
          <a:xfrm>
            <a:off x="9326880" y="1874519"/>
            <a:ext cx="0" cy="274321"/>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040880" y="2148840"/>
            <a:ext cx="4572000" cy="82296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50" b="0" i="0">
                <a:solidFill>
                  <a:srgbClr val="000000"/>
                </a:solidFill>
              </a:rPr>
              <a:t>VX_kmu.sv: grid walker</a:t>
            </a:r>
          </a:p>
          <a:p>
            <a:pPr algn="ctr"/>
            <a:r>
              <a:rPr sz="1050" b="0" i="0">
                <a:solidFill>
                  <a:srgbClr val="000000"/>
                </a:solidFill>
              </a:rPr>
              <a:t>intra_offset (cluster) → group_origin (grid) → kmu_req_t</a:t>
            </a:r>
          </a:p>
        </p:txBody>
      </p:sp>
      <p:cxnSp>
        <p:nvCxnSpPr>
          <p:cNvPr id="8" name="Connector 7"/>
          <p:cNvCxnSpPr/>
          <p:nvPr/>
        </p:nvCxnSpPr>
        <p:spPr>
          <a:xfrm>
            <a:off x="9326880" y="2971800"/>
            <a:ext cx="0" cy="2743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223760" y="3291840"/>
            <a:ext cx="502920" cy="438912"/>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0</a:t>
            </a:r>
          </a:p>
        </p:txBody>
      </p:sp>
      <p:sp>
        <p:nvSpPr>
          <p:cNvPr id="10" name="Rectangle 9"/>
          <p:cNvSpPr/>
          <p:nvPr/>
        </p:nvSpPr>
        <p:spPr>
          <a:xfrm>
            <a:off x="7790688" y="3291840"/>
            <a:ext cx="502920" cy="438912"/>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a:t>
            </a:r>
          </a:p>
        </p:txBody>
      </p:sp>
      <p:sp>
        <p:nvSpPr>
          <p:cNvPr id="11" name="Rectangle 10"/>
          <p:cNvSpPr/>
          <p:nvPr/>
        </p:nvSpPr>
        <p:spPr>
          <a:xfrm>
            <a:off x="8357616" y="3291840"/>
            <a:ext cx="502920" cy="438912"/>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4</a:t>
            </a:r>
          </a:p>
        </p:txBody>
      </p:sp>
      <p:sp>
        <p:nvSpPr>
          <p:cNvPr id="12" name="Rectangle 11"/>
          <p:cNvSpPr/>
          <p:nvPr/>
        </p:nvSpPr>
        <p:spPr>
          <a:xfrm>
            <a:off x="8924544" y="3291840"/>
            <a:ext cx="502920" cy="438912"/>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5</a:t>
            </a:r>
          </a:p>
        </p:txBody>
      </p:sp>
      <p:sp>
        <p:nvSpPr>
          <p:cNvPr id="13" name="Rectangle 12"/>
          <p:cNvSpPr/>
          <p:nvPr/>
        </p:nvSpPr>
        <p:spPr>
          <a:xfrm>
            <a:off x="7223760" y="3794760"/>
            <a:ext cx="502920" cy="438912"/>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2</a:t>
            </a:r>
          </a:p>
        </p:txBody>
      </p:sp>
      <p:sp>
        <p:nvSpPr>
          <p:cNvPr id="14" name="Rectangle 13"/>
          <p:cNvSpPr/>
          <p:nvPr/>
        </p:nvSpPr>
        <p:spPr>
          <a:xfrm>
            <a:off x="7790688" y="3794760"/>
            <a:ext cx="502920" cy="438912"/>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3</a:t>
            </a:r>
          </a:p>
        </p:txBody>
      </p:sp>
      <p:sp>
        <p:nvSpPr>
          <p:cNvPr id="15" name="Rectangle 14"/>
          <p:cNvSpPr/>
          <p:nvPr/>
        </p:nvSpPr>
        <p:spPr>
          <a:xfrm>
            <a:off x="8357616" y="3794760"/>
            <a:ext cx="502920" cy="438912"/>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6</a:t>
            </a:r>
          </a:p>
        </p:txBody>
      </p:sp>
      <p:sp>
        <p:nvSpPr>
          <p:cNvPr id="16" name="Rectangle 15"/>
          <p:cNvSpPr/>
          <p:nvPr/>
        </p:nvSpPr>
        <p:spPr>
          <a:xfrm>
            <a:off x="8924544" y="3794760"/>
            <a:ext cx="502920" cy="438912"/>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7</a:t>
            </a:r>
          </a:p>
        </p:txBody>
      </p:sp>
      <p:sp>
        <p:nvSpPr>
          <p:cNvPr id="17" name="Rectangle 16"/>
          <p:cNvSpPr/>
          <p:nvPr/>
        </p:nvSpPr>
        <p:spPr>
          <a:xfrm>
            <a:off x="7223760" y="429768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8</a:t>
            </a:r>
          </a:p>
        </p:txBody>
      </p:sp>
      <p:sp>
        <p:nvSpPr>
          <p:cNvPr id="18" name="Rectangle 17"/>
          <p:cNvSpPr/>
          <p:nvPr/>
        </p:nvSpPr>
        <p:spPr>
          <a:xfrm>
            <a:off x="7790688" y="429768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9</a:t>
            </a:r>
          </a:p>
        </p:txBody>
      </p:sp>
      <p:sp>
        <p:nvSpPr>
          <p:cNvPr id="19" name="Rectangle 18"/>
          <p:cNvSpPr/>
          <p:nvPr/>
        </p:nvSpPr>
        <p:spPr>
          <a:xfrm>
            <a:off x="8357616" y="429768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12</a:t>
            </a:r>
          </a:p>
        </p:txBody>
      </p:sp>
      <p:sp>
        <p:nvSpPr>
          <p:cNvPr id="20" name="Rectangle 19"/>
          <p:cNvSpPr/>
          <p:nvPr/>
        </p:nvSpPr>
        <p:spPr>
          <a:xfrm>
            <a:off x="8924544" y="429768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13</a:t>
            </a:r>
          </a:p>
        </p:txBody>
      </p:sp>
      <p:sp>
        <p:nvSpPr>
          <p:cNvPr id="21" name="Rectangle 20"/>
          <p:cNvSpPr/>
          <p:nvPr/>
        </p:nvSpPr>
        <p:spPr>
          <a:xfrm>
            <a:off x="7223760" y="480060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10</a:t>
            </a:r>
          </a:p>
        </p:txBody>
      </p:sp>
      <p:sp>
        <p:nvSpPr>
          <p:cNvPr id="22" name="Rectangle 21"/>
          <p:cNvSpPr/>
          <p:nvPr/>
        </p:nvSpPr>
        <p:spPr>
          <a:xfrm>
            <a:off x="7790688" y="480060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11</a:t>
            </a:r>
          </a:p>
        </p:txBody>
      </p:sp>
      <p:sp>
        <p:nvSpPr>
          <p:cNvPr id="23" name="Rectangle 22"/>
          <p:cNvSpPr/>
          <p:nvPr/>
        </p:nvSpPr>
        <p:spPr>
          <a:xfrm>
            <a:off x="8357616" y="480060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14</a:t>
            </a:r>
          </a:p>
        </p:txBody>
      </p:sp>
      <p:sp>
        <p:nvSpPr>
          <p:cNvPr id="24" name="Rectangle 23"/>
          <p:cNvSpPr/>
          <p:nvPr/>
        </p:nvSpPr>
        <p:spPr>
          <a:xfrm>
            <a:off x="8924544" y="4800600"/>
            <a:ext cx="502920" cy="438912"/>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0" i="0">
                <a:solidFill>
                  <a:srgbClr val="000000"/>
                </a:solidFill>
              </a:rPr>
              <a:t>15</a:t>
            </a:r>
          </a:p>
        </p:txBody>
      </p:sp>
      <p:sp>
        <p:nvSpPr>
          <p:cNvPr id="25" name="TextBox 24"/>
          <p:cNvSpPr txBox="1"/>
          <p:nvPr/>
        </p:nvSpPr>
        <p:spPr>
          <a:xfrm>
            <a:off x="9601200" y="3291840"/>
            <a:ext cx="2011680" cy="2011680"/>
          </a:xfrm>
          <a:prstGeom prst="rect">
            <a:avLst/>
          </a:prstGeom>
          <a:noFill/>
        </p:spPr>
        <p:txBody>
          <a:bodyPr wrap="square" lIns="27432" rIns="27432" tIns="27432" bIns="27432" anchor="t">
            <a:spAutoFit/>
          </a:bodyPr>
          <a:lstStyle/>
          <a:p>
            <a:pPr algn="l"/>
            <a:r>
              <a:rPr sz="1000" b="0" i="0">
                <a:solidFill>
                  <a:srgbClr val="333333"/>
                </a:solidFill>
              </a:rPr>
              <a:t>grid 4 × 4, cluster_dim 2 × 2</a:t>
            </a:r>
          </a:p>
          <a:p>
            <a:pPr algn="l"/>
          </a:p>
          <a:p>
            <a:pPr algn="l"/>
            <a:r>
              <a:rPr sz="1000" b="0" i="0">
                <a:solidFill>
                  <a:srgbClr val="333333"/>
                </a:solidFill>
              </a:rPr>
              <a:t>message 0 = CTAs {0,1,2,3}</a:t>
            </a:r>
          </a:p>
          <a:p>
            <a:pPr algn="l"/>
            <a:r>
              <a:rPr sz="1000" b="0" i="0">
                <a:solidFill>
                  <a:srgbClr val="333333"/>
                </a:solidFill>
              </a:rPr>
              <a:t>message 1 = {4,5,6,7} …</a:t>
            </a:r>
          </a:p>
          <a:p>
            <a:pPr algn="l"/>
          </a:p>
          <a:p>
            <a:pPr algn="l"/>
            <a:r>
              <a:rPr sz="1000" b="0" i="0">
                <a:solidFill>
                  <a:srgbClr val="333333"/>
                </a:solidFill>
              </a:rPr>
              <a:t>each message: K CTAs,</a:t>
            </a:r>
          </a:p>
          <a:p>
            <a:pPr algn="l"/>
            <a:r>
              <a:rPr sz="1000" b="0" i="0">
                <a:solidFill>
                  <a:srgbClr val="333333"/>
                </a:solidFill>
              </a:rPr>
              <a:t>eop on the last member</a:t>
            </a:r>
          </a:p>
        </p:txBody>
      </p:sp>
      <p:sp>
        <p:nvSpPr>
          <p:cNvPr id="26" name="Rectangle 25"/>
          <p:cNvSpPr/>
          <p:nvPr/>
        </p:nvSpPr>
        <p:spPr>
          <a:xfrm>
            <a:off x="7040880" y="5394960"/>
            <a:ext cx="4572000" cy="640080"/>
          </a:xfrm>
          <a:prstGeom prst="rect">
            <a:avLst/>
          </a:prstGeom>
          <a:solidFill>
            <a:srgbClr val="FFFBE6"/>
          </a:solidFill>
          <a:ln w="12700">
            <a:solidFill>
              <a:srgbClr val="D4B106"/>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00" b="0" i="0">
                <a:solidFill>
                  <a:srgbClr val="333333"/>
                </a:solidFill>
              </a:rPr>
              <a:t>SimX mirror: sim/simx/kmu/kmu.cpp iterates intra-cluster offsets first; LAUNCH_CREDITS = 4 per core.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Per-Core CTA Dispatcher (VX_cta_dispatch)</a:t>
            </a:r>
          </a:p>
        </p:txBody>
      </p:sp>
      <p:sp>
        <p:nvSpPr>
          <p:cNvPr id="3" name="Text Placeholder 2"/>
          <p:cNvSpPr>
            <a:spLocks noGrp="1"/>
          </p:cNvSpPr>
          <p:nvPr>
            <p:ph type="body" idx="1"/>
          </p:nvPr>
        </p:nvSpPr>
        <p:spPr>
          <a:xfrm>
            <a:off x="731520" y="1188720"/>
            <a:ext cx="5943600" cy="4937760"/>
          </a:xfrm>
        </p:spPr>
        <p:txBody>
          <a:bodyPr wrap="square"/>
          <a:lstStyle/>
          <a:p>
            <a:pPr marL="0" indent="0">
              <a:spcBef>
                <a:spcPts val="500"/>
              </a:spcBef>
              <a:buNone/>
            </a:pPr>
            <a:r>
              <a:rPr sz="1300" b="1" i="0">
                <a:solidFill>
                  <a:srgbClr val="1F394D"/>
                </a:solidFill>
              </a:rPr>
              <a:t>Slots and local memory</a:t>
            </a:r>
          </a:p>
          <a:p>
            <a:pPr lvl="1" marL="342900" indent="-228600">
              <a:spcBef>
                <a:spcPts val="100"/>
              </a:spcBef>
              <a:buFont typeface="Arial"/>
              <a:buChar char="•"/>
            </a:pPr>
            <a:r>
              <a:rPr sz="1150" b="0" i="0">
                <a:solidFill>
                  <a:srgbClr val="000000"/>
                </a:solidFill>
                <a:latin typeface="Consolas"/>
              </a:rPr>
              <a:t>NUM_CTA_SLOTS = NUM_WARPS</a:t>
            </a:r>
            <a:r>
              <a:rPr sz="1150" b="0" i="0">
                <a:solidFill>
                  <a:srgbClr val="000000"/>
                </a:solidFill>
              </a:rPr>
              <a:t>; fixed stride = </a:t>
            </a:r>
            <a:r>
              <a:rPr sz="1150" b="0" i="0">
                <a:solidFill>
                  <a:srgbClr val="000000"/>
                </a:solidFill>
                <a:latin typeface="Consolas"/>
              </a:rPr>
              <a:t>aligned_lmem_size</a:t>
            </a:r>
          </a:p>
          <a:p>
            <a:pPr lvl="1" marL="342900" indent="-228600">
              <a:spcBef>
                <a:spcPts val="100"/>
              </a:spcBef>
              <a:buFont typeface="Arial"/>
              <a:buChar char="•"/>
            </a:pPr>
            <a:r>
              <a:rPr sz="1150" b="0" i="0">
                <a:solidFill>
                  <a:srgbClr val="000000"/>
                </a:solidFill>
                <a:latin typeface="Consolas"/>
              </a:rPr>
              <a:t>usable_slots = max m : m·stride ≤ LMEM_SIZE</a:t>
            </a:r>
            <a:r>
              <a:rPr sz="1150" b="0" i="0">
                <a:solidFill>
                  <a:srgbClr val="000000"/>
                </a:solidFill>
              </a:rPr>
              <a:t> (comparator tree, registered)</a:t>
            </a:r>
          </a:p>
          <a:p>
            <a:pPr lvl="1" marL="342900" indent="-228600">
              <a:spcBef>
                <a:spcPts val="100"/>
              </a:spcBef>
              <a:buFont typeface="Arial"/>
              <a:buChar char="•"/>
            </a:pPr>
            <a:r>
              <a:rPr sz="1150" b="0" i="0">
                <a:solidFill>
                  <a:srgbClr val="000000"/>
                </a:solidFill>
                <a:latin typeface="Consolas"/>
              </a:rPr>
              <a:t>lmem_addr = VX_MEM_LMEM_BASE_ADDR | slot·stride</a:t>
            </a:r>
          </a:p>
          <a:p>
            <a:pPr marL="0" indent="0">
              <a:spcBef>
                <a:spcPts val="500"/>
              </a:spcBef>
              <a:buNone/>
            </a:pPr>
            <a:r>
              <a:rPr sz="1300" b="1" i="0">
                <a:solidFill>
                  <a:srgbClr val="1F394D"/>
                </a:solidFill>
              </a:rPr>
              <a:t>FSM</a:t>
            </a:r>
          </a:p>
          <a:p>
            <a:pPr lvl="1" marL="342900" indent="-228600">
              <a:spcBef>
                <a:spcPts val="100"/>
              </a:spcBef>
              <a:buFont typeface="Arial"/>
              <a:buChar char="•"/>
            </a:pPr>
            <a:r>
              <a:rPr sz="1150" b="0" i="0">
                <a:solidFill>
                  <a:srgbClr val="000000"/>
                </a:solidFill>
              </a:rPr>
              <a:t>IDLE: </a:t>
            </a:r>
            <a:r>
              <a:rPr sz="1150" b="0" i="0">
                <a:solidFill>
                  <a:srgbClr val="000000"/>
                </a:solidFill>
                <a:latin typeface="Consolas"/>
              </a:rPr>
              <a:t>ready = admit_ok ∧ ¬rem_warps_write ∧ ¬frag_inflight</a:t>
            </a:r>
          </a:p>
          <a:p>
            <a:pPr lvl="1" marL="342900" indent="-228600">
              <a:spcBef>
                <a:spcPts val="100"/>
              </a:spcBef>
              <a:buFont typeface="Arial"/>
              <a:buChar char="•"/>
            </a:pPr>
            <a:r>
              <a:rPr sz="1150" b="0" i="0">
                <a:solidFill>
                  <a:srgbClr val="000000"/>
                </a:solidFill>
              </a:rPr>
              <a:t>DISPATCH: one warp per cycle until is_last_warp; CTA expands in ⌈N / NT⌉ cycles</a:t>
            </a:r>
          </a:p>
          <a:p>
            <a:pPr marL="0" indent="0">
              <a:spcBef>
                <a:spcPts val="500"/>
              </a:spcBef>
              <a:buNone/>
            </a:pPr>
            <a:r>
              <a:rPr sz="1300" b="1" i="0">
                <a:solidFill>
                  <a:srgbClr val="1F394D"/>
                </a:solidFill>
              </a:rPr>
              <a:t>Context</a:t>
            </a:r>
          </a:p>
          <a:p>
            <a:pPr lvl="1" marL="342900" indent="-228600">
              <a:spcBef>
                <a:spcPts val="100"/>
              </a:spcBef>
              <a:buFont typeface="Arial"/>
              <a:buChar char="•"/>
            </a:pPr>
            <a:r>
              <a:rPr sz="1150" b="0" i="0">
                <a:solidFill>
                  <a:srgbClr val="000000"/>
                </a:solidFill>
                <a:latin typeface="Consolas"/>
              </a:rPr>
              <a:t>cta_ctx_ram</a:t>
            </a:r>
            <a:r>
              <a:rPr sz="1150" b="0" i="0">
                <a:solidFill>
                  <a:srgbClr val="000000"/>
                </a:solidFill>
              </a:rPr>
              <a:t> per slot: block/grid dims, entry, param, lmem_addr, cluster_size</a:t>
            </a:r>
          </a:p>
          <a:p>
            <a:pPr lvl="1" marL="342900" indent="-228600">
              <a:spcBef>
                <a:spcPts val="100"/>
              </a:spcBef>
              <a:buFont typeface="Arial"/>
              <a:buChar char="•"/>
            </a:pPr>
            <a:r>
              <a:rPr sz="1150" b="0" i="0">
                <a:solidFill>
                  <a:srgbClr val="000000"/>
                </a:solidFill>
                <a:latin typeface="Consolas"/>
              </a:rPr>
              <a:t>cta_warp_ram</a:t>
            </a:r>
            <a:r>
              <a:rPr sz="1150" b="0" i="0">
                <a:solidFill>
                  <a:srgbClr val="000000"/>
                </a:solidFill>
              </a:rPr>
              <a:t> per warp: cta_rank, lane_launch[NT] (TID ripple 2 lanes/cycle)</a:t>
            </a:r>
          </a:p>
          <a:p>
            <a:pPr marL="0" indent="0">
              <a:spcBef>
                <a:spcPts val="500"/>
              </a:spcBef>
              <a:buNone/>
            </a:pPr>
            <a:r>
              <a:rPr sz="1300" b="1" i="0">
                <a:solidFill>
                  <a:srgbClr val="1F394D"/>
                </a:solidFill>
              </a:rPr>
              <a:t>Retirement &amp; reuse</a:t>
            </a:r>
          </a:p>
          <a:p>
            <a:pPr lvl="1" marL="342900" indent="-228600">
              <a:spcBef>
                <a:spcPts val="100"/>
              </a:spcBef>
              <a:buFont typeface="Arial"/>
              <a:buChar char="•"/>
            </a:pPr>
            <a:r>
              <a:rPr sz="1150" b="0" i="0">
                <a:solidFill>
                  <a:srgbClr val="000000"/>
                </a:solidFill>
                <a:latin typeface="Consolas"/>
              </a:rPr>
              <a:t>warp_done = tmc_valid ∧ tmask == 0</a:t>
            </a:r>
            <a:r>
              <a:rPr sz="1150" b="0" i="0">
                <a:solidFill>
                  <a:srgbClr val="000000"/>
                </a:solidFill>
              </a:rPr>
              <a:t> (3-stage, write forwarding)</a:t>
            </a:r>
          </a:p>
          <a:p>
            <a:pPr lvl="1" marL="342900" indent="-228600">
              <a:spcBef>
                <a:spcPts val="100"/>
              </a:spcBef>
              <a:buFont typeface="Arial"/>
              <a:buChar char="•"/>
            </a:pPr>
            <a:r>
              <a:rPr sz="1150" b="0" i="0">
                <a:solidFill>
                  <a:srgbClr val="000000"/>
                </a:solidFill>
              </a:rPr>
              <a:t>rewind: </a:t>
            </a:r>
            <a:r>
              <a:rPr sz="1150" b="0" i="0">
                <a:solidFill>
                  <a:srgbClr val="000000"/>
                </a:solidFill>
                <a:latin typeface="Consolas"/>
              </a:rPr>
              <a:t>warp_pcs = cta_PC</a:t>
            </a:r>
            <a:r>
              <a:rPr sz="1150" b="0" i="0">
                <a:solidFill>
                  <a:srgbClr val="000000"/>
                </a:solidFill>
              </a:rPr>
              <a:t> or </a:t>
            </a:r>
            <a:r>
              <a:rPr sz="1150" b="0" i="0">
                <a:solidFill>
                  <a:srgbClr val="000000"/>
                </a:solidFill>
                <a:latin typeface="Consolas"/>
              </a:rPr>
              <a:t>PC − 20</a:t>
            </a:r>
            <a:r>
              <a:rPr sz="1150" b="0" i="0">
                <a:solidFill>
                  <a:srgbClr val="000000"/>
                </a:solidFill>
              </a:rPr>
              <a:t> (5 instructions) on reuse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6949440" y="1280160"/>
          <a:ext cx="4663440" cy="1865376"/>
        </p:xfrm>
        <a:graphic>
          <a:graphicData uri="http://schemas.openxmlformats.org/drawingml/2006/table">
            <a:tbl>
              <a:tblPr firstRow="0" bandRow="0">
                <a:tableStyleId>{5940675A-B579-460E-94D1-54222C63F5DA}</a:tableStyleId>
              </a:tblPr>
              <a:tblGrid>
                <a:gridCol w="3291840"/>
                <a:gridCol w="1371600"/>
              </a:tblGrid>
              <a:tr h="310896">
                <a:tc>
                  <a:txBody>
                    <a:bodyPr wrap="square"/>
                    <a:lstStyle/>
                    <a:p>
                      <a:pPr algn="l"/>
                      <a:r>
                        <a:rPr sz="1050" b="1" i="0">
                          <a:solidFill>
                            <a:srgbClr val="FFFFFF"/>
                          </a:solidFill>
                        </a:rPr>
                        <a:t>CTA CSR</a:t>
                      </a:r>
                    </a:p>
                  </a:txBody>
                  <a:tcPr marL="45720" marR="45720" marT="18288" marB="18288" anchor="ctr">
                    <a:solidFill>
                      <a:srgbClr val="1F394D"/>
                    </a:solidFill>
                  </a:tcPr>
                </a:tc>
                <a:tc>
                  <a:txBody>
                    <a:bodyPr wrap="square"/>
                    <a:lstStyle/>
                    <a:p>
                      <a:pPr algn="l"/>
                      <a:r>
                        <a:rPr sz="1050" b="1" i="0">
                          <a:solidFill>
                            <a:srgbClr val="FFFFFF"/>
                          </a:solidFill>
                        </a:rPr>
                        <a:t>Addr</a:t>
                      </a:r>
                    </a:p>
                  </a:txBody>
                  <a:tcPr marL="45720" marR="45720" marT="18288" marB="18288" anchor="ctr">
                    <a:solidFill>
                      <a:srgbClr val="1F394D"/>
                    </a:solidFill>
                  </a:tcPr>
                </a:tc>
              </a:tr>
              <a:tr h="310896">
                <a:tc>
                  <a:txBody>
                    <a:bodyPr wrap="square"/>
                    <a:lstStyle/>
                    <a:p>
                      <a:pPr algn="l"/>
                      <a:r>
                        <a:rPr sz="1050" b="0" i="0">
                          <a:solidFill>
                            <a:srgbClr val="000000"/>
                          </a:solidFill>
                        </a:rPr>
                        <a:t>CTA_ID · CTA_RANK · CTA_SIZE</a:t>
                      </a:r>
                    </a:p>
                  </a:txBody>
                  <a:tcPr marL="45720" marR="45720" marT="18288" marB="18288" anchor="ctr">
                    <a:solidFill>
                      <a:srgbClr val="FFFFFF"/>
                    </a:solidFill>
                  </a:tcPr>
                </a:tc>
                <a:tc>
                  <a:txBody>
                    <a:bodyPr wrap="square"/>
                    <a:lstStyle/>
                    <a:p>
                      <a:pPr algn="l"/>
                      <a:r>
                        <a:rPr sz="1050" b="0" i="0">
                          <a:solidFill>
                            <a:srgbClr val="000000"/>
                          </a:solidFill>
                        </a:rPr>
                        <a:t>0xCD0 – 0xCD2</a:t>
                      </a:r>
                    </a:p>
                  </a:txBody>
                  <a:tcPr marL="45720" marR="45720" marT="18288" marB="18288" anchor="ctr">
                    <a:solidFill>
                      <a:srgbClr val="FFFFFF"/>
                    </a:solidFill>
                  </a:tcPr>
                </a:tc>
              </a:tr>
              <a:tr h="310896">
                <a:tc>
                  <a:txBody>
                    <a:bodyPr wrap="square"/>
                    <a:lstStyle/>
                    <a:p>
                      <a:pPr algn="l"/>
                      <a:r>
                        <a:rPr sz="1050" b="0" i="0">
                          <a:solidFill>
                            <a:srgbClr val="000000"/>
                          </a:solidFill>
                        </a:rPr>
                        <a:t>CTA_THREAD_ID_{X,Y,Z}</a:t>
                      </a:r>
                    </a:p>
                  </a:txBody>
                  <a:tcPr marL="45720" marR="45720" marT="18288" marB="18288" anchor="ctr">
                    <a:solidFill>
                      <a:srgbClr val="F2F6FA"/>
                    </a:solidFill>
                  </a:tcPr>
                </a:tc>
                <a:tc>
                  <a:txBody>
                    <a:bodyPr wrap="square"/>
                    <a:lstStyle/>
                    <a:p>
                      <a:pPr algn="l"/>
                      <a:r>
                        <a:rPr sz="1050" b="0" i="0">
                          <a:solidFill>
                            <a:srgbClr val="000000"/>
                          </a:solidFill>
                        </a:rPr>
                        <a:t>0xCD3 – 0xCD5</a:t>
                      </a:r>
                    </a:p>
                  </a:txBody>
                  <a:tcPr marL="45720" marR="45720" marT="18288" marB="18288" anchor="ctr">
                    <a:solidFill>
                      <a:srgbClr val="F2F6FA"/>
                    </a:solidFill>
                  </a:tcPr>
                </a:tc>
              </a:tr>
              <a:tr h="310896">
                <a:tc>
                  <a:txBody>
                    <a:bodyPr wrap="square"/>
                    <a:lstStyle/>
                    <a:p>
                      <a:pPr algn="l"/>
                      <a:r>
                        <a:rPr sz="1050" b="0" i="0">
                          <a:solidFill>
                            <a:srgbClr val="000000"/>
                          </a:solidFill>
                        </a:rPr>
                        <a:t>CTA_BLOCK_ID_* · BLOCK_DIM_* · GRID_DIM_*</a:t>
                      </a:r>
                    </a:p>
                  </a:txBody>
                  <a:tcPr marL="45720" marR="45720" marT="18288" marB="18288" anchor="ctr">
                    <a:solidFill>
                      <a:srgbClr val="FFFFFF"/>
                    </a:solidFill>
                  </a:tcPr>
                </a:tc>
                <a:tc>
                  <a:txBody>
                    <a:bodyPr wrap="square"/>
                    <a:lstStyle/>
                    <a:p>
                      <a:pPr algn="l"/>
                      <a:r>
                        <a:rPr sz="1050" b="0" i="0">
                          <a:solidFill>
                            <a:srgbClr val="000000"/>
                          </a:solidFill>
                        </a:rPr>
                        <a:t>0xCD6 – 0xCDE</a:t>
                      </a:r>
                    </a:p>
                  </a:txBody>
                  <a:tcPr marL="45720" marR="45720" marT="18288" marB="18288" anchor="ctr">
                    <a:solidFill>
                      <a:srgbClr val="FFFFFF"/>
                    </a:solidFill>
                  </a:tcPr>
                </a:tc>
              </a:tr>
              <a:tr h="310896">
                <a:tc>
                  <a:txBody>
                    <a:bodyPr wrap="square"/>
                    <a:lstStyle/>
                    <a:p>
                      <a:pPr algn="l"/>
                      <a:r>
                        <a:rPr sz="1050" b="0" i="0">
                          <a:solidFill>
                            <a:srgbClr val="000000"/>
                          </a:solidFill>
                        </a:rPr>
                        <a:t>CTA_LMEM_ADDR · CTA_CLUSTER_SIZE · CTA_ENTRY</a:t>
                      </a:r>
                    </a:p>
                  </a:txBody>
                  <a:tcPr marL="45720" marR="45720" marT="18288" marB="18288" anchor="ctr">
                    <a:solidFill>
                      <a:srgbClr val="F2F6FA"/>
                    </a:solidFill>
                  </a:tcPr>
                </a:tc>
                <a:tc>
                  <a:txBody>
                    <a:bodyPr wrap="square"/>
                    <a:lstStyle/>
                    <a:p>
                      <a:pPr algn="l"/>
                      <a:r>
                        <a:rPr sz="1050" b="0" i="0">
                          <a:solidFill>
                            <a:srgbClr val="000000"/>
                          </a:solidFill>
                        </a:rPr>
                        <a:t>0xCDF – 0xCE1</a:t>
                      </a:r>
                    </a:p>
                  </a:txBody>
                  <a:tcPr marL="45720" marR="45720" marT="18288" marB="18288" anchor="ctr">
                    <a:solidFill>
                      <a:srgbClr val="F2F6FA"/>
                    </a:solidFill>
                  </a:tcPr>
                </a:tc>
              </a:tr>
              <a:tr h="310896">
                <a:tc>
                  <a:txBody>
                    <a:bodyPr wrap="square"/>
                    <a:lstStyle/>
                    <a:p>
                      <a:pPr algn="l"/>
                      <a:r>
                        <a:rPr sz="1050" b="0" i="0">
                          <a:solidFill>
                            <a:srgbClr val="000000"/>
                          </a:solidFill>
                        </a:rPr>
                        <a:t>FRAG_POS · FRAG_PID (fragment CTAs)</a:t>
                      </a:r>
                    </a:p>
                  </a:txBody>
                  <a:tcPr marL="45720" marR="45720" marT="18288" marB="18288" anchor="ctr">
                    <a:solidFill>
                      <a:srgbClr val="FFFFFF"/>
                    </a:solidFill>
                  </a:tcPr>
                </a:tc>
                <a:tc>
                  <a:txBody>
                    <a:bodyPr wrap="square"/>
                    <a:lstStyle/>
                    <a:p>
                      <a:pPr algn="l"/>
                      <a:r>
                        <a:rPr sz="1050" b="0" i="0">
                          <a:solidFill>
                            <a:srgbClr val="000000"/>
                          </a:solidFill>
                        </a:rPr>
                        <a:t>0xCE2 – 0xCE3</a:t>
                      </a:r>
                    </a:p>
                  </a:txBody>
                  <a:tcPr marL="45720" marR="45720" marT="18288" marB="18288" anchor="ctr">
                    <a:solidFill>
                      <a:srgbClr val="FFFFFF"/>
                    </a:solidFill>
                  </a:tcPr>
                </a:tc>
              </a:tr>
            </a:tbl>
          </a:graphicData>
        </a:graphic>
      </p:graphicFrame>
      <p:sp>
        <p:nvSpPr>
          <p:cNvPr id="6" name="TextBox 5"/>
          <p:cNvSpPr txBox="1"/>
          <p:nvPr/>
        </p:nvSpPr>
        <p:spPr>
          <a:xfrm>
            <a:off x="6949440" y="3429000"/>
            <a:ext cx="4663440" cy="274320"/>
          </a:xfrm>
          <a:prstGeom prst="rect">
            <a:avLst/>
          </a:prstGeom>
          <a:noFill/>
        </p:spPr>
        <p:txBody>
          <a:bodyPr wrap="square" lIns="27432" rIns="27432" tIns="27432" bIns="27432" anchor="t">
            <a:spAutoFit/>
          </a:bodyPr>
          <a:lstStyle/>
          <a:p>
            <a:pPr algn="l"/>
            <a:r>
              <a:rPr sz="1050" b="1" i="0">
                <a:solidFill>
                  <a:srgbClr val="1F394D"/>
                </a:solidFill>
              </a:rPr>
              <a:t>Local memory, fixed-stride slots (stride = launch LMEM size)</a:t>
            </a:r>
          </a:p>
        </p:txBody>
      </p:sp>
      <p:sp>
        <p:nvSpPr>
          <p:cNvPr id="7" name="Rectangle 6"/>
          <p:cNvSpPr/>
          <p:nvPr/>
        </p:nvSpPr>
        <p:spPr>
          <a:xfrm>
            <a:off x="6949440" y="3749039"/>
            <a:ext cx="731520" cy="5486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slot 0</a:t>
            </a:r>
          </a:p>
        </p:txBody>
      </p:sp>
      <p:sp>
        <p:nvSpPr>
          <p:cNvPr id="8" name="Rectangle 7"/>
          <p:cNvSpPr/>
          <p:nvPr/>
        </p:nvSpPr>
        <p:spPr>
          <a:xfrm>
            <a:off x="7717536" y="3749039"/>
            <a:ext cx="731520" cy="5486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slot 1</a:t>
            </a:r>
          </a:p>
        </p:txBody>
      </p:sp>
      <p:sp>
        <p:nvSpPr>
          <p:cNvPr id="9" name="Rectangle 8"/>
          <p:cNvSpPr/>
          <p:nvPr/>
        </p:nvSpPr>
        <p:spPr>
          <a:xfrm>
            <a:off x="8485632" y="3749039"/>
            <a:ext cx="731520" cy="5486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slot 2</a:t>
            </a:r>
          </a:p>
        </p:txBody>
      </p:sp>
      <p:sp>
        <p:nvSpPr>
          <p:cNvPr id="10" name="Rectangle 9"/>
          <p:cNvSpPr/>
          <p:nvPr/>
        </p:nvSpPr>
        <p:spPr>
          <a:xfrm>
            <a:off x="9253728" y="3749039"/>
            <a:ext cx="731520" cy="54864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slot 3</a:t>
            </a:r>
          </a:p>
        </p:txBody>
      </p:sp>
      <p:sp>
        <p:nvSpPr>
          <p:cNvPr id="11" name="Rectangle 10"/>
          <p:cNvSpPr/>
          <p:nvPr/>
        </p:nvSpPr>
        <p:spPr>
          <a:xfrm>
            <a:off x="10021824" y="3749039"/>
            <a:ext cx="73152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slot 4</a:t>
            </a:r>
          </a:p>
        </p:txBody>
      </p:sp>
      <p:sp>
        <p:nvSpPr>
          <p:cNvPr id="12" name="Rectangle 11"/>
          <p:cNvSpPr/>
          <p:nvPr/>
        </p:nvSpPr>
        <p:spPr>
          <a:xfrm>
            <a:off x="10789920" y="3749039"/>
            <a:ext cx="731520" cy="54864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slot 5</a:t>
            </a:r>
          </a:p>
        </p:txBody>
      </p:sp>
      <p:sp>
        <p:nvSpPr>
          <p:cNvPr id="13" name="Rectangle 12"/>
          <p:cNvSpPr/>
          <p:nvPr/>
        </p:nvSpPr>
        <p:spPr>
          <a:xfrm>
            <a:off x="6949440" y="4343400"/>
            <a:ext cx="301752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B85450"/>
                </a:solidFill>
              </a:rPr>
              <a:t>← cluster of K = 4 contiguous slots →</a:t>
            </a:r>
          </a:p>
        </p:txBody>
      </p:sp>
      <p:sp>
        <p:nvSpPr>
          <p:cNvPr id="14" name="TextBox 13"/>
          <p:cNvSpPr txBox="1"/>
          <p:nvPr/>
        </p:nvSpPr>
        <p:spPr>
          <a:xfrm>
            <a:off x="6949440" y="4709160"/>
            <a:ext cx="4663440" cy="1280160"/>
          </a:xfrm>
          <a:prstGeom prst="rect">
            <a:avLst/>
          </a:prstGeom>
          <a:noFill/>
        </p:spPr>
        <p:txBody>
          <a:bodyPr wrap="square" lIns="27432" rIns="27432" tIns="27432" bIns="27432" anchor="t">
            <a:spAutoFit/>
          </a:bodyPr>
          <a:lstStyle/>
          <a:p>
            <a:pPr algn="l"/>
            <a:r>
              <a:rPr sz="1000" b="0" i="0">
                <a:solidFill>
                  <a:srgbClr val="333333"/>
                </a:solidFill>
              </a:rPr>
              <a:t>member r at issuer_base + r·stride — the contiguity DXA multicast relies on</a:t>
            </a:r>
          </a:p>
          <a:p>
            <a:pPr algn="l"/>
            <a:r>
              <a:rPr sz="1000" b="0" i="0">
                <a:solidFill>
                  <a:srgbClr val="333333"/>
                </a:solidFill>
              </a:rPr>
              <a:t>get_cluster_rank() = CTA_ID % CTA_CLUSTER_SIZE</a:t>
            </a:r>
          </a:p>
          <a:p>
            <a:pPr algn="l"/>
            <a:r>
              <a:rPr sz="1000" b="0" i="0">
                <a:solidFill>
                  <a:srgbClr val="333333"/>
                </a:solidFill>
              </a:rPr>
              <a:t>matches NVIDIA/AMD occupancy and Hopper cluster peer_base = base + rank·stride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Barrier Unit: the Hardware Table</a:t>
            </a:r>
          </a:p>
        </p:txBody>
      </p:sp>
      <p:sp>
        <p:nvSpPr>
          <p:cNvPr id="3" name="Text Placeholder 2"/>
          <p:cNvSpPr>
            <a:spLocks noGrp="1"/>
          </p:cNvSpPr>
          <p:nvPr>
            <p:ph type="body" idx="1"/>
          </p:nvPr>
        </p:nvSpPr>
        <p:spPr>
          <a:xfrm>
            <a:off x="6583680" y="1188720"/>
            <a:ext cx="5120640" cy="4937760"/>
          </a:xfrm>
        </p:spPr>
        <p:txBody>
          <a:bodyPr wrap="square"/>
          <a:lstStyle/>
          <a:p>
            <a:pPr marL="0" indent="0">
              <a:spcBef>
                <a:spcPts val="500"/>
              </a:spcBef>
              <a:buNone/>
            </a:pPr>
            <a:r>
              <a:rPr sz="1250" b="1" i="0">
                <a:solidFill>
                  <a:srgbClr val="1F394D"/>
                </a:solidFill>
              </a:rPr>
              <a:t>Row state (per CTA slot × index)</a:t>
            </a:r>
          </a:p>
          <a:p>
            <a:pPr lvl="1" marL="342900" indent="-228600">
              <a:spcBef>
                <a:spcPts val="100"/>
              </a:spcBef>
              <a:buFont typeface="Arial"/>
              <a:buChar char="•"/>
            </a:pPr>
            <a:r>
              <a:rPr sz="1100" b="0" i="0">
                <a:solidFill>
                  <a:srgbClr val="000000"/>
                </a:solidFill>
              </a:rPr>
              <a:t>W-bit stalled-warp mask · arrival count · pending events · phase bit</a:t>
            </a:r>
          </a:p>
          <a:p>
            <a:pPr lvl="1" marL="342900" indent="-228600">
              <a:spcBef>
                <a:spcPts val="100"/>
              </a:spcBef>
              <a:buFont typeface="Arial"/>
              <a:buChar char="•"/>
            </a:pPr>
            <a:r>
              <a:rPr sz="1100" b="0" i="0">
                <a:solidFill>
                  <a:srgbClr val="000000"/>
                </a:solidFill>
              </a:rPr>
              <a:t>table ≤ W × N rows; nothing to allocate, initialize or refill</a:t>
            </a:r>
          </a:p>
          <a:p>
            <a:pPr marL="0" indent="0">
              <a:spcBef>
                <a:spcPts val="500"/>
              </a:spcBef>
              <a:buNone/>
            </a:pPr>
            <a:r>
              <a:rPr sz="1250" b="1" i="0">
                <a:solidFill>
                  <a:srgbClr val="1F394D"/>
                </a:solidFill>
              </a:rPr>
              <a:t>Operations</a:t>
            </a:r>
          </a:p>
          <a:p>
            <a:pPr lvl="1" marL="342900" indent="-228600">
              <a:spcBef>
                <a:spcPts val="100"/>
              </a:spcBef>
              <a:buFont typeface="Arial"/>
              <a:buChar char="•"/>
            </a:pPr>
            <a:r>
              <a:rPr sz="1100" b="0" i="0">
                <a:solidFill>
                  <a:srgbClr val="000000"/>
                </a:solidFill>
              </a:rPr>
              <a:t>arrive: count++, compare with expected; wait: return at once if phase flipped</a:t>
            </a:r>
          </a:p>
          <a:p>
            <a:pPr lvl="1" marL="342900" indent="-228600">
              <a:spcBef>
                <a:spcPts val="100"/>
              </a:spcBef>
              <a:buFont typeface="Arial"/>
              <a:buChar char="•"/>
            </a:pPr>
            <a:r>
              <a:rPr sz="1100" b="0" i="0">
                <a:solidFill>
                  <a:srgbClr val="000000"/>
                </a:solidFill>
              </a:rPr>
              <a:t>expect_tx: events += n; completion: events−−</a:t>
            </a:r>
          </a:p>
          <a:p>
            <a:pPr lvl="1" marL="342900" indent="-228600">
              <a:spcBef>
                <a:spcPts val="100"/>
              </a:spcBef>
              <a:buFont typeface="Arial"/>
              <a:buChar char="•"/>
            </a:pPr>
            <a:r>
              <a:rPr sz="1100" b="0" i="0">
                <a:solidFill>
                  <a:srgbClr val="000000"/>
                </a:solidFill>
              </a:rPr>
              <a:t>release: mask → scheduler in the same cycle</a:t>
            </a:r>
          </a:p>
          <a:p>
            <a:pPr marL="0" indent="0">
              <a:spcBef>
                <a:spcPts val="500"/>
              </a:spcBef>
              <a:buNone/>
            </a:pPr>
            <a:r>
              <a:rPr sz="1250" b="1" i="0">
                <a:solidFill>
                  <a:srgbClr val="1F394D"/>
                </a:solidFill>
              </a:rPr>
              <a:t>Measured (RTL, 4 warps × 4 threads)</a:t>
            </a:r>
          </a:p>
          <a:p>
            <a:pPr lvl="1" marL="342900" indent="-228600">
              <a:spcBef>
                <a:spcPts val="100"/>
              </a:spcBef>
              <a:buFont typeface="Arial"/>
              <a:buChar char="•"/>
            </a:pPr>
            <a:r>
              <a:rPr sz="1100" b="0" i="0">
                <a:solidFill>
                  <a:srgbClr val="000000"/>
                </a:solidFill>
              </a:rPr>
              <a:t>one generation of the probe: HARD 70 cycles / 24 instrs · MBAR 80.5 / 28 · SOFT 245 / 82</a:t>
            </a:r>
          </a:p>
          <a:p>
            <a:pPr lvl="1" marL="342900" indent="-228600">
              <a:spcBef>
                <a:spcPts val="100"/>
              </a:spcBef>
              <a:buFont typeface="Arial"/>
              <a:buChar char="•"/>
            </a:pPr>
            <a:r>
              <a:rPr sz="1100" b="0" i="0">
                <a:solidFill>
                  <a:srgbClr val="000000"/>
                </a:solidFill>
              </a:rPr>
              <a:t>seven kernels: MBAR 1.03× (1.00–1.14), SOFT 1.56× (1.06–3.03) the cycles of HARD</a:t>
            </a:r>
          </a:p>
          <a:p>
            <a:pPr lvl="1" marL="342900" indent="-228600">
              <a:spcBef>
                <a:spcPts val="100"/>
              </a:spcBef>
              <a:buFont typeface="Arial"/>
              <a:buChar char="•"/>
            </a:pPr>
            <a:r>
              <a:rPr sz="1100" b="0" i="0">
                <a:solidFill>
                  <a:srgbClr val="000000"/>
                </a:solidFill>
              </a:rPr>
              <a:t>equal capacity: table 3.5× smaller at 4 warps, 1.6× at 32; 0.6–14% faster than an mbarrier cache</a:t>
            </a:r>
          </a:p>
          <a:p>
            <a:pPr marL="0" indent="0">
              <a:spcBef>
                <a:spcPts val="500"/>
              </a:spcBef>
              <a:buNone/>
            </a:pPr>
            <a:r>
              <a:rPr sz="1250" b="1" i="0">
                <a:solidFill>
                  <a:srgbClr val="1F394D"/>
                </a:solidFill>
              </a:rPr>
              <a:t>Global barrier</a:t>
            </a:r>
          </a:p>
          <a:p>
            <a:pPr lvl="1" marL="342900" indent="-228600">
              <a:spcBef>
                <a:spcPts val="100"/>
              </a:spcBef>
              <a:buFont typeface="Arial"/>
              <a:buChar char="•"/>
            </a:pPr>
            <a:r>
              <a:rPr sz="1100" b="0" i="0">
                <a:solidFill>
                  <a:srgbClr val="000000"/>
                </a:solidFill>
              </a:rPr>
              <a:t>VX_gbar_arb (stream dispatch/fork/join) — a row reports to a cluster-level mask with one bit per core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pic>
        <p:nvPicPr>
          <p:cNvPr id="5" name="Picture 4" descr="pharos_fig3.png"/>
          <p:cNvPicPr>
            <a:picLocks noChangeAspect="1"/>
          </p:cNvPicPr>
          <p:nvPr/>
        </p:nvPicPr>
        <p:blipFill>
          <a:blip r:embed="rId4"/>
          <a:stretch>
            <a:fillRect/>
          </a:stretch>
        </p:blipFill>
        <p:spPr>
          <a:xfrm>
            <a:off x="640079" y="1290979"/>
            <a:ext cx="5760720" cy="2081481"/>
          </a:xfrm>
          <a:prstGeom prst="rect">
            <a:avLst/>
          </a:prstGeom>
        </p:spPr>
      </p:pic>
      <p:pic>
        <p:nvPicPr>
          <p:cNvPr id="6" name="Picture 5" descr="pharos_fig4.png"/>
          <p:cNvPicPr>
            <a:picLocks noChangeAspect="1"/>
          </p:cNvPicPr>
          <p:nvPr/>
        </p:nvPicPr>
        <p:blipFill>
          <a:blip r:embed="rId5"/>
          <a:stretch>
            <a:fillRect/>
          </a:stretch>
        </p:blipFill>
        <p:spPr>
          <a:xfrm>
            <a:off x="1301363" y="3474720"/>
            <a:ext cx="4438153" cy="2331720"/>
          </a:xfrm>
          <a:prstGeom prst="rect">
            <a:avLst/>
          </a:prstGeom>
        </p:spPr>
      </p:pic>
      <p:sp>
        <p:nvSpPr>
          <p:cNvPr id="7" name="TextBox 6"/>
          <p:cNvSpPr txBox="1"/>
          <p:nvPr/>
        </p:nvSpPr>
        <p:spPr>
          <a:xfrm>
            <a:off x="640080" y="5897880"/>
            <a:ext cx="5760720" cy="228600"/>
          </a:xfrm>
          <a:prstGeom prst="rect">
            <a:avLst/>
          </a:prstGeom>
          <a:noFill/>
        </p:spPr>
        <p:txBody>
          <a:bodyPr wrap="square" lIns="27432" rIns="27432" tIns="27432" bIns="27432" anchor="t">
            <a:spAutoFit/>
          </a:bodyPr>
          <a:lstStyle/>
          <a:p>
            <a:pPr algn="r"/>
            <a:r>
              <a:rPr sz="900" b="0" i="1">
                <a:solidFill>
                  <a:srgbClr val="7F7F7F"/>
                </a:solidFill>
              </a:rPr>
              <a:t>Top: soft polling vs mbarrier object vs extended hardware table. Bottom: bar unit, barrier state RAM, global barrier mask.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Tensor Core Unit Architecture</a:t>
            </a:r>
          </a:p>
        </p:txBody>
      </p:sp>
      <p:sp>
        <p:nvSpPr>
          <p:cNvPr id="3" name="Text Placeholder 2"/>
          <p:cNvSpPr>
            <a:spLocks noGrp="1"/>
          </p:cNvSpPr>
          <p:nvPr>
            <p:ph type="body" idx="1"/>
          </p:nvPr>
        </p:nvSpPr>
        <p:spPr>
          <a:xfrm>
            <a:off x="7406640" y="1188720"/>
            <a:ext cx="4297680" cy="4937760"/>
          </a:xfrm>
        </p:spPr>
        <p:txBody>
          <a:bodyPr wrap="square"/>
          <a:lstStyle/>
          <a:p>
            <a:pPr marL="0" indent="0">
              <a:spcBef>
                <a:spcPts val="500"/>
              </a:spcBef>
              <a:buNone/>
            </a:pPr>
            <a:r>
              <a:rPr sz="1200" b="1" i="0">
                <a:solidFill>
                  <a:srgbClr val="1F394D"/>
                </a:solidFill>
              </a:rPr>
              <a:t>Per block</a:t>
            </a:r>
          </a:p>
          <a:p>
            <a:pPr lvl="1" marL="342900" indent="-228600">
              <a:spcBef>
                <a:spcPts val="100"/>
              </a:spcBef>
              <a:buFont typeface="Arial"/>
              <a:buChar char="•"/>
            </a:pPr>
            <a:r>
              <a:rPr sz="1050" b="0" i="0">
                <a:solidFill>
                  <a:srgbClr val="000000"/>
                </a:solidFill>
              </a:rPr>
              <a:t>TCU_LD → VX_tcu_agu: one warp-wide fetch, lane T loads word T</a:t>
            </a:r>
          </a:p>
          <a:p>
            <a:pPr lvl="1" marL="342900" indent="-228600">
              <a:spcBef>
                <a:spcPts val="100"/>
              </a:spcBef>
              <a:buFont typeface="Arial"/>
              <a:buChar char="•"/>
            </a:pPr>
            <a:r>
              <a:rPr sz="1050" b="0" i="0">
                <a:solidFill>
                  <a:srgbClr val="000000"/>
                </a:solidFill>
              </a:rPr>
              <a:t>VX_tcu_meta: warp-indexed RAM; rd[4]=0 sparse validity by column group, rd[4]=1 MX scales A/B</a:t>
            </a:r>
          </a:p>
          <a:p>
            <a:pPr lvl="1" marL="342900" indent="-228600">
              <a:spcBef>
                <a:spcPts val="100"/>
              </a:spcBef>
              <a:buFont typeface="Arial"/>
              <a:buChar char="•"/>
            </a:pPr>
            <a:r>
              <a:rPr sz="1050" b="0" i="0">
                <a:solidFill>
                  <a:srgbClr val="000000"/>
                </a:solidFill>
              </a:rPr>
              <a:t>VX_tcu_core: operand select → lane conditioning → FEDP grid → landing queue</a:t>
            </a:r>
          </a:p>
          <a:p>
            <a:pPr marL="0" indent="0">
              <a:spcBef>
                <a:spcPts val="500"/>
              </a:spcBef>
              <a:buNone/>
            </a:pPr>
            <a:r>
              <a:rPr sz="1200" b="1" i="0">
                <a:solidFill>
                  <a:srgbClr val="1F394D"/>
                </a:solidFill>
              </a:rPr>
              <a:t>WGMMA additions</a:t>
            </a:r>
          </a:p>
          <a:p>
            <a:pPr lvl="1" marL="342900" indent="-228600">
              <a:spcBef>
                <a:spcPts val="100"/>
              </a:spcBef>
              <a:buFont typeface="Arial"/>
              <a:buChar char="•"/>
            </a:pPr>
            <a:r>
              <a:rPr sz="1050" b="0" i="0">
                <a:solidFill>
                  <a:srgbClr val="000000"/>
                </a:solidFill>
              </a:rPr>
              <a:t>VX_tcu_abuf per block: one k-stripe (M_STEPS A blocks), key {descriptor, step_k}, refetched on the first compute uop of every WGMMA</a:t>
            </a:r>
          </a:p>
          <a:p>
            <a:pPr lvl="1" marL="342900" indent="-228600">
              <a:spcBef>
                <a:spcPts val="100"/>
              </a:spcBef>
              <a:buFont typeface="Arial"/>
              <a:buChar char="•"/>
            </a:pPr>
            <a:r>
              <a:rPr sz="1050" b="0" i="0">
                <a:solidFill>
                  <a:srgbClr val="000000"/>
                </a:solidFill>
              </a:rPr>
              <a:t>VX_tcu_bbuf per unit: the bank row holding block (k, n), broadcast to all Q cores</a:t>
            </a:r>
          </a:p>
          <a:p>
            <a:pPr lvl="1" marL="342900" indent="-228600">
              <a:spcBef>
                <a:spcPts val="100"/>
              </a:spcBef>
              <a:buFont typeface="Arial"/>
              <a:buChar char="•"/>
            </a:pPr>
            <a:r>
              <a:rPr sz="1050" b="0" i="0">
                <a:solidFill>
                  <a:srgbClr val="000000"/>
                </a:solidFill>
              </a:rPr>
              <a:t>VX_tcu_lockstep: </a:t>
            </a:r>
            <a:r>
              <a:rPr sz="1050" b="0" i="0">
                <a:solidFill>
                  <a:srgbClr val="000000"/>
                </a:solidFill>
                <a:latin typeface="Consolas"/>
              </a:rPr>
              <a:t>cta_conflict</a:t>
            </a:r>
            <a:r>
              <a:rPr sz="1050" b="0" i="0">
                <a:solidFill>
                  <a:srgbClr val="000000"/>
                </a:solidFill>
              </a:rPr>
              <a:t> defers other CTAs until the resident warpgroup drains</a:t>
            </a:r>
          </a:p>
          <a:p>
            <a:pPr marL="0" indent="0">
              <a:spcBef>
                <a:spcPts val="500"/>
              </a:spcBef>
              <a:buNone/>
            </a:pPr>
            <a:r>
              <a:rPr sz="1200" b="1" i="0">
                <a:solidFill>
                  <a:srgbClr val="1F394D"/>
                </a:solidFill>
              </a:rPr>
              <a:t>Shared port</a:t>
            </a:r>
          </a:p>
          <a:p>
            <a:pPr lvl="1" marL="342900" indent="-228600">
              <a:spcBef>
                <a:spcPts val="100"/>
              </a:spcBef>
              <a:buFont typeface="Arial"/>
              <a:buChar char="•"/>
            </a:pPr>
            <a:r>
              <a:rPr sz="1050" b="0" i="0">
                <a:solidFill>
                  <a:srgbClr val="000000"/>
                </a:solidFill>
              </a:rPr>
              <a:t>Q + 1 readers arbitrated onto one bank-parallel LMEM port; DXA writes are priority 0, TCU reads priority 1</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280160"/>
            <a:ext cx="6583680" cy="4800600"/>
          </a:xfrm>
          <a:prstGeom prst="rect">
            <a:avLst/>
          </a:prstGeom>
          <a:solidFill>
            <a:srgbClr val="F4F6F9"/>
          </a:solidFill>
          <a:ln w="9525">
            <a:solidFill>
              <a:srgbClr val="9AA5B1"/>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6" name="TextBox 5"/>
          <p:cNvSpPr txBox="1"/>
          <p:nvPr/>
        </p:nvSpPr>
        <p:spPr>
          <a:xfrm>
            <a:off x="777240" y="1298448"/>
            <a:ext cx="6492240" cy="228600"/>
          </a:xfrm>
          <a:prstGeom prst="rect">
            <a:avLst/>
          </a:prstGeom>
          <a:noFill/>
        </p:spPr>
        <p:txBody>
          <a:bodyPr wrap="square" lIns="27432" rIns="27432" tIns="27432" bIns="27432" anchor="t">
            <a:spAutoFit/>
          </a:bodyPr>
          <a:lstStyle/>
          <a:p>
            <a:pPr algn="l"/>
            <a:r>
              <a:rPr sz="1000" b="1" i="0">
                <a:solidFill>
                  <a:srgbClr val="404040"/>
                </a:solidFill>
              </a:rPr>
              <a:t>VX_tcu_unit  (Q = NUM_TCU_BLOCKS = issue width; two blocks shown)</a:t>
            </a:r>
          </a:p>
        </p:txBody>
      </p:sp>
      <p:sp>
        <p:nvSpPr>
          <p:cNvPr id="7" name="Rectangle 6"/>
          <p:cNvSpPr/>
          <p:nvPr/>
        </p:nvSpPr>
        <p:spPr>
          <a:xfrm>
            <a:off x="868680" y="1645920"/>
            <a:ext cx="6309360" cy="41148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VX_lane_dispatch — issue slots → blocks, SIMD lanes → FEDP lanes; uops from VX_tcu_uops (k outer, n, m inner)</a:t>
            </a:r>
          </a:p>
        </p:txBody>
      </p:sp>
      <p:sp>
        <p:nvSpPr>
          <p:cNvPr id="8" name="Rectangle 7"/>
          <p:cNvSpPr/>
          <p:nvPr/>
        </p:nvSpPr>
        <p:spPr>
          <a:xfrm>
            <a:off x="868680" y="2194560"/>
            <a:ext cx="3108960" cy="2743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9" name="TextBox 8"/>
          <p:cNvSpPr txBox="1"/>
          <p:nvPr/>
        </p:nvSpPr>
        <p:spPr>
          <a:xfrm>
            <a:off x="914400" y="2212848"/>
            <a:ext cx="3017520" cy="228600"/>
          </a:xfrm>
          <a:prstGeom prst="rect">
            <a:avLst/>
          </a:prstGeom>
          <a:noFill/>
        </p:spPr>
        <p:txBody>
          <a:bodyPr wrap="square" lIns="27432" rIns="27432" tIns="27432" bIns="27432" anchor="t">
            <a:spAutoFit/>
          </a:bodyPr>
          <a:lstStyle/>
          <a:p>
            <a:pPr algn="l"/>
            <a:r>
              <a:rPr sz="1000" b="1" i="0">
                <a:solidFill>
                  <a:srgbClr val="404040"/>
                </a:solidFill>
              </a:rPr>
              <a:t>block 0</a:t>
            </a:r>
          </a:p>
        </p:txBody>
      </p:sp>
      <p:sp>
        <p:nvSpPr>
          <p:cNvPr id="10" name="Rectangle 9"/>
          <p:cNvSpPr/>
          <p:nvPr/>
        </p:nvSpPr>
        <p:spPr>
          <a:xfrm>
            <a:off x="960120" y="2468880"/>
            <a:ext cx="141732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VX_tcu_agu</a:t>
            </a:r>
          </a:p>
          <a:p>
            <a:pPr algn="ctr"/>
            <a:r>
              <a:rPr sz="850" b="0" i="0">
                <a:solidFill>
                  <a:srgbClr val="000000"/>
                </a:solidFill>
              </a:rPr>
              <a:t>TCU_LD → LSU client 1</a:t>
            </a:r>
          </a:p>
        </p:txBody>
      </p:sp>
      <p:cxnSp>
        <p:nvCxnSpPr>
          <p:cNvPr id="11" name="Connector 10"/>
          <p:cNvCxnSpPr/>
          <p:nvPr/>
        </p:nvCxnSpPr>
        <p:spPr>
          <a:xfrm>
            <a:off x="2377440" y="2697480"/>
            <a:ext cx="914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468880" y="2468880"/>
            <a:ext cx="141732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VX_tcu_meta</a:t>
            </a:r>
          </a:p>
          <a:p>
            <a:pPr algn="ctr"/>
            <a:r>
              <a:rPr sz="850" b="0" i="0">
                <a:solidFill>
                  <a:srgbClr val="000000"/>
                </a:solidFill>
              </a:rPr>
              <a:t>sparse validity · MX scales</a:t>
            </a:r>
          </a:p>
        </p:txBody>
      </p:sp>
      <p:cxnSp>
        <p:nvCxnSpPr>
          <p:cNvPr id="13" name="Connector 12"/>
          <p:cNvCxnSpPr/>
          <p:nvPr/>
        </p:nvCxnSpPr>
        <p:spPr>
          <a:xfrm>
            <a:off x="3154680" y="2926080"/>
            <a:ext cx="0" cy="1828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960120" y="3108960"/>
            <a:ext cx="2926080" cy="105156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VX_tcu_core</a:t>
            </a:r>
          </a:p>
          <a:p>
            <a:pPr algn="ctr"/>
            <a:r>
              <a:rPr sz="850" b="0" i="0">
                <a:solidFill>
                  <a:srgbClr val="000000"/>
                </a:solidFill>
              </a:rPr>
              <a:t>operand select (RF / abuf / bbuf)</a:t>
            </a:r>
          </a:p>
          <a:p>
            <a:pPr algn="ctr"/>
            <a:r>
              <a:rPr sz="850" b="0" i="0">
                <a:solidFill>
                  <a:srgbClr val="000000"/>
                </a:solidFill>
              </a:rPr>
              <a:t>→ sp_mux · mx_scale · dsm</a:t>
            </a:r>
          </a:p>
          <a:p>
            <a:pPr algn="ctr"/>
            <a:r>
              <a:rPr sz="850" b="0" i="0">
                <a:solidFill>
                  <a:srgbClr val="000000"/>
                </a:solidFill>
              </a:rPr>
              <a:t>→ FEDP grid TC_M × TC_N (TFR 4-cycle) → landing queue</a:t>
            </a:r>
          </a:p>
        </p:txBody>
      </p:sp>
      <p:cxnSp>
        <p:nvCxnSpPr>
          <p:cNvPr id="15" name="Connector 14"/>
          <p:cNvCxnSpPr/>
          <p:nvPr/>
        </p:nvCxnSpPr>
        <p:spPr>
          <a:xfrm flipV="1">
            <a:off x="1645920" y="4160520"/>
            <a:ext cx="0" cy="5029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960120" y="4389120"/>
            <a:ext cx="137160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VX_tcu_abuf</a:t>
            </a:r>
          </a:p>
          <a:p>
            <a:pPr algn="ctr"/>
            <a:r>
              <a:rPr sz="850" b="0" i="0">
                <a:solidFill>
                  <a:srgbClr val="000000"/>
                </a:solidFill>
              </a:rPr>
              <a:t>(one k-stripe of A)</a:t>
            </a:r>
          </a:p>
        </p:txBody>
      </p:sp>
      <p:cxnSp>
        <p:nvCxnSpPr>
          <p:cNvPr id="17" name="Connector 16"/>
          <p:cNvCxnSpPr/>
          <p:nvPr/>
        </p:nvCxnSpPr>
        <p:spPr>
          <a:xfrm flipH="1">
            <a:off x="2331720" y="4617720"/>
            <a:ext cx="91440" cy="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45920" y="2057400"/>
            <a:ext cx="0" cy="4114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069080" y="2194560"/>
            <a:ext cx="3108960" cy="2743200"/>
          </a:xfrm>
          <a:prstGeom prst="rect">
            <a:avLst/>
          </a:prstGeom>
          <a:solidFill>
            <a:srgbClr val="FFFFFF"/>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20" name="TextBox 19"/>
          <p:cNvSpPr txBox="1"/>
          <p:nvPr/>
        </p:nvSpPr>
        <p:spPr>
          <a:xfrm>
            <a:off x="4114800" y="2212848"/>
            <a:ext cx="3017520" cy="228600"/>
          </a:xfrm>
          <a:prstGeom prst="rect">
            <a:avLst/>
          </a:prstGeom>
          <a:noFill/>
        </p:spPr>
        <p:txBody>
          <a:bodyPr wrap="square" lIns="27432" rIns="27432" tIns="27432" bIns="27432" anchor="t">
            <a:spAutoFit/>
          </a:bodyPr>
          <a:lstStyle/>
          <a:p>
            <a:pPr algn="l"/>
            <a:r>
              <a:rPr sz="1000" b="1" i="0">
                <a:solidFill>
                  <a:srgbClr val="404040"/>
                </a:solidFill>
              </a:rPr>
              <a:t>block 1</a:t>
            </a:r>
          </a:p>
        </p:txBody>
      </p:sp>
      <p:sp>
        <p:nvSpPr>
          <p:cNvPr id="21" name="Rectangle 20"/>
          <p:cNvSpPr/>
          <p:nvPr/>
        </p:nvSpPr>
        <p:spPr>
          <a:xfrm>
            <a:off x="4160520" y="2468880"/>
            <a:ext cx="141732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VX_tcu_agu</a:t>
            </a:r>
          </a:p>
          <a:p>
            <a:pPr algn="ctr"/>
            <a:r>
              <a:rPr sz="850" b="0" i="0">
                <a:solidFill>
                  <a:srgbClr val="000000"/>
                </a:solidFill>
              </a:rPr>
              <a:t>TCU_LD → LSU client 1</a:t>
            </a:r>
          </a:p>
        </p:txBody>
      </p:sp>
      <p:cxnSp>
        <p:nvCxnSpPr>
          <p:cNvPr id="22" name="Connector 21"/>
          <p:cNvCxnSpPr/>
          <p:nvPr/>
        </p:nvCxnSpPr>
        <p:spPr>
          <a:xfrm>
            <a:off x="5577840" y="2697480"/>
            <a:ext cx="9144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669280" y="2468880"/>
            <a:ext cx="1417320" cy="4572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VX_tcu_meta</a:t>
            </a:r>
          </a:p>
          <a:p>
            <a:pPr algn="ctr"/>
            <a:r>
              <a:rPr sz="850" b="0" i="0">
                <a:solidFill>
                  <a:srgbClr val="000000"/>
                </a:solidFill>
              </a:rPr>
              <a:t>sparse validity · MX scales</a:t>
            </a:r>
          </a:p>
        </p:txBody>
      </p:sp>
      <p:cxnSp>
        <p:nvCxnSpPr>
          <p:cNvPr id="24" name="Connector 23"/>
          <p:cNvCxnSpPr/>
          <p:nvPr/>
        </p:nvCxnSpPr>
        <p:spPr>
          <a:xfrm>
            <a:off x="6355080" y="2926080"/>
            <a:ext cx="0" cy="1828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160520" y="3108960"/>
            <a:ext cx="2926080" cy="105156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VX_tcu_core</a:t>
            </a:r>
          </a:p>
          <a:p>
            <a:pPr algn="ctr"/>
            <a:r>
              <a:rPr sz="850" b="0" i="0">
                <a:solidFill>
                  <a:srgbClr val="000000"/>
                </a:solidFill>
              </a:rPr>
              <a:t>operand select (RF / abuf / bbuf)</a:t>
            </a:r>
          </a:p>
          <a:p>
            <a:pPr algn="ctr"/>
            <a:r>
              <a:rPr sz="850" b="0" i="0">
                <a:solidFill>
                  <a:srgbClr val="000000"/>
                </a:solidFill>
              </a:rPr>
              <a:t>→ sp_mux · mx_scale · dsm</a:t>
            </a:r>
          </a:p>
          <a:p>
            <a:pPr algn="ctr"/>
            <a:r>
              <a:rPr sz="850" b="0" i="0">
                <a:solidFill>
                  <a:srgbClr val="000000"/>
                </a:solidFill>
              </a:rPr>
              <a:t>→ FEDP grid TC_M × TC_N (TFR 4-cycle) → landing queue</a:t>
            </a:r>
          </a:p>
        </p:txBody>
      </p:sp>
      <p:cxnSp>
        <p:nvCxnSpPr>
          <p:cNvPr id="26" name="Connector 25"/>
          <p:cNvCxnSpPr/>
          <p:nvPr/>
        </p:nvCxnSpPr>
        <p:spPr>
          <a:xfrm flipV="1">
            <a:off x="4846320" y="4160520"/>
            <a:ext cx="0" cy="50292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160520" y="4389120"/>
            <a:ext cx="137160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VX_tcu_abuf</a:t>
            </a:r>
          </a:p>
          <a:p>
            <a:pPr algn="ctr"/>
            <a:r>
              <a:rPr sz="850" b="0" i="0">
                <a:solidFill>
                  <a:srgbClr val="000000"/>
                </a:solidFill>
              </a:rPr>
              <a:t>(one k-stripe of A)</a:t>
            </a:r>
          </a:p>
        </p:txBody>
      </p:sp>
      <p:cxnSp>
        <p:nvCxnSpPr>
          <p:cNvPr id="28" name="Connector 27"/>
          <p:cNvCxnSpPr/>
          <p:nvPr/>
        </p:nvCxnSpPr>
        <p:spPr>
          <a:xfrm flipH="1">
            <a:off x="5532120" y="4617720"/>
            <a:ext cx="91440" cy="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846320" y="2057400"/>
            <a:ext cx="0" cy="4114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560320" y="5074920"/>
            <a:ext cx="146304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VX_tcu_bbuf (1)</a:t>
            </a:r>
          </a:p>
          <a:p>
            <a:pPr algn="ctr"/>
            <a:r>
              <a:rPr sz="850" b="0" i="0">
                <a:solidFill>
                  <a:srgbClr val="000000"/>
                </a:solidFill>
              </a:rPr>
              <a:t>B bank row, broadcast</a:t>
            </a:r>
          </a:p>
        </p:txBody>
      </p:sp>
      <p:sp>
        <p:nvSpPr>
          <p:cNvPr id="31" name="Rectangle 30"/>
          <p:cNvSpPr/>
          <p:nvPr/>
        </p:nvSpPr>
        <p:spPr>
          <a:xfrm>
            <a:off x="4206240" y="5074920"/>
            <a:ext cx="1371600" cy="4572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VX_tcu_lockstep</a:t>
            </a:r>
          </a:p>
          <a:p>
            <a:pPr algn="ctr"/>
            <a:r>
              <a:rPr sz="850" b="0" i="0">
                <a:solidFill>
                  <a:srgbClr val="000000"/>
                </a:solidFill>
              </a:rPr>
              <a:t>one CTA owns bbuf</a:t>
            </a:r>
          </a:p>
        </p:txBody>
      </p:sp>
      <p:sp>
        <p:nvSpPr>
          <p:cNvPr id="32" name="Rectangle 31"/>
          <p:cNvSpPr/>
          <p:nvPr/>
        </p:nvSpPr>
        <p:spPr>
          <a:xfrm>
            <a:off x="868680" y="5074920"/>
            <a:ext cx="1554480" cy="45720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Q+1 → 1 LMEM port</a:t>
            </a:r>
          </a:p>
          <a:p>
            <a:pPr algn="ctr"/>
            <a:r>
              <a:rPr sz="850" b="0" i="0">
                <a:solidFill>
                  <a:srgbClr val="000000"/>
                </a:solidFill>
              </a:rPr>
              <a:t>arbiter (DXA idx 0)</a:t>
            </a:r>
          </a:p>
        </p:txBody>
      </p:sp>
      <p:cxnSp>
        <p:nvCxnSpPr>
          <p:cNvPr id="33" name="Connector 32"/>
          <p:cNvCxnSpPr/>
          <p:nvPr/>
        </p:nvCxnSpPr>
        <p:spPr>
          <a:xfrm flipH="1">
            <a:off x="2423160" y="5303520"/>
            <a:ext cx="1371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023360" y="5303520"/>
            <a:ext cx="182880" cy="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291839" y="4846320"/>
            <a:ext cx="0" cy="22860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2423160" y="4846320"/>
            <a:ext cx="868679" cy="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291839" y="4846320"/>
            <a:ext cx="2286001" cy="0"/>
          </a:xfrm>
          <a:prstGeom prst="line">
            <a:avLst/>
          </a:prstGeom>
          <a:ln w="15875">
            <a:solidFill>
              <a:srgbClr val="404040"/>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5760720" y="5074920"/>
            <a:ext cx="1417320" cy="45720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VX_lane_gather</a:t>
            </a:r>
          </a:p>
          <a:p>
            <a:pPr algn="ctr"/>
            <a:r>
              <a:rPr sz="850" b="0" i="0">
                <a:solidFill>
                  <a:srgbClr val="000000"/>
                </a:solidFill>
              </a:rPr>
              <a:t>→ commit</a:t>
            </a:r>
          </a:p>
        </p:txBody>
      </p:sp>
      <p:sp>
        <p:nvSpPr>
          <p:cNvPr id="39" name="TextBox 38"/>
          <p:cNvSpPr txBox="1"/>
          <p:nvPr/>
        </p:nvSpPr>
        <p:spPr>
          <a:xfrm>
            <a:off x="731520" y="5715000"/>
            <a:ext cx="6583680" cy="320040"/>
          </a:xfrm>
          <a:prstGeom prst="rect">
            <a:avLst/>
          </a:prstGeom>
          <a:noFill/>
        </p:spPr>
        <p:txBody>
          <a:bodyPr wrap="square" lIns="27432" rIns="27432" tIns="27432" bIns="27432" anchor="t">
            <a:spAutoFit/>
          </a:bodyPr>
          <a:lstStyle/>
          <a:p>
            <a:pPr algn="l"/>
            <a:r>
              <a:rPr sz="900" b="0" i="1">
                <a:solidFill>
                  <a:srgbClr val="555555"/>
                </a:solidFill>
              </a:rPr>
              <a:t>B is read once per warpgroup and broadcast to all blocks; A buffers are per block. Metadata writes are broadcast to every block's meta RAM.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TFR Backend: the Fused Dot-Product Unit</a:t>
            </a:r>
          </a:p>
        </p:txBody>
      </p:sp>
      <p:sp>
        <p:nvSpPr>
          <p:cNvPr id="3" name="Text Placeholder 2"/>
          <p:cNvSpPr>
            <a:spLocks noGrp="1"/>
          </p:cNvSpPr>
          <p:nvPr>
            <p:ph type="body" idx="1"/>
          </p:nvPr>
        </p:nvSpPr>
        <p:spPr>
          <a:xfrm>
            <a:off x="4572000" y="1188720"/>
            <a:ext cx="7132320" cy="4937760"/>
          </a:xfrm>
        </p:spPr>
        <p:txBody>
          <a:bodyPr wrap="square"/>
          <a:lstStyle/>
          <a:p>
            <a:pPr marL="0" indent="0">
              <a:spcBef>
                <a:spcPts val="500"/>
              </a:spcBef>
              <a:buNone/>
            </a:pPr>
            <a:r>
              <a:rPr sz="1250" b="1" i="0">
                <a:solidFill>
                  <a:srgbClr val="1F394D"/>
                </a:solidFill>
              </a:rPr>
              <a:t>Stage 1 — MULTIPLY</a:t>
            </a:r>
          </a:p>
          <a:p>
            <a:pPr lvl="1" marL="342900" indent="-228600">
              <a:spcBef>
                <a:spcPts val="100"/>
              </a:spcBef>
              <a:buFont typeface="Arial"/>
              <a:buChar char="•"/>
            </a:pPr>
            <a:r>
              <a:rPr sz="1100" b="0" i="0">
                <a:solidFill>
                  <a:srgbClr val="000000"/>
                </a:solidFill>
              </a:rPr>
              <a:t>class-wise shared Wallace multipliers: 11-bit (TF32/FP16/BF16), 2×4-bit + 24-bit KSA (FP8/BF8), INT8/INT4 lanes</a:t>
            </a:r>
          </a:p>
          <a:p>
            <a:pPr lvl="1" marL="342900" indent="-228600">
              <a:spcBef>
                <a:spcPts val="100"/>
              </a:spcBef>
              <a:buFont typeface="Arial"/>
              <a:buChar char="•"/>
            </a:pPr>
            <a:r>
              <a:rPr sz="1100" b="0" i="0">
                <a:solidFill>
                  <a:srgbClr val="000000"/>
                </a:solidFill>
              </a:rPr>
              <a:t>exponent add + bias conversion; (N−1)² pairwise difference matrix (upper triangle only)</a:t>
            </a:r>
          </a:p>
          <a:p>
            <a:pPr lvl="1" marL="342900" indent="-228600">
              <a:spcBef>
                <a:spcPts val="100"/>
              </a:spcBef>
              <a:buFont typeface="Arial"/>
              <a:buChar char="•"/>
            </a:pPr>
            <a:r>
              <a:rPr sz="1100" b="0" i="0">
                <a:solidFill>
                  <a:srgbClr val="000000"/>
                </a:solidFill>
              </a:rPr>
              <a:t>IEEE exception flags computed up front; sparse lane mask</a:t>
            </a:r>
          </a:p>
          <a:p>
            <a:pPr marL="0" indent="0">
              <a:spcBef>
                <a:spcPts val="500"/>
              </a:spcBef>
              <a:buNone/>
            </a:pPr>
            <a:r>
              <a:rPr sz="1250" b="1" i="0">
                <a:solidFill>
                  <a:srgbClr val="1F394D"/>
                </a:solidFill>
              </a:rPr>
              <a:t>Stage 2 — ALIGN</a:t>
            </a:r>
          </a:p>
          <a:p>
            <a:pPr lvl="1" marL="342900" indent="-228600">
              <a:spcBef>
                <a:spcPts val="100"/>
              </a:spcBef>
              <a:buFont typeface="Arial"/>
              <a:buChar char="•"/>
            </a:pPr>
            <a:r>
              <a:rPr sz="1100" b="0" i="0">
                <a:solidFill>
                  <a:srgbClr val="000000"/>
                </a:solidFill>
              </a:rPr>
              <a:t>max exponent by reduction OR of the one-hot mask; shift amounts reuse the difference matrix</a:t>
            </a:r>
          </a:p>
          <a:p>
            <a:pPr lvl="1" marL="342900" indent="-228600">
              <a:spcBef>
                <a:spcPts val="100"/>
              </a:spcBef>
              <a:buFont typeface="Arial"/>
              <a:buChar char="•"/>
            </a:pPr>
            <a:r>
              <a:rPr sz="1100" b="0" i="0">
                <a:solidFill>
                  <a:srgbClr val="000000"/>
                </a:solidFill>
              </a:rPr>
              <a:t>significands aligned with 2 guard bits + per-lane sticky</a:t>
            </a:r>
          </a:p>
          <a:p>
            <a:pPr marL="0" indent="0">
              <a:spcBef>
                <a:spcPts val="500"/>
              </a:spcBef>
              <a:buNone/>
            </a:pPr>
            <a:r>
              <a:rPr sz="1250" b="1" i="0">
                <a:solidFill>
                  <a:srgbClr val="1F394D"/>
                </a:solidFill>
              </a:rPr>
              <a:t>Stage 3 — ACCUMULATE</a:t>
            </a:r>
          </a:p>
          <a:p>
            <a:pPr lvl="1" marL="342900" indent="-228600">
              <a:spcBef>
                <a:spcPts val="100"/>
              </a:spcBef>
              <a:buFont typeface="Arial"/>
              <a:buChar char="•"/>
            </a:pPr>
            <a:r>
              <a:rPr sz="1100" b="0" i="0">
                <a:solidFill>
                  <a:srgbClr val="000000"/>
                </a:solidFill>
              </a:rPr>
              <a:t>addend C joins the products (no second normalize/round)</a:t>
            </a:r>
          </a:p>
          <a:p>
            <a:pPr lvl="1" marL="342900" indent="-228600">
              <a:spcBef>
                <a:spcPts val="100"/>
              </a:spcBef>
              <a:buFont typeface="Arial"/>
              <a:buChar char="•"/>
            </a:pPr>
            <a:r>
              <a:rPr sz="1100" b="0" i="0">
                <a:solidFill>
                  <a:srgbClr val="000000"/>
                </a:solidFill>
              </a:rPr>
              <a:t>bit-invert negatives, +1 corrections folded into one popcount operand</a:t>
            </a:r>
          </a:p>
          <a:p>
            <a:pPr lvl="1" marL="342900" indent="-228600">
              <a:spcBef>
                <a:spcPts val="100"/>
              </a:spcBef>
              <a:buFont typeface="Arial"/>
              <a:buChar char="•"/>
            </a:pPr>
            <a:r>
              <a:rPr sz="1100" b="0" i="0">
                <a:solidFill>
                  <a:srgbClr val="000000"/>
                </a:solidFill>
              </a:rPr>
              <a:t>CSA tree (4:2 compressors; MOD-4 grouping for ≥ 7 operands) → Kogge-Stone adder</a:t>
            </a:r>
          </a:p>
          <a:p>
            <a:pPr marL="0" indent="0">
              <a:spcBef>
                <a:spcPts val="500"/>
              </a:spcBef>
              <a:buNone/>
            </a:pPr>
            <a:r>
              <a:rPr sz="1250" b="1" i="0">
                <a:solidFill>
                  <a:srgbClr val="1F394D"/>
                </a:solidFill>
              </a:rPr>
              <a:t>Stage 4 — NORMALIZE &amp; ROUND</a:t>
            </a:r>
          </a:p>
          <a:p>
            <a:pPr lvl="1" marL="342900" indent="-228600">
              <a:spcBef>
                <a:spcPts val="100"/>
              </a:spcBef>
              <a:buFont typeface="Arial"/>
              <a:buChar char="•"/>
            </a:pPr>
            <a:r>
              <a:rPr sz="1100" b="0" i="0">
                <a:solidFill>
                  <a:srgbClr val="000000"/>
                </a:solidFill>
              </a:rPr>
              <a:t>leading-zero anticipation, RNE, canonical NaN/Inf override; INT32 result = {C_HI + overflow, low 25 bits}</a:t>
            </a:r>
          </a:p>
          <a:p>
            <a:pPr marL="0" indent="0">
              <a:spcBef>
                <a:spcPts val="500"/>
              </a:spcBef>
              <a:buNone/>
            </a:pPr>
            <a:r>
              <a:rPr sz="1250" b="1" i="0">
                <a:solidFill>
                  <a:srgbClr val="1F394D"/>
                </a:solidFill>
              </a:rPr>
              <a:t>Formats</a:t>
            </a:r>
          </a:p>
          <a:p>
            <a:pPr lvl="1" marL="342900" indent="-228600">
              <a:spcBef>
                <a:spcPts val="100"/>
              </a:spcBef>
              <a:buFont typeface="Arial"/>
              <a:buChar char="•"/>
            </a:pPr>
            <a:r>
              <a:rPr sz="1100" b="0" i="0">
                <a:solidFill>
                  <a:srgbClr val="000000"/>
                </a:solidFill>
              </a:rPr>
              <a:t>TF32 · FP16 · BF16 · FP8 (e4m3) · BF8 (e5m2) · INT8 · INT4 → FP32 / INT32; MX: MXFP8/BF8/FP4, NVFP4 via per-lane scale compensation</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25880"/>
            <a:ext cx="3657600" cy="41148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A[0..K−1] · B[0..K−1] · C   (TF32 / FP16 / BF16 / FP8 / BF8 / INT8 / INT4 lanes)</a:t>
            </a:r>
          </a:p>
        </p:txBody>
      </p:sp>
      <p:cxnSp>
        <p:nvCxnSpPr>
          <p:cNvPr id="6" name="Connector 5"/>
          <p:cNvCxnSpPr/>
          <p:nvPr/>
        </p:nvCxnSpPr>
        <p:spPr>
          <a:xfrm>
            <a:off x="2560320" y="1737360"/>
            <a:ext cx="0" cy="1828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731520" y="1920240"/>
            <a:ext cx="3657600" cy="91440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1  MULTIPLY</a:t>
            </a:r>
          </a:p>
          <a:p>
            <a:pPr algn="ctr"/>
            <a:r>
              <a:rPr sz="850" b="0" i="0">
                <a:solidFill>
                  <a:srgbClr val="000000"/>
                </a:solidFill>
              </a:rPr>
              <a:t>class-shared Wallace multipliers · exponent add</a:t>
            </a:r>
          </a:p>
          <a:p>
            <a:pPr algn="ctr"/>
            <a:r>
              <a:rPr sz="850" b="0" i="0">
                <a:solidFill>
                  <a:srgbClr val="000000"/>
                </a:solidFill>
              </a:rPr>
              <a:t>pairwise exponent-difference matrix · exception flags · sparse lane mask</a:t>
            </a:r>
          </a:p>
        </p:txBody>
      </p:sp>
      <p:cxnSp>
        <p:nvCxnSpPr>
          <p:cNvPr id="8" name="Connector 7"/>
          <p:cNvCxnSpPr/>
          <p:nvPr/>
        </p:nvCxnSpPr>
        <p:spPr>
          <a:xfrm>
            <a:off x="2560320" y="2834640"/>
            <a:ext cx="0" cy="1828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31520" y="3017520"/>
            <a:ext cx="3657600" cy="7772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2  ALIGN</a:t>
            </a:r>
          </a:p>
          <a:p>
            <a:pPr algn="ctr"/>
            <a:r>
              <a:rPr sz="850" b="0" i="0">
                <a:solidFill>
                  <a:srgbClr val="000000"/>
                </a:solidFill>
              </a:rPr>
              <a:t>max exponent (one-hot OR) · shifts from the difference matrix</a:t>
            </a:r>
          </a:p>
          <a:p>
            <a:pPr algn="ctr"/>
            <a:r>
              <a:rPr sz="850" b="0" i="0">
                <a:solidFill>
                  <a:srgbClr val="000000"/>
                </a:solidFill>
              </a:rPr>
              <a:t>2 guard bits + per-lane sticky</a:t>
            </a:r>
          </a:p>
        </p:txBody>
      </p:sp>
      <p:cxnSp>
        <p:nvCxnSpPr>
          <p:cNvPr id="10" name="Connector 9"/>
          <p:cNvCxnSpPr/>
          <p:nvPr/>
        </p:nvCxnSpPr>
        <p:spPr>
          <a:xfrm>
            <a:off x="2560320" y="3794760"/>
            <a:ext cx="0" cy="182879"/>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731520" y="3977639"/>
            <a:ext cx="3657600" cy="9144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3  ACCUMULATE  (C joins here)</a:t>
            </a:r>
          </a:p>
          <a:p>
            <a:pPr algn="ctr"/>
            <a:r>
              <a:rPr sz="850" b="0" i="0">
                <a:solidFill>
                  <a:srgbClr val="000000"/>
                </a:solidFill>
              </a:rPr>
              <a:t>invert negatives, +1 corrections in one popcount operand</a:t>
            </a:r>
          </a:p>
          <a:p>
            <a:pPr algn="ctr"/>
            <a:r>
              <a:rPr sz="850" b="0" i="0">
                <a:solidFill>
                  <a:srgbClr val="000000"/>
                </a:solidFill>
              </a:rPr>
              <a:t>CSA tree (4:2, MOD-4 grouping) → Kogge-Stone adder</a:t>
            </a:r>
          </a:p>
        </p:txBody>
      </p:sp>
      <p:cxnSp>
        <p:nvCxnSpPr>
          <p:cNvPr id="12" name="Connector 11"/>
          <p:cNvCxnSpPr/>
          <p:nvPr/>
        </p:nvCxnSpPr>
        <p:spPr>
          <a:xfrm>
            <a:off x="2560320" y="4892040"/>
            <a:ext cx="0" cy="18288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731520" y="5074920"/>
            <a:ext cx="3657600" cy="77724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4  NORMALIZE &amp; ROUND</a:t>
            </a:r>
          </a:p>
          <a:p>
            <a:pPr algn="ctr"/>
            <a:r>
              <a:rPr sz="850" b="0" i="0">
                <a:solidFill>
                  <a:srgbClr val="000000"/>
                </a:solidFill>
              </a:rPr>
              <a:t>leading-zero anticipation · RNE · canonical NaN / Inf</a:t>
            </a:r>
          </a:p>
          <a:p>
            <a:pPr algn="ctr"/>
            <a:r>
              <a:rPr sz="850" b="0" i="0">
                <a:solidFill>
                  <a:srgbClr val="000000"/>
                </a:solidFill>
              </a:rPr>
              <a:t>D = Σ aᵢ·bᵢ + C → FP32 / INT32</a:t>
            </a:r>
          </a:p>
        </p:txBody>
      </p:sp>
      <p:sp>
        <p:nvSpPr>
          <p:cNvPr id="14" name="TextBox 13"/>
          <p:cNvSpPr txBox="1"/>
          <p:nvPr/>
        </p:nvSpPr>
        <p:spPr>
          <a:xfrm>
            <a:off x="731520" y="5870448"/>
            <a:ext cx="3657600" cy="274320"/>
          </a:xfrm>
          <a:prstGeom prst="rect">
            <a:avLst/>
          </a:prstGeom>
          <a:noFill/>
        </p:spPr>
        <p:txBody>
          <a:bodyPr wrap="square" lIns="27432" rIns="27432" tIns="27432" bIns="27432" anchor="t">
            <a:spAutoFit/>
          </a:bodyPr>
          <a:lstStyle/>
          <a:p>
            <a:pPr algn="l"/>
            <a:r>
              <a:rPr sz="800" b="0" i="1">
                <a:solidFill>
                  <a:srgbClr val="555555"/>
                </a:solidFill>
              </a:rPr>
              <a:t>one shared FP/INT pipeline, 4 cycles (5 on FPGA); C enters stage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2:4 Structured Sparsity</a:t>
            </a:r>
          </a:p>
        </p:txBody>
      </p:sp>
      <p:sp>
        <p:nvSpPr>
          <p:cNvPr id="3" name="Text Placeholder 2"/>
          <p:cNvSpPr>
            <a:spLocks noGrp="1"/>
          </p:cNvSpPr>
          <p:nvPr>
            <p:ph type="body" idx="1"/>
          </p:nvPr>
        </p:nvSpPr>
        <p:spPr>
          <a:xfrm>
            <a:off x="4937760" y="1188720"/>
            <a:ext cx="6766560" cy="4937760"/>
          </a:xfrm>
        </p:spPr>
        <p:txBody>
          <a:bodyPr wrap="square"/>
          <a:lstStyle/>
          <a:p>
            <a:pPr marL="0" indent="0">
              <a:spcBef>
                <a:spcPts val="500"/>
              </a:spcBef>
              <a:buNone/>
            </a:pPr>
            <a:r>
              <a:rPr sz="1200" b="1" i="0">
                <a:solidFill>
                  <a:srgbClr val="1F394D"/>
                </a:solidFill>
              </a:rPr>
              <a:t>Datapath</a:t>
            </a:r>
          </a:p>
          <a:p>
            <a:pPr lvl="1" marL="342900" indent="-228600">
              <a:spcBef>
                <a:spcPts val="100"/>
              </a:spcBef>
              <a:buFont typeface="Arial"/>
              <a:buChar char="•"/>
            </a:pPr>
            <a:r>
              <a:rPr sz="1050" b="0" i="0">
                <a:solidFill>
                  <a:srgbClr val="000000"/>
                </a:solidFill>
              </a:rPr>
              <a:t>VX_tcu_sp_mux: 2 of every 4 B candidates per A row, one selector per FEDP (rows keep different positions)</a:t>
            </a:r>
          </a:p>
          <a:p>
            <a:pPr lvl="1" marL="342900" indent="-228600">
              <a:spcBef>
                <a:spcPts val="100"/>
              </a:spcBef>
              <a:buFont typeface="Arial"/>
              <a:buChar char="•"/>
            </a:pPr>
            <a:r>
              <a:rPr sz="1050" b="0" i="0">
                <a:solidFill>
                  <a:srgbClr val="000000"/>
                </a:solidFill>
              </a:rPr>
              <a:t>VX_tcu_sp_meta / VX_tcu_meta: metadata SRAM per block, written by TCU_LD, read by (m, k) step</a:t>
            </a:r>
          </a:p>
          <a:p>
            <a:pPr lvl="1" marL="342900" indent="-228600">
              <a:spcBef>
                <a:spcPts val="100"/>
              </a:spcBef>
              <a:buFont typeface="Arial"/>
              <a:buChar char="•"/>
            </a:pPr>
            <a:r>
              <a:rPr sz="1050" b="0" i="0">
                <a:solidFill>
                  <a:srgbClr val="000000"/>
                </a:solidFill>
              </a:rPr>
              <a:t>sparse WGMMA reads B K-major from SMEM, sparse WMMA N-major from RF — distinct gather formulas</a:t>
            </a:r>
          </a:p>
          <a:p>
            <a:pPr marL="0" indent="0">
              <a:spcBef>
                <a:spcPts val="500"/>
              </a:spcBef>
              <a:buNone/>
            </a:pPr>
            <a:r>
              <a:rPr sz="1200" b="1" i="0">
                <a:solidFill>
                  <a:srgbClr val="1F394D"/>
                </a:solidFill>
              </a:rPr>
              <a:t>Asymmetric vs symmetric</a:t>
            </a:r>
          </a:p>
          <a:p>
            <a:pPr lvl="1" marL="342900" indent="-228600">
              <a:spcBef>
                <a:spcPts val="100"/>
              </a:spcBef>
              <a:buFont typeface="Arial"/>
              <a:buChar char="•"/>
            </a:pPr>
            <a:r>
              <a:rPr sz="1050" b="0" i="0">
                <a:solidFill>
                  <a:srgbClr val="000000"/>
                </a:solidFill>
              </a:rPr>
              <a:t>NT ∈ {8, 32}: xtileK and ksteps halve → micro-ops 32 → 16 with every FEDP active</a:t>
            </a:r>
          </a:p>
          <a:p>
            <a:pPr lvl="1" marL="342900" indent="-228600">
              <a:spcBef>
                <a:spcPts val="100"/>
              </a:spcBef>
              <a:buFont typeface="Arial"/>
              <a:buChar char="•"/>
            </a:pPr>
            <a:r>
              <a:rPr sz="1050" b="0" i="0">
                <a:solidFill>
                  <a:srgbClr val="000000"/>
                </a:solidFill>
              </a:rPr>
              <a:t>NT ∈ {4, 16}: tcN halves, nsteps doubles, half the FEDPs masked → same uop count</a:t>
            </a:r>
          </a:p>
          <a:p>
            <a:pPr marL="0" indent="0">
              <a:spcBef>
                <a:spcPts val="500"/>
              </a:spcBef>
              <a:buNone/>
            </a:pPr>
            <a:r>
              <a:rPr sz="1200" b="1" i="0">
                <a:solidFill>
                  <a:srgbClr val="1F394D"/>
                </a:solidFill>
              </a:rPr>
              <a:t>Measured (RTL, 128×128×K, warp-level)</a:t>
            </a:r>
          </a:p>
          <a:p>
            <a:pPr lvl="1" marL="342900" indent="-228600">
              <a:spcBef>
                <a:spcPts val="100"/>
              </a:spcBef>
              <a:buFont typeface="Arial"/>
              <a:buChar char="•"/>
            </a:pPr>
            <a:r>
              <a:rPr sz="1050" b="0" i="0">
                <a:solidFill>
                  <a:srgbClr val="000000"/>
                </a:solidFill>
              </a:rPr>
              <a:t>asymmetric 1.24–1.78× dense-over-sparse; symmetric below both asymmetric cells in 11 of 12 rows</a:t>
            </a:r>
          </a:p>
          <a:p>
            <a:pPr lvl="1" marL="342900" indent="-228600">
              <a:spcBef>
                <a:spcPts val="100"/>
              </a:spcBef>
              <a:buFont typeface="Arial"/>
              <a:buChar char="•"/>
            </a:pPr>
            <a:r>
              <a:rPr sz="1050" b="0" i="0">
                <a:solidFill>
                  <a:srgbClr val="000000"/>
                </a:solidFill>
              </a:rPr>
              <a:t>NT = 4 loses (0.71–0.83×); NT = 16 gains modestly (0.91–1.45×)</a:t>
            </a:r>
          </a:p>
          <a:p>
            <a:pPr marL="0" indent="0">
              <a:spcBef>
                <a:spcPts val="500"/>
              </a:spcBef>
              <a:buNone/>
            </a:pPr>
            <a:r>
              <a:rPr sz="1200" b="1" i="0">
                <a:solidFill>
                  <a:srgbClr val="1F394D"/>
                </a:solidFill>
              </a:rPr>
              <a:t>vs NVIDIA (64×64×K FP16)</a:t>
            </a:r>
          </a:p>
          <a:p>
            <a:pPr lvl="1" marL="342900" indent="-228600">
              <a:spcBef>
                <a:spcPts val="100"/>
              </a:spcBef>
              <a:buFont typeface="Arial"/>
              <a:buChar char="•"/>
            </a:pPr>
            <a:r>
              <a:rPr sz="1050" b="0" i="0">
                <a:solidFill>
                  <a:srgbClr val="000000"/>
                </a:solidFill>
              </a:rPr>
              <a:t>speedup rises with K but stays below 2×: bound 1/(1 − f/2) with halvable share f</a:t>
            </a:r>
          </a:p>
          <a:p>
            <a:pPr lvl="1" marL="342900" indent="-228600">
              <a:spcBef>
                <a:spcPts val="100"/>
              </a:spcBef>
              <a:buFont typeface="Arial"/>
              <a:buChar char="•"/>
            </a:pPr>
            <a:r>
              <a:rPr sz="1050" b="0" i="0">
                <a:solidFill>
                  <a:srgbClr val="000000"/>
                </a:solidFill>
              </a:rPr>
              <a:t>f = 69.7% RTX 5080 (bound 1.53×) · 78.5% Vortex @ 32 thr (1.65×) · 54.4% H100 (1.37×)</a:t>
            </a:r>
          </a:p>
          <a:p>
            <a:pPr lvl="1" marL="342900" indent="-228600">
              <a:spcBef>
                <a:spcPts val="100"/>
              </a:spcBef>
              <a:buFont typeface="Arial"/>
              <a:buChar char="•"/>
            </a:pPr>
            <a:r>
              <a:rPr sz="1050" b="0" i="0">
                <a:solidFill>
                  <a:srgbClr val="000000"/>
                </a:solidFill>
              </a:rPr>
              <a:t>sparsity halves the math and the A load, not B or metadata; 17 shapes differ by a median 6.2% (32 thr) / 9.0% (8 thr)</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TextBox 4"/>
          <p:cNvSpPr txBox="1"/>
          <p:nvPr/>
        </p:nvSpPr>
        <p:spPr>
          <a:xfrm>
            <a:off x="731520" y="1280160"/>
            <a:ext cx="4206240" cy="274320"/>
          </a:xfrm>
          <a:prstGeom prst="rect">
            <a:avLst/>
          </a:prstGeom>
          <a:noFill/>
        </p:spPr>
        <p:txBody>
          <a:bodyPr wrap="square" lIns="27432" rIns="27432" tIns="27432" bIns="27432" anchor="t">
            <a:spAutoFit/>
          </a:bodyPr>
          <a:lstStyle/>
          <a:p>
            <a:pPr algn="l"/>
            <a:r>
              <a:rPr sz="1000" b="1" i="0">
                <a:solidFill>
                  <a:srgbClr val="1F394D"/>
                </a:solidFill>
              </a:rPr>
              <a:t>Dense-over-sparse speedup, 128×128×K warp-level (RTL)</a:t>
            </a:r>
          </a:p>
        </p:txBody>
      </p:sp>
      <p:graphicFrame>
        <p:nvGraphicFramePr>
          <p:cNvPr id="6" name="Table 5"/>
          <p:cNvGraphicFramePr>
            <a:graphicFrameLocks noGrp="1"/>
          </p:cNvGraphicFramePr>
          <p:nvPr/>
        </p:nvGraphicFramePr>
        <p:xfrm>
          <a:off x="731520" y="1600200"/>
          <a:ext cx="4206239" cy="1728216"/>
        </p:xfrm>
        <a:graphic>
          <a:graphicData uri="http://schemas.openxmlformats.org/drawingml/2006/table">
            <a:tbl>
              <a:tblPr firstRow="0" bandRow="0">
                <a:tableStyleId>{5940675A-B579-460E-94D1-54222C63F5DA}</a:tableStyleId>
              </a:tblPr>
              <a:tblGrid>
                <a:gridCol w="984439"/>
                <a:gridCol w="805450"/>
                <a:gridCol w="805450"/>
                <a:gridCol w="805450"/>
                <a:gridCol w="805450"/>
              </a:tblGrid>
              <a:tr h="246888">
                <a:tc>
                  <a:txBody>
                    <a:bodyPr wrap="square"/>
                    <a:lstStyle/>
                    <a:p>
                      <a:pPr algn="l"/>
                      <a:r>
                        <a:rPr sz="950" b="1" i="0">
                          <a:solidFill>
                            <a:srgbClr val="FFFFFF"/>
                          </a:solidFill>
                        </a:rPr>
                        <a:t>K</a:t>
                      </a:r>
                    </a:p>
                  </a:txBody>
                  <a:tcPr marL="45720" marR="45720" marT="18288" marB="18288" anchor="ctr">
                    <a:solidFill>
                      <a:srgbClr val="1F394D"/>
                    </a:solidFill>
                  </a:tcPr>
                </a:tc>
                <a:tc>
                  <a:txBody>
                    <a:bodyPr wrap="square"/>
                    <a:lstStyle/>
                    <a:p>
                      <a:pPr algn="ctr"/>
                      <a:r>
                        <a:rPr sz="950" b="1" i="0">
                          <a:solidFill>
                            <a:srgbClr val="FFFFFF"/>
                          </a:solidFill>
                        </a:rPr>
                        <a:t>NT 4 (sym)</a:t>
                      </a:r>
                    </a:p>
                  </a:txBody>
                  <a:tcPr marL="45720" marR="45720" marT="18288" marB="18288" anchor="ctr">
                    <a:solidFill>
                      <a:srgbClr val="1F394D"/>
                    </a:solidFill>
                  </a:tcPr>
                </a:tc>
                <a:tc>
                  <a:txBody>
                    <a:bodyPr wrap="square"/>
                    <a:lstStyle/>
                    <a:p>
                      <a:pPr algn="ctr"/>
                      <a:r>
                        <a:rPr sz="950" b="1" i="0">
                          <a:solidFill>
                            <a:srgbClr val="FFFFFF"/>
                          </a:solidFill>
                        </a:rPr>
                        <a:t>NT 8 (asym)</a:t>
                      </a:r>
                    </a:p>
                  </a:txBody>
                  <a:tcPr marL="45720" marR="45720" marT="18288" marB="18288" anchor="ctr">
                    <a:solidFill>
                      <a:srgbClr val="1F394D"/>
                    </a:solidFill>
                  </a:tcPr>
                </a:tc>
                <a:tc>
                  <a:txBody>
                    <a:bodyPr wrap="square"/>
                    <a:lstStyle/>
                    <a:p>
                      <a:pPr algn="ctr"/>
                      <a:r>
                        <a:rPr sz="950" b="1" i="0">
                          <a:solidFill>
                            <a:srgbClr val="FFFFFF"/>
                          </a:solidFill>
                        </a:rPr>
                        <a:t>NT 16 (sym)</a:t>
                      </a:r>
                    </a:p>
                  </a:txBody>
                  <a:tcPr marL="45720" marR="45720" marT="18288" marB="18288" anchor="ctr">
                    <a:solidFill>
                      <a:srgbClr val="1F394D"/>
                    </a:solidFill>
                  </a:tcPr>
                </a:tc>
                <a:tc>
                  <a:txBody>
                    <a:bodyPr wrap="square"/>
                    <a:lstStyle/>
                    <a:p>
                      <a:pPr algn="ctr"/>
                      <a:r>
                        <a:rPr sz="950" b="1" i="0">
                          <a:solidFill>
                            <a:srgbClr val="FFFFFF"/>
                          </a:solidFill>
                        </a:rPr>
                        <a:t>NT 32 (asym)</a:t>
                      </a:r>
                    </a:p>
                  </a:txBody>
                  <a:tcPr marL="45720" marR="45720" marT="18288" marB="18288" anchor="ctr">
                    <a:solidFill>
                      <a:srgbClr val="1F394D"/>
                    </a:solidFill>
                  </a:tcPr>
                </a:tc>
              </a:tr>
              <a:tr h="246888">
                <a:tc>
                  <a:txBody>
                    <a:bodyPr wrap="square"/>
                    <a:lstStyle/>
                    <a:p>
                      <a:pPr algn="l"/>
                      <a:r>
                        <a:rPr sz="950" b="0" i="0">
                          <a:solidFill>
                            <a:srgbClr val="000000"/>
                          </a:solidFill>
                        </a:rPr>
                        <a:t>TF32 128</a:t>
                      </a:r>
                    </a:p>
                  </a:txBody>
                  <a:tcPr marL="45720" marR="45720" marT="18288" marB="18288" anchor="ctr">
                    <a:solidFill>
                      <a:srgbClr val="FFFFFF"/>
                    </a:solidFill>
                  </a:tcPr>
                </a:tc>
                <a:tc>
                  <a:txBody>
                    <a:bodyPr wrap="square"/>
                    <a:lstStyle/>
                    <a:p>
                      <a:pPr algn="ctr"/>
                      <a:r>
                        <a:rPr sz="950" b="0" i="0">
                          <a:solidFill>
                            <a:srgbClr val="000000"/>
                          </a:solidFill>
                        </a:rPr>
                        <a:t>0.71</a:t>
                      </a:r>
                    </a:p>
                  </a:txBody>
                  <a:tcPr marL="45720" marR="45720" marT="18288" marB="18288" anchor="ctr">
                    <a:solidFill>
                      <a:srgbClr val="FFFFFF"/>
                    </a:solidFill>
                  </a:tcPr>
                </a:tc>
                <a:tc>
                  <a:txBody>
                    <a:bodyPr wrap="square"/>
                    <a:lstStyle/>
                    <a:p>
                      <a:pPr algn="ctr"/>
                      <a:r>
                        <a:rPr sz="950" b="0" i="0">
                          <a:solidFill>
                            <a:srgbClr val="000000"/>
                          </a:solidFill>
                        </a:rPr>
                        <a:t>1.45</a:t>
                      </a:r>
                    </a:p>
                  </a:txBody>
                  <a:tcPr marL="45720" marR="45720" marT="18288" marB="18288" anchor="ctr">
                    <a:solidFill>
                      <a:srgbClr val="FFFFFF"/>
                    </a:solidFill>
                  </a:tcPr>
                </a:tc>
                <a:tc>
                  <a:txBody>
                    <a:bodyPr wrap="square"/>
                    <a:lstStyle/>
                    <a:p>
                      <a:pPr algn="ctr"/>
                      <a:r>
                        <a:rPr sz="950" b="0" i="0">
                          <a:solidFill>
                            <a:srgbClr val="000000"/>
                          </a:solidFill>
                        </a:rPr>
                        <a:t>1.14</a:t>
                      </a:r>
                    </a:p>
                  </a:txBody>
                  <a:tcPr marL="45720" marR="45720" marT="18288" marB="18288" anchor="ctr">
                    <a:solidFill>
                      <a:srgbClr val="FFFFFF"/>
                    </a:solidFill>
                  </a:tcPr>
                </a:tc>
                <a:tc>
                  <a:txBody>
                    <a:bodyPr wrap="square"/>
                    <a:lstStyle/>
                    <a:p>
                      <a:pPr algn="ctr"/>
                      <a:r>
                        <a:rPr sz="950" b="0" i="0">
                          <a:solidFill>
                            <a:srgbClr val="000000"/>
                          </a:solidFill>
                        </a:rPr>
                        <a:t>1.37</a:t>
                      </a:r>
                    </a:p>
                  </a:txBody>
                  <a:tcPr marL="45720" marR="45720" marT="18288" marB="18288" anchor="ctr">
                    <a:solidFill>
                      <a:srgbClr val="FFFFFF"/>
                    </a:solidFill>
                  </a:tcPr>
                </a:tc>
              </a:tr>
              <a:tr h="246888">
                <a:tc>
                  <a:txBody>
                    <a:bodyPr wrap="square"/>
                    <a:lstStyle/>
                    <a:p>
                      <a:pPr algn="l"/>
                      <a:r>
                        <a:rPr sz="950" b="0" i="0">
                          <a:solidFill>
                            <a:srgbClr val="000000"/>
                          </a:solidFill>
                        </a:rPr>
                        <a:t>TF32 1024</a:t>
                      </a:r>
                    </a:p>
                  </a:txBody>
                  <a:tcPr marL="45720" marR="45720" marT="18288" marB="18288" anchor="ctr">
                    <a:solidFill>
                      <a:srgbClr val="F2F6FA"/>
                    </a:solidFill>
                  </a:tcPr>
                </a:tc>
                <a:tc>
                  <a:txBody>
                    <a:bodyPr wrap="square"/>
                    <a:lstStyle/>
                    <a:p>
                      <a:pPr algn="ctr"/>
                      <a:r>
                        <a:rPr sz="950" b="0" i="0">
                          <a:solidFill>
                            <a:srgbClr val="000000"/>
                          </a:solidFill>
                        </a:rPr>
                        <a:t>1.05</a:t>
                      </a:r>
                    </a:p>
                  </a:txBody>
                  <a:tcPr marL="45720" marR="45720" marT="18288" marB="18288" anchor="ctr">
                    <a:solidFill>
                      <a:srgbClr val="F2F6FA"/>
                    </a:solidFill>
                  </a:tcPr>
                </a:tc>
                <a:tc>
                  <a:txBody>
                    <a:bodyPr wrap="square"/>
                    <a:lstStyle/>
                    <a:p>
                      <a:pPr algn="ctr"/>
                      <a:r>
                        <a:rPr sz="950" b="0" i="0">
                          <a:solidFill>
                            <a:srgbClr val="000000"/>
                          </a:solidFill>
                        </a:rPr>
                        <a:t>1.78</a:t>
                      </a:r>
                    </a:p>
                  </a:txBody>
                  <a:tcPr marL="45720" marR="45720" marT="18288" marB="18288" anchor="ctr">
                    <a:solidFill>
                      <a:srgbClr val="F2F6FA"/>
                    </a:solidFill>
                  </a:tcPr>
                </a:tc>
                <a:tc>
                  <a:txBody>
                    <a:bodyPr wrap="square"/>
                    <a:lstStyle/>
                    <a:p>
                      <a:pPr algn="ctr"/>
                      <a:r>
                        <a:rPr sz="950" b="0" i="0">
                          <a:solidFill>
                            <a:srgbClr val="000000"/>
                          </a:solidFill>
                        </a:rPr>
                        <a:t>1.12</a:t>
                      </a:r>
                    </a:p>
                  </a:txBody>
                  <a:tcPr marL="45720" marR="45720" marT="18288" marB="18288" anchor="ctr">
                    <a:solidFill>
                      <a:srgbClr val="F2F6FA"/>
                    </a:solidFill>
                  </a:tcPr>
                </a:tc>
                <a:tc>
                  <a:txBody>
                    <a:bodyPr wrap="square"/>
                    <a:lstStyle/>
                    <a:p>
                      <a:pPr algn="ctr"/>
                      <a:r>
                        <a:rPr sz="950" b="0" i="0">
                          <a:solidFill>
                            <a:srgbClr val="000000"/>
                          </a:solidFill>
                        </a:rPr>
                        <a:t>1.61</a:t>
                      </a:r>
                    </a:p>
                  </a:txBody>
                  <a:tcPr marL="45720" marR="45720" marT="18288" marB="18288" anchor="ctr">
                    <a:solidFill>
                      <a:srgbClr val="F2F6FA"/>
                    </a:solidFill>
                  </a:tcPr>
                </a:tc>
              </a:tr>
              <a:tr h="246888">
                <a:tc>
                  <a:txBody>
                    <a:bodyPr wrap="square"/>
                    <a:lstStyle/>
                    <a:p>
                      <a:pPr algn="l"/>
                      <a:r>
                        <a:rPr sz="950" b="0" i="0">
                          <a:solidFill>
                            <a:srgbClr val="000000"/>
                          </a:solidFill>
                        </a:rPr>
                        <a:t>BF16 128</a:t>
                      </a:r>
                    </a:p>
                  </a:txBody>
                  <a:tcPr marL="45720" marR="45720" marT="18288" marB="18288" anchor="ctr">
                    <a:solidFill>
                      <a:srgbClr val="FFFFFF"/>
                    </a:solidFill>
                  </a:tcPr>
                </a:tc>
                <a:tc>
                  <a:txBody>
                    <a:bodyPr wrap="square"/>
                    <a:lstStyle/>
                    <a:p>
                      <a:pPr algn="ctr"/>
                      <a:r>
                        <a:rPr sz="950" b="0" i="0">
                          <a:solidFill>
                            <a:srgbClr val="000000"/>
                          </a:solidFill>
                        </a:rPr>
                        <a:t>0.72</a:t>
                      </a:r>
                    </a:p>
                  </a:txBody>
                  <a:tcPr marL="45720" marR="45720" marT="18288" marB="18288" anchor="ctr">
                    <a:solidFill>
                      <a:srgbClr val="FFFFFF"/>
                    </a:solidFill>
                  </a:tcPr>
                </a:tc>
                <a:tc>
                  <a:txBody>
                    <a:bodyPr wrap="square"/>
                    <a:lstStyle/>
                    <a:p>
                      <a:pPr algn="ctr"/>
                      <a:r>
                        <a:rPr sz="950" b="0" i="0">
                          <a:solidFill>
                            <a:srgbClr val="000000"/>
                          </a:solidFill>
                        </a:rPr>
                        <a:t>1.32</a:t>
                      </a:r>
                    </a:p>
                  </a:txBody>
                  <a:tcPr marL="45720" marR="45720" marT="18288" marB="18288" anchor="ctr">
                    <a:solidFill>
                      <a:srgbClr val="FFFFFF"/>
                    </a:solidFill>
                  </a:tcPr>
                </a:tc>
                <a:tc>
                  <a:txBody>
                    <a:bodyPr wrap="square"/>
                    <a:lstStyle/>
                    <a:p>
                      <a:pPr algn="ctr"/>
                      <a:r>
                        <a:rPr sz="950" b="0" i="0">
                          <a:solidFill>
                            <a:srgbClr val="000000"/>
                          </a:solidFill>
                        </a:rPr>
                        <a:t>0.91</a:t>
                      </a:r>
                    </a:p>
                  </a:txBody>
                  <a:tcPr marL="45720" marR="45720" marT="18288" marB="18288" anchor="ctr">
                    <a:solidFill>
                      <a:srgbClr val="FFFFFF"/>
                    </a:solidFill>
                  </a:tcPr>
                </a:tc>
                <a:tc>
                  <a:txBody>
                    <a:bodyPr wrap="square"/>
                    <a:lstStyle/>
                    <a:p>
                      <a:pPr algn="ctr"/>
                      <a:r>
                        <a:rPr sz="950" b="0" i="0">
                          <a:solidFill>
                            <a:srgbClr val="000000"/>
                          </a:solidFill>
                        </a:rPr>
                        <a:t>1.31</a:t>
                      </a:r>
                    </a:p>
                  </a:txBody>
                  <a:tcPr marL="45720" marR="45720" marT="18288" marB="18288" anchor="ctr">
                    <a:solidFill>
                      <a:srgbClr val="FFFFFF"/>
                    </a:solidFill>
                  </a:tcPr>
                </a:tc>
              </a:tr>
              <a:tr h="246888">
                <a:tc>
                  <a:txBody>
                    <a:bodyPr wrap="square"/>
                    <a:lstStyle/>
                    <a:p>
                      <a:pPr algn="l"/>
                      <a:r>
                        <a:rPr sz="950" b="0" i="0">
                          <a:solidFill>
                            <a:srgbClr val="000000"/>
                          </a:solidFill>
                        </a:rPr>
                        <a:t>BF16 1024</a:t>
                      </a:r>
                    </a:p>
                  </a:txBody>
                  <a:tcPr marL="45720" marR="45720" marT="18288" marB="18288" anchor="ctr">
                    <a:solidFill>
                      <a:srgbClr val="F2F6FA"/>
                    </a:solidFill>
                  </a:tcPr>
                </a:tc>
                <a:tc>
                  <a:txBody>
                    <a:bodyPr wrap="square"/>
                    <a:lstStyle/>
                    <a:p>
                      <a:pPr algn="ctr"/>
                      <a:r>
                        <a:rPr sz="950" b="0" i="0">
                          <a:solidFill>
                            <a:srgbClr val="000000"/>
                          </a:solidFill>
                        </a:rPr>
                        <a:t>1.06</a:t>
                      </a:r>
                    </a:p>
                  </a:txBody>
                  <a:tcPr marL="45720" marR="45720" marT="18288" marB="18288" anchor="ctr">
                    <a:solidFill>
                      <a:srgbClr val="F2F6FA"/>
                    </a:solidFill>
                  </a:tcPr>
                </a:tc>
                <a:tc>
                  <a:txBody>
                    <a:bodyPr wrap="square"/>
                    <a:lstStyle/>
                    <a:p>
                      <a:pPr algn="ctr"/>
                      <a:r>
                        <a:rPr sz="950" b="0" i="0">
                          <a:solidFill>
                            <a:srgbClr val="000000"/>
                          </a:solidFill>
                        </a:rPr>
                        <a:t>1.66</a:t>
                      </a:r>
                    </a:p>
                  </a:txBody>
                  <a:tcPr marL="45720" marR="45720" marT="18288" marB="18288" anchor="ctr">
                    <a:solidFill>
                      <a:srgbClr val="F2F6FA"/>
                    </a:solidFill>
                  </a:tcPr>
                </a:tc>
                <a:tc>
                  <a:txBody>
                    <a:bodyPr wrap="square"/>
                    <a:lstStyle/>
                    <a:p>
                      <a:pPr algn="ctr"/>
                      <a:r>
                        <a:rPr sz="950" b="0" i="0">
                          <a:solidFill>
                            <a:srgbClr val="000000"/>
                          </a:solidFill>
                        </a:rPr>
                        <a:t>1.16</a:t>
                      </a:r>
                    </a:p>
                  </a:txBody>
                  <a:tcPr marL="45720" marR="45720" marT="18288" marB="18288" anchor="ctr">
                    <a:solidFill>
                      <a:srgbClr val="F2F6FA"/>
                    </a:solidFill>
                  </a:tcPr>
                </a:tc>
                <a:tc>
                  <a:txBody>
                    <a:bodyPr wrap="square"/>
                    <a:lstStyle/>
                    <a:p>
                      <a:pPr algn="ctr"/>
                      <a:r>
                        <a:rPr sz="950" b="0" i="0">
                          <a:solidFill>
                            <a:srgbClr val="000000"/>
                          </a:solidFill>
                        </a:rPr>
                        <a:t>1.68</a:t>
                      </a:r>
                    </a:p>
                  </a:txBody>
                  <a:tcPr marL="45720" marR="45720" marT="18288" marB="18288" anchor="ctr">
                    <a:solidFill>
                      <a:srgbClr val="F2F6FA"/>
                    </a:solidFill>
                  </a:tcPr>
                </a:tc>
              </a:tr>
              <a:tr h="246888">
                <a:tc>
                  <a:txBody>
                    <a:bodyPr wrap="square"/>
                    <a:lstStyle/>
                    <a:p>
                      <a:pPr algn="l"/>
                      <a:r>
                        <a:rPr sz="950" b="0" i="0">
                          <a:solidFill>
                            <a:srgbClr val="000000"/>
                          </a:solidFill>
                        </a:rPr>
                        <a:t>FP8 128</a:t>
                      </a:r>
                    </a:p>
                  </a:txBody>
                  <a:tcPr marL="45720" marR="45720" marT="18288" marB="18288" anchor="ctr">
                    <a:solidFill>
                      <a:srgbClr val="FFFFFF"/>
                    </a:solidFill>
                  </a:tcPr>
                </a:tc>
                <a:tc>
                  <a:txBody>
                    <a:bodyPr wrap="square"/>
                    <a:lstStyle/>
                    <a:p>
                      <a:pPr algn="ctr"/>
                      <a:r>
                        <a:rPr sz="950" b="0" i="0">
                          <a:solidFill>
                            <a:srgbClr val="000000"/>
                          </a:solidFill>
                        </a:rPr>
                        <a:t>0.80</a:t>
                      </a:r>
                    </a:p>
                  </a:txBody>
                  <a:tcPr marL="45720" marR="45720" marT="18288" marB="18288" anchor="ctr">
                    <a:solidFill>
                      <a:srgbClr val="FFFFFF"/>
                    </a:solidFill>
                  </a:tcPr>
                </a:tc>
                <a:tc>
                  <a:txBody>
                    <a:bodyPr wrap="square"/>
                    <a:lstStyle/>
                    <a:p>
                      <a:pPr algn="ctr"/>
                      <a:r>
                        <a:rPr sz="950" b="0" i="0">
                          <a:solidFill>
                            <a:srgbClr val="000000"/>
                          </a:solidFill>
                        </a:rPr>
                        <a:t>1.25</a:t>
                      </a:r>
                    </a:p>
                  </a:txBody>
                  <a:tcPr marL="45720" marR="45720" marT="18288" marB="18288" anchor="ctr">
                    <a:solidFill>
                      <a:srgbClr val="FFFFFF"/>
                    </a:solidFill>
                  </a:tcPr>
                </a:tc>
                <a:tc>
                  <a:txBody>
                    <a:bodyPr wrap="square"/>
                    <a:lstStyle/>
                    <a:p>
                      <a:pPr algn="ctr"/>
                      <a:r>
                        <a:rPr sz="950" b="0" i="0">
                          <a:solidFill>
                            <a:srgbClr val="000000"/>
                          </a:solidFill>
                        </a:rPr>
                        <a:t>1.01</a:t>
                      </a:r>
                    </a:p>
                  </a:txBody>
                  <a:tcPr marL="45720" marR="45720" marT="18288" marB="18288" anchor="ctr">
                    <a:solidFill>
                      <a:srgbClr val="FFFFFF"/>
                    </a:solidFill>
                  </a:tcPr>
                </a:tc>
                <a:tc>
                  <a:txBody>
                    <a:bodyPr wrap="square"/>
                    <a:lstStyle/>
                    <a:p>
                      <a:pPr algn="ctr"/>
                      <a:r>
                        <a:rPr sz="950" b="0" i="0">
                          <a:solidFill>
                            <a:srgbClr val="000000"/>
                          </a:solidFill>
                        </a:rPr>
                        <a:t>1.24</a:t>
                      </a:r>
                    </a:p>
                  </a:txBody>
                  <a:tcPr marL="45720" marR="45720" marT="18288" marB="18288" anchor="ctr">
                    <a:solidFill>
                      <a:srgbClr val="FFFFFF"/>
                    </a:solidFill>
                  </a:tcPr>
                </a:tc>
              </a:tr>
              <a:tr h="246888">
                <a:tc>
                  <a:txBody>
                    <a:bodyPr wrap="square"/>
                    <a:lstStyle/>
                    <a:p>
                      <a:pPr algn="l"/>
                      <a:r>
                        <a:rPr sz="950" b="0" i="0">
                          <a:solidFill>
                            <a:srgbClr val="000000"/>
                          </a:solidFill>
                        </a:rPr>
                        <a:t>FP8 1024</a:t>
                      </a:r>
                    </a:p>
                  </a:txBody>
                  <a:tcPr marL="45720" marR="45720" marT="18288" marB="18288" anchor="ctr">
                    <a:solidFill>
                      <a:srgbClr val="F2F6FA"/>
                    </a:solidFill>
                  </a:tcPr>
                </a:tc>
                <a:tc>
                  <a:txBody>
                    <a:bodyPr wrap="square"/>
                    <a:lstStyle/>
                    <a:p>
                      <a:pPr algn="ctr"/>
                      <a:r>
                        <a:rPr sz="950" b="0" i="0">
                          <a:solidFill>
                            <a:srgbClr val="000000"/>
                          </a:solidFill>
                        </a:rPr>
                        <a:t>0.83</a:t>
                      </a:r>
                    </a:p>
                  </a:txBody>
                  <a:tcPr marL="45720" marR="45720" marT="18288" marB="18288" anchor="ctr">
                    <a:solidFill>
                      <a:srgbClr val="F2F6FA"/>
                    </a:solidFill>
                  </a:tcPr>
                </a:tc>
                <a:tc>
                  <a:txBody>
                    <a:bodyPr wrap="square"/>
                    <a:lstStyle/>
                    <a:p>
                      <a:pPr algn="ctr"/>
                      <a:r>
                        <a:rPr sz="950" b="0" i="0">
                          <a:solidFill>
                            <a:srgbClr val="000000"/>
                          </a:solidFill>
                        </a:rPr>
                        <a:t>1.63</a:t>
                      </a:r>
                    </a:p>
                  </a:txBody>
                  <a:tcPr marL="45720" marR="45720" marT="18288" marB="18288" anchor="ctr">
                    <a:solidFill>
                      <a:srgbClr val="F2F6FA"/>
                    </a:solidFill>
                  </a:tcPr>
                </a:tc>
                <a:tc>
                  <a:txBody>
                    <a:bodyPr wrap="square"/>
                    <a:lstStyle/>
                    <a:p>
                      <a:pPr algn="ctr"/>
                      <a:r>
                        <a:rPr sz="950" b="0" i="0">
                          <a:solidFill>
                            <a:srgbClr val="000000"/>
                          </a:solidFill>
                        </a:rPr>
                        <a:t>1.27</a:t>
                      </a:r>
                    </a:p>
                  </a:txBody>
                  <a:tcPr marL="45720" marR="45720" marT="18288" marB="18288" anchor="ctr">
                    <a:solidFill>
                      <a:srgbClr val="F2F6FA"/>
                    </a:solidFill>
                  </a:tcPr>
                </a:tc>
                <a:tc>
                  <a:txBody>
                    <a:bodyPr wrap="square"/>
                    <a:lstStyle/>
                    <a:p>
                      <a:pPr algn="ctr"/>
                      <a:r>
                        <a:rPr sz="950" b="0" i="0">
                          <a:solidFill>
                            <a:srgbClr val="000000"/>
                          </a:solidFill>
                        </a:rPr>
                        <a:t>1.63</a:t>
                      </a:r>
                    </a:p>
                  </a:txBody>
                  <a:tcPr marL="45720" marR="45720" marT="18288" marB="18288" anchor="ctr">
                    <a:solidFill>
                      <a:srgbClr val="F2F6FA"/>
                    </a:solidFill>
                  </a:tcPr>
                </a:tc>
              </a:tr>
            </a:tbl>
          </a:graphicData>
        </a:graphic>
      </p:graphicFrame>
      <p:sp>
        <p:nvSpPr>
          <p:cNvPr id="7" name="TextBox 6"/>
          <p:cNvSpPr txBox="1"/>
          <p:nvPr/>
        </p:nvSpPr>
        <p:spPr>
          <a:xfrm>
            <a:off x="731520" y="3520440"/>
            <a:ext cx="4206240" cy="274320"/>
          </a:xfrm>
          <a:prstGeom prst="rect">
            <a:avLst/>
          </a:prstGeom>
          <a:noFill/>
        </p:spPr>
        <p:txBody>
          <a:bodyPr wrap="square" lIns="27432" rIns="27432" tIns="27432" bIns="27432" anchor="t">
            <a:spAutoFit/>
          </a:bodyPr>
          <a:lstStyle/>
          <a:p>
            <a:pPr algn="l"/>
            <a:r>
              <a:rPr sz="1000" b="1" i="0">
                <a:solidFill>
                  <a:srgbClr val="1F394D"/>
                </a:solidFill>
              </a:rPr>
              <a:t>Sparse speedup bound = 1 / (1 − f/2), f = halvable share (64×64×K FP16)</a:t>
            </a:r>
          </a:p>
        </p:txBody>
      </p:sp>
      <p:graphicFrame>
        <p:nvGraphicFramePr>
          <p:cNvPr id="8" name="Table 7"/>
          <p:cNvGraphicFramePr>
            <a:graphicFrameLocks noGrp="1"/>
          </p:cNvGraphicFramePr>
          <p:nvPr/>
        </p:nvGraphicFramePr>
        <p:xfrm>
          <a:off x="731520" y="3840480"/>
          <a:ext cx="4206236" cy="1371600"/>
        </p:xfrm>
        <a:graphic>
          <a:graphicData uri="http://schemas.openxmlformats.org/drawingml/2006/table">
            <a:tbl>
              <a:tblPr firstRow="0" bandRow="0">
                <a:tableStyleId>{5940675A-B579-460E-94D1-54222C63F5DA}</a:tableStyleId>
              </a:tblPr>
              <a:tblGrid>
                <a:gridCol w="1463039"/>
                <a:gridCol w="1005839"/>
                <a:gridCol w="731519"/>
                <a:gridCol w="1005839"/>
              </a:tblGrid>
              <a:tr h="274320">
                <a:tc>
                  <a:txBody>
                    <a:bodyPr wrap="square"/>
                    <a:lstStyle/>
                    <a:p>
                      <a:pPr algn="l"/>
                      <a:r>
                        <a:rPr sz="950" b="1" i="0">
                          <a:solidFill>
                            <a:srgbClr val="FFFFFF"/>
                          </a:solidFill>
                        </a:rPr>
                        <a:t>GPU</a:t>
                      </a:r>
                    </a:p>
                  </a:txBody>
                  <a:tcPr marL="45720" marR="45720" marT="18288" marB="18288" anchor="ctr">
                    <a:solidFill>
                      <a:srgbClr val="1F394D"/>
                    </a:solidFill>
                  </a:tcPr>
                </a:tc>
                <a:tc>
                  <a:txBody>
                    <a:bodyPr wrap="square"/>
                    <a:lstStyle/>
                    <a:p>
                      <a:pPr algn="ctr"/>
                      <a:r>
                        <a:rPr sz="950" b="1" i="0">
                          <a:solidFill>
                            <a:srgbClr val="FFFFFF"/>
                          </a:solidFill>
                        </a:rPr>
                        <a:t>halvable share f</a:t>
                      </a:r>
                    </a:p>
                  </a:txBody>
                  <a:tcPr marL="45720" marR="45720" marT="18288" marB="18288" anchor="ctr">
                    <a:solidFill>
                      <a:srgbClr val="1F394D"/>
                    </a:solidFill>
                  </a:tcPr>
                </a:tc>
                <a:tc>
                  <a:txBody>
                    <a:bodyPr wrap="square"/>
                    <a:lstStyle/>
                    <a:p>
                      <a:pPr algn="ctr"/>
                      <a:r>
                        <a:rPr sz="950" b="1" i="0">
                          <a:solidFill>
                            <a:srgbClr val="FFFFFF"/>
                          </a:solidFill>
                        </a:rPr>
                        <a:t>bound</a:t>
                      </a:r>
                    </a:p>
                  </a:txBody>
                  <a:tcPr marL="45720" marR="45720" marT="18288" marB="18288" anchor="ctr">
                    <a:solidFill>
                      <a:srgbClr val="1F394D"/>
                    </a:solidFill>
                  </a:tcPr>
                </a:tc>
                <a:tc>
                  <a:txBody>
                    <a:bodyPr wrap="square"/>
                    <a:lstStyle/>
                    <a:p>
                      <a:pPr algn="ctr"/>
                      <a:r>
                        <a:rPr sz="950" b="1" i="0">
                          <a:solidFill>
                            <a:srgbClr val="FFFFFF"/>
                          </a:solidFill>
                        </a:rPr>
                        <a:t>measured @ K=512</a:t>
                      </a:r>
                    </a:p>
                  </a:txBody>
                  <a:tcPr marL="45720" marR="45720" marT="18288" marB="18288" anchor="ctr">
                    <a:solidFill>
                      <a:srgbClr val="1F394D"/>
                    </a:solidFill>
                  </a:tcPr>
                </a:tc>
              </a:tr>
              <a:tr h="274320">
                <a:tc>
                  <a:txBody>
                    <a:bodyPr wrap="square"/>
                    <a:lstStyle/>
                    <a:p>
                      <a:pPr algn="l"/>
                      <a:r>
                        <a:rPr sz="950" b="0" i="0">
                          <a:solidFill>
                            <a:srgbClr val="000000"/>
                          </a:solidFill>
                        </a:rPr>
                        <a:t>H100 (warp-level)</a:t>
                      </a:r>
                    </a:p>
                  </a:txBody>
                  <a:tcPr marL="45720" marR="45720" marT="18288" marB="18288" anchor="ctr">
                    <a:solidFill>
                      <a:srgbClr val="FFFFFF"/>
                    </a:solidFill>
                  </a:tcPr>
                </a:tc>
                <a:tc>
                  <a:txBody>
                    <a:bodyPr wrap="square"/>
                    <a:lstStyle/>
                    <a:p>
                      <a:pPr algn="ctr"/>
                      <a:r>
                        <a:rPr sz="950" b="0" i="0">
                          <a:solidFill>
                            <a:srgbClr val="000000"/>
                          </a:solidFill>
                        </a:rPr>
                        <a:t>54.4%</a:t>
                      </a:r>
                    </a:p>
                  </a:txBody>
                  <a:tcPr marL="45720" marR="45720" marT="18288" marB="18288" anchor="ctr">
                    <a:solidFill>
                      <a:srgbClr val="FFFFFF"/>
                    </a:solidFill>
                  </a:tcPr>
                </a:tc>
                <a:tc>
                  <a:txBody>
                    <a:bodyPr wrap="square"/>
                    <a:lstStyle/>
                    <a:p>
                      <a:pPr algn="ctr"/>
                      <a:r>
                        <a:rPr sz="950" b="0" i="0">
                          <a:solidFill>
                            <a:srgbClr val="000000"/>
                          </a:solidFill>
                        </a:rPr>
                        <a:t>1.37×</a:t>
                      </a:r>
                    </a:p>
                  </a:txBody>
                  <a:tcPr marL="45720" marR="45720" marT="18288" marB="18288" anchor="ctr">
                    <a:solidFill>
                      <a:srgbClr val="FFFFFF"/>
                    </a:solidFill>
                  </a:tcPr>
                </a:tc>
                <a:tc>
                  <a:txBody>
                    <a:bodyPr wrap="square"/>
                    <a:lstStyle/>
                    <a:p>
                      <a:pPr algn="ctr"/>
                      <a:r>
                        <a:rPr sz="950" b="0" i="0">
                          <a:solidFill>
                            <a:srgbClr val="000000"/>
                          </a:solidFill>
                        </a:rPr>
                        <a:t>≈ 1.3×</a:t>
                      </a:r>
                    </a:p>
                  </a:txBody>
                  <a:tcPr marL="45720" marR="45720" marT="18288" marB="18288" anchor="ctr">
                    <a:solidFill>
                      <a:srgbClr val="FFFFFF"/>
                    </a:solidFill>
                  </a:tcPr>
                </a:tc>
              </a:tr>
              <a:tr h="274320">
                <a:tc>
                  <a:txBody>
                    <a:bodyPr wrap="square"/>
                    <a:lstStyle/>
                    <a:p>
                      <a:pPr algn="l"/>
                      <a:r>
                        <a:rPr sz="950" b="0" i="0">
                          <a:solidFill>
                            <a:srgbClr val="000000"/>
                          </a:solidFill>
                        </a:rPr>
                        <a:t>RTX 5080</a:t>
                      </a:r>
                    </a:p>
                  </a:txBody>
                  <a:tcPr marL="45720" marR="45720" marT="18288" marB="18288" anchor="ctr">
                    <a:solidFill>
                      <a:srgbClr val="F2F6FA"/>
                    </a:solidFill>
                  </a:tcPr>
                </a:tc>
                <a:tc>
                  <a:txBody>
                    <a:bodyPr wrap="square"/>
                    <a:lstStyle/>
                    <a:p>
                      <a:pPr algn="ctr"/>
                      <a:r>
                        <a:rPr sz="950" b="0" i="0">
                          <a:solidFill>
                            <a:srgbClr val="000000"/>
                          </a:solidFill>
                        </a:rPr>
                        <a:t>69.7%</a:t>
                      </a:r>
                    </a:p>
                  </a:txBody>
                  <a:tcPr marL="45720" marR="45720" marT="18288" marB="18288" anchor="ctr">
                    <a:solidFill>
                      <a:srgbClr val="F2F6FA"/>
                    </a:solidFill>
                  </a:tcPr>
                </a:tc>
                <a:tc>
                  <a:txBody>
                    <a:bodyPr wrap="square"/>
                    <a:lstStyle/>
                    <a:p>
                      <a:pPr algn="ctr"/>
                      <a:r>
                        <a:rPr sz="950" b="0" i="0">
                          <a:solidFill>
                            <a:srgbClr val="000000"/>
                          </a:solidFill>
                        </a:rPr>
                        <a:t>1.53×</a:t>
                      </a:r>
                    </a:p>
                  </a:txBody>
                  <a:tcPr marL="45720" marR="45720" marT="18288" marB="18288" anchor="ctr">
                    <a:solidFill>
                      <a:srgbClr val="F2F6FA"/>
                    </a:solidFill>
                  </a:tcPr>
                </a:tc>
                <a:tc>
                  <a:txBody>
                    <a:bodyPr wrap="square"/>
                    <a:lstStyle/>
                    <a:p>
                      <a:pPr algn="ctr"/>
                      <a:r>
                        <a:rPr sz="950" b="0" i="0">
                          <a:solidFill>
                            <a:srgbClr val="000000"/>
                          </a:solidFill>
                        </a:rPr>
                        <a:t>≈ 1.5×</a:t>
                      </a:r>
                    </a:p>
                  </a:txBody>
                  <a:tcPr marL="45720" marR="45720" marT="18288" marB="18288" anchor="ctr">
                    <a:solidFill>
                      <a:srgbClr val="F2F6FA"/>
                    </a:solidFill>
                  </a:tcPr>
                </a:tc>
              </a:tr>
              <a:tr h="274320">
                <a:tc>
                  <a:txBody>
                    <a:bodyPr wrap="square"/>
                    <a:lstStyle/>
                    <a:p>
                      <a:pPr algn="l"/>
                      <a:r>
                        <a:rPr sz="950" b="0" i="0">
                          <a:solidFill>
                            <a:srgbClr val="000000"/>
                          </a:solidFill>
                        </a:rPr>
                        <a:t>Vortex, 32 thr</a:t>
                      </a:r>
                    </a:p>
                  </a:txBody>
                  <a:tcPr marL="45720" marR="45720" marT="18288" marB="18288" anchor="ctr">
                    <a:solidFill>
                      <a:srgbClr val="FFFFFF"/>
                    </a:solidFill>
                  </a:tcPr>
                </a:tc>
                <a:tc>
                  <a:txBody>
                    <a:bodyPr wrap="square"/>
                    <a:lstStyle/>
                    <a:p>
                      <a:pPr algn="ctr"/>
                      <a:r>
                        <a:rPr sz="950" b="0" i="0">
                          <a:solidFill>
                            <a:srgbClr val="000000"/>
                          </a:solidFill>
                        </a:rPr>
                        <a:t>78.5%</a:t>
                      </a:r>
                    </a:p>
                  </a:txBody>
                  <a:tcPr marL="45720" marR="45720" marT="18288" marB="18288" anchor="ctr">
                    <a:solidFill>
                      <a:srgbClr val="FFFFFF"/>
                    </a:solidFill>
                  </a:tcPr>
                </a:tc>
                <a:tc>
                  <a:txBody>
                    <a:bodyPr wrap="square"/>
                    <a:lstStyle/>
                    <a:p>
                      <a:pPr algn="ctr"/>
                      <a:r>
                        <a:rPr sz="950" b="0" i="0">
                          <a:solidFill>
                            <a:srgbClr val="000000"/>
                          </a:solidFill>
                        </a:rPr>
                        <a:t>1.65×</a:t>
                      </a:r>
                    </a:p>
                  </a:txBody>
                  <a:tcPr marL="45720" marR="45720" marT="18288" marB="18288" anchor="ctr">
                    <a:solidFill>
                      <a:srgbClr val="FFFFFF"/>
                    </a:solidFill>
                  </a:tcPr>
                </a:tc>
                <a:tc>
                  <a:txBody>
                    <a:bodyPr wrap="square"/>
                    <a:lstStyle/>
                    <a:p>
                      <a:pPr algn="ctr"/>
                      <a:r>
                        <a:rPr sz="950" b="0" i="0">
                          <a:solidFill>
                            <a:srgbClr val="000000"/>
                          </a:solidFill>
                        </a:rPr>
                        <a:t>≈ 1.6×</a:t>
                      </a:r>
                    </a:p>
                  </a:txBody>
                  <a:tcPr marL="45720" marR="45720" marT="18288" marB="18288" anchor="ctr">
                    <a:solidFill>
                      <a:srgbClr val="FFFFFF"/>
                    </a:solidFill>
                  </a:tcPr>
                </a:tc>
              </a:tr>
              <a:tr h="274320">
                <a:tc>
                  <a:txBody>
                    <a:bodyPr wrap="square"/>
                    <a:lstStyle/>
                    <a:p>
                      <a:pPr algn="l"/>
                      <a:r>
                        <a:rPr sz="950" b="0" i="0">
                          <a:solidFill>
                            <a:srgbClr val="000000"/>
                          </a:solidFill>
                        </a:rPr>
                        <a:t>Vortex, 8 thr</a:t>
                      </a:r>
                    </a:p>
                  </a:txBody>
                  <a:tcPr marL="45720" marR="45720" marT="18288" marB="18288" anchor="ctr">
                    <a:solidFill>
                      <a:srgbClr val="F2F6FA"/>
                    </a:solidFill>
                  </a:tcPr>
                </a:tc>
                <a:tc>
                  <a:txBody>
                    <a:bodyPr wrap="square"/>
                    <a:lstStyle/>
                    <a:p>
                      <a:pPr algn="ctr"/>
                      <a:r>
                        <a:rPr sz="950" b="0" i="0">
                          <a:solidFill>
                            <a:srgbClr val="000000"/>
                          </a:solidFill>
                        </a:rPr>
                        <a:t>50.7%</a:t>
                      </a:r>
                    </a:p>
                  </a:txBody>
                  <a:tcPr marL="45720" marR="45720" marT="18288" marB="18288" anchor="ctr">
                    <a:solidFill>
                      <a:srgbClr val="F2F6FA"/>
                    </a:solidFill>
                  </a:tcPr>
                </a:tc>
                <a:tc>
                  <a:txBody>
                    <a:bodyPr wrap="square"/>
                    <a:lstStyle/>
                    <a:p>
                      <a:pPr algn="ctr"/>
                      <a:r>
                        <a:rPr sz="950" b="0" i="0">
                          <a:solidFill>
                            <a:srgbClr val="000000"/>
                          </a:solidFill>
                        </a:rPr>
                        <a:t>1.34×</a:t>
                      </a:r>
                    </a:p>
                  </a:txBody>
                  <a:tcPr marL="45720" marR="45720" marT="18288" marB="18288" anchor="ctr">
                    <a:solidFill>
                      <a:srgbClr val="F2F6FA"/>
                    </a:solidFill>
                  </a:tcPr>
                </a:tc>
                <a:tc>
                  <a:txBody>
                    <a:bodyPr wrap="square"/>
                    <a:lstStyle/>
                    <a:p>
                      <a:pPr algn="ctr"/>
                      <a:r>
                        <a:rPr sz="950" b="0" i="0">
                          <a:solidFill>
                            <a:srgbClr val="000000"/>
                          </a:solidFill>
                        </a:rPr>
                        <a:t>≈ 1.3×</a:t>
                      </a:r>
                    </a:p>
                  </a:txBody>
                  <a:tcPr marL="45720" marR="45720" marT="18288" marB="18288" anchor="ctr">
                    <a:solidFill>
                      <a:srgbClr val="F2F6FA"/>
                    </a:solidFill>
                  </a:tcPr>
                </a:tc>
              </a:tr>
            </a:tbl>
          </a:graphicData>
        </a:graphic>
      </p:graphicFrame>
      <p:sp>
        <p:nvSpPr>
          <p:cNvPr id="9" name="TextBox 8"/>
          <p:cNvSpPr txBox="1"/>
          <p:nvPr/>
        </p:nvSpPr>
        <p:spPr>
          <a:xfrm>
            <a:off x="731520" y="5303520"/>
            <a:ext cx="4206240" cy="731520"/>
          </a:xfrm>
          <a:prstGeom prst="rect">
            <a:avLst/>
          </a:prstGeom>
          <a:noFill/>
        </p:spPr>
        <p:txBody>
          <a:bodyPr wrap="square" lIns="27432" rIns="27432" tIns="27432" bIns="27432" anchor="t">
            <a:spAutoFit/>
          </a:bodyPr>
          <a:lstStyle/>
          <a:p>
            <a:pPr algn="l"/>
            <a:r>
              <a:rPr sz="950" b="0" i="1">
                <a:solidFill>
                  <a:srgbClr val="555555"/>
                </a:solidFill>
              </a:rPr>
              <a:t>Sparsity halves only the math and the A load — not B, metadata or the epilogue — so speedup stays below 2× on every GPU and falls as tiles widen.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Warpgroup MMA (WGMMA)</a:t>
            </a:r>
          </a:p>
        </p:txBody>
      </p:sp>
      <p:sp>
        <p:nvSpPr>
          <p:cNvPr id="3" name="Text Placeholder 2"/>
          <p:cNvSpPr>
            <a:spLocks noGrp="1"/>
          </p:cNvSpPr>
          <p:nvPr>
            <p:ph type="body" idx="1"/>
          </p:nvPr>
        </p:nvSpPr>
        <p:spPr>
          <a:xfrm>
            <a:off x="4663440" y="1188720"/>
            <a:ext cx="7040880" cy="4937760"/>
          </a:xfrm>
        </p:spPr>
        <p:txBody>
          <a:bodyPr wrap="square"/>
          <a:lstStyle/>
          <a:p>
            <a:pPr marL="0" indent="0">
              <a:spcBef>
                <a:spcPts val="500"/>
              </a:spcBef>
              <a:buNone/>
            </a:pPr>
            <a:r>
              <a:rPr sz="1200" b="1" i="0">
                <a:solidFill>
                  <a:srgbClr val="1F394D"/>
                </a:solidFill>
              </a:rPr>
              <a:t>Warpgroup = issue width</a:t>
            </a:r>
          </a:p>
          <a:p>
            <a:pPr lvl="1" marL="342900" indent="-228600">
              <a:spcBef>
                <a:spcPts val="100"/>
              </a:spcBef>
              <a:buFont typeface="Arial"/>
              <a:buChar char="•"/>
            </a:pPr>
            <a:r>
              <a:rPr sz="1050" b="0" i="0">
                <a:solidFill>
                  <a:srgbClr val="000000"/>
                </a:solidFill>
              </a:rPr>
              <a:t>CTA of IW warps; warp w owns rows 2w·tcM … ; all warps read the same B</a:t>
            </a:r>
          </a:p>
          <a:p>
            <a:pPr lvl="1" marL="342900" indent="-228600">
              <a:spcBef>
                <a:spcPts val="100"/>
              </a:spcBef>
              <a:buFont typeface="Arial"/>
              <a:buChar char="•"/>
            </a:pPr>
            <a:r>
              <a:rPr sz="1050" b="0" i="0">
                <a:solidFill>
                  <a:srgbClr val="000000"/>
                </a:solidFill>
              </a:rPr>
              <a:t>NT = 32, IW = 4: 64×16×16 tile (NRC = 8, 16 uops / warp) … 64×64×16 (NRC = 32, 64 uops)</a:t>
            </a:r>
          </a:p>
          <a:p>
            <a:pPr marL="0" indent="0">
              <a:spcBef>
                <a:spcPts val="500"/>
              </a:spcBef>
              <a:buNone/>
            </a:pPr>
            <a:r>
              <a:rPr sz="1200" b="1" i="0">
                <a:solidFill>
                  <a:srgbClr val="1F394D"/>
                </a:solidFill>
              </a:rPr>
              <a:t>Operands</a:t>
            </a:r>
          </a:p>
          <a:p>
            <a:pPr lvl="1" marL="342900" indent="-228600">
              <a:spcBef>
                <a:spcPts val="100"/>
              </a:spcBef>
              <a:buFont typeface="Arial"/>
              <a:buChar char="•"/>
            </a:pPr>
            <a:r>
              <a:rPr sz="1050" b="0" i="0">
                <a:solidFill>
                  <a:srgbClr val="000000"/>
                </a:solidFill>
              </a:rPr>
              <a:t>SMEM descriptor (x10 = A, x11 = B): [15:0] offset, [31:16] row stride; stride 0 = block-major</a:t>
            </a:r>
          </a:p>
          <a:p>
            <a:pPr lvl="1" marL="342900" indent="-228600">
              <a:spcBef>
                <a:spcPts val="100"/>
              </a:spcBef>
              <a:buFont typeface="Arial"/>
              <a:buChar char="•"/>
            </a:pPr>
            <a:r>
              <a:rPr sz="1050" b="0" i="0">
                <a:solidFill>
                  <a:srgbClr val="000000"/>
                </a:solidFill>
              </a:rPr>
              <a:t>row-major A / K-major B = the layout DXA writes (incl. its K-major transpose)</a:t>
            </a:r>
          </a:p>
          <a:p>
            <a:pPr lvl="1" marL="342900" indent="-228600">
              <a:spcBef>
                <a:spcPts val="100"/>
              </a:spcBef>
              <a:buFont typeface="Arial"/>
              <a:buChar char="•"/>
            </a:pPr>
            <a:r>
              <a:rPr sz="1050" b="0" i="0">
                <a:solidFill>
                  <a:srgbClr val="000000"/>
                </a:solidFill>
              </a:rPr>
              <a:t>RS mode: A in f24–f27, NRC ≤ 16 · SS mode: NRC up to 32 (fills the FP register file)</a:t>
            </a:r>
          </a:p>
          <a:p>
            <a:pPr marL="0" indent="0">
              <a:spcBef>
                <a:spcPts val="500"/>
              </a:spcBef>
              <a:buNone/>
            </a:pPr>
            <a:r>
              <a:rPr sz="1200" b="1" i="0">
                <a:solidFill>
                  <a:srgbClr val="1F394D"/>
                </a:solidFill>
              </a:rPr>
              <a:t>Tile buffers, one LMEM port</a:t>
            </a:r>
          </a:p>
          <a:p>
            <a:pPr lvl="1" marL="342900" indent="-228600">
              <a:spcBef>
                <a:spcPts val="100"/>
              </a:spcBef>
              <a:buFont typeface="Arial"/>
              <a:buChar char="•"/>
            </a:pPr>
            <a:r>
              <a:rPr sz="1050" b="0" i="0">
                <a:solidFill>
                  <a:srgbClr val="000000"/>
                </a:solidFill>
              </a:rPr>
              <a:t>A buffer per block (one k-stripe, refilled per k and per instruction) · one B buffer broadcast to all blocks</a:t>
            </a:r>
          </a:p>
          <a:p>
            <a:pPr lvl="1" marL="342900" indent="-228600">
              <a:spcBef>
                <a:spcPts val="100"/>
              </a:spcBef>
              <a:buFont typeface="Arial"/>
              <a:buChar char="•"/>
            </a:pPr>
            <a:r>
              <a:rPr sz="1050" b="0" i="0">
                <a:solidFill>
                  <a:srgbClr val="000000"/>
                </a:solidFill>
              </a:rPr>
              <a:t>SS step reads one B tile per warpgroup (1.00 at IW = 4); IW+1 buffers → fixed-priority arbiter → one bank-row port</a:t>
            </a:r>
          </a:p>
          <a:p>
            <a:pPr marL="0" indent="0">
              <a:spcBef>
                <a:spcPts val="500"/>
              </a:spcBef>
              <a:buNone/>
            </a:pPr>
            <a:r>
              <a:rPr sz="1200" b="1" i="0">
                <a:solidFill>
                  <a:srgbClr val="1F394D"/>
                </a:solidFill>
              </a:rPr>
              <a:t>Consistency without a barrier</a:t>
            </a:r>
          </a:p>
          <a:p>
            <a:pPr lvl="1" marL="342900" indent="-228600">
              <a:spcBef>
                <a:spcPts val="100"/>
              </a:spcBef>
              <a:buFont typeface="Arial"/>
              <a:buChar char="•"/>
            </a:pPr>
            <a:r>
              <a:rPr sz="1050" b="0" i="0">
                <a:solidFill>
                  <a:srgbClr val="000000"/>
                </a:solidFill>
              </a:rPr>
              <a:t>issue-slot lock (first→last uop) · single-CTA gate (VX_tcu_lockstep) · B-key {desc_b, k, n, NRC} match with the leader block</a:t>
            </a:r>
          </a:p>
          <a:p>
            <a:pPr marL="0" indent="0">
              <a:spcBef>
                <a:spcPts val="500"/>
              </a:spcBef>
              <a:buNone/>
            </a:pPr>
            <a:r>
              <a:rPr sz="1200" b="1" i="0">
                <a:solidFill>
                  <a:srgbClr val="1F394D"/>
                </a:solidFill>
              </a:rPr>
              <a:t>Scoreboard</a:t>
            </a:r>
          </a:p>
          <a:p>
            <a:pPr lvl="1" marL="342900" indent="-228600">
              <a:spcBef>
                <a:spcPts val="100"/>
              </a:spcBef>
              <a:buFont typeface="Arial"/>
              <a:buChar char="•"/>
            </a:pPr>
            <a:r>
              <a:rPr sz="1050" b="0" i="0">
                <a:solidFill>
                  <a:srgbClr val="000000"/>
                </a:solidFill>
                <a:latin typeface="Consolas"/>
              </a:rPr>
              <a:t>fu_lock</a:t>
            </a:r>
            <a:r>
              <a:rPr sz="1050" b="0" i="0">
                <a:solidFill>
                  <a:srgbClr val="000000"/>
                </a:solidFill>
              </a:rPr>
              <a:t> / </a:t>
            </a:r>
            <a:r>
              <a:rPr sz="1050" b="0" i="0">
                <a:solidFill>
                  <a:srgbClr val="000000"/>
                </a:solidFill>
                <a:latin typeface="Consolas"/>
              </a:rPr>
              <a:t>fu_unlock</a:t>
            </a:r>
            <a:r>
              <a:rPr sz="1050" b="0" i="0">
                <a:solidFill>
                  <a:srgbClr val="000000"/>
                </a:solidFill>
              </a:rPr>
              <a:t> keep a warpgroup's uops atomic on one FU instance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pic>
        <p:nvPicPr>
          <p:cNvPr id="5" name="Picture 4" descr="fourshadow_fig4.png"/>
          <p:cNvPicPr>
            <a:picLocks noChangeAspect="1"/>
          </p:cNvPicPr>
          <p:nvPr/>
        </p:nvPicPr>
        <p:blipFill>
          <a:blip r:embed="rId4"/>
          <a:stretch>
            <a:fillRect/>
          </a:stretch>
        </p:blipFill>
        <p:spPr>
          <a:xfrm>
            <a:off x="1018542" y="1234440"/>
            <a:ext cx="2992115" cy="4480560"/>
          </a:xfrm>
          <a:prstGeom prst="rect">
            <a:avLst/>
          </a:prstGeom>
        </p:spPr>
      </p:pic>
      <p:sp>
        <p:nvSpPr>
          <p:cNvPr id="6" name="TextBox 5"/>
          <p:cNvSpPr txBox="1"/>
          <p:nvPr/>
        </p:nvSpPr>
        <p:spPr>
          <a:xfrm>
            <a:off x="548640" y="6080760"/>
            <a:ext cx="3931920" cy="228600"/>
          </a:xfrm>
          <a:prstGeom prst="rect">
            <a:avLst/>
          </a:prstGeom>
          <a:noFill/>
        </p:spPr>
        <p:txBody>
          <a:bodyPr wrap="square" lIns="27432" rIns="27432" tIns="27432" bIns="27432" anchor="t">
            <a:spAutoFit/>
          </a:bodyPr>
          <a:lstStyle/>
          <a:p>
            <a:pPr algn="r"/>
            <a:r>
              <a:rPr sz="900" b="0" i="1">
                <a:solidFill>
                  <a:srgbClr val="7F7F7F"/>
                </a:solidFill>
              </a:rPr>
              <a:t>Block-major SMEM layout, tile-buffer engine, and the 16 micro-ops of one warp (NT = 32, NRC = 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DXA: Asynchronous Tiled Copies (TMA-style)</a:t>
            </a:r>
          </a:p>
        </p:txBody>
      </p:sp>
      <p:sp>
        <p:nvSpPr>
          <p:cNvPr id="3" name="Text Placeholder 2"/>
          <p:cNvSpPr>
            <a:spLocks noGrp="1"/>
          </p:cNvSpPr>
          <p:nvPr>
            <p:ph type="body" idx="1"/>
          </p:nvPr>
        </p:nvSpPr>
        <p:spPr>
          <a:xfrm>
            <a:off x="731520" y="1188720"/>
            <a:ext cx="6583680" cy="4937760"/>
          </a:xfrm>
        </p:spPr>
        <p:txBody>
          <a:bodyPr wrap="square"/>
          <a:lstStyle/>
          <a:p>
            <a:pPr marL="0" indent="0">
              <a:spcBef>
                <a:spcPts val="500"/>
              </a:spcBef>
              <a:buNone/>
            </a:pPr>
            <a:r>
              <a:rPr sz="1250" b="1" i="0">
                <a:solidFill>
                  <a:srgbClr val="1F394D"/>
                </a:solidFill>
              </a:rPr>
              <a:t>ISA</a:t>
            </a:r>
          </a:p>
          <a:p>
            <a:pPr lvl="1" marL="342900" indent="-228600">
              <a:spcBef>
                <a:spcPts val="100"/>
              </a:spcBef>
              <a:buFont typeface="Arial"/>
              <a:buChar char="•"/>
            </a:pPr>
            <a:r>
              <a:rPr sz="1100" b="0" i="0">
                <a:solidFill>
                  <a:srgbClr val="000000"/>
                </a:solidFill>
              </a:rPr>
              <a:t>custom-0, funct7 = 0x03 (</a:t>
            </a:r>
            <a:r>
              <a:rPr sz="1100" b="0" i="0">
                <a:solidFill>
                  <a:srgbClr val="000000"/>
                </a:solidFill>
                <a:latin typeface="Consolas"/>
              </a:rPr>
              <a:t>INST_SFU_DXA</a:t>
            </a:r>
            <a:r>
              <a:rPr sz="1100" b="0" i="0">
                <a:solidFill>
                  <a:srgbClr val="000000"/>
                </a:solidFill>
              </a:rPr>
              <a:t>), MISA bit 10, </a:t>
            </a:r>
            <a:r>
              <a:rPr sz="1100" b="0" i="0">
                <a:solidFill>
                  <a:srgbClr val="000000"/>
                </a:solidFill>
                <a:latin typeface="Consolas"/>
              </a:rPr>
              <a:t>VX_CFG_EXT_DXA_ENABLE</a:t>
            </a:r>
          </a:p>
          <a:p>
            <a:pPr lvl="1" marL="342900" indent="-228600">
              <a:spcBef>
                <a:spcPts val="100"/>
              </a:spcBef>
              <a:buFont typeface="Arial"/>
              <a:buChar char="•"/>
            </a:pPr>
            <a:r>
              <a:rPr sz="1100" b="0" i="0">
                <a:solidFill>
                  <a:srgbClr val="000000"/>
                </a:solidFill>
              </a:rPr>
              <a:t>lanes via </a:t>
            </a:r>
            <a:r>
              <a:rPr sz="1100" b="0" i="0">
                <a:solidFill>
                  <a:srgbClr val="000000"/>
                </a:solidFill>
                <a:latin typeface="Consolas"/>
              </a:rPr>
              <a:t>vx_wgather</a:t>
            </a:r>
            <a:r>
              <a:rPr sz="1100" b="0" i="0">
                <a:solidFill>
                  <a:srgbClr val="000000"/>
                </a:solidFill>
              </a:rPr>
              <a:t>: lane0 smem addr · lane1 meta = (bar &lt;&lt; 4) | desc_slot · lane2 coords · lane3 cta_mask</a:t>
            </a:r>
          </a:p>
          <a:p>
            <a:pPr lvl="1" marL="342900" indent="-228600">
              <a:spcBef>
                <a:spcPts val="100"/>
              </a:spcBef>
              <a:buFont typeface="Arial"/>
              <a:buChar char="•"/>
            </a:pPr>
            <a:r>
              <a:rPr sz="1100" b="0" i="0">
                <a:solidFill>
                  <a:srgbClr val="000000"/>
                </a:solidFill>
              </a:rPr>
              <a:t>GMEM-read / LMEM-write only; no software → global path</a:t>
            </a:r>
          </a:p>
          <a:p>
            <a:pPr marL="0" indent="0">
              <a:spcBef>
                <a:spcPts val="500"/>
              </a:spcBef>
              <a:buNone/>
            </a:pPr>
            <a:r>
              <a:rPr sz="1250" b="1" i="0">
                <a:solidFill>
                  <a:srgbClr val="1F394D"/>
                </a:solidFill>
              </a:rPr>
              <a:t>Descriptor (DCR block 0x100, 16 slots)</a:t>
            </a:r>
          </a:p>
          <a:p>
            <a:pPr lvl="1" marL="342900" indent="-228600">
              <a:spcBef>
                <a:spcPts val="100"/>
              </a:spcBef>
              <a:buFont typeface="Arial"/>
              <a:buChar char="•"/>
            </a:pPr>
            <a:r>
              <a:rPr sz="1100" b="0" i="0">
                <a:solidFill>
                  <a:srgbClr val="000000"/>
                </a:solidFill>
              </a:rPr>
              <a:t>base_addr · meta {DIM 3b, ELEMSZ 2b, LAYOUT row-major / K-major} · tile0..4 · size0..4 (OOB bounds) · stride0..3 · cfill · smem_stride</a:t>
            </a:r>
          </a:p>
          <a:p>
            <a:pPr marL="0" indent="0">
              <a:spcBef>
                <a:spcPts val="500"/>
              </a:spcBef>
              <a:buNone/>
            </a:pPr>
            <a:r>
              <a:rPr sz="1250" b="1" i="0">
                <a:solidFill>
                  <a:srgbClr val="1F394D"/>
                </a:solidFill>
              </a:rPr>
              <a:t>Operations</a:t>
            </a:r>
          </a:p>
          <a:p>
            <a:pPr lvl="1" marL="342900" indent="-228600">
              <a:spcBef>
                <a:spcPts val="100"/>
              </a:spcBef>
              <a:buFont typeface="Arial"/>
              <a:buChar char="•"/>
            </a:pPr>
            <a:r>
              <a:rPr sz="1100" b="0" i="0">
                <a:solidFill>
                  <a:srgbClr val="000000"/>
                </a:solidFill>
              </a:rPr>
              <a:t>tiled copy rank 1–5 with OOB clamp + constant fill</a:t>
            </a:r>
          </a:p>
          <a:p>
            <a:pPr lvl="1" marL="342900" indent="-228600">
              <a:spcBef>
                <a:spcPts val="100"/>
              </a:spcBef>
              <a:buFont typeface="Arial"/>
              <a:buChar char="•"/>
            </a:pPr>
            <a:r>
              <a:rPr sz="1100" b="0" i="0">
                <a:solidFill>
                  <a:srgbClr val="000000"/>
                </a:solidFill>
              </a:rPr>
              <a:t>multicast: popcount(cta_mask) &gt; 1 → read GMEM once, replay LMEM writes to </a:t>
            </a:r>
            <a:r>
              <a:rPr sz="1100" b="0" i="0">
                <a:solidFill>
                  <a:srgbClr val="000000"/>
                </a:solidFill>
                <a:latin typeface="Consolas"/>
              </a:rPr>
              <a:t>issuer + r·smem_stride</a:t>
            </a:r>
          </a:p>
          <a:p>
            <a:pPr lvl="1" marL="342900" indent="-228600">
              <a:spcBef>
                <a:spcPts val="100"/>
              </a:spcBef>
              <a:buFont typeface="Arial"/>
              <a:buChar char="•"/>
            </a:pPr>
            <a:r>
              <a:rPr sz="1100" b="0" i="0">
                <a:solidFill>
                  <a:srgbClr val="000000"/>
                </a:solidFill>
              </a:rPr>
              <a:t>K-major transpose (rank ≤ 2): </a:t>
            </a:r>
            <a:r>
              <a:rPr sz="1100" b="0" i="0">
                <a:solidFill>
                  <a:srgbClr val="000000"/>
                </a:solidFill>
                <a:latin typeface="Consolas"/>
              </a:rPr>
              <a:t>smem[i0·tile1 + i1]</a:t>
            </a:r>
            <a:r>
              <a:rPr sz="1100" b="0" i="0">
                <a:solidFill>
                  <a:srgbClr val="000000"/>
                </a:solidFill>
              </a:rPr>
              <a:t>, one element per beat — consumed by WGMMA B</a:t>
            </a:r>
          </a:p>
          <a:p>
            <a:pPr marL="0" indent="0">
              <a:spcBef>
                <a:spcPts val="500"/>
              </a:spcBef>
              <a:buNone/>
            </a:pPr>
            <a:r>
              <a:rPr sz="1250" b="1" i="0">
                <a:solidFill>
                  <a:srgbClr val="1F394D"/>
                </a:solidFill>
              </a:rPr>
              <a:t>Config</a:t>
            </a:r>
          </a:p>
          <a:p>
            <a:pPr lvl="1" marL="342900" indent="-228600">
              <a:spcBef>
                <a:spcPts val="100"/>
              </a:spcBef>
              <a:buFont typeface="Arial"/>
              <a:buChar char="•"/>
            </a:pPr>
            <a:r>
              <a:rPr sz="1100" b="0" i="0">
                <a:solidFill>
                  <a:srgbClr val="000000"/>
                </a:solidFill>
                <a:latin typeface="Consolas"/>
              </a:rPr>
              <a:t>NUM_DXA_UNITS = max(1, ⌈cores/8⌉)</a:t>
            </a:r>
            <a:r>
              <a:rPr sz="1100" b="0" i="0">
                <a:solidFill>
                  <a:srgbClr val="000000"/>
                </a:solidFill>
              </a:rPr>
              <a:t> workers per cluster · queue 16 · ≤ 8 in flight · DXA_MEM_PORTS = min(units, sockets × L1 ports)</a:t>
            </a:r>
          </a:p>
          <a:p>
            <a:pPr marL="0" indent="0">
              <a:spcBef>
                <a:spcPts val="500"/>
              </a:spcBef>
              <a:buNone/>
            </a:pPr>
            <a:r>
              <a:rPr sz="1250" b="1" i="0">
                <a:solidFill>
                  <a:srgbClr val="1F394D"/>
                </a:solidFill>
              </a:rPr>
              <a:t>Perf CSRs (class 16)</a:t>
            </a:r>
          </a:p>
          <a:p>
            <a:pPr lvl="1" marL="342900" indent="-228600">
              <a:spcBef>
                <a:spcPts val="100"/>
              </a:spcBef>
              <a:buFont typeface="Arial"/>
              <a:buChar char="•"/>
            </a:pPr>
            <a:r>
              <a:rPr sz="1100" b="0" i="0">
                <a:solidFill>
                  <a:srgbClr val="000000"/>
                </a:solidFill>
              </a:rPr>
              <a:t>transfers · gmem_reads · gmem_dedup · lmem_writes · gmem_latency · noslot_stalls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498079" y="1280160"/>
            <a:ext cx="4114800" cy="2377440"/>
          </a:xfrm>
          <a:prstGeom prst="rect">
            <a:avLst/>
          </a:prstGeom>
          <a:solidFill>
            <a:srgbClr val="1F394D"/>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t" lIns="36576" rIns="36576" tIns="18288" bIns="18288" wrap="square"/>
          <a:lstStyle/>
          <a:p>
            <a:pPr algn="l"/>
            <a:r>
              <a:rPr sz="1000" b="0" i="0">
                <a:solidFill>
                  <a:srgbClr val="FFFFFF"/>
                </a:solidFill>
                <a:latin typeface="Consolas"/>
              </a:rPr>
              <a:t>// host: once per operand</a:t>
            </a:r>
          </a:p>
          <a:p>
            <a:pPr algn="l"/>
            <a:r>
              <a:rPr sz="1000" b="0" i="0">
                <a:solidFill>
                  <a:srgbClr val="FFFFFF"/>
                </a:solidFill>
                <a:latin typeface="Consolas"/>
              </a:rPr>
              <a:t>vortex::dxa::program_2d(dev, slot, base,</a:t>
            </a:r>
          </a:p>
          <a:p>
            <a:pPr algn="l"/>
            <a:r>
              <a:rPr sz="1000" b="0" i="0">
                <a:solidFill>
                  <a:srgbClr val="FFFFFF"/>
                </a:solidFill>
                <a:latin typeface="Consolas"/>
              </a:rPr>
              <a:t>    rows, cols, stride, tileM, tileK, fill);</a:t>
            </a:r>
          </a:p>
          <a:p>
            <a:pPr algn="l"/>
            <a:r>
              <a:rPr sz="1000" b="0" i="0">
                <a:solidFill>
                  <a:srgbClr val="FFFFFF"/>
                </a:solidFill>
                <a:latin typeface="Consolas"/>
              </a:rPr>
              <a:t>set_layout(slot, Layout::KMajor);</a:t>
            </a:r>
          </a:p>
          <a:p>
            <a:pPr algn="l"/>
          </a:p>
          <a:p>
            <a:pPr algn="l"/>
            <a:r>
              <a:rPr sz="1000" b="0" i="0">
                <a:solidFill>
                  <a:srgbClr val="FFFFFF"/>
                </a:solidFill>
                <a:latin typeface="Consolas"/>
              </a:rPr>
              <a:t>// kernel: per tile, producer warp</a:t>
            </a:r>
          </a:p>
          <a:p>
            <a:pPr algn="l"/>
            <a:r>
              <a:rPr sz="1000" b="0" i="0">
                <a:solidFill>
                  <a:srgbClr val="FFFFFF"/>
                </a:solidFill>
                <a:latin typeface="Consolas"/>
              </a:rPr>
              <a:t>bar.expect_tx(1);</a:t>
            </a:r>
          </a:p>
          <a:p>
            <a:pPr algn="l"/>
            <a:r>
              <a:rPr sz="1000" b="0" i="0">
                <a:solidFill>
                  <a:srgbClr val="FFFFFF"/>
                </a:solidFill>
                <a:latin typeface="Consolas"/>
              </a:rPr>
              <a:t>vx_dxa_issue_2d_wg(smem_tile, slot, x, y, bar.id());</a:t>
            </a:r>
          </a:p>
          <a:p>
            <a:pPr algn="l"/>
            <a:r>
              <a:rPr sz="1000" b="0" i="0">
                <a:solidFill>
                  <a:srgbClr val="FFFFFF"/>
                </a:solidFill>
                <a:latin typeface="Consolas"/>
              </a:rPr>
              <a:t>// … warp continues; consumers bar.wait(ph)</a:t>
            </a:r>
          </a:p>
        </p:txBody>
      </p:sp>
      <p:pic>
        <p:nvPicPr>
          <p:cNvPr id="6" name="Picture 5" descr="pharos_fig1.png"/>
          <p:cNvPicPr>
            <a:picLocks noChangeAspect="1"/>
          </p:cNvPicPr>
          <p:nvPr/>
        </p:nvPicPr>
        <p:blipFill>
          <a:blip r:embed="rId4"/>
          <a:stretch>
            <a:fillRect/>
          </a:stretch>
        </p:blipFill>
        <p:spPr>
          <a:xfrm>
            <a:off x="7516562" y="3840480"/>
            <a:ext cx="4077834" cy="2194560"/>
          </a:xfrm>
          <a:prstGeom prst="rect">
            <a:avLst/>
          </a:prstGeom>
        </p:spPr>
      </p:pic>
      <p:sp>
        <p:nvSpPr>
          <p:cNvPr id="7" name="TextBox 6"/>
          <p:cNvSpPr txBox="1"/>
          <p:nvPr/>
        </p:nvSpPr>
        <p:spPr>
          <a:xfrm>
            <a:off x="7498079" y="6080760"/>
            <a:ext cx="4114800" cy="228600"/>
          </a:xfrm>
          <a:prstGeom prst="rect">
            <a:avLst/>
          </a:prstGeom>
          <a:noFill/>
        </p:spPr>
        <p:txBody>
          <a:bodyPr wrap="square" lIns="27432" rIns="27432" tIns="27432" bIns="27432" anchor="t">
            <a:spAutoFit/>
          </a:bodyPr>
          <a:lstStyle/>
          <a:p>
            <a:pPr algn="r"/>
            <a:r>
              <a:rPr sz="900" b="0" i="1">
                <a:solidFill>
                  <a:srgbClr val="7F7F7F"/>
                </a:solidFill>
              </a:rPr>
              <a:t>Barrier unit per core, DXA engine shared per socket / cluster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Fixed-Function Graphics Stack</a:t>
            </a:r>
          </a:p>
        </p:txBody>
      </p:sp>
      <p:sp>
        <p:nvSpPr>
          <p:cNvPr id="3" name="Text Placeholder 2"/>
          <p:cNvSpPr>
            <a:spLocks noGrp="1"/>
          </p:cNvSpPr>
          <p:nvPr>
            <p:ph type="body" idx="1"/>
          </p:nvPr>
        </p:nvSpPr>
        <p:spPr>
          <a:xfrm>
            <a:off x="731520" y="3429000"/>
            <a:ext cx="6675120" cy="2743200"/>
          </a:xfrm>
        </p:spPr>
        <p:txBody>
          <a:bodyPr wrap="square"/>
          <a:lstStyle/>
          <a:p>
            <a:pPr marL="0" indent="0">
              <a:spcBef>
                <a:spcPts val="400"/>
              </a:spcBef>
              <a:buNone/>
            </a:pPr>
            <a:r>
              <a:rPr sz="1150" b="1" i="0">
                <a:solidFill>
                  <a:srgbClr val="1F394D"/>
                </a:solidFill>
              </a:rPr>
              <a:t>Units and placement</a:t>
            </a:r>
          </a:p>
          <a:p>
            <a:pPr lvl="1" marL="342900" indent="-228600">
              <a:spcBef>
                <a:spcPts val="0"/>
              </a:spcBef>
              <a:buFont typeface="Arial"/>
              <a:buChar char="•"/>
            </a:pPr>
            <a:r>
              <a:rPr sz="1050" b="0" i="0">
                <a:solidFill>
                  <a:srgbClr val="000000"/>
                </a:solidFill>
              </a:rPr>
              <a:t>RASTER (cluster, rcache) · TEX (socket, tcache) · OM (cluster, ocache) · RTU (socket, rtcache); MISA bits TEX 6 · RASTER 7 · OM 8</a:t>
            </a:r>
          </a:p>
          <a:p>
            <a:pPr marL="0" indent="0">
              <a:spcBef>
                <a:spcPts val="400"/>
              </a:spcBef>
              <a:buNone/>
            </a:pPr>
            <a:r>
              <a:rPr sz="1150" b="1" i="0">
                <a:solidFill>
                  <a:srgbClr val="1F394D"/>
                </a:solidFill>
              </a:rPr>
              <a:t>ISA under custom-1 (0x2B), by funct3</a:t>
            </a:r>
          </a:p>
          <a:p>
            <a:pPr lvl="1" marL="342900" indent="-228600">
              <a:spcBef>
                <a:spcPts val="0"/>
              </a:spcBef>
              <a:buFont typeface="Arial"/>
              <a:buChar char="•"/>
            </a:pPr>
            <a:r>
              <a:rPr sz="1050" b="0" i="0">
                <a:solidFill>
                  <a:srgbClr val="000000"/>
                </a:solidFill>
              </a:rPr>
              <a:t>3 </a:t>
            </a:r>
            <a:r>
              <a:rPr sz="1050" b="0" i="0">
                <a:solidFill>
                  <a:srgbClr val="000000"/>
                </a:solidFill>
                <a:latin typeface="Consolas"/>
              </a:rPr>
              <a:t>vx_om_export</a:t>
            </a:r>
            <a:r>
              <a:rPr sz="1050" b="0" i="0">
                <a:solidFill>
                  <a:srgbClr val="000000"/>
                </a:solidFill>
              </a:rPr>
              <a:t> (R4, aperture store) · 5 </a:t>
            </a:r>
            <a:r>
              <a:rPr sz="1050" b="0" i="0">
                <a:solidFill>
                  <a:srgbClr val="000000"/>
                </a:solidFill>
                <a:latin typeface="Consolas"/>
              </a:rPr>
              <a:t>vx_tex</a:t>
            </a:r>
            <a:r>
              <a:rPr sz="1050" b="0" i="0">
                <a:solidFill>
                  <a:srgbClr val="000000"/>
                </a:solidFill>
              </a:rPr>
              <a:t> (R4, texel in rd) · 6 / 7 RTU · RASTER has no kernel op — it pushes</a:t>
            </a:r>
          </a:p>
          <a:p>
            <a:pPr marL="0" indent="0">
              <a:spcBef>
                <a:spcPts val="400"/>
              </a:spcBef>
              <a:buNone/>
            </a:pPr>
            <a:r>
              <a:rPr sz="1150" b="1" i="0">
                <a:solidFill>
                  <a:srgbClr val="1F394D"/>
                </a:solidFill>
              </a:rPr>
              <a:t>Interface law</a:t>
            </a:r>
          </a:p>
          <a:p>
            <a:pPr lvl="1" marL="342900" indent="-228600">
              <a:spcBef>
                <a:spcPts val="0"/>
              </a:spcBef>
              <a:buFont typeface="Arial"/>
              <a:buChar char="•"/>
            </a:pPr>
            <a:r>
              <a:rPr sz="1050" b="0" i="0">
                <a:solidFill>
                  <a:srgbClr val="000000"/>
                </a:solidFill>
              </a:rPr>
              <a:t>FF ↔ SIMT values travel only in scoreboarded registers or launch messages — no shared mutable side band</a:t>
            </a:r>
          </a:p>
          <a:p>
            <a:pPr marL="0" indent="0">
              <a:spcBef>
                <a:spcPts val="400"/>
              </a:spcBef>
              <a:buNone/>
            </a:pPr>
            <a:r>
              <a:rPr sz="1150" b="1" i="0">
                <a:solidFill>
                  <a:srgbClr val="1F394D"/>
                </a:solidFill>
              </a:rPr>
              <a:t>Invariants</a:t>
            </a:r>
          </a:p>
          <a:p>
            <a:pPr lvl="1" marL="342900" indent="-228600">
              <a:spcBef>
                <a:spcPts val="0"/>
              </a:spcBef>
              <a:buFont typeface="Arial"/>
              <a:buChar char="•"/>
            </a:pPr>
            <a:r>
              <a:rPr sz="1050" b="0" i="0">
                <a:solidFill>
                  <a:srgbClr val="000000"/>
                </a:solidFill>
              </a:rPr>
              <a:t>no floating-point datapath in any FF unit; unrepresentable state → on-device SIMT fallback, never the host</a:t>
            </a:r>
          </a:p>
          <a:p>
            <a:pPr lvl="1" marL="342900" indent="-228600">
              <a:spcBef>
                <a:spcPts val="0"/>
              </a:spcBef>
              <a:buFont typeface="Arial"/>
              <a:buChar char="•"/>
            </a:pPr>
            <a:r>
              <a:rPr sz="1050" b="0" i="0">
                <a:solidFill>
                  <a:srgbClr val="000000"/>
                </a:solidFill>
              </a:rPr>
              <a:t>FF AXI masters bypass the MMU (VX_MEM_PHYS from a pinned slab)</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371600"/>
            <a:ext cx="1828800" cy="73152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On-device front end</a:t>
            </a:r>
          </a:p>
          <a:p>
            <a:pPr algn="ctr"/>
            <a:r>
              <a:rPr sz="950" b="0" i="0">
                <a:solidFill>
                  <a:srgbClr val="000000"/>
                </a:solidFill>
              </a:rPr>
              <a:t>(SIMT: setup_k, binning_k)</a:t>
            </a:r>
          </a:p>
        </p:txBody>
      </p:sp>
      <p:cxnSp>
        <p:nvCxnSpPr>
          <p:cNvPr id="6" name="Connector 5"/>
          <p:cNvCxnSpPr/>
          <p:nvPr/>
        </p:nvCxnSpPr>
        <p:spPr>
          <a:xfrm>
            <a:off x="2560320" y="173736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2926080" y="1371600"/>
            <a:ext cx="1828800" cy="73152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RASTER (cluster)</a:t>
            </a:r>
          </a:p>
          <a:p>
            <a:pPr algn="ctr"/>
            <a:r>
              <a:rPr sz="950" b="0" i="0">
                <a:solidFill>
                  <a:srgbClr val="000000"/>
                </a:solidFill>
              </a:rPr>
              <a:t>← rcache</a:t>
            </a:r>
          </a:p>
        </p:txBody>
      </p:sp>
      <p:cxnSp>
        <p:nvCxnSpPr>
          <p:cNvPr id="8" name="Connector 7"/>
          <p:cNvCxnSpPr/>
          <p:nvPr/>
        </p:nvCxnSpPr>
        <p:spPr>
          <a:xfrm>
            <a:off x="4754880" y="173736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709159" y="1325880"/>
            <a:ext cx="1280160" cy="274320"/>
          </a:xfrm>
          <a:prstGeom prst="rect">
            <a:avLst/>
          </a:prstGeom>
          <a:noFill/>
        </p:spPr>
        <p:txBody>
          <a:bodyPr wrap="square" lIns="27432" rIns="27432" tIns="27432" bIns="27432" anchor="t">
            <a:spAutoFit/>
          </a:bodyPr>
          <a:lstStyle/>
          <a:p>
            <a:pPr algn="ctr"/>
            <a:r>
              <a:rPr sz="750" b="0" i="0">
                <a:solidFill>
                  <a:srgbClr val="555555"/>
                </a:solidFill>
              </a:rPr>
              <a:t>launch msg (quad stamps)</a:t>
            </a:r>
          </a:p>
        </p:txBody>
      </p:sp>
      <p:sp>
        <p:nvSpPr>
          <p:cNvPr id="10" name="Rectangle 9"/>
          <p:cNvSpPr/>
          <p:nvPr/>
        </p:nvSpPr>
        <p:spPr>
          <a:xfrm>
            <a:off x="5120640" y="1371600"/>
            <a:ext cx="1828800" cy="73152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SIMT core</a:t>
            </a:r>
          </a:p>
          <a:p>
            <a:pPr algn="ctr"/>
            <a:r>
              <a:rPr sz="950" b="0" i="0">
                <a:solidFill>
                  <a:srgbClr val="000000"/>
                </a:solidFill>
              </a:rPr>
              <a:t>fragment shader (1-warp CTA)</a:t>
            </a:r>
          </a:p>
        </p:txBody>
      </p:sp>
      <p:sp>
        <p:nvSpPr>
          <p:cNvPr id="11" name="Rectangle 10"/>
          <p:cNvSpPr/>
          <p:nvPr/>
        </p:nvSpPr>
        <p:spPr>
          <a:xfrm>
            <a:off x="5120640" y="2514600"/>
            <a:ext cx="1828800" cy="64008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TEX (socket)</a:t>
            </a:r>
          </a:p>
          <a:p>
            <a:pPr algn="ctr"/>
            <a:r>
              <a:rPr sz="950" b="0" i="0">
                <a:solidFill>
                  <a:srgbClr val="000000"/>
                </a:solidFill>
              </a:rPr>
              <a:t>← tcache</a:t>
            </a:r>
          </a:p>
        </p:txBody>
      </p:sp>
      <p:cxnSp>
        <p:nvCxnSpPr>
          <p:cNvPr id="12" name="Connector 11"/>
          <p:cNvCxnSpPr/>
          <p:nvPr/>
        </p:nvCxnSpPr>
        <p:spPr>
          <a:xfrm>
            <a:off x="6035040" y="2103120"/>
            <a:ext cx="0" cy="41148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80" y="2148840"/>
            <a:ext cx="914400" cy="365760"/>
          </a:xfrm>
          <a:prstGeom prst="rect">
            <a:avLst/>
          </a:prstGeom>
          <a:noFill/>
        </p:spPr>
        <p:txBody>
          <a:bodyPr wrap="square" lIns="27432" rIns="27432" tIns="27432" bIns="27432" anchor="t">
            <a:spAutoFit/>
          </a:bodyPr>
          <a:lstStyle/>
          <a:p>
            <a:pPr algn="l"/>
            <a:r>
              <a:rPr sz="750" b="0" i="0">
                <a:solidFill>
                  <a:srgbClr val="555555"/>
                </a:solidFill>
              </a:rPr>
              <a:t>vx_tex</a:t>
            </a:r>
          </a:p>
          <a:p>
            <a:pPr algn="l"/>
            <a:r>
              <a:rPr sz="750" b="0" i="0">
                <a:solidFill>
                  <a:srgbClr val="555555"/>
                </a:solidFill>
              </a:rPr>
              <a:t>(scoreboarded rd)</a:t>
            </a:r>
          </a:p>
        </p:txBody>
      </p:sp>
      <p:sp>
        <p:nvSpPr>
          <p:cNvPr id="14" name="Rectangle 13"/>
          <p:cNvSpPr/>
          <p:nvPr/>
        </p:nvSpPr>
        <p:spPr>
          <a:xfrm>
            <a:off x="2926080" y="2514600"/>
            <a:ext cx="1828800" cy="640080"/>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OM (cluster)</a:t>
            </a:r>
          </a:p>
          <a:p>
            <a:pPr algn="ctr"/>
            <a:r>
              <a:rPr sz="950" b="0" i="0">
                <a:solidFill>
                  <a:srgbClr val="000000"/>
                </a:solidFill>
              </a:rPr>
              <a:t>↔ ocache</a:t>
            </a:r>
          </a:p>
        </p:txBody>
      </p:sp>
      <p:cxnSp>
        <p:nvCxnSpPr>
          <p:cNvPr id="15" name="Connector 14"/>
          <p:cNvCxnSpPr/>
          <p:nvPr/>
        </p:nvCxnSpPr>
        <p:spPr>
          <a:xfrm flipH="1">
            <a:off x="4754880" y="2834640"/>
            <a:ext cx="36576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709159" y="3154680"/>
            <a:ext cx="914400" cy="274320"/>
          </a:xfrm>
          <a:prstGeom prst="rect">
            <a:avLst/>
          </a:prstGeom>
          <a:noFill/>
        </p:spPr>
        <p:txBody>
          <a:bodyPr wrap="square" lIns="27432" rIns="27432" tIns="27432" bIns="27432" anchor="t">
            <a:spAutoFit/>
          </a:bodyPr>
          <a:lstStyle/>
          <a:p>
            <a:pPr algn="ctr"/>
            <a:r>
              <a:rPr sz="750" b="0" i="0">
                <a:solidFill>
                  <a:srgbClr val="555555"/>
                </a:solidFill>
              </a:rPr>
              <a:t>vx_om_export (posted)</a:t>
            </a:r>
          </a:p>
        </p:txBody>
      </p:sp>
      <p:cxnSp>
        <p:nvCxnSpPr>
          <p:cNvPr id="17" name="Connector 16"/>
          <p:cNvCxnSpPr/>
          <p:nvPr/>
        </p:nvCxnSpPr>
        <p:spPr>
          <a:xfrm flipV="1">
            <a:off x="2926080" y="2103120"/>
            <a:ext cx="0" cy="411480"/>
          </a:xfrm>
          <a:prstGeom prst="line">
            <a:avLst/>
          </a:prstGeom>
          <a:ln w="15875">
            <a:solidFill>
              <a:srgbClr val="40404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 y="2240280"/>
            <a:ext cx="1828800" cy="365760"/>
          </a:xfrm>
          <a:prstGeom prst="rect">
            <a:avLst/>
          </a:prstGeom>
          <a:noFill/>
        </p:spPr>
        <p:txBody>
          <a:bodyPr wrap="square" lIns="27432" rIns="27432" tIns="27432" bIns="27432" anchor="t">
            <a:spAutoFit/>
          </a:bodyPr>
          <a:lstStyle/>
          <a:p>
            <a:pPr algn="r"/>
            <a:r>
              <a:rPr sz="750" b="0" i="0">
                <a:solidFill>
                  <a:srgbClr val="555555"/>
                </a:solidFill>
              </a:rPr>
              <a:t>early-Z reads committed depth</a:t>
            </a:r>
          </a:p>
        </p:txBody>
      </p:sp>
      <p:sp>
        <p:nvSpPr>
          <p:cNvPr id="19" name="Rectangle 18"/>
          <p:cNvSpPr/>
          <p:nvPr/>
        </p:nvSpPr>
        <p:spPr>
          <a:xfrm>
            <a:off x="731520" y="2514600"/>
            <a:ext cx="1828800" cy="640080"/>
          </a:xfrm>
          <a:prstGeom prst="rect">
            <a:avLst/>
          </a:prstGeom>
          <a:solidFill>
            <a:srgbClr val="FFE0B3"/>
          </a:solidFill>
          <a:ln w="12700">
            <a:solidFill>
              <a:srgbClr val="D18B2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50" b="0" i="0">
                <a:solidFill>
                  <a:srgbClr val="000000"/>
                </a:solidFill>
              </a:rPr>
              <a:t>RTU (socket)</a:t>
            </a:r>
          </a:p>
          <a:p>
            <a:pPr algn="ctr"/>
            <a:r>
              <a:rPr sz="950" b="0" i="0">
                <a:solidFill>
                  <a:srgbClr val="000000"/>
                </a:solidFill>
              </a:rPr>
              <a:t>← rtcache</a:t>
            </a:r>
          </a:p>
        </p:txBody>
      </p:sp>
      <p:graphicFrame>
        <p:nvGraphicFramePr>
          <p:cNvPr id="20" name="Table 19"/>
          <p:cNvGraphicFramePr>
            <a:graphicFrameLocks noGrp="1"/>
          </p:cNvGraphicFramePr>
          <p:nvPr/>
        </p:nvGraphicFramePr>
        <p:xfrm>
          <a:off x="7589520" y="1280160"/>
          <a:ext cx="4023360" cy="1554480"/>
        </p:xfrm>
        <a:graphic>
          <a:graphicData uri="http://schemas.openxmlformats.org/drawingml/2006/table">
            <a:tbl>
              <a:tblPr firstRow="0" bandRow="0">
                <a:tableStyleId>{5940675A-B579-460E-94D1-54222C63F5DA}</a:tableStyleId>
              </a:tblPr>
              <a:tblGrid>
                <a:gridCol w="914400"/>
                <a:gridCol w="1828800"/>
                <a:gridCol w="1280160"/>
              </a:tblGrid>
              <a:tr h="310896">
                <a:tc>
                  <a:txBody>
                    <a:bodyPr wrap="square"/>
                    <a:lstStyle/>
                    <a:p>
                      <a:pPr algn="l"/>
                      <a:r>
                        <a:rPr sz="1100" b="1" i="0">
                          <a:solidFill>
                            <a:srgbClr val="FFFFFF"/>
                          </a:solidFill>
                        </a:rPr>
                        <a:t>Unit</a:t>
                      </a:r>
                    </a:p>
                  </a:txBody>
                  <a:tcPr marL="45720" marR="45720" marT="18288" marB="18288" anchor="ctr">
                    <a:solidFill>
                      <a:srgbClr val="1F394D"/>
                    </a:solidFill>
                  </a:tcPr>
                </a:tc>
                <a:tc>
                  <a:txBody>
                    <a:bodyPr wrap="square"/>
                    <a:lstStyle/>
                    <a:p>
                      <a:pPr algn="l"/>
                      <a:r>
                        <a:rPr sz="1100" b="1" i="0">
                          <a:solidFill>
                            <a:srgbClr val="FFFFFF"/>
                          </a:solidFill>
                        </a:rPr>
                        <a:t>DCRs</a:t>
                      </a:r>
                    </a:p>
                  </a:txBody>
                  <a:tcPr marL="45720" marR="45720" marT="18288" marB="18288" anchor="ctr">
                    <a:solidFill>
                      <a:srgbClr val="1F394D"/>
                    </a:solidFill>
                  </a:tcPr>
                </a:tc>
                <a:tc>
                  <a:txBody>
                    <a:bodyPr wrap="square"/>
                    <a:lstStyle/>
                    <a:p>
                      <a:pPr algn="l"/>
                      <a:r>
                        <a:rPr sz="1100" b="1" i="0">
                          <a:solidFill>
                            <a:srgbClr val="FFFFFF"/>
                          </a:solidFill>
                        </a:rPr>
                        <a:t>MPM class</a:t>
                      </a:r>
                    </a:p>
                  </a:txBody>
                  <a:tcPr marL="45720" marR="45720" marT="18288" marB="18288" anchor="ctr">
                    <a:solidFill>
                      <a:srgbClr val="1F394D"/>
                    </a:solidFill>
                  </a:tcPr>
                </a:tc>
              </a:tr>
              <a:tr h="310896">
                <a:tc>
                  <a:txBody>
                    <a:bodyPr wrap="square"/>
                    <a:lstStyle/>
                    <a:p>
                      <a:pPr algn="l"/>
                      <a:r>
                        <a:rPr sz="1100" b="0" i="0">
                          <a:solidFill>
                            <a:srgbClr val="000000"/>
                          </a:solidFill>
                        </a:rPr>
                        <a:t>TEX</a:t>
                      </a:r>
                    </a:p>
                  </a:txBody>
                  <a:tcPr marL="45720" marR="45720" marT="18288" marB="18288" anchor="ctr">
                    <a:solidFill>
                      <a:srgbClr val="FFFFFF"/>
                    </a:solidFill>
                  </a:tcPr>
                </a:tc>
                <a:tc>
                  <a:txBody>
                    <a:bodyPr wrap="square"/>
                    <a:lstStyle/>
                    <a:p>
                      <a:pPr algn="l"/>
                      <a:r>
                        <a:rPr sz="1100" b="0" i="0">
                          <a:solidFill>
                            <a:srgbClr val="000000"/>
                          </a:solidFill>
                        </a:rPr>
                        <a:t>0x040 – 0x056</a:t>
                      </a:r>
                    </a:p>
                  </a:txBody>
                  <a:tcPr marL="45720" marR="45720" marT="18288" marB="18288" anchor="ctr">
                    <a:solidFill>
                      <a:srgbClr val="FFFFFF"/>
                    </a:solidFill>
                  </a:tcPr>
                </a:tc>
                <a:tc>
                  <a:txBody>
                    <a:bodyPr wrap="square"/>
                    <a:lstStyle/>
                    <a:p>
                      <a:pPr algn="l"/>
                      <a:r>
                        <a:rPr sz="1100" b="0" i="0">
                          <a:solidFill>
                            <a:srgbClr val="000000"/>
                          </a:solidFill>
                        </a:rPr>
                        <a:t>13</a:t>
                      </a:r>
                    </a:p>
                  </a:txBody>
                  <a:tcPr marL="45720" marR="45720" marT="18288" marB="18288" anchor="ctr">
                    <a:solidFill>
                      <a:srgbClr val="FFFFFF"/>
                    </a:solidFill>
                  </a:tcPr>
                </a:tc>
              </a:tr>
              <a:tr h="310896">
                <a:tc>
                  <a:txBody>
                    <a:bodyPr wrap="square"/>
                    <a:lstStyle/>
                    <a:p>
                      <a:pPr algn="l"/>
                      <a:r>
                        <a:rPr sz="1100" b="0" i="0">
                          <a:solidFill>
                            <a:srgbClr val="000000"/>
                          </a:solidFill>
                        </a:rPr>
                        <a:t>RASTER</a:t>
                      </a:r>
                    </a:p>
                  </a:txBody>
                  <a:tcPr marL="45720" marR="45720" marT="18288" marB="18288" anchor="ctr">
                    <a:solidFill>
                      <a:srgbClr val="F2F6FA"/>
                    </a:solidFill>
                  </a:tcPr>
                </a:tc>
                <a:tc>
                  <a:txBody>
                    <a:bodyPr wrap="square"/>
                    <a:lstStyle/>
                    <a:p>
                      <a:pPr algn="l"/>
                      <a:r>
                        <a:rPr sz="1100" b="0" i="0">
                          <a:solidFill>
                            <a:srgbClr val="000000"/>
                          </a:solidFill>
                        </a:rPr>
                        <a:t>0x060 – 0x069</a:t>
                      </a:r>
                    </a:p>
                  </a:txBody>
                  <a:tcPr marL="45720" marR="45720" marT="18288" marB="18288" anchor="ctr">
                    <a:solidFill>
                      <a:srgbClr val="F2F6FA"/>
                    </a:solidFill>
                  </a:tcPr>
                </a:tc>
                <a:tc>
                  <a:txBody>
                    <a:bodyPr wrap="square"/>
                    <a:lstStyle/>
                    <a:p>
                      <a:pPr algn="l"/>
                      <a:r>
                        <a:rPr sz="1100" b="0" i="0">
                          <a:solidFill>
                            <a:srgbClr val="000000"/>
                          </a:solidFill>
                        </a:rPr>
                        <a:t>12</a:t>
                      </a:r>
                    </a:p>
                  </a:txBody>
                  <a:tcPr marL="45720" marR="45720" marT="18288" marB="18288" anchor="ctr">
                    <a:solidFill>
                      <a:srgbClr val="F2F6FA"/>
                    </a:solidFill>
                  </a:tcPr>
                </a:tc>
              </a:tr>
              <a:tr h="310896">
                <a:tc>
                  <a:txBody>
                    <a:bodyPr wrap="square"/>
                    <a:lstStyle/>
                    <a:p>
                      <a:pPr algn="l"/>
                      <a:r>
                        <a:rPr sz="1100" b="0" i="0">
                          <a:solidFill>
                            <a:srgbClr val="000000"/>
                          </a:solidFill>
                        </a:rPr>
                        <a:t>OM</a:t>
                      </a:r>
                    </a:p>
                  </a:txBody>
                  <a:tcPr marL="45720" marR="45720" marT="18288" marB="18288" anchor="ctr">
                    <a:solidFill>
                      <a:srgbClr val="FFFFFF"/>
                    </a:solidFill>
                  </a:tcPr>
                </a:tc>
                <a:tc>
                  <a:txBody>
                    <a:bodyPr wrap="square"/>
                    <a:lstStyle/>
                    <a:p>
                      <a:pPr algn="l"/>
                      <a:r>
                        <a:rPr sz="1100" b="0" i="0">
                          <a:solidFill>
                            <a:srgbClr val="000000"/>
                          </a:solidFill>
                        </a:rPr>
                        <a:t>0x080 – 0x097</a:t>
                      </a:r>
                    </a:p>
                  </a:txBody>
                  <a:tcPr marL="45720" marR="45720" marT="18288" marB="18288" anchor="ctr">
                    <a:solidFill>
                      <a:srgbClr val="FFFFFF"/>
                    </a:solidFill>
                  </a:tcPr>
                </a:tc>
                <a:tc>
                  <a:txBody>
                    <a:bodyPr wrap="square"/>
                    <a:lstStyle/>
                    <a:p>
                      <a:pPr algn="l"/>
                      <a:r>
                        <a:rPr sz="1100" b="0" i="0">
                          <a:solidFill>
                            <a:srgbClr val="000000"/>
                          </a:solidFill>
                        </a:rPr>
                        <a:t>14</a:t>
                      </a:r>
                    </a:p>
                  </a:txBody>
                  <a:tcPr marL="45720" marR="45720" marT="18288" marB="18288" anchor="ctr">
                    <a:solidFill>
                      <a:srgbClr val="FFFFFF"/>
                    </a:solidFill>
                  </a:tcPr>
                </a:tc>
              </a:tr>
              <a:tr h="310896">
                <a:tc>
                  <a:txBody>
                    <a:bodyPr wrap="square"/>
                    <a:lstStyle/>
                    <a:p>
                      <a:pPr algn="l"/>
                      <a:r>
                        <a:rPr sz="1100" b="0" i="0">
                          <a:solidFill>
                            <a:srgbClr val="000000"/>
                          </a:solidFill>
                        </a:rPr>
                        <a:t>RTU</a:t>
                      </a:r>
                    </a:p>
                  </a:txBody>
                  <a:tcPr marL="45720" marR="45720" marT="18288" marB="18288" anchor="ctr">
                    <a:solidFill>
                      <a:srgbClr val="F2F6FA"/>
                    </a:solidFill>
                  </a:tcPr>
                </a:tc>
                <a:tc>
                  <a:txBody>
                    <a:bodyPr wrap="square"/>
                    <a:lstStyle/>
                    <a:p>
                      <a:pPr algn="l"/>
                      <a:r>
                        <a:rPr sz="1100" b="0" i="0">
                          <a:solidFill>
                            <a:srgbClr val="000000"/>
                          </a:solidFill>
                        </a:rPr>
                        <a:t>0x0A0 – 0x0A6</a:t>
                      </a:r>
                    </a:p>
                  </a:txBody>
                  <a:tcPr marL="45720" marR="45720" marT="18288" marB="18288" anchor="ctr">
                    <a:solidFill>
                      <a:srgbClr val="F2F6FA"/>
                    </a:solidFill>
                  </a:tcPr>
                </a:tc>
                <a:tc>
                  <a:txBody>
                    <a:bodyPr wrap="square"/>
                    <a:lstStyle/>
                    <a:p>
                      <a:pPr algn="l"/>
                      <a:r>
                        <a:rPr sz="1100" b="0" i="0">
                          <a:solidFill>
                            <a:srgbClr val="000000"/>
                          </a:solidFill>
                        </a:rPr>
                        <a:t>15</a:t>
                      </a:r>
                    </a:p>
                  </a:txBody>
                  <a:tcPr marL="45720" marR="45720" marT="18288" marB="18288" anchor="ctr">
                    <a:solidFill>
                      <a:srgbClr val="F2F6FA"/>
                    </a:solidFill>
                  </a:tcPr>
                </a:tc>
              </a:tr>
            </a:tbl>
          </a:graphicData>
        </a:graphic>
      </p:graphicFrame>
      <p:sp>
        <p:nvSpPr>
          <p:cNvPr id="21" name="TextBox 20"/>
          <p:cNvSpPr txBox="1"/>
          <p:nvPr/>
        </p:nvSpPr>
        <p:spPr>
          <a:xfrm>
            <a:off x="7589520" y="3017520"/>
            <a:ext cx="4023360" cy="3108960"/>
          </a:xfrm>
          <a:prstGeom prst="rect">
            <a:avLst/>
          </a:prstGeom>
          <a:noFill/>
        </p:spPr>
        <p:txBody>
          <a:bodyPr wrap="square" lIns="45720" rIns="45720">
            <a:spAutoFit/>
          </a:bodyPr>
          <a:lstStyle/>
          <a:p>
            <a:pPr marL="0" indent="0">
              <a:spcBef>
                <a:spcPts val="400"/>
              </a:spcBef>
              <a:buNone/>
            </a:pPr>
            <a:r>
              <a:rPr sz="1150" b="1" i="0">
                <a:solidFill>
                  <a:srgbClr val="1F394D"/>
                </a:solidFill>
              </a:rPr>
              <a:t>Fragment dispatch v2 (push)</a:t>
            </a:r>
          </a:p>
          <a:p>
            <a:pPr lvl="1" marL="342900" indent="-228600">
              <a:spcBef>
                <a:spcPts val="0"/>
              </a:spcBef>
              <a:buFont typeface="Arial"/>
              <a:buChar char="•"/>
            </a:pPr>
            <a:r>
              <a:rPr sz="1050" b="0" i="0">
                <a:solidFill>
                  <a:srgbClr val="000000"/>
                </a:solidFill>
              </a:rPr>
              <a:t>in-launch delivery: VX_cta_dispatch writes stamps into launch-register RAM before activation</a:t>
            </a:r>
          </a:p>
          <a:p>
            <a:pPr lvl="1" marL="342900" indent="-228600">
              <a:spcBef>
                <a:spcPts val="0"/>
              </a:spcBef>
              <a:buFont typeface="Arial"/>
              <a:buChar char="•"/>
            </a:pPr>
            <a:r>
              <a:rPr sz="1050" b="0" i="0">
                <a:solidFill>
                  <a:srgbClr val="000000"/>
                </a:solidFill>
              </a:rPr>
              <a:t>wave = NUM_THREADS / 4 quads; one lane = one pixel incl. helper lanes</a:t>
            </a:r>
          </a:p>
          <a:p>
            <a:pPr lvl="1" marL="342900" indent="-228600">
              <a:spcBef>
                <a:spcPts val="0"/>
              </a:spcBef>
              <a:buFont typeface="Arial"/>
              <a:buChar char="•"/>
            </a:pPr>
            <a:r>
              <a:rPr sz="1050" b="0" i="0">
                <a:solidFill>
                  <a:srgbClr val="000000"/>
                </a:solidFill>
              </a:rPr>
              <a:t>draw = grid-less KMU launch (delegated draw); </a:t>
            </a:r>
            <a:r>
              <a:rPr sz="1050" b="0" i="0">
                <a:solidFill>
                  <a:srgbClr val="000000"/>
                </a:solidFill>
                <a:latin typeface="Consolas"/>
              </a:rPr>
              <a:t>gfx_busy</a:t>
            </a:r>
            <a:r>
              <a:rPr sz="1050" b="0" i="0">
                <a:solidFill>
                  <a:srgbClr val="000000"/>
                </a:solidFill>
              </a:rPr>
              <a:t> keeps the device busy until drained</a:t>
            </a:r>
          </a:p>
          <a:p>
            <a:pPr marL="0" indent="0">
              <a:spcBef>
                <a:spcPts val="400"/>
              </a:spcBef>
              <a:buNone/>
            </a:pPr>
            <a:r>
              <a:rPr sz="1150" b="1" i="0">
                <a:solidFill>
                  <a:srgbClr val="1F394D"/>
                </a:solidFill>
              </a:rPr>
              <a:t>Early-Z (optional)</a:t>
            </a:r>
          </a:p>
          <a:p>
            <a:pPr lvl="1" marL="342900" indent="-228600">
              <a:spcBef>
                <a:spcPts val="0"/>
              </a:spcBef>
              <a:buFont typeface="Arial"/>
              <a:buChar char="•"/>
            </a:pPr>
            <a:r>
              <a:rPr sz="1050" b="0" i="0">
                <a:solidFill>
                  <a:srgbClr val="000000"/>
                </a:solidFill>
              </a:rPr>
              <a:t>VX_raster_earlyz reads committed depth from ocache, read-only</a:t>
            </a:r>
          </a:p>
          <a:p>
            <a:pPr lvl="1" marL="342900" indent="-228600">
              <a:spcBef>
                <a:spcPts val="0"/>
              </a:spcBef>
              <a:buFont typeface="Arial"/>
              <a:buChar char="•"/>
            </a:pPr>
            <a:r>
              <a:rPr sz="1050" b="0" i="0">
                <a:solidFill>
                  <a:srgbClr val="000000"/>
                </a:solidFill>
              </a:rPr>
              <a:t>armed only for monotone LESS/LEQUAL, no stencil (OM_EARLYZ_SAFE)</a:t>
            </a:r>
          </a:p>
          <a:p>
            <a:pPr lvl="1" marL="342900" indent="-228600">
              <a:spcBef>
                <a:spcPts val="0"/>
              </a:spcBef>
              <a:buFont typeface="Arial"/>
              <a:buChar char="•"/>
            </a:pPr>
            <a:r>
              <a:rPr sz="1050" b="0" i="0">
                <a:solidFill>
                  <a:srgbClr val="000000"/>
                </a:solidFill>
              </a:rPr>
              <a:t>strict-behind cull: image-identical to ROP-only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RTU Core: Traversal Engine</a:t>
            </a:r>
          </a:p>
        </p:txBody>
      </p:sp>
      <p:sp>
        <p:nvSpPr>
          <p:cNvPr id="3" name="Text Placeholder 2"/>
          <p:cNvSpPr>
            <a:spLocks noGrp="1"/>
          </p:cNvSpPr>
          <p:nvPr>
            <p:ph type="body" idx="1"/>
          </p:nvPr>
        </p:nvSpPr>
        <p:spPr>
          <a:xfrm>
            <a:off x="7315200" y="1188720"/>
            <a:ext cx="4389120" cy="4937760"/>
          </a:xfrm>
        </p:spPr>
        <p:txBody>
          <a:bodyPr wrap="square"/>
          <a:lstStyle/>
          <a:p>
            <a:pPr marL="0" indent="0">
              <a:spcBef>
                <a:spcPts val="400"/>
              </a:spcBef>
              <a:buNone/>
            </a:pPr>
            <a:r>
              <a:rPr sz="1050" b="1" i="0">
                <a:solidFill>
                  <a:srgbClr val="1F394D"/>
                </a:solidFill>
              </a:rPr>
              <a:t>Bus and binding</a:t>
            </a:r>
          </a:p>
          <a:p>
            <a:pPr lvl="1" marL="342900" indent="-228600">
              <a:spcBef>
                <a:spcPts val="0"/>
              </a:spcBef>
              <a:buFont typeface="Arial"/>
              <a:buChar char="•"/>
            </a:pPr>
            <a:r>
              <a:rPr sz="950" b="0" i="0">
                <a:solidFill>
                  <a:srgbClr val="000000"/>
                </a:solidFill>
              </a:rPr>
              <a:t>VX_rtu_bus_if channels arm / req / win; VX_rtu_bus_arb binds cores to RTUs statically</a:t>
            </a:r>
          </a:p>
          <a:p>
            <a:pPr marL="0" indent="0">
              <a:spcBef>
                <a:spcPts val="400"/>
              </a:spcBef>
              <a:buNone/>
            </a:pPr>
            <a:r>
              <a:rPr sz="1050" b="1" i="0">
                <a:solidFill>
                  <a:srgbClr val="1F394D"/>
                </a:solidFill>
              </a:rPr>
              <a:t>VX_rtu_core</a:t>
            </a:r>
          </a:p>
          <a:p>
            <a:pPr lvl="1" marL="342900" indent="-228600">
              <a:spcBef>
                <a:spcPts val="0"/>
              </a:spcBef>
              <a:buFont typeface="Arial"/>
              <a:buChar char="•"/>
            </a:pPr>
            <a:r>
              <a:rPr sz="950" b="0" i="0">
                <a:solidFill>
                  <a:srgbClr val="000000"/>
                </a:solidFill>
              </a:rPr>
              <a:t>staging RAM per {src, wid} → fill engine → slot pool (NUM_SLOTS = SOCKET_SIZE / NUM_RTU_CORES, NUM_CTX = slots × NT)</a:t>
            </a:r>
          </a:p>
          <a:p>
            <a:pPr lvl="1" marL="342900" indent="-228600">
              <a:spcBef>
                <a:spcPts val="0"/>
              </a:spcBef>
              <a:buFont typeface="Arial"/>
              <a:buChar char="•"/>
            </a:pPr>
            <a:r>
              <a:rPr sz="950" b="0" i="0">
                <a:solidFill>
                  <a:srgbClr val="000000"/>
                </a:solidFill>
              </a:rPr>
              <a:t>VX_rtu_scheduler: SELECT → ALIGN → EXEC, ~30-state context FSM, wake bits, 1 micro-step/cycle</a:t>
            </a:r>
          </a:p>
          <a:p>
            <a:pPr lvl="1" marL="342900" indent="-228600">
              <a:spcBef>
                <a:spcPts val="0"/>
              </a:spcBef>
              <a:buFont typeface="Arial"/>
              <a:buChar char="•"/>
            </a:pPr>
            <a:r>
              <a:rPr sz="950" b="0" i="0">
                <a:solidFill>
                  <a:srgbClr val="000000"/>
                </a:solidFill>
              </a:rPr>
              <a:t>commit engine → window store; barrier walker runs finalise and resume</a:t>
            </a:r>
          </a:p>
          <a:p>
            <a:pPr lvl="1" marL="342900" indent="-228600">
              <a:spcBef>
                <a:spcPts val="0"/>
              </a:spcBef>
              <a:buFont typeface="Arial"/>
              <a:buChar char="•"/>
            </a:pPr>
            <a:r>
              <a:rPr sz="950" b="0" i="0">
                <a:solidFill>
                  <a:srgbClr val="000000"/>
                </a:solidFill>
              </a:rPr>
              <a:t>short stack RTU_STACK_DEPTH = 16 + rank-path restart (exact ≤ 63 levels); 16-entry box collector, insertion-sorted</a:t>
            </a:r>
          </a:p>
          <a:p>
            <a:pPr marL="0" indent="0">
              <a:spcBef>
                <a:spcPts val="400"/>
              </a:spcBef>
              <a:buNone/>
            </a:pPr>
            <a:r>
              <a:rPr sz="1050" b="1" i="0">
                <a:solidFill>
                  <a:srgbClr val="1F394D"/>
                </a:solidFill>
              </a:rPr>
              <a:t>PEs (FP32, FPU cores reused, no subnormals)</a:t>
            </a:r>
          </a:p>
          <a:p>
            <a:pPr lvl="1" marL="342900" indent="-228600">
              <a:spcBef>
                <a:spcPts val="0"/>
              </a:spcBef>
              <a:buFont typeface="Arial"/>
              <a:buChar char="•"/>
            </a:pPr>
            <a:r>
              <a:rPr sz="950" b="0" i="0">
                <a:solidFill>
                  <a:srgbClr val="000000"/>
                </a:solidFill>
              </a:rPr>
              <a:t>VX_rtu_box_pe (slab, 1 child/cycle) · VX_rtu_tri_pe (Woop/Benthin/Wald watertight, 1 tri/cycle)</a:t>
            </a:r>
          </a:p>
          <a:p>
            <a:pPr lvl="1" marL="342900" indent="-228600">
              <a:spcBef>
                <a:spcPts val="0"/>
              </a:spcBef>
              <a:buFont typeface="Arial"/>
              <a:buChar char="•"/>
            </a:pPr>
            <a:r>
              <a:rPr sz="950" b="0" i="0">
                <a:solidFill>
                  <a:srgbClr val="000000"/>
                </a:solidFill>
              </a:rPr>
              <a:t>VX_rtu_xform (18 FMA, world→object matrix stored) · VX_rtu_recip (LUT + Newton, or DSP seed)</a:t>
            </a:r>
          </a:p>
          <a:p>
            <a:pPr marL="0" indent="0">
              <a:spcBef>
                <a:spcPts val="400"/>
              </a:spcBef>
              <a:buNone/>
            </a:pPr>
            <a:r>
              <a:rPr sz="1050" b="1" i="0">
                <a:solidFill>
                  <a:srgbClr val="1F394D"/>
                </a:solidFill>
              </a:rPr>
              <a:t>RTCache</a:t>
            </a:r>
          </a:p>
          <a:p>
            <a:pPr lvl="1" marL="342900" indent="-228600">
              <a:spcBef>
                <a:spcPts val="0"/>
              </a:spcBef>
              <a:buFont typeface="Arial"/>
              <a:buChar char="•"/>
            </a:pPr>
            <a:r>
              <a:rPr sz="950" b="0" i="0">
                <a:solidFill>
                  <a:srgbClr val="000000"/>
                </a:solidFill>
              </a:rPr>
              <a:t>8 KB, 1 bank, 2 ways, 16 MSHRs; CW-BVH4 node = one 64 B line</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Rectangle 4"/>
          <p:cNvSpPr/>
          <p:nvPr/>
        </p:nvSpPr>
        <p:spPr>
          <a:xfrm>
            <a:off x="731520" y="1463040"/>
            <a:ext cx="1828800" cy="1371600"/>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SIMT core</a:t>
            </a:r>
          </a:p>
          <a:p>
            <a:pPr algn="ctr"/>
            <a:r>
              <a:rPr sz="900" b="0" i="0">
                <a:solidFill>
                  <a:srgbClr val="000000"/>
                </a:solidFill>
              </a:rPr>
              <a:t>VX_rtu_unit (SFU PE)</a:t>
            </a:r>
          </a:p>
          <a:p>
            <a:pPr algn="ctr"/>
            <a:r>
              <a:rPr sz="900" b="0" i="0">
                <a:solidFill>
                  <a:srgbClr val="000000"/>
                </a:solidFill>
              </a:rPr>
              <a:t>hit window BRAM</a:t>
            </a:r>
          </a:p>
          <a:p>
            <a:pPr algn="ctr"/>
            <a:r>
              <a:rPr sz="900" b="0" i="0">
                <a:solidFill>
                  <a:srgbClr val="000000"/>
                </a:solidFill>
              </a:rPr>
              <a:t>parked-WAIT table</a:t>
            </a:r>
          </a:p>
        </p:txBody>
      </p:sp>
      <p:cxnSp>
        <p:nvCxnSpPr>
          <p:cNvPr id="6" name="Connector 5"/>
          <p:cNvCxnSpPr/>
          <p:nvPr/>
        </p:nvCxnSpPr>
        <p:spPr>
          <a:xfrm>
            <a:off x="2560320" y="1691640"/>
            <a:ext cx="1188719"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606039" y="1444752"/>
            <a:ext cx="1143000" cy="228600"/>
          </a:xfrm>
          <a:prstGeom prst="rect">
            <a:avLst/>
          </a:prstGeom>
          <a:noFill/>
        </p:spPr>
        <p:txBody>
          <a:bodyPr wrap="square" lIns="27432" rIns="27432" tIns="27432" bIns="27432" anchor="t">
            <a:spAutoFit/>
          </a:bodyPr>
          <a:lstStyle/>
          <a:p>
            <a:pPr algn="ctr"/>
            <a:r>
              <a:rPr sz="700" b="0" i="0">
                <a:solidFill>
                  <a:srgbClr val="555555"/>
                </a:solidFill>
              </a:rPr>
              <a:t>arm (may block)</a:t>
            </a:r>
          </a:p>
        </p:txBody>
      </p:sp>
      <p:cxnSp>
        <p:nvCxnSpPr>
          <p:cNvPr id="8" name="Connector 7"/>
          <p:cNvCxnSpPr/>
          <p:nvPr/>
        </p:nvCxnSpPr>
        <p:spPr>
          <a:xfrm>
            <a:off x="2560320" y="2148840"/>
            <a:ext cx="1188719"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06039" y="1901952"/>
            <a:ext cx="1143000" cy="228600"/>
          </a:xfrm>
          <a:prstGeom prst="rect">
            <a:avLst/>
          </a:prstGeom>
          <a:noFill/>
        </p:spPr>
        <p:txBody>
          <a:bodyPr wrap="square" lIns="27432" rIns="27432" tIns="27432" bIns="27432" anchor="t">
            <a:spAutoFit/>
          </a:bodyPr>
          <a:lstStyle/>
          <a:p>
            <a:pPr algn="ctr"/>
            <a:r>
              <a:rPr sz="700" b="0" i="0">
                <a:solidFill>
                  <a:srgbClr val="555555"/>
                </a:solidFill>
              </a:rPr>
              <a:t>req: RAY beats, CONTINUE</a:t>
            </a:r>
          </a:p>
        </p:txBody>
      </p:sp>
      <p:cxnSp>
        <p:nvCxnSpPr>
          <p:cNvPr id="10" name="Connector 9"/>
          <p:cNvCxnSpPr/>
          <p:nvPr/>
        </p:nvCxnSpPr>
        <p:spPr>
          <a:xfrm flipH="1">
            <a:off x="2560320" y="2606040"/>
            <a:ext cx="1188719"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606039" y="2359152"/>
            <a:ext cx="1143000" cy="228600"/>
          </a:xfrm>
          <a:prstGeom prst="rect">
            <a:avLst/>
          </a:prstGeom>
          <a:noFill/>
        </p:spPr>
        <p:txBody>
          <a:bodyPr wrap="square" lIns="27432" rIns="27432" tIns="27432" bIns="27432" anchor="t">
            <a:spAutoFit/>
          </a:bodyPr>
          <a:lstStyle/>
          <a:p>
            <a:pPr algn="ctr"/>
            <a:r>
              <a:rPr sz="700" b="0" i="0">
                <a:solidFill>
                  <a:srgbClr val="555555"/>
                </a:solidFill>
              </a:rPr>
              <a:t>win: slot writes, STATUS last</a:t>
            </a:r>
          </a:p>
        </p:txBody>
      </p:sp>
      <p:sp>
        <p:nvSpPr>
          <p:cNvPr id="12" name="Rectangle 11"/>
          <p:cNvSpPr/>
          <p:nvPr/>
        </p:nvSpPr>
        <p:spPr>
          <a:xfrm>
            <a:off x="3749039" y="1463040"/>
            <a:ext cx="1005840" cy="137160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VX_rtu_</a:t>
            </a:r>
          </a:p>
          <a:p>
            <a:pPr algn="ctr"/>
            <a:r>
              <a:rPr sz="900" b="0" i="0">
                <a:solidFill>
                  <a:srgbClr val="000000"/>
                </a:solidFill>
              </a:rPr>
              <a:t>bus_arb</a:t>
            </a:r>
          </a:p>
          <a:p>
            <a:pPr algn="ctr"/>
            <a:r>
              <a:rPr sz="900" b="0" i="0">
                <a:solidFill>
                  <a:srgbClr val="000000"/>
                </a:solidFill>
              </a:rPr>
              <a:t>(static</a:t>
            </a:r>
          </a:p>
          <a:p>
            <a:pPr algn="ctr"/>
            <a:r>
              <a:rPr sz="900" b="0" i="0">
                <a:solidFill>
                  <a:srgbClr val="000000"/>
                </a:solidFill>
              </a:rPr>
              <a:t>binding)</a:t>
            </a:r>
          </a:p>
        </p:txBody>
      </p:sp>
      <p:cxnSp>
        <p:nvCxnSpPr>
          <p:cNvPr id="13" name="Connector 12"/>
          <p:cNvCxnSpPr/>
          <p:nvPr/>
        </p:nvCxnSpPr>
        <p:spPr>
          <a:xfrm>
            <a:off x="4754880" y="2148840"/>
            <a:ext cx="27432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029200" y="1280160"/>
            <a:ext cx="2286000" cy="3017520"/>
          </a:xfrm>
          <a:prstGeom prst="rect">
            <a:avLst/>
          </a:prstGeom>
          <a:solidFill>
            <a:srgbClr val="EEF3F8"/>
          </a:solidFill>
          <a:ln w="9525">
            <a:solidFill>
              <a:srgbClr val="7B93AE"/>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p>
        </p:txBody>
      </p:sp>
      <p:sp>
        <p:nvSpPr>
          <p:cNvPr id="15" name="TextBox 14"/>
          <p:cNvSpPr txBox="1"/>
          <p:nvPr/>
        </p:nvSpPr>
        <p:spPr>
          <a:xfrm>
            <a:off x="5074920" y="1298448"/>
            <a:ext cx="2194560" cy="228600"/>
          </a:xfrm>
          <a:prstGeom prst="rect">
            <a:avLst/>
          </a:prstGeom>
          <a:noFill/>
        </p:spPr>
        <p:txBody>
          <a:bodyPr wrap="square" lIns="27432" rIns="27432" tIns="27432" bIns="27432" anchor="t">
            <a:spAutoFit/>
          </a:bodyPr>
          <a:lstStyle/>
          <a:p>
            <a:pPr algn="l"/>
            <a:r>
              <a:rPr sz="1000" b="1" i="0">
                <a:solidFill>
                  <a:srgbClr val="404040"/>
                </a:solidFill>
              </a:rPr>
              <a:t>VX_rtu_core (socket)</a:t>
            </a:r>
          </a:p>
        </p:txBody>
      </p:sp>
      <p:sp>
        <p:nvSpPr>
          <p:cNvPr id="16" name="Rounded Rectangle 15"/>
          <p:cNvSpPr/>
          <p:nvPr/>
        </p:nvSpPr>
        <p:spPr>
          <a:xfrm>
            <a:off x="5166359" y="1600200"/>
            <a:ext cx="2011680" cy="462686"/>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staging RAM {src, wid}</a:t>
            </a:r>
          </a:p>
        </p:txBody>
      </p:sp>
      <p:cxnSp>
        <p:nvCxnSpPr>
          <p:cNvPr id="17" name="Connector 16"/>
          <p:cNvCxnSpPr/>
          <p:nvPr/>
        </p:nvCxnSpPr>
        <p:spPr>
          <a:xfrm>
            <a:off x="6172200" y="2062886"/>
            <a:ext cx="0" cy="7315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66359" y="2136038"/>
            <a:ext cx="2011680" cy="462686"/>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fill engine → slot pool</a:t>
            </a:r>
          </a:p>
        </p:txBody>
      </p:sp>
      <p:cxnSp>
        <p:nvCxnSpPr>
          <p:cNvPr id="19" name="Connector 18"/>
          <p:cNvCxnSpPr/>
          <p:nvPr/>
        </p:nvCxnSpPr>
        <p:spPr>
          <a:xfrm>
            <a:off x="6172200" y="2598724"/>
            <a:ext cx="0" cy="7315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66359" y="2671876"/>
            <a:ext cx="2011680" cy="462686"/>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scheduler: SELECT → ALIGN → EXEC</a:t>
            </a:r>
          </a:p>
        </p:txBody>
      </p:sp>
      <p:cxnSp>
        <p:nvCxnSpPr>
          <p:cNvPr id="21" name="Connector 20"/>
          <p:cNvCxnSpPr/>
          <p:nvPr/>
        </p:nvCxnSpPr>
        <p:spPr>
          <a:xfrm>
            <a:off x="6172200" y="3134563"/>
            <a:ext cx="0" cy="7315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166359" y="3207715"/>
            <a:ext cx="2011680" cy="462686"/>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PEs: box · tri · xform · recip</a:t>
            </a:r>
          </a:p>
        </p:txBody>
      </p:sp>
      <p:cxnSp>
        <p:nvCxnSpPr>
          <p:cNvPr id="23" name="Connector 22"/>
          <p:cNvCxnSpPr/>
          <p:nvPr/>
        </p:nvCxnSpPr>
        <p:spPr>
          <a:xfrm>
            <a:off x="6172200" y="3670401"/>
            <a:ext cx="0" cy="73152"/>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5166359" y="3743553"/>
            <a:ext cx="2011680" cy="462686"/>
          </a:xfrm>
          <a:prstGeom prst="roundRect">
            <a:avLst>
              <a:gd name="adj" fmla="val 12000"/>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50" b="0" i="0">
                <a:solidFill>
                  <a:srgbClr val="000000"/>
                </a:solidFill>
              </a:rPr>
              <a:t>commit → window (STATUS last)</a:t>
            </a:r>
          </a:p>
        </p:txBody>
      </p:sp>
      <p:sp>
        <p:nvSpPr>
          <p:cNvPr id="25" name="Rectangle 24"/>
          <p:cNvSpPr/>
          <p:nvPr/>
        </p:nvSpPr>
        <p:spPr>
          <a:xfrm>
            <a:off x="731520" y="3200400"/>
            <a:ext cx="4023360" cy="640080"/>
          </a:xfrm>
          <a:prstGeom prst="rect">
            <a:avLst/>
          </a:prstGeom>
          <a:solidFill>
            <a:srgbClr val="FFF2CC"/>
          </a:solidFill>
          <a:ln w="12700">
            <a:solidFill>
              <a:srgbClr val="B89B2A"/>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RTCache: 8 KB, 1 bank, 2 ways, 16 MSHRs — CW-BVH4 node = one 64 B line</a:t>
            </a:r>
          </a:p>
        </p:txBody>
      </p:sp>
      <p:cxnSp>
        <p:nvCxnSpPr>
          <p:cNvPr id="26" name="Connector 25"/>
          <p:cNvCxnSpPr/>
          <p:nvPr/>
        </p:nvCxnSpPr>
        <p:spPr>
          <a:xfrm>
            <a:off x="4754880" y="3520440"/>
            <a:ext cx="274320" cy="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31520" y="4069080"/>
            <a:ext cx="6583680" cy="274320"/>
          </a:xfrm>
          <a:prstGeom prst="rect">
            <a:avLst/>
          </a:prstGeom>
          <a:noFill/>
        </p:spPr>
        <p:txBody>
          <a:bodyPr wrap="square" lIns="27432" rIns="27432" tIns="27432" bIns="27432" anchor="t">
            <a:spAutoFit/>
          </a:bodyPr>
          <a:lstStyle/>
          <a:p>
            <a:pPr algn="l"/>
            <a:r>
              <a:rPr sz="1000" b="1" i="0">
                <a:solidFill>
                  <a:srgbClr val="1F394D"/>
                </a:solidFill>
              </a:rPr>
              <a:t>Per-ray traversal state machine</a:t>
            </a:r>
          </a:p>
        </p:txBody>
      </p:sp>
      <p:sp>
        <p:nvSpPr>
          <p:cNvPr id="28" name="Rectangle 27"/>
          <p:cNvSpPr/>
          <p:nvPr/>
        </p:nvSpPr>
        <p:spPr>
          <a:xfrm>
            <a:off x="731520" y="4434840"/>
            <a:ext cx="1097280" cy="411480"/>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900" b="0" i="0">
                <a:solidFill>
                  <a:srgbClr val="000000"/>
                </a:solidFill>
              </a:rPr>
              <a:t>TRACE</a:t>
            </a:r>
          </a:p>
        </p:txBody>
      </p:sp>
      <p:cxnSp>
        <p:nvCxnSpPr>
          <p:cNvPr id="29" name="Connector 28"/>
          <p:cNvCxnSpPr/>
          <p:nvPr/>
        </p:nvCxnSpPr>
        <p:spPr>
          <a:xfrm>
            <a:off x="1828800" y="4636008"/>
            <a:ext cx="27432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103120" y="4389120"/>
            <a:ext cx="1371600" cy="1463040"/>
          </a:xfrm>
          <a:prstGeom prst="rect">
            <a:avLst/>
          </a:prstGeom>
          <a:solidFill>
            <a:srgbClr val="DAE8FC"/>
          </a:solidFill>
          <a:ln w="12700">
            <a:solidFill>
              <a:srgbClr val="4A78B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1000" b="1" i="0">
                <a:solidFill>
                  <a:srgbClr val="000000"/>
                </a:solidFill>
              </a:rPr>
              <a:t>TRAVERSE</a:t>
            </a:r>
          </a:p>
        </p:txBody>
      </p:sp>
      <p:sp>
        <p:nvSpPr>
          <p:cNvPr id="31" name="Rectangle 30"/>
          <p:cNvSpPr/>
          <p:nvPr/>
        </p:nvSpPr>
        <p:spPr>
          <a:xfrm>
            <a:off x="3749039" y="4389120"/>
            <a:ext cx="1371600" cy="329184"/>
          </a:xfrm>
          <a:prstGeom prst="rect">
            <a:avLst/>
          </a:prstGeom>
          <a:solidFill>
            <a:srgbClr val="E1D5E7"/>
          </a:solidFill>
          <a:ln w="12700">
            <a:solidFill>
              <a:srgbClr val="8E6DAF"/>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00" b="0" i="0">
                <a:solidFill>
                  <a:srgbClr val="000000"/>
                </a:solidFill>
              </a:rPr>
              <a:t>INSTANCE_HIT</a:t>
            </a:r>
          </a:p>
        </p:txBody>
      </p:sp>
      <p:cxnSp>
        <p:nvCxnSpPr>
          <p:cNvPr id="32" name="Connector 31"/>
          <p:cNvCxnSpPr/>
          <p:nvPr/>
        </p:nvCxnSpPr>
        <p:spPr>
          <a:xfrm>
            <a:off x="3474720" y="4553712"/>
            <a:ext cx="274319" cy="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166359" y="4389120"/>
            <a:ext cx="1463040" cy="329184"/>
          </a:xfrm>
          <a:prstGeom prst="rect">
            <a:avLst/>
          </a:prstGeom>
          <a:noFill/>
        </p:spPr>
        <p:txBody>
          <a:bodyPr wrap="square" lIns="27432" rIns="27432" tIns="27432" bIns="27432" anchor="ctr">
            <a:spAutoFit/>
          </a:bodyPr>
          <a:lstStyle/>
          <a:p>
            <a:pPr algn="l"/>
            <a:r>
              <a:rPr sz="750" b="0" i="0">
                <a:solidFill>
                  <a:srgbClr val="555555"/>
                </a:solidFill>
              </a:rPr>
              <a:t>xform → BLAS</a:t>
            </a:r>
          </a:p>
        </p:txBody>
      </p:sp>
      <p:sp>
        <p:nvSpPr>
          <p:cNvPr id="34" name="Rectangle 33"/>
          <p:cNvSpPr/>
          <p:nvPr/>
        </p:nvSpPr>
        <p:spPr>
          <a:xfrm>
            <a:off x="3749039" y="4773168"/>
            <a:ext cx="1371600" cy="329184"/>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00" b="0" i="0">
                <a:solidFill>
                  <a:srgbClr val="000000"/>
                </a:solidFill>
              </a:rPr>
              <a:t>TRIANGLE_HIT</a:t>
            </a:r>
          </a:p>
        </p:txBody>
      </p:sp>
      <p:cxnSp>
        <p:nvCxnSpPr>
          <p:cNvPr id="35" name="Connector 34"/>
          <p:cNvCxnSpPr/>
          <p:nvPr/>
        </p:nvCxnSpPr>
        <p:spPr>
          <a:xfrm>
            <a:off x="3474720" y="4937759"/>
            <a:ext cx="274319" cy="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166359" y="4773168"/>
            <a:ext cx="1463040" cy="329184"/>
          </a:xfrm>
          <a:prstGeom prst="rect">
            <a:avLst/>
          </a:prstGeom>
          <a:noFill/>
        </p:spPr>
        <p:txBody>
          <a:bodyPr wrap="square" lIns="27432" rIns="27432" tIns="27432" bIns="27432" anchor="ctr">
            <a:spAutoFit/>
          </a:bodyPr>
          <a:lstStyle/>
          <a:p>
            <a:pPr algn="l"/>
            <a:r>
              <a:rPr sz="750" b="0" i="0">
                <a:solidFill>
                  <a:srgbClr val="555555"/>
                </a:solidFill>
              </a:rPr>
              <a:t>any-hit → AHS queue</a:t>
            </a:r>
          </a:p>
        </p:txBody>
      </p:sp>
      <p:sp>
        <p:nvSpPr>
          <p:cNvPr id="37" name="Rectangle 36"/>
          <p:cNvSpPr/>
          <p:nvPr/>
        </p:nvSpPr>
        <p:spPr>
          <a:xfrm>
            <a:off x="3749039" y="5157216"/>
            <a:ext cx="1371600" cy="329184"/>
          </a:xfrm>
          <a:prstGeom prst="rect">
            <a:avLst/>
          </a:prstGeom>
          <a:solidFill>
            <a:srgbClr val="E2F0D9"/>
          </a:solidFill>
          <a:ln w="12700">
            <a:solidFill>
              <a:srgbClr val="5B9A4B"/>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00" b="0" i="0">
                <a:solidFill>
                  <a:srgbClr val="000000"/>
                </a:solidFill>
              </a:rPr>
              <a:t>PROCEDURAL_HIT</a:t>
            </a:r>
          </a:p>
        </p:txBody>
      </p:sp>
      <p:cxnSp>
        <p:nvCxnSpPr>
          <p:cNvPr id="38" name="Connector 37"/>
          <p:cNvCxnSpPr/>
          <p:nvPr/>
        </p:nvCxnSpPr>
        <p:spPr>
          <a:xfrm>
            <a:off x="3474720" y="5321807"/>
            <a:ext cx="274319" cy="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166359" y="5157216"/>
            <a:ext cx="1463040" cy="329184"/>
          </a:xfrm>
          <a:prstGeom prst="rect">
            <a:avLst/>
          </a:prstGeom>
          <a:noFill/>
        </p:spPr>
        <p:txBody>
          <a:bodyPr wrap="square" lIns="27432" rIns="27432" tIns="27432" bIns="27432" anchor="ctr">
            <a:spAutoFit/>
          </a:bodyPr>
          <a:lstStyle/>
          <a:p>
            <a:pPr algn="l"/>
            <a:r>
              <a:rPr sz="750" b="0" i="0">
                <a:solidFill>
                  <a:srgbClr val="555555"/>
                </a:solidFill>
              </a:rPr>
              <a:t>intersection → IS queue</a:t>
            </a:r>
          </a:p>
        </p:txBody>
      </p:sp>
      <p:sp>
        <p:nvSpPr>
          <p:cNvPr id="40" name="Rectangle 39"/>
          <p:cNvSpPr/>
          <p:nvPr/>
        </p:nvSpPr>
        <p:spPr>
          <a:xfrm>
            <a:off x="3749039" y="5541264"/>
            <a:ext cx="1371600" cy="329184"/>
          </a:xfrm>
          <a:prstGeom prst="rect">
            <a:avLst/>
          </a:prstGeom>
          <a:solidFill>
            <a:srgbClr val="EDEDED"/>
          </a:solidFill>
          <a:ln w="1270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800" b="0" i="0">
                <a:solidFill>
                  <a:srgbClr val="000000"/>
                </a:solidFill>
              </a:rPr>
              <a:t>RESTART</a:t>
            </a:r>
          </a:p>
        </p:txBody>
      </p:sp>
      <p:cxnSp>
        <p:nvCxnSpPr>
          <p:cNvPr id="41" name="Connector 40"/>
          <p:cNvCxnSpPr/>
          <p:nvPr/>
        </p:nvCxnSpPr>
        <p:spPr>
          <a:xfrm>
            <a:off x="3474720" y="5705855"/>
            <a:ext cx="274319" cy="0"/>
          </a:xfrm>
          <a:prstGeom prst="line">
            <a:avLst/>
          </a:prstGeom>
          <a:ln w="15875">
            <a:solidFill>
              <a:srgbClr val="404040"/>
            </a:solidFill>
            <a:tailEnd type="triangle" w="med" len="med"/>
            <a:head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166359" y="5541264"/>
            <a:ext cx="1463040" cy="329184"/>
          </a:xfrm>
          <a:prstGeom prst="rect">
            <a:avLst/>
          </a:prstGeom>
          <a:noFill/>
        </p:spPr>
        <p:txBody>
          <a:bodyPr wrap="square" lIns="27432" rIns="27432" tIns="27432" bIns="27432" anchor="ctr">
            <a:spAutoFit/>
          </a:bodyPr>
          <a:lstStyle/>
          <a:p>
            <a:pPr algn="l"/>
            <a:r>
              <a:rPr sz="750" b="0" i="0">
                <a:solidFill>
                  <a:srgbClr val="555555"/>
                </a:solidFill>
              </a:rPr>
              <a:t>restart trail</a:t>
            </a:r>
          </a:p>
        </p:txBody>
      </p:sp>
      <p:sp>
        <p:nvSpPr>
          <p:cNvPr id="43" name="Rectangle 42"/>
          <p:cNvSpPr/>
          <p:nvPr/>
        </p:nvSpPr>
        <p:spPr>
          <a:xfrm>
            <a:off x="6675120" y="4389120"/>
            <a:ext cx="640080" cy="1463040"/>
          </a:xfrm>
          <a:prstGeom prst="rect">
            <a:avLst/>
          </a:prstGeom>
          <a:solidFill>
            <a:srgbClr val="F8CECC"/>
          </a:solidFill>
          <a:ln w="12700">
            <a:solidFill>
              <a:srgbClr val="B8545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18288" bIns="18288" wrap="square"/>
          <a:lstStyle/>
          <a:p>
            <a:pPr algn="ctr"/>
            <a:r>
              <a:rPr sz="750" b="0" i="0">
                <a:solidFill>
                  <a:srgbClr val="000000"/>
                </a:solidFill>
              </a:rPr>
              <a:t>FINISHED</a:t>
            </a:r>
          </a:p>
          <a:p>
            <a:pPr algn="ctr"/>
            <a:r>
              <a:rPr sz="750" b="0" i="0">
                <a:solidFill>
                  <a:srgbClr val="000000"/>
                </a:solidFill>
              </a:rPr>
              <a:t>→ MS /</a:t>
            </a:r>
          </a:p>
          <a:p>
            <a:pPr algn="ctr"/>
            <a:r>
              <a:rPr sz="750" b="0" i="0">
                <a:solidFill>
                  <a:srgbClr val="000000"/>
                </a:solidFill>
              </a:rPr>
              <a:t>CHS</a:t>
            </a:r>
          </a:p>
          <a:p>
            <a:pPr algn="ctr"/>
            <a:r>
              <a:rPr sz="750" b="0" i="0">
                <a:solidFill>
                  <a:srgbClr val="000000"/>
                </a:solidFill>
              </a:rPr>
              <a:t>queue</a:t>
            </a:r>
          </a:p>
        </p:txBody>
      </p:sp>
      <p:cxnSp>
        <p:nvCxnSpPr>
          <p:cNvPr id="44" name="Connector 43"/>
          <p:cNvCxnSpPr/>
          <p:nvPr/>
        </p:nvCxnSpPr>
        <p:spPr>
          <a:xfrm>
            <a:off x="3474720" y="5760720"/>
            <a:ext cx="3200400" cy="0"/>
          </a:xfrm>
          <a:prstGeom prst="line">
            <a:avLst/>
          </a:prstGeom>
          <a:ln w="1587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749039" y="5806440"/>
            <a:ext cx="2926080" cy="228600"/>
          </a:xfrm>
          <a:prstGeom prst="rect">
            <a:avLst/>
          </a:prstGeom>
          <a:noFill/>
        </p:spPr>
        <p:txBody>
          <a:bodyPr wrap="square" lIns="27432" rIns="27432" tIns="27432" bIns="27432" anchor="t">
            <a:spAutoFit/>
          </a:bodyPr>
          <a:lstStyle/>
          <a:p>
            <a:pPr algn="ctr"/>
            <a:r>
              <a:rPr sz="750" b="0" i="0">
                <a:solidFill>
                  <a:srgbClr val="555555"/>
                </a:solidFill>
              </a:rPr>
              <a:t>miss / closest hit</a:t>
            </a:r>
          </a:p>
        </p:txBody>
      </p:sp>
      <p:sp>
        <p:nvSpPr>
          <p:cNvPr id="46" name="TextBox 45"/>
          <p:cNvSpPr txBox="1"/>
          <p:nvPr/>
        </p:nvSpPr>
        <p:spPr>
          <a:xfrm>
            <a:off x="5166359" y="5989320"/>
            <a:ext cx="2148840" cy="228600"/>
          </a:xfrm>
          <a:prstGeom prst="rect">
            <a:avLst/>
          </a:prstGeom>
          <a:noFill/>
        </p:spPr>
        <p:txBody>
          <a:bodyPr wrap="square" lIns="27432" rIns="27432" tIns="27432" bIns="27432" anchor="t">
            <a:spAutoFit/>
          </a:bodyPr>
          <a:lstStyle/>
          <a:p>
            <a:pPr algn="l"/>
            <a:r>
              <a:rPr sz="750" b="0" i="1">
                <a:solidFill>
                  <a:srgbClr val="555555"/>
                </a:solidFill>
              </a:rPr>
              <a:t>shader callback suspends; CONTINUE / COMMIT resumes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What the Gates Protect: Current Goldens</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graphicFrame>
        <p:nvGraphicFramePr>
          <p:cNvPr id="5" name="Table 4"/>
          <p:cNvGraphicFramePr>
            <a:graphicFrameLocks noGrp="1"/>
          </p:cNvGraphicFramePr>
          <p:nvPr/>
        </p:nvGraphicFramePr>
        <p:xfrm>
          <a:off x="731520" y="1280160"/>
          <a:ext cx="10881351" cy="3840480"/>
        </p:xfrm>
        <a:graphic>
          <a:graphicData uri="http://schemas.openxmlformats.org/drawingml/2006/table">
            <a:tbl>
              <a:tblPr firstRow="0" bandRow="0">
                <a:tableStyleId>{5940675A-B579-460E-94D1-54222C63F5DA}</a:tableStyleId>
              </a:tblPr>
              <a:tblGrid>
                <a:gridCol w="798631"/>
                <a:gridCol w="2595553"/>
                <a:gridCol w="1297776"/>
                <a:gridCol w="898460"/>
                <a:gridCol w="898460"/>
                <a:gridCol w="598973"/>
                <a:gridCol w="598973"/>
                <a:gridCol w="1297776"/>
                <a:gridCol w="1098118"/>
                <a:gridCol w="798631"/>
              </a:tblGrid>
              <a:tr h="274320">
                <a:tc>
                  <a:txBody>
                    <a:bodyPr wrap="square"/>
                    <a:lstStyle/>
                    <a:p>
                      <a:pPr algn="l"/>
                      <a:r>
                        <a:rPr sz="950" b="1" i="0">
                          <a:solidFill>
                            <a:srgbClr val="FFFFFF"/>
                          </a:solidFill>
                        </a:rPr>
                        <a:t>DUT</a:t>
                      </a:r>
                    </a:p>
                  </a:txBody>
                  <a:tcPr marL="45720" marR="45720" marT="18288" marB="18288" anchor="ctr">
                    <a:solidFill>
                      <a:srgbClr val="1F394D"/>
                    </a:solidFill>
                  </a:tcPr>
                </a:tc>
                <a:tc>
                  <a:txBody>
                    <a:bodyPr wrap="square"/>
                    <a:lstStyle/>
                    <a:p>
                      <a:pPr algn="l"/>
                      <a:r>
                        <a:rPr sz="950" b="1" i="0">
                          <a:solidFill>
                            <a:srgbClr val="FFFFFF"/>
                          </a:solidFill>
                        </a:rPr>
                        <a:t>configs (abridged)</a:t>
                      </a:r>
                    </a:p>
                  </a:txBody>
                  <a:tcPr marL="45720" marR="45720" marT="18288" marB="18288" anchor="ctr">
                    <a:solidFill>
                      <a:srgbClr val="1F394D"/>
                    </a:solidFill>
                  </a:tcPr>
                </a:tc>
                <a:tc>
                  <a:txBody>
                    <a:bodyPr wrap="square"/>
                    <a:lstStyle/>
                    <a:p>
                      <a:pPr algn="l"/>
                      <a:r>
                        <a:rPr sz="950" b="1" i="0">
                          <a:solidFill>
                            <a:srgbClr val="FFFFFF"/>
                          </a:solidFill>
                        </a:rPr>
                        <a:t>U55C target / Fmax</a:t>
                      </a:r>
                    </a:p>
                  </a:txBody>
                  <a:tcPr marL="45720" marR="45720" marT="18288" marB="18288" anchor="ctr">
                    <a:solidFill>
                      <a:srgbClr val="1F394D"/>
                    </a:solidFill>
                  </a:tcPr>
                </a:tc>
                <a:tc>
                  <a:txBody>
                    <a:bodyPr wrap="square"/>
                    <a:lstStyle/>
                    <a:p>
                      <a:pPr algn="l"/>
                      <a:r>
                        <a:rPr sz="950" b="1" i="0">
                          <a:solidFill>
                            <a:srgbClr val="FFFFFF"/>
                          </a:solidFill>
                        </a:rPr>
                        <a:t>LUT</a:t>
                      </a:r>
                    </a:p>
                  </a:txBody>
                  <a:tcPr marL="45720" marR="45720" marT="18288" marB="18288" anchor="ctr">
                    <a:solidFill>
                      <a:srgbClr val="1F394D"/>
                    </a:solidFill>
                  </a:tcPr>
                </a:tc>
                <a:tc>
                  <a:txBody>
                    <a:bodyPr wrap="square"/>
                    <a:lstStyle/>
                    <a:p>
                      <a:pPr algn="l"/>
                      <a:r>
                        <a:rPr sz="950" b="1" i="0">
                          <a:solidFill>
                            <a:srgbClr val="FFFFFF"/>
                          </a:solidFill>
                        </a:rPr>
                        <a:t>FF</a:t>
                      </a:r>
                    </a:p>
                  </a:txBody>
                  <a:tcPr marL="45720" marR="45720" marT="18288" marB="18288" anchor="ctr">
                    <a:solidFill>
                      <a:srgbClr val="1F394D"/>
                    </a:solidFill>
                  </a:tcPr>
                </a:tc>
                <a:tc>
                  <a:txBody>
                    <a:bodyPr wrap="square"/>
                    <a:lstStyle/>
                    <a:p>
                      <a:pPr algn="l"/>
                      <a:r>
                        <a:rPr sz="950" b="1" i="0">
                          <a:solidFill>
                            <a:srgbClr val="FFFFFF"/>
                          </a:solidFill>
                        </a:rPr>
                        <a:t>BRAM</a:t>
                      </a:r>
                    </a:p>
                  </a:txBody>
                  <a:tcPr marL="45720" marR="45720" marT="18288" marB="18288" anchor="ctr">
                    <a:solidFill>
                      <a:srgbClr val="1F394D"/>
                    </a:solidFill>
                  </a:tcPr>
                </a:tc>
                <a:tc>
                  <a:txBody>
                    <a:bodyPr wrap="square"/>
                    <a:lstStyle/>
                    <a:p>
                      <a:pPr algn="l"/>
                      <a:r>
                        <a:rPr sz="950" b="1" i="0">
                          <a:solidFill>
                            <a:srgbClr val="FFFFFF"/>
                          </a:solidFill>
                        </a:rPr>
                        <a:t>DSP</a:t>
                      </a:r>
                    </a:p>
                  </a:txBody>
                  <a:tcPr marL="45720" marR="45720" marT="18288" marB="18288" anchor="ctr">
                    <a:solidFill>
                      <a:srgbClr val="1F394D"/>
                    </a:solidFill>
                  </a:tcPr>
                </a:tc>
                <a:tc>
                  <a:txBody>
                    <a:bodyPr wrap="square"/>
                    <a:lstStyle/>
                    <a:p>
                      <a:pPr algn="l"/>
                      <a:r>
                        <a:rPr sz="950" b="1" i="0">
                          <a:solidFill>
                            <a:srgbClr val="FFFFFF"/>
                          </a:solidFill>
                        </a:rPr>
                        <a:t>ASAP7 target / Fmax</a:t>
                      </a:r>
                    </a:p>
                  </a:txBody>
                  <a:tcPr marL="45720" marR="45720" marT="18288" marB="18288" anchor="ctr">
                    <a:solidFill>
                      <a:srgbClr val="1F394D"/>
                    </a:solidFill>
                  </a:tcPr>
                </a:tc>
                <a:tc>
                  <a:txBody>
                    <a:bodyPr wrap="square"/>
                    <a:lstStyle/>
                    <a:p>
                      <a:pPr algn="l"/>
                      <a:r>
                        <a:rPr sz="950" b="1" i="0">
                          <a:solidFill>
                            <a:srgbClr val="FFFFFF"/>
                          </a:solidFill>
                        </a:rPr>
                        <a:t>cell area µm²</a:t>
                      </a:r>
                    </a:p>
                  </a:txBody>
                  <a:tcPr marL="45720" marR="45720" marT="18288" marB="18288" anchor="ctr">
                    <a:solidFill>
                      <a:srgbClr val="1F394D"/>
                    </a:solidFill>
                  </a:tcPr>
                </a:tc>
                <a:tc>
                  <a:txBody>
                    <a:bodyPr wrap="square"/>
                    <a:lstStyle/>
                    <a:p>
                      <a:pPr algn="l"/>
                      <a:r>
                        <a:rPr sz="950" b="1" i="0">
                          <a:solidFill>
                            <a:srgbClr val="FFFFFF"/>
                          </a:solidFill>
                        </a:rPr>
                        <a:t>power mW</a:t>
                      </a:r>
                    </a:p>
                  </a:txBody>
                  <a:tcPr marL="45720" marR="45720" marT="18288" marB="18288" anchor="ctr">
                    <a:solidFill>
                      <a:srgbClr val="1F394D"/>
                    </a:solidFill>
                  </a:tcPr>
                </a:tc>
              </a:tr>
              <a:tr h="274320">
                <a:tc>
                  <a:txBody>
                    <a:bodyPr wrap="square"/>
                    <a:lstStyle/>
                    <a:p>
                      <a:pPr algn="l"/>
                      <a:r>
                        <a:rPr sz="950" b="0" i="0">
                          <a:solidFill>
                            <a:srgbClr val="000000"/>
                          </a:solidFill>
                        </a:rPr>
                        <a:t>cache</a:t>
                      </a:r>
                    </a:p>
                  </a:txBody>
                  <a:tcPr marL="45720" marR="45720" marT="18288" marB="18288" anchor="ctr">
                    <a:solidFill>
                      <a:srgbClr val="FFFFFF"/>
                    </a:solidFill>
                  </a:tcPr>
                </a:tc>
                <a:tc>
                  <a:txBody>
                    <a:bodyPr wrap="square"/>
                    <a:lstStyle/>
                    <a:p>
                      <a:pPr algn="l"/>
                      <a:r>
                        <a:rPr sz="950" b="0" i="0">
                          <a:solidFill>
                            <a:srgbClr val="000000"/>
                          </a:solidFill>
                        </a:rPr>
                        <a:t>EXT_A</a:t>
                      </a:r>
                    </a:p>
                  </a:txBody>
                  <a:tcPr marL="45720" marR="45720" marT="18288" marB="18288" anchor="ctr">
                    <a:solidFill>
                      <a:srgbClr val="FFFFFF"/>
                    </a:solidFill>
                  </a:tcPr>
                </a:tc>
                <a:tc>
                  <a:txBody>
                    <a:bodyPr wrap="square"/>
                    <a:lstStyle/>
                    <a:p>
                      <a:pPr algn="l"/>
                      <a:r>
                        <a:rPr sz="950" b="0" i="0">
                          <a:solidFill>
                            <a:srgbClr val="000000"/>
                          </a:solidFill>
                        </a:rPr>
                        <a:t>300 / 302</a:t>
                      </a:r>
                    </a:p>
                  </a:txBody>
                  <a:tcPr marL="45720" marR="45720" marT="18288" marB="18288" anchor="ctr">
                    <a:solidFill>
                      <a:srgbClr val="FFFFFF"/>
                    </a:solidFill>
                  </a:tcPr>
                </a:tc>
                <a:tc>
                  <a:txBody>
                    <a:bodyPr wrap="square"/>
                    <a:lstStyle/>
                    <a:p>
                      <a:pPr algn="l"/>
                      <a:r>
                        <a:rPr sz="950" b="0" i="0">
                          <a:solidFill>
                            <a:srgbClr val="000000"/>
                          </a:solidFill>
                        </a:rPr>
                        <a:t>28,369</a:t>
                      </a:r>
                    </a:p>
                  </a:txBody>
                  <a:tcPr marL="45720" marR="45720" marT="18288" marB="18288" anchor="ctr">
                    <a:solidFill>
                      <a:srgbClr val="FFFFFF"/>
                    </a:solidFill>
                  </a:tcPr>
                </a:tc>
                <a:tc>
                  <a:txBody>
                    <a:bodyPr wrap="square"/>
                    <a:lstStyle/>
                    <a:p>
                      <a:pPr algn="l"/>
                      <a:r>
                        <a:rPr sz="950" b="0" i="0">
                          <a:solidFill>
                            <a:srgbClr val="000000"/>
                          </a:solidFill>
                        </a:rPr>
                        <a:t>24,689</a:t>
                      </a:r>
                    </a:p>
                  </a:txBody>
                  <a:tcPr marL="45720" marR="45720" marT="18288" marB="18288" anchor="ctr">
                    <a:solidFill>
                      <a:srgbClr val="FFFFFF"/>
                    </a:solidFill>
                  </a:tcPr>
                </a:tc>
                <a:tc>
                  <a:txBody>
                    <a:bodyPr wrap="square"/>
                    <a:lstStyle/>
                    <a:p>
                      <a:pPr algn="l"/>
                      <a:r>
                        <a:rPr sz="950" b="0" i="0">
                          <a:solidFill>
                            <a:srgbClr val="000000"/>
                          </a:solidFill>
                        </a:rPr>
                        <a:t>32</a:t>
                      </a:r>
                    </a:p>
                  </a:txBody>
                  <a:tcPr marL="45720" marR="45720" marT="18288" marB="18288" anchor="ctr">
                    <a:solidFill>
                      <a:srgbClr val="FFFFFF"/>
                    </a:solidFill>
                  </a:tcPr>
                </a:tc>
                <a:tc>
                  <a:txBody>
                    <a:bodyPr wrap="square"/>
                    <a:lstStyle/>
                    <a:p>
                      <a:pPr algn="l"/>
                      <a:r>
                        <a:rPr sz="950" b="0" i="0">
                          <a:solidFill>
                            <a:srgbClr val="000000"/>
                          </a:solidFill>
                        </a:rPr>
                        <a:t>0</a:t>
                      </a:r>
                    </a:p>
                  </a:txBody>
                  <a:tcPr marL="45720" marR="45720" marT="18288" marB="18288" anchor="ctr">
                    <a:solidFill>
                      <a:srgbClr val="FFFFFF"/>
                    </a:solidFill>
                  </a:tcPr>
                </a:tc>
                <a:tc>
                  <a:txBody>
                    <a:bodyPr wrap="square"/>
                    <a:lstStyle/>
                    <a:p>
                      <a:pPr algn="l"/>
                      <a:r>
                        <a:rPr sz="950" b="0" i="0">
                          <a:solidFill>
                            <a:srgbClr val="000000"/>
                          </a:solidFill>
                        </a:rPr>
                        <a:t>800 / 1,228</a:t>
                      </a:r>
                    </a:p>
                  </a:txBody>
                  <a:tcPr marL="45720" marR="45720" marT="18288" marB="18288" anchor="ctr">
                    <a:solidFill>
                      <a:srgbClr val="FFFFFF"/>
                    </a:solidFill>
                  </a:tcPr>
                </a:tc>
                <a:tc>
                  <a:txBody>
                    <a:bodyPr wrap="square"/>
                    <a:lstStyle/>
                    <a:p>
                      <a:pPr algn="l"/>
                      <a:r>
                        <a:rPr sz="950" b="0" i="0">
                          <a:solidFill>
                            <a:srgbClr val="000000"/>
                          </a:solidFill>
                        </a:rPr>
                        <a:t>48,726</a:t>
                      </a:r>
                    </a:p>
                  </a:txBody>
                  <a:tcPr marL="45720" marR="45720" marT="18288" marB="18288" anchor="ctr">
                    <a:solidFill>
                      <a:srgbClr val="FFFFFF"/>
                    </a:solidFill>
                  </a:tcPr>
                </a:tc>
                <a:tc>
                  <a:txBody>
                    <a:bodyPr wrap="square"/>
                    <a:lstStyle/>
                    <a:p>
                      <a:pPr algn="l"/>
                      <a:r>
                        <a:rPr sz="950" b="0" i="0">
                          <a:solidFill>
                            <a:srgbClr val="000000"/>
                          </a:solidFill>
                        </a:rPr>
                        <a:t>126</a:t>
                      </a:r>
                    </a:p>
                  </a:txBody>
                  <a:tcPr marL="45720" marR="45720" marT="18288" marB="18288" anchor="ctr">
                    <a:solidFill>
                      <a:srgbClr val="FFFFFF"/>
                    </a:solidFill>
                  </a:tcPr>
                </a:tc>
              </a:tr>
              <a:tr h="274320">
                <a:tc>
                  <a:txBody>
                    <a:bodyPr wrap="square"/>
                    <a:lstStyle/>
                    <a:p>
                      <a:pPr algn="l"/>
                      <a:r>
                        <a:rPr sz="950" b="0" i="0">
                          <a:solidFill>
                            <a:srgbClr val="000000"/>
                          </a:solidFill>
                        </a:rPr>
                        <a:t>core</a:t>
                      </a:r>
                    </a:p>
                  </a:txBody>
                  <a:tcPr marL="45720" marR="45720" marT="18288" marB="18288" anchor="ctr">
                    <a:solidFill>
                      <a:srgbClr val="F2F6FA"/>
                    </a:solidFill>
                  </a:tcPr>
                </a:tc>
                <a:tc>
                  <a:txBody>
                    <a:bodyPr wrap="square"/>
                    <a:lstStyle/>
                    <a:p>
                      <a:pPr algn="l"/>
                      <a:r>
                        <a:rPr sz="950" b="0" i="0">
                          <a:solidFill>
                            <a:srgbClr val="000000"/>
                          </a:solidFill>
                        </a:rPr>
                        <a:t>NT 16, NW 16, EXT_C (ASAP7: 8×8)</a:t>
                      </a:r>
                    </a:p>
                  </a:txBody>
                  <a:tcPr marL="45720" marR="45720" marT="18288" marB="18288" anchor="ctr">
                    <a:solidFill>
                      <a:srgbClr val="F2F6FA"/>
                    </a:solidFill>
                  </a:tcPr>
                </a:tc>
                <a:tc>
                  <a:txBody>
                    <a:bodyPr wrap="square"/>
                    <a:lstStyle/>
                    <a:p>
                      <a:pPr algn="l"/>
                      <a:r>
                        <a:rPr sz="950" b="0" i="0">
                          <a:solidFill>
                            <a:srgbClr val="000000"/>
                          </a:solidFill>
                        </a:rPr>
                        <a:t>300 / 298</a:t>
                      </a:r>
                    </a:p>
                  </a:txBody>
                  <a:tcPr marL="45720" marR="45720" marT="18288" marB="18288" anchor="ctr">
                    <a:solidFill>
                      <a:srgbClr val="F2F6FA"/>
                    </a:solidFill>
                  </a:tcPr>
                </a:tc>
                <a:tc>
                  <a:txBody>
                    <a:bodyPr wrap="square"/>
                    <a:lstStyle/>
                    <a:p>
                      <a:pPr algn="l"/>
                      <a:r>
                        <a:rPr sz="950" b="0" i="0">
                          <a:solidFill>
                            <a:srgbClr val="000000"/>
                          </a:solidFill>
                        </a:rPr>
                        <a:t>171,712</a:t>
                      </a:r>
                    </a:p>
                  </a:txBody>
                  <a:tcPr marL="45720" marR="45720" marT="18288" marB="18288" anchor="ctr">
                    <a:solidFill>
                      <a:srgbClr val="F2F6FA"/>
                    </a:solidFill>
                  </a:tcPr>
                </a:tc>
                <a:tc>
                  <a:txBody>
                    <a:bodyPr wrap="square"/>
                    <a:lstStyle/>
                    <a:p>
                      <a:pPr algn="l"/>
                      <a:r>
                        <a:rPr sz="950" b="0" i="0">
                          <a:solidFill>
                            <a:srgbClr val="000000"/>
                          </a:solidFill>
                        </a:rPr>
                        <a:t>153,567</a:t>
                      </a:r>
                    </a:p>
                  </a:txBody>
                  <a:tcPr marL="45720" marR="45720" marT="18288" marB="18288" anchor="ctr">
                    <a:solidFill>
                      <a:srgbClr val="F2F6FA"/>
                    </a:solidFill>
                  </a:tcPr>
                </a:tc>
                <a:tc>
                  <a:txBody>
                    <a:bodyPr wrap="square"/>
                    <a:lstStyle/>
                    <a:p>
                      <a:pPr algn="l"/>
                      <a:r>
                        <a:rPr sz="950" b="0" i="0">
                          <a:solidFill>
                            <a:srgbClr val="000000"/>
                          </a:solidFill>
                        </a:rPr>
                        <a:t>247</a:t>
                      </a:r>
                    </a:p>
                  </a:txBody>
                  <a:tcPr marL="45720" marR="45720" marT="18288" marB="18288" anchor="ctr">
                    <a:solidFill>
                      <a:srgbClr val="F2F6FA"/>
                    </a:solidFill>
                  </a:tcPr>
                </a:tc>
                <a:tc>
                  <a:txBody>
                    <a:bodyPr wrap="square"/>
                    <a:lstStyle/>
                    <a:p>
                      <a:pPr algn="l"/>
                      <a:r>
                        <a:rPr sz="950" b="0" i="0">
                          <a:solidFill>
                            <a:srgbClr val="000000"/>
                          </a:solidFill>
                        </a:rPr>
                        <a:t>96</a:t>
                      </a:r>
                    </a:p>
                  </a:txBody>
                  <a:tcPr marL="45720" marR="45720" marT="18288" marB="18288" anchor="ctr">
                    <a:solidFill>
                      <a:srgbClr val="F2F6FA"/>
                    </a:solidFill>
                  </a:tcPr>
                </a:tc>
                <a:tc>
                  <a:txBody>
                    <a:bodyPr wrap="square"/>
                    <a:lstStyle/>
                    <a:p>
                      <a:pPr algn="l"/>
                      <a:r>
                        <a:rPr sz="950" b="0" i="0">
                          <a:solidFill>
                            <a:srgbClr val="000000"/>
                          </a:solidFill>
                        </a:rPr>
                        <a:t>400 / 587</a:t>
                      </a:r>
                    </a:p>
                  </a:txBody>
                  <a:tcPr marL="45720" marR="45720" marT="18288" marB="18288" anchor="ctr">
                    <a:solidFill>
                      <a:srgbClr val="F2F6FA"/>
                    </a:solidFill>
                  </a:tcPr>
                </a:tc>
                <a:tc>
                  <a:txBody>
                    <a:bodyPr wrap="square"/>
                    <a:lstStyle/>
                    <a:p>
                      <a:pPr algn="l"/>
                      <a:r>
                        <a:rPr sz="950" b="0" i="0">
                          <a:solidFill>
                            <a:srgbClr val="000000"/>
                          </a:solidFill>
                        </a:rPr>
                        <a:t>84,624</a:t>
                      </a:r>
                    </a:p>
                  </a:txBody>
                  <a:tcPr marL="45720" marR="45720" marT="18288" marB="18288" anchor="ctr">
                    <a:solidFill>
                      <a:srgbClr val="F2F6FA"/>
                    </a:solidFill>
                  </a:tcPr>
                </a:tc>
                <a:tc>
                  <a:txBody>
                    <a:bodyPr wrap="square"/>
                    <a:lstStyle/>
                    <a:p>
                      <a:pPr algn="l"/>
                      <a:r>
                        <a:rPr sz="950" b="0" i="0">
                          <a:solidFill>
                            <a:srgbClr val="000000"/>
                          </a:solidFill>
                        </a:rPr>
                        <a:t>352</a:t>
                      </a:r>
                    </a:p>
                  </a:txBody>
                  <a:tcPr marL="45720" marR="45720" marT="18288" marB="18288" anchor="ctr">
                    <a:solidFill>
                      <a:srgbClr val="F2F6FA"/>
                    </a:solidFill>
                  </a:tcPr>
                </a:tc>
              </a:tr>
              <a:tr h="274320">
                <a:tc>
                  <a:txBody>
                    <a:bodyPr wrap="square"/>
                    <a:lstStyle/>
                    <a:p>
                      <a:pPr algn="l"/>
                      <a:r>
                        <a:rPr sz="950" b="0" i="0">
                          <a:solidFill>
                            <a:srgbClr val="000000"/>
                          </a:solidFill>
                        </a:rPr>
                        <a:t>top</a:t>
                      </a:r>
                    </a:p>
                  </a:txBody>
                  <a:tcPr marL="45720" marR="45720" marT="18288" marB="18288" anchor="ctr">
                    <a:solidFill>
                      <a:srgbClr val="FFFFFF"/>
                    </a:solidFill>
                  </a:tcPr>
                </a:tc>
                <a:tc>
                  <a:txBody>
                    <a:bodyPr wrap="square"/>
                    <a:lstStyle/>
                    <a:p>
                      <a:pPr algn="l"/>
                      <a:r>
                        <a:rPr sz="950" b="0" i="0">
                          <a:solidFill>
                            <a:srgbClr val="000000"/>
                          </a:solidFill>
                        </a:rPr>
                        <a:t>NT 4, NW 4, 2 cores</a:t>
                      </a:r>
                    </a:p>
                  </a:txBody>
                  <a:tcPr marL="45720" marR="45720" marT="18288" marB="18288" anchor="ctr">
                    <a:solidFill>
                      <a:srgbClr val="FFFFFF"/>
                    </a:solidFill>
                  </a:tcPr>
                </a:tc>
                <a:tc>
                  <a:txBody>
                    <a:bodyPr wrap="square"/>
                    <a:lstStyle/>
                    <a:p>
                      <a:pPr algn="l"/>
                      <a:r>
                        <a:rPr sz="950" b="0" i="0">
                          <a:solidFill>
                            <a:srgbClr val="000000"/>
                          </a:solidFill>
                        </a:rPr>
                        <a:t>250 / 251</a:t>
                      </a:r>
                    </a:p>
                  </a:txBody>
                  <a:tcPr marL="45720" marR="45720" marT="18288" marB="18288" anchor="ctr">
                    <a:solidFill>
                      <a:srgbClr val="FFFFFF"/>
                    </a:solidFill>
                  </a:tcPr>
                </a:tc>
                <a:tc>
                  <a:txBody>
                    <a:bodyPr wrap="square"/>
                    <a:lstStyle/>
                    <a:p>
                      <a:pPr algn="l"/>
                      <a:r>
                        <a:rPr sz="950" b="0" i="0">
                          <a:solidFill>
                            <a:srgbClr val="000000"/>
                          </a:solidFill>
                        </a:rPr>
                        <a:t>136,762</a:t>
                      </a:r>
                    </a:p>
                  </a:txBody>
                  <a:tcPr marL="45720" marR="45720" marT="18288" marB="18288" anchor="ctr">
                    <a:solidFill>
                      <a:srgbClr val="FFFFFF"/>
                    </a:solidFill>
                  </a:tcPr>
                </a:tc>
                <a:tc>
                  <a:txBody>
                    <a:bodyPr wrap="square"/>
                    <a:lstStyle/>
                    <a:p>
                      <a:pPr algn="l"/>
                      <a:r>
                        <a:rPr sz="950" b="0" i="0">
                          <a:solidFill>
                            <a:srgbClr val="000000"/>
                          </a:solidFill>
                        </a:rPr>
                        <a:t>145,017</a:t>
                      </a:r>
                    </a:p>
                  </a:txBody>
                  <a:tcPr marL="45720" marR="45720" marT="18288" marB="18288" anchor="ctr">
                    <a:solidFill>
                      <a:srgbClr val="FFFFFF"/>
                    </a:solidFill>
                  </a:tcPr>
                </a:tc>
                <a:tc>
                  <a:txBody>
                    <a:bodyPr wrap="square"/>
                    <a:lstStyle/>
                    <a:p>
                      <a:pPr algn="l"/>
                      <a:r>
                        <a:rPr sz="950" b="0" i="0">
                          <a:solidFill>
                            <a:srgbClr val="000000"/>
                          </a:solidFill>
                        </a:rPr>
                        <a:t>80</a:t>
                      </a:r>
                    </a:p>
                  </a:txBody>
                  <a:tcPr marL="45720" marR="45720" marT="18288" marB="18288" anchor="ctr">
                    <a:solidFill>
                      <a:srgbClr val="FFFFFF"/>
                    </a:solidFill>
                  </a:tcPr>
                </a:tc>
                <a:tc>
                  <a:txBody>
                    <a:bodyPr wrap="square"/>
                    <a:lstStyle/>
                    <a:p>
                      <a:pPr algn="l"/>
                      <a:r>
                        <a:rPr sz="950" b="0" i="0">
                          <a:solidFill>
                            <a:srgbClr val="000000"/>
                          </a:solidFill>
                        </a:rPr>
                        <a:t>48</a:t>
                      </a:r>
                    </a:p>
                  </a:txBody>
                  <a:tcPr marL="45720" marR="45720" marT="18288" marB="18288" anchor="ctr">
                    <a:solidFill>
                      <a:srgbClr val="FFFFFF"/>
                    </a:solidFill>
                  </a:tcPr>
                </a:tc>
                <a:tc>
                  <a:txBody>
                    <a:bodyPr wrap="square"/>
                    <a:lstStyle/>
                    <a:p>
                      <a:pPr algn="l"/>
                      <a:r>
                        <a:rPr sz="950" b="0" i="0">
                          <a:solidFill>
                            <a:srgbClr val="000000"/>
                          </a:solidFill>
                        </a:rPr>
                        <a:t>400 / 621</a:t>
                      </a:r>
                    </a:p>
                  </a:txBody>
                  <a:tcPr marL="45720" marR="45720" marT="18288" marB="18288" anchor="ctr">
                    <a:solidFill>
                      <a:srgbClr val="FFFFFF"/>
                    </a:solidFill>
                  </a:tcPr>
                </a:tc>
                <a:tc>
                  <a:txBody>
                    <a:bodyPr wrap="square"/>
                    <a:lstStyle/>
                    <a:p>
                      <a:pPr algn="l"/>
                      <a:r>
                        <a:rPr sz="950" b="0" i="0">
                          <a:solidFill>
                            <a:srgbClr val="000000"/>
                          </a:solidFill>
                        </a:rPr>
                        <a:t>187,230</a:t>
                      </a:r>
                    </a:p>
                  </a:txBody>
                  <a:tcPr marL="45720" marR="45720" marT="18288" marB="18288" anchor="ctr">
                    <a:solidFill>
                      <a:srgbClr val="FFFFFF"/>
                    </a:solidFill>
                  </a:tcPr>
                </a:tc>
                <a:tc>
                  <a:txBody>
                    <a:bodyPr wrap="square"/>
                    <a:lstStyle/>
                    <a:p>
                      <a:pPr algn="l"/>
                      <a:r>
                        <a:rPr sz="950" b="0" i="0">
                          <a:solidFill>
                            <a:srgbClr val="000000"/>
                          </a:solidFill>
                        </a:rPr>
                        <a:t>126</a:t>
                      </a:r>
                    </a:p>
                  </a:txBody>
                  <a:tcPr marL="45720" marR="45720" marT="18288" marB="18288" anchor="ctr">
                    <a:solidFill>
                      <a:srgbClr val="FFFFFF"/>
                    </a:solidFill>
                  </a:tcPr>
                </a:tc>
              </a:tr>
              <a:tr h="274320">
                <a:tc>
                  <a:txBody>
                    <a:bodyPr wrap="square"/>
                    <a:lstStyle/>
                    <a:p>
                      <a:pPr algn="l"/>
                      <a:r>
                        <a:rPr sz="950" b="0" i="0">
                          <a:solidFill>
                            <a:srgbClr val="000000"/>
                          </a:solidFill>
                        </a:rPr>
                        <a:t>tcu</a:t>
                      </a:r>
                    </a:p>
                  </a:txBody>
                  <a:tcPr marL="45720" marR="45720" marT="18288" marB="18288" anchor="ctr">
                    <a:solidFill>
                      <a:srgbClr val="F2F6FA"/>
                    </a:solidFill>
                  </a:tcPr>
                </a:tc>
                <a:tc>
                  <a:txBody>
                    <a:bodyPr wrap="square"/>
                    <a:lstStyle/>
                    <a:p>
                      <a:pPr algn="l"/>
                      <a:r>
                        <a:rPr sz="950" b="0" i="0">
                          <a:solidFill>
                            <a:srgbClr val="000000"/>
                          </a:solidFill>
                        </a:rPr>
                        <a:t>TFR fp16 fp8 i8 i4 tf32 sparse wgmma</a:t>
                      </a:r>
                    </a:p>
                  </a:txBody>
                  <a:tcPr marL="45720" marR="45720" marT="18288" marB="18288" anchor="ctr">
                    <a:solidFill>
                      <a:srgbClr val="F2F6FA"/>
                    </a:solidFill>
                  </a:tcPr>
                </a:tc>
                <a:tc>
                  <a:txBody>
                    <a:bodyPr wrap="square"/>
                    <a:lstStyle/>
                    <a:p>
                      <a:pPr algn="l"/>
                      <a:r>
                        <a:rPr sz="950" b="0" i="0">
                          <a:solidFill>
                            <a:srgbClr val="000000"/>
                          </a:solidFill>
                        </a:rPr>
                        <a:t>300 / 292</a:t>
                      </a:r>
                    </a:p>
                  </a:txBody>
                  <a:tcPr marL="45720" marR="45720" marT="18288" marB="18288" anchor="ctr">
                    <a:solidFill>
                      <a:srgbClr val="F2F6FA"/>
                    </a:solidFill>
                  </a:tcPr>
                </a:tc>
                <a:tc>
                  <a:txBody>
                    <a:bodyPr wrap="square"/>
                    <a:lstStyle/>
                    <a:p>
                      <a:pPr algn="l"/>
                      <a:r>
                        <a:rPr sz="950" b="0" i="0">
                          <a:solidFill>
                            <a:srgbClr val="000000"/>
                          </a:solidFill>
                        </a:rPr>
                        <a:t>117,377</a:t>
                      </a:r>
                    </a:p>
                  </a:txBody>
                  <a:tcPr marL="45720" marR="45720" marT="18288" marB="18288" anchor="ctr">
                    <a:solidFill>
                      <a:srgbClr val="F2F6FA"/>
                    </a:solidFill>
                  </a:tcPr>
                </a:tc>
                <a:tc>
                  <a:txBody>
                    <a:bodyPr wrap="square"/>
                    <a:lstStyle/>
                    <a:p>
                      <a:pPr algn="l"/>
                      <a:r>
                        <a:rPr sz="950" b="0" i="0">
                          <a:solidFill>
                            <a:srgbClr val="000000"/>
                          </a:solidFill>
                        </a:rPr>
                        <a:t>43,377</a:t>
                      </a:r>
                    </a:p>
                  </a:txBody>
                  <a:tcPr marL="45720" marR="45720" marT="18288" marB="18288" anchor="ctr">
                    <a:solidFill>
                      <a:srgbClr val="F2F6FA"/>
                    </a:solidFill>
                  </a:tcPr>
                </a:tc>
                <a:tc>
                  <a:txBody>
                    <a:bodyPr wrap="square"/>
                    <a:lstStyle/>
                    <a:p>
                      <a:pPr algn="l"/>
                      <a:r>
                        <a:rPr sz="950" b="0" i="0">
                          <a:solidFill>
                            <a:srgbClr val="000000"/>
                          </a:solidFill>
                        </a:rPr>
                        <a:t>0</a:t>
                      </a:r>
                    </a:p>
                  </a:txBody>
                  <a:tcPr marL="45720" marR="45720" marT="18288" marB="18288" anchor="ctr">
                    <a:solidFill>
                      <a:srgbClr val="F2F6FA"/>
                    </a:solidFill>
                  </a:tcPr>
                </a:tc>
                <a:tc>
                  <a:txBody>
                    <a:bodyPr wrap="square"/>
                    <a:lstStyle/>
                    <a:p>
                      <a:pPr algn="l"/>
                      <a:r>
                        <a:rPr sz="950" b="0" i="0">
                          <a:solidFill>
                            <a:srgbClr val="000000"/>
                          </a:solidFill>
                        </a:rPr>
                        <a:t>768</a:t>
                      </a:r>
                    </a:p>
                  </a:txBody>
                  <a:tcPr marL="45720" marR="45720" marT="18288" marB="18288" anchor="ctr">
                    <a:solidFill>
                      <a:srgbClr val="F2F6FA"/>
                    </a:solidFill>
                  </a:tcPr>
                </a:tc>
                <a:tc>
                  <a:txBody>
                    <a:bodyPr wrap="square"/>
                    <a:lstStyle/>
                    <a:p>
                      <a:pPr algn="l"/>
                      <a:r>
                        <a:rPr sz="950" b="0" i="0">
                          <a:solidFill>
                            <a:srgbClr val="000000"/>
                          </a:solidFill>
                        </a:rPr>
                        <a:t>500 / 855</a:t>
                      </a:r>
                    </a:p>
                  </a:txBody>
                  <a:tcPr marL="45720" marR="45720" marT="18288" marB="18288" anchor="ctr">
                    <a:solidFill>
                      <a:srgbClr val="F2F6FA"/>
                    </a:solidFill>
                  </a:tcPr>
                </a:tc>
                <a:tc>
                  <a:txBody>
                    <a:bodyPr wrap="square"/>
                    <a:lstStyle/>
                    <a:p>
                      <a:pPr algn="l"/>
                      <a:r>
                        <a:rPr sz="950" b="0" i="0">
                          <a:solidFill>
                            <a:srgbClr val="000000"/>
                          </a:solidFill>
                        </a:rPr>
                        <a:t>74,407</a:t>
                      </a:r>
                    </a:p>
                  </a:txBody>
                  <a:tcPr marL="45720" marR="45720" marT="18288" marB="18288" anchor="ctr">
                    <a:solidFill>
                      <a:srgbClr val="F2F6FA"/>
                    </a:solidFill>
                  </a:tcPr>
                </a:tc>
                <a:tc>
                  <a:txBody>
                    <a:bodyPr wrap="square"/>
                    <a:lstStyle/>
                    <a:p>
                      <a:pPr algn="l"/>
                      <a:r>
                        <a:rPr sz="950" b="0" i="0">
                          <a:solidFill>
                            <a:srgbClr val="000000"/>
                          </a:solidFill>
                        </a:rPr>
                        <a:t>205</a:t>
                      </a:r>
                    </a:p>
                  </a:txBody>
                  <a:tcPr marL="45720" marR="45720" marT="18288" marB="18288" anchor="ctr">
                    <a:solidFill>
                      <a:srgbClr val="F2F6FA"/>
                    </a:solidFill>
                  </a:tcPr>
                </a:tc>
              </a:tr>
              <a:tr h="274320">
                <a:tc>
                  <a:txBody>
                    <a:bodyPr wrap="square"/>
                    <a:lstStyle/>
                    <a:p>
                      <a:pPr algn="l"/>
                      <a:r>
                        <a:rPr sz="950" b="0" i="0">
                          <a:solidFill>
                            <a:srgbClr val="000000"/>
                          </a:solidFill>
                        </a:rPr>
                        <a:t>tensor</a:t>
                      </a:r>
                    </a:p>
                  </a:txBody>
                  <a:tcPr marL="45720" marR="45720" marT="18288" marB="18288" anchor="ctr">
                    <a:solidFill>
                      <a:srgbClr val="FFFFFF"/>
                    </a:solidFill>
                  </a:tcPr>
                </a:tc>
                <a:tc>
                  <a:txBody>
                    <a:bodyPr wrap="square"/>
                    <a:lstStyle/>
                    <a:p>
                      <a:pPr algn="l"/>
                      <a:r>
                        <a:rPr sz="950" b="0" i="0">
                          <a:solidFill>
                            <a:srgbClr val="000000"/>
                          </a:solidFill>
                        </a:rPr>
                        <a:t>NT 16, NW 16 (ASAP7 8×8)</a:t>
                      </a:r>
                    </a:p>
                  </a:txBody>
                  <a:tcPr marL="45720" marR="45720" marT="18288" marB="18288" anchor="ctr">
                    <a:solidFill>
                      <a:srgbClr val="FFFFFF"/>
                    </a:solidFill>
                  </a:tcPr>
                </a:tc>
                <a:tc>
                  <a:txBody>
                    <a:bodyPr wrap="square"/>
                    <a:lstStyle/>
                    <a:p>
                      <a:pPr algn="l"/>
                      <a:r>
                        <a:rPr sz="950" b="0" i="0">
                          <a:solidFill>
                            <a:srgbClr val="000000"/>
                          </a:solidFill>
                        </a:rPr>
                        <a:t>250 / 251</a:t>
                      </a:r>
                    </a:p>
                  </a:txBody>
                  <a:tcPr marL="45720" marR="45720" marT="18288" marB="18288" anchor="ctr">
                    <a:solidFill>
                      <a:srgbClr val="FFFFFF"/>
                    </a:solidFill>
                  </a:tcPr>
                </a:tc>
                <a:tc>
                  <a:txBody>
                    <a:bodyPr wrap="square"/>
                    <a:lstStyle/>
                    <a:p>
                      <a:pPr algn="l"/>
                      <a:r>
                        <a:rPr sz="950" b="0" i="0">
                          <a:solidFill>
                            <a:srgbClr val="000000"/>
                          </a:solidFill>
                        </a:rPr>
                        <a:t>239,260</a:t>
                      </a:r>
                    </a:p>
                  </a:txBody>
                  <a:tcPr marL="45720" marR="45720" marT="18288" marB="18288" anchor="ctr">
                    <a:solidFill>
                      <a:srgbClr val="FFFFFF"/>
                    </a:solidFill>
                  </a:tcPr>
                </a:tc>
                <a:tc>
                  <a:txBody>
                    <a:bodyPr wrap="square"/>
                    <a:lstStyle/>
                    <a:p>
                      <a:pPr algn="l"/>
                      <a:r>
                        <a:rPr sz="950" b="0" i="0">
                          <a:solidFill>
                            <a:srgbClr val="000000"/>
                          </a:solidFill>
                        </a:rPr>
                        <a:t>153,880</a:t>
                      </a:r>
                    </a:p>
                  </a:txBody>
                  <a:tcPr marL="45720" marR="45720" marT="18288" marB="18288" anchor="ctr">
                    <a:solidFill>
                      <a:srgbClr val="FFFFFF"/>
                    </a:solidFill>
                  </a:tcPr>
                </a:tc>
                <a:tc>
                  <a:txBody>
                    <a:bodyPr wrap="square"/>
                    <a:lstStyle/>
                    <a:p>
                      <a:pPr algn="l"/>
                      <a:r>
                        <a:rPr sz="950" b="0" i="0">
                          <a:solidFill>
                            <a:srgbClr val="000000"/>
                          </a:solidFill>
                        </a:rPr>
                        <a:t>173</a:t>
                      </a:r>
                    </a:p>
                  </a:txBody>
                  <a:tcPr marL="45720" marR="45720" marT="18288" marB="18288" anchor="ctr">
                    <a:solidFill>
                      <a:srgbClr val="FFFFFF"/>
                    </a:solidFill>
                  </a:tcPr>
                </a:tc>
                <a:tc>
                  <a:txBody>
                    <a:bodyPr wrap="square"/>
                    <a:lstStyle/>
                    <a:p>
                      <a:pPr algn="l"/>
                      <a:r>
                        <a:rPr sz="950" b="0" i="0">
                          <a:solidFill>
                            <a:srgbClr val="000000"/>
                          </a:solidFill>
                        </a:rPr>
                        <a:t>265</a:t>
                      </a:r>
                    </a:p>
                  </a:txBody>
                  <a:tcPr marL="45720" marR="45720" marT="18288" marB="18288" anchor="ctr">
                    <a:solidFill>
                      <a:srgbClr val="FFFFFF"/>
                    </a:solidFill>
                  </a:tcPr>
                </a:tc>
                <a:tc>
                  <a:txBody>
                    <a:bodyPr wrap="square"/>
                    <a:lstStyle/>
                    <a:p>
                      <a:pPr algn="l"/>
                      <a:r>
                        <a:rPr sz="950" b="0" i="0">
                          <a:solidFill>
                            <a:srgbClr val="000000"/>
                          </a:solidFill>
                        </a:rPr>
                        <a:t>400 / 977</a:t>
                      </a:r>
                    </a:p>
                  </a:txBody>
                  <a:tcPr marL="45720" marR="45720" marT="18288" marB="18288" anchor="ctr">
                    <a:solidFill>
                      <a:srgbClr val="FFFFFF"/>
                    </a:solidFill>
                  </a:tcPr>
                </a:tc>
                <a:tc>
                  <a:txBody>
                    <a:bodyPr wrap="square"/>
                    <a:lstStyle/>
                    <a:p>
                      <a:pPr algn="l"/>
                      <a:r>
                        <a:rPr sz="950" b="0" i="0">
                          <a:solidFill>
                            <a:srgbClr val="000000"/>
                          </a:solidFill>
                        </a:rPr>
                        <a:t>104,438</a:t>
                      </a:r>
                    </a:p>
                  </a:txBody>
                  <a:tcPr marL="45720" marR="45720" marT="18288" marB="18288" anchor="ctr">
                    <a:solidFill>
                      <a:srgbClr val="FFFFFF"/>
                    </a:solidFill>
                  </a:tcPr>
                </a:tc>
                <a:tc>
                  <a:txBody>
                    <a:bodyPr wrap="square"/>
                    <a:lstStyle/>
                    <a:p>
                      <a:pPr algn="l"/>
                      <a:r>
                        <a:rPr sz="950" b="0" i="0">
                          <a:solidFill>
                            <a:srgbClr val="000000"/>
                          </a:solidFill>
                        </a:rPr>
                        <a:t>122</a:t>
                      </a:r>
                    </a:p>
                  </a:txBody>
                  <a:tcPr marL="45720" marR="45720" marT="18288" marB="18288" anchor="ctr">
                    <a:solidFill>
                      <a:srgbClr val="FFFFFF"/>
                    </a:solidFill>
                  </a:tcPr>
                </a:tc>
              </a:tr>
              <a:tr h="274320">
                <a:tc>
                  <a:txBody>
                    <a:bodyPr wrap="square"/>
                    <a:lstStyle/>
                    <a:p>
                      <a:pPr algn="l"/>
                      <a:r>
                        <a:rPr sz="950" b="0" i="0">
                          <a:solidFill>
                            <a:srgbClr val="000000"/>
                          </a:solidFill>
                        </a:rPr>
                        <a:t>dxa</a:t>
                      </a:r>
                    </a:p>
                  </a:txBody>
                  <a:tcPr marL="45720" marR="45720" marT="18288" marB="18288" anchor="ctr">
                    <a:solidFill>
                      <a:srgbClr val="F2F6FA"/>
                    </a:solidFill>
                  </a:tcPr>
                </a:tc>
                <a:tc>
                  <a:txBody>
                    <a:bodyPr wrap="square"/>
                    <a:lstStyle/>
                    <a:p>
                      <a:pPr algn="l"/>
                      <a:r>
                        <a:rPr sz="950" b="0" i="0">
                          <a:solidFill>
                            <a:srgbClr val="000000"/>
                          </a:solidFill>
                        </a:rPr>
                        <a:t>NT 16, NW 16</a:t>
                      </a:r>
                    </a:p>
                  </a:txBody>
                  <a:tcPr marL="45720" marR="45720" marT="18288" marB="18288" anchor="ctr">
                    <a:solidFill>
                      <a:srgbClr val="F2F6FA"/>
                    </a:solidFill>
                  </a:tcPr>
                </a:tc>
                <a:tc>
                  <a:txBody>
                    <a:bodyPr wrap="square"/>
                    <a:lstStyle/>
                    <a:p>
                      <a:pPr algn="l"/>
                      <a:r>
                        <a:rPr sz="950" b="0" i="0">
                          <a:solidFill>
                            <a:srgbClr val="000000"/>
                          </a:solidFill>
                        </a:rPr>
                        <a:t>300 / 303</a:t>
                      </a:r>
                    </a:p>
                  </a:txBody>
                  <a:tcPr marL="45720" marR="45720" marT="18288" marB="18288" anchor="ctr">
                    <a:solidFill>
                      <a:srgbClr val="F2F6FA"/>
                    </a:solidFill>
                  </a:tcPr>
                </a:tc>
                <a:tc>
                  <a:txBody>
                    <a:bodyPr wrap="square"/>
                    <a:lstStyle/>
                    <a:p>
                      <a:pPr algn="l"/>
                      <a:r>
                        <a:rPr sz="950" b="0" i="0">
                          <a:solidFill>
                            <a:srgbClr val="000000"/>
                          </a:solidFill>
                        </a:rPr>
                        <a:t>10,102</a:t>
                      </a:r>
                    </a:p>
                  </a:txBody>
                  <a:tcPr marL="45720" marR="45720" marT="18288" marB="18288" anchor="ctr">
                    <a:solidFill>
                      <a:srgbClr val="F2F6FA"/>
                    </a:solidFill>
                  </a:tcPr>
                </a:tc>
                <a:tc>
                  <a:txBody>
                    <a:bodyPr wrap="square"/>
                    <a:lstStyle/>
                    <a:p>
                      <a:pPr algn="l"/>
                      <a:r>
                        <a:rPr sz="950" b="0" i="0">
                          <a:solidFill>
                            <a:srgbClr val="000000"/>
                          </a:solidFill>
                        </a:rPr>
                        <a:t>7,560</a:t>
                      </a:r>
                    </a:p>
                  </a:txBody>
                  <a:tcPr marL="45720" marR="45720" marT="18288" marB="18288" anchor="ctr">
                    <a:solidFill>
                      <a:srgbClr val="F2F6FA"/>
                    </a:solidFill>
                  </a:tcPr>
                </a:tc>
                <a:tc>
                  <a:txBody>
                    <a:bodyPr wrap="square"/>
                    <a:lstStyle/>
                    <a:p>
                      <a:pPr algn="l"/>
                      <a:r>
                        <a:rPr sz="950" b="0" i="0">
                          <a:solidFill>
                            <a:srgbClr val="000000"/>
                          </a:solidFill>
                        </a:rPr>
                        <a:t>10</a:t>
                      </a:r>
                    </a:p>
                  </a:txBody>
                  <a:tcPr marL="45720" marR="45720" marT="18288" marB="18288" anchor="ctr">
                    <a:solidFill>
                      <a:srgbClr val="F2F6FA"/>
                    </a:solidFill>
                  </a:tcPr>
                </a:tc>
                <a:tc>
                  <a:txBody>
                    <a:bodyPr wrap="square"/>
                    <a:lstStyle/>
                    <a:p>
                      <a:pPr algn="l"/>
                      <a:r>
                        <a:rPr sz="950" b="0" i="0">
                          <a:solidFill>
                            <a:srgbClr val="000000"/>
                          </a:solidFill>
                        </a:rPr>
                        <a:t>7</a:t>
                      </a:r>
                    </a:p>
                  </a:txBody>
                  <a:tcPr marL="45720" marR="45720" marT="18288" marB="18288" anchor="ctr">
                    <a:solidFill>
                      <a:srgbClr val="F2F6FA"/>
                    </a:solidFill>
                  </a:tcPr>
                </a:tc>
                <a:tc>
                  <a:txBody>
                    <a:bodyPr wrap="square"/>
                    <a:lstStyle/>
                    <a:p>
                      <a:pPr algn="l"/>
                      <a:r>
                        <a:rPr sz="950" b="0" i="0">
                          <a:solidFill>
                            <a:srgbClr val="000000"/>
                          </a:solidFill>
                        </a:rPr>
                        <a:t>800 / 1,069</a:t>
                      </a:r>
                    </a:p>
                  </a:txBody>
                  <a:tcPr marL="45720" marR="45720" marT="18288" marB="18288" anchor="ctr">
                    <a:solidFill>
                      <a:srgbClr val="F2F6FA"/>
                    </a:solidFill>
                  </a:tcPr>
                </a:tc>
                <a:tc>
                  <a:txBody>
                    <a:bodyPr wrap="square"/>
                    <a:lstStyle/>
                    <a:p>
                      <a:pPr algn="l"/>
                      <a:r>
                        <a:rPr sz="950" b="0" i="0">
                          <a:solidFill>
                            <a:srgbClr val="000000"/>
                          </a:solidFill>
                        </a:rPr>
                        <a:t>12,449</a:t>
                      </a:r>
                    </a:p>
                  </a:txBody>
                  <a:tcPr marL="45720" marR="45720" marT="18288" marB="18288" anchor="ctr">
                    <a:solidFill>
                      <a:srgbClr val="F2F6FA"/>
                    </a:solidFill>
                  </a:tcPr>
                </a:tc>
                <a:tc>
                  <a:txBody>
                    <a:bodyPr wrap="square"/>
                    <a:lstStyle/>
                    <a:p>
                      <a:pPr algn="l"/>
                      <a:r>
                        <a:rPr sz="950" b="0" i="0">
                          <a:solidFill>
                            <a:srgbClr val="000000"/>
                          </a:solidFill>
                        </a:rPr>
                        <a:t>34</a:t>
                      </a:r>
                    </a:p>
                  </a:txBody>
                  <a:tcPr marL="45720" marR="45720" marT="18288" marB="18288" anchor="ctr">
                    <a:solidFill>
                      <a:srgbClr val="F2F6FA"/>
                    </a:solidFill>
                  </a:tcPr>
                </a:tc>
              </a:tr>
              <a:tr h="274320">
                <a:tc>
                  <a:txBody>
                    <a:bodyPr wrap="square"/>
                    <a:lstStyle/>
                    <a:p>
                      <a:pPr algn="l"/>
                      <a:r>
                        <a:rPr sz="950" b="0" i="0">
                          <a:solidFill>
                            <a:srgbClr val="000000"/>
                          </a:solidFill>
                        </a:rPr>
                        <a:t>raster</a:t>
                      </a:r>
                    </a:p>
                  </a:txBody>
                  <a:tcPr marL="45720" marR="45720" marT="18288" marB="18288" anchor="ctr">
                    <a:solidFill>
                      <a:srgbClr val="FFFFFF"/>
                    </a:solidFill>
                  </a:tcPr>
                </a:tc>
                <a:tc>
                  <a:txBody>
                    <a:bodyPr wrap="square"/>
                    <a:lstStyle/>
                    <a:p>
                      <a:pPr algn="l"/>
                      <a:r>
                        <a:rPr sz="950" b="0" i="0">
                          <a:solidFill>
                            <a:srgbClr val="000000"/>
                          </a:solidFill>
                        </a:rPr>
                        <a:t>NT 16, NW 16</a:t>
                      </a:r>
                    </a:p>
                  </a:txBody>
                  <a:tcPr marL="45720" marR="45720" marT="18288" marB="18288" anchor="ctr">
                    <a:solidFill>
                      <a:srgbClr val="FFFFFF"/>
                    </a:solidFill>
                  </a:tcPr>
                </a:tc>
                <a:tc>
                  <a:txBody>
                    <a:bodyPr wrap="square"/>
                    <a:lstStyle/>
                    <a:p>
                      <a:pPr algn="l"/>
                      <a:r>
                        <a:rPr sz="950" b="0" i="0">
                          <a:solidFill>
                            <a:srgbClr val="000000"/>
                          </a:solidFill>
                        </a:rPr>
                        <a:t>300 / 339</a:t>
                      </a:r>
                    </a:p>
                  </a:txBody>
                  <a:tcPr marL="45720" marR="45720" marT="18288" marB="18288" anchor="ctr">
                    <a:solidFill>
                      <a:srgbClr val="FFFFFF"/>
                    </a:solidFill>
                  </a:tcPr>
                </a:tc>
                <a:tc>
                  <a:txBody>
                    <a:bodyPr wrap="square"/>
                    <a:lstStyle/>
                    <a:p>
                      <a:pPr algn="l"/>
                      <a:r>
                        <a:rPr sz="950" b="0" i="0">
                          <a:solidFill>
                            <a:srgbClr val="000000"/>
                          </a:solidFill>
                        </a:rPr>
                        <a:t>8,346</a:t>
                      </a:r>
                    </a:p>
                  </a:txBody>
                  <a:tcPr marL="45720" marR="45720" marT="18288" marB="18288" anchor="ctr">
                    <a:solidFill>
                      <a:srgbClr val="FFFFFF"/>
                    </a:solidFill>
                  </a:tcPr>
                </a:tc>
                <a:tc>
                  <a:txBody>
                    <a:bodyPr wrap="square"/>
                    <a:lstStyle/>
                    <a:p>
                      <a:pPr algn="l"/>
                      <a:r>
                        <a:rPr sz="950" b="0" i="0">
                          <a:solidFill>
                            <a:srgbClr val="000000"/>
                          </a:solidFill>
                        </a:rPr>
                        <a:t>9,160</a:t>
                      </a:r>
                    </a:p>
                  </a:txBody>
                  <a:tcPr marL="45720" marR="45720" marT="18288" marB="18288" anchor="ctr">
                    <a:solidFill>
                      <a:srgbClr val="FFFFFF"/>
                    </a:solidFill>
                  </a:tcPr>
                </a:tc>
                <a:tc>
                  <a:txBody>
                    <a:bodyPr wrap="square"/>
                    <a:lstStyle/>
                    <a:p>
                      <a:pPr algn="l"/>
                      <a:r>
                        <a:rPr sz="950" b="0" i="0">
                          <a:solidFill>
                            <a:srgbClr val="000000"/>
                          </a:solidFill>
                        </a:rPr>
                        <a:t>10</a:t>
                      </a:r>
                    </a:p>
                  </a:txBody>
                  <a:tcPr marL="45720" marR="45720" marT="18288" marB="18288" anchor="ctr">
                    <a:solidFill>
                      <a:srgbClr val="FFFFFF"/>
                    </a:solidFill>
                  </a:tcPr>
                </a:tc>
                <a:tc>
                  <a:txBody>
                    <a:bodyPr wrap="square"/>
                    <a:lstStyle/>
                    <a:p>
                      <a:pPr algn="l"/>
                      <a:r>
                        <a:rPr sz="950" b="0" i="0">
                          <a:solidFill>
                            <a:srgbClr val="000000"/>
                          </a:solidFill>
                        </a:rPr>
                        <a:t>14</a:t>
                      </a:r>
                    </a:p>
                  </a:txBody>
                  <a:tcPr marL="45720" marR="45720" marT="18288" marB="18288" anchor="ctr">
                    <a:solidFill>
                      <a:srgbClr val="FFFFFF"/>
                    </a:solidFill>
                  </a:tcPr>
                </a:tc>
                <a:tc>
                  <a:txBody>
                    <a:bodyPr wrap="square"/>
                    <a:lstStyle/>
                    <a:p>
                      <a:pPr algn="l"/>
                      <a:r>
                        <a:rPr sz="950" b="0" i="0">
                          <a:solidFill>
                            <a:srgbClr val="000000"/>
                          </a:solidFill>
                        </a:rPr>
                        <a:t>800 / 1,227</a:t>
                      </a:r>
                    </a:p>
                  </a:txBody>
                  <a:tcPr marL="45720" marR="45720" marT="18288" marB="18288" anchor="ctr">
                    <a:solidFill>
                      <a:srgbClr val="FFFFFF"/>
                    </a:solidFill>
                  </a:tcPr>
                </a:tc>
                <a:tc>
                  <a:txBody>
                    <a:bodyPr wrap="square"/>
                    <a:lstStyle/>
                    <a:p>
                      <a:pPr algn="l"/>
                      <a:r>
                        <a:rPr sz="950" b="0" i="0">
                          <a:solidFill>
                            <a:srgbClr val="000000"/>
                          </a:solidFill>
                        </a:rPr>
                        <a:t>10,527</a:t>
                      </a:r>
                    </a:p>
                  </a:txBody>
                  <a:tcPr marL="45720" marR="45720" marT="18288" marB="18288" anchor="ctr">
                    <a:solidFill>
                      <a:srgbClr val="FFFFFF"/>
                    </a:solidFill>
                  </a:tcPr>
                </a:tc>
                <a:tc>
                  <a:txBody>
                    <a:bodyPr wrap="square"/>
                    <a:lstStyle/>
                    <a:p>
                      <a:pPr algn="l"/>
                      <a:r>
                        <a:rPr sz="950" b="0" i="0">
                          <a:solidFill>
                            <a:srgbClr val="000000"/>
                          </a:solidFill>
                        </a:rPr>
                        <a:t>51</a:t>
                      </a:r>
                    </a:p>
                  </a:txBody>
                  <a:tcPr marL="45720" marR="45720" marT="18288" marB="18288" anchor="ctr">
                    <a:solidFill>
                      <a:srgbClr val="FFFFFF"/>
                    </a:solidFill>
                  </a:tcPr>
                </a:tc>
              </a:tr>
              <a:tr h="274320">
                <a:tc>
                  <a:txBody>
                    <a:bodyPr wrap="square"/>
                    <a:lstStyle/>
                    <a:p>
                      <a:pPr algn="l"/>
                      <a:r>
                        <a:rPr sz="950" b="0" i="0">
                          <a:solidFill>
                            <a:srgbClr val="000000"/>
                          </a:solidFill>
                        </a:rPr>
                        <a:t>tex</a:t>
                      </a:r>
                    </a:p>
                  </a:txBody>
                  <a:tcPr marL="45720" marR="45720" marT="18288" marB="18288" anchor="ctr">
                    <a:solidFill>
                      <a:srgbClr val="F2F6FA"/>
                    </a:solidFill>
                  </a:tcPr>
                </a:tc>
                <a:tc>
                  <a:txBody>
                    <a:bodyPr wrap="square"/>
                    <a:lstStyle/>
                    <a:p>
                      <a:pPr algn="l"/>
                      <a:r>
                        <a:rPr sz="950" b="0" i="0">
                          <a:solidFill>
                            <a:srgbClr val="000000"/>
                          </a:solidFill>
                        </a:rPr>
                        <a:t>NT 16, NW 16 (ASAP7 8×8)</a:t>
                      </a:r>
                    </a:p>
                  </a:txBody>
                  <a:tcPr marL="45720" marR="45720" marT="18288" marB="18288" anchor="ctr">
                    <a:solidFill>
                      <a:srgbClr val="F2F6FA"/>
                    </a:solidFill>
                  </a:tcPr>
                </a:tc>
                <a:tc>
                  <a:txBody>
                    <a:bodyPr wrap="square"/>
                    <a:lstStyle/>
                    <a:p>
                      <a:pPr algn="l"/>
                      <a:r>
                        <a:rPr sz="950" b="0" i="0">
                          <a:solidFill>
                            <a:srgbClr val="000000"/>
                          </a:solidFill>
                        </a:rPr>
                        <a:t>300 / 293</a:t>
                      </a:r>
                    </a:p>
                  </a:txBody>
                  <a:tcPr marL="45720" marR="45720" marT="18288" marB="18288" anchor="ctr">
                    <a:solidFill>
                      <a:srgbClr val="F2F6FA"/>
                    </a:solidFill>
                  </a:tcPr>
                </a:tc>
                <a:tc>
                  <a:txBody>
                    <a:bodyPr wrap="square"/>
                    <a:lstStyle/>
                    <a:p>
                      <a:pPr algn="l"/>
                      <a:r>
                        <a:rPr sz="950" b="0" i="0">
                          <a:solidFill>
                            <a:srgbClr val="000000"/>
                          </a:solidFill>
                        </a:rPr>
                        <a:t>61,245</a:t>
                      </a:r>
                    </a:p>
                  </a:txBody>
                  <a:tcPr marL="45720" marR="45720" marT="18288" marB="18288" anchor="ctr">
                    <a:solidFill>
                      <a:srgbClr val="F2F6FA"/>
                    </a:solidFill>
                  </a:tcPr>
                </a:tc>
                <a:tc>
                  <a:txBody>
                    <a:bodyPr wrap="square"/>
                    <a:lstStyle/>
                    <a:p>
                      <a:pPr algn="l"/>
                      <a:r>
                        <a:rPr sz="950" b="0" i="0">
                          <a:solidFill>
                            <a:srgbClr val="000000"/>
                          </a:solidFill>
                        </a:rPr>
                        <a:t>31,268</a:t>
                      </a:r>
                    </a:p>
                  </a:txBody>
                  <a:tcPr marL="45720" marR="45720" marT="18288" marB="18288" anchor="ctr">
                    <a:solidFill>
                      <a:srgbClr val="F2F6FA"/>
                    </a:solidFill>
                  </a:tcPr>
                </a:tc>
                <a:tc>
                  <a:txBody>
                    <a:bodyPr wrap="square"/>
                    <a:lstStyle/>
                    <a:p>
                      <a:pPr algn="l"/>
                      <a:r>
                        <a:rPr sz="950" b="0" i="0">
                          <a:solidFill>
                            <a:srgbClr val="000000"/>
                          </a:solidFill>
                        </a:rPr>
                        <a:t>0</a:t>
                      </a:r>
                    </a:p>
                  </a:txBody>
                  <a:tcPr marL="45720" marR="45720" marT="18288" marB="18288" anchor="ctr">
                    <a:solidFill>
                      <a:srgbClr val="F2F6FA"/>
                    </a:solidFill>
                  </a:tcPr>
                </a:tc>
                <a:tc>
                  <a:txBody>
                    <a:bodyPr wrap="square"/>
                    <a:lstStyle/>
                    <a:p>
                      <a:pPr algn="l"/>
                      <a:r>
                        <a:rPr sz="950" b="0" i="0">
                          <a:solidFill>
                            <a:srgbClr val="000000"/>
                          </a:solidFill>
                        </a:rPr>
                        <a:t>528</a:t>
                      </a:r>
                    </a:p>
                  </a:txBody>
                  <a:tcPr marL="45720" marR="45720" marT="18288" marB="18288" anchor="ctr">
                    <a:solidFill>
                      <a:srgbClr val="F2F6FA"/>
                    </a:solidFill>
                  </a:tcPr>
                </a:tc>
                <a:tc>
                  <a:txBody>
                    <a:bodyPr wrap="square"/>
                    <a:lstStyle/>
                    <a:p>
                      <a:pPr algn="l"/>
                      <a:r>
                        <a:rPr sz="950" b="0" i="0">
                          <a:solidFill>
                            <a:srgbClr val="000000"/>
                          </a:solidFill>
                        </a:rPr>
                        <a:t>800 / 1,163</a:t>
                      </a:r>
                    </a:p>
                  </a:txBody>
                  <a:tcPr marL="45720" marR="45720" marT="18288" marB="18288" anchor="ctr">
                    <a:solidFill>
                      <a:srgbClr val="F2F6FA"/>
                    </a:solidFill>
                  </a:tcPr>
                </a:tc>
                <a:tc>
                  <a:txBody>
                    <a:bodyPr wrap="square"/>
                    <a:lstStyle/>
                    <a:p>
                      <a:pPr algn="l"/>
                      <a:r>
                        <a:rPr sz="950" b="0" i="0">
                          <a:solidFill>
                            <a:srgbClr val="000000"/>
                          </a:solidFill>
                        </a:rPr>
                        <a:t>61,159</a:t>
                      </a:r>
                    </a:p>
                  </a:txBody>
                  <a:tcPr marL="45720" marR="45720" marT="18288" marB="18288" anchor="ctr">
                    <a:solidFill>
                      <a:srgbClr val="F2F6FA"/>
                    </a:solidFill>
                  </a:tcPr>
                </a:tc>
                <a:tc>
                  <a:txBody>
                    <a:bodyPr wrap="square"/>
                    <a:lstStyle/>
                    <a:p>
                      <a:pPr algn="l"/>
                      <a:r>
                        <a:rPr sz="950" b="0" i="0">
                          <a:solidFill>
                            <a:srgbClr val="000000"/>
                          </a:solidFill>
                        </a:rPr>
                        <a:t>275</a:t>
                      </a:r>
                    </a:p>
                  </a:txBody>
                  <a:tcPr marL="45720" marR="45720" marT="18288" marB="18288" anchor="ctr">
                    <a:solidFill>
                      <a:srgbClr val="F2F6FA"/>
                    </a:solidFill>
                  </a:tcPr>
                </a:tc>
              </a:tr>
              <a:tr h="274320">
                <a:tc>
                  <a:txBody>
                    <a:bodyPr wrap="square"/>
                    <a:lstStyle/>
                    <a:p>
                      <a:pPr algn="l"/>
                      <a:r>
                        <a:rPr sz="950" b="0" i="0">
                          <a:solidFill>
                            <a:srgbClr val="000000"/>
                          </a:solidFill>
                        </a:rPr>
                        <a:t>om</a:t>
                      </a:r>
                    </a:p>
                  </a:txBody>
                  <a:tcPr marL="45720" marR="45720" marT="18288" marB="18288" anchor="ctr">
                    <a:solidFill>
                      <a:srgbClr val="FFFFFF"/>
                    </a:solidFill>
                  </a:tcPr>
                </a:tc>
                <a:tc>
                  <a:txBody>
                    <a:bodyPr wrap="square"/>
                    <a:lstStyle/>
                    <a:p>
                      <a:pPr algn="l"/>
                      <a:r>
                        <a:rPr sz="950" b="0" i="0">
                          <a:solidFill>
                            <a:srgbClr val="000000"/>
                          </a:solidFill>
                        </a:rPr>
                        <a:t>NT 16, NW 16</a:t>
                      </a:r>
                    </a:p>
                  </a:txBody>
                  <a:tcPr marL="45720" marR="45720" marT="18288" marB="18288" anchor="ctr">
                    <a:solidFill>
                      <a:srgbClr val="FFFFFF"/>
                    </a:solidFill>
                  </a:tcPr>
                </a:tc>
                <a:tc>
                  <a:txBody>
                    <a:bodyPr wrap="square"/>
                    <a:lstStyle/>
                    <a:p>
                      <a:pPr algn="l"/>
                      <a:r>
                        <a:rPr sz="950" b="0" i="0">
                          <a:solidFill>
                            <a:srgbClr val="000000"/>
                          </a:solidFill>
                        </a:rPr>
                        <a:t>300 / 359</a:t>
                      </a:r>
                    </a:p>
                  </a:txBody>
                  <a:tcPr marL="45720" marR="45720" marT="18288" marB="18288" anchor="ctr">
                    <a:solidFill>
                      <a:srgbClr val="FFFFFF"/>
                    </a:solidFill>
                  </a:tcPr>
                </a:tc>
                <a:tc>
                  <a:txBody>
                    <a:bodyPr wrap="square"/>
                    <a:lstStyle/>
                    <a:p>
                      <a:pPr algn="l"/>
                      <a:r>
                        <a:rPr sz="950" b="0" i="0">
                          <a:solidFill>
                            <a:srgbClr val="000000"/>
                          </a:solidFill>
                        </a:rPr>
                        <a:t>2,618</a:t>
                      </a:r>
                    </a:p>
                  </a:txBody>
                  <a:tcPr marL="45720" marR="45720" marT="18288" marB="18288" anchor="ctr">
                    <a:solidFill>
                      <a:srgbClr val="FFFFFF"/>
                    </a:solidFill>
                  </a:tcPr>
                </a:tc>
                <a:tc>
                  <a:txBody>
                    <a:bodyPr wrap="square"/>
                    <a:lstStyle/>
                    <a:p>
                      <a:pPr algn="l"/>
                      <a:r>
                        <a:rPr sz="950" b="0" i="0">
                          <a:solidFill>
                            <a:srgbClr val="000000"/>
                          </a:solidFill>
                        </a:rPr>
                        <a:t>3,853</a:t>
                      </a:r>
                    </a:p>
                  </a:txBody>
                  <a:tcPr marL="45720" marR="45720" marT="18288" marB="18288" anchor="ctr">
                    <a:solidFill>
                      <a:srgbClr val="FFFFFF"/>
                    </a:solidFill>
                  </a:tcPr>
                </a:tc>
                <a:tc>
                  <a:txBody>
                    <a:bodyPr wrap="square"/>
                    <a:lstStyle/>
                    <a:p>
                      <a:pPr algn="l"/>
                      <a:r>
                        <a:rPr sz="950" b="0" i="0">
                          <a:solidFill>
                            <a:srgbClr val="000000"/>
                          </a:solidFill>
                        </a:rPr>
                        <a:t>5</a:t>
                      </a:r>
                    </a:p>
                  </a:txBody>
                  <a:tcPr marL="45720" marR="45720" marT="18288" marB="18288" anchor="ctr">
                    <a:solidFill>
                      <a:srgbClr val="FFFFFF"/>
                    </a:solidFill>
                  </a:tcPr>
                </a:tc>
                <a:tc>
                  <a:txBody>
                    <a:bodyPr wrap="square"/>
                    <a:lstStyle/>
                    <a:p>
                      <a:pPr algn="l"/>
                      <a:r>
                        <a:rPr sz="950" b="0" i="0">
                          <a:solidFill>
                            <a:srgbClr val="000000"/>
                          </a:solidFill>
                        </a:rPr>
                        <a:t>22</a:t>
                      </a:r>
                    </a:p>
                  </a:txBody>
                  <a:tcPr marL="45720" marR="45720" marT="18288" marB="18288" anchor="ctr">
                    <a:solidFill>
                      <a:srgbClr val="FFFFFF"/>
                    </a:solidFill>
                  </a:tcPr>
                </a:tc>
                <a:tc>
                  <a:txBody>
                    <a:bodyPr wrap="square"/>
                    <a:lstStyle/>
                    <a:p>
                      <a:pPr algn="l"/>
                      <a:r>
                        <a:rPr sz="950" b="0" i="0">
                          <a:solidFill>
                            <a:srgbClr val="000000"/>
                          </a:solidFill>
                        </a:rPr>
                        <a:t>800 / 986</a:t>
                      </a:r>
                    </a:p>
                  </a:txBody>
                  <a:tcPr marL="45720" marR="45720" marT="18288" marB="18288" anchor="ctr">
                    <a:solidFill>
                      <a:srgbClr val="FFFFFF"/>
                    </a:solidFill>
                  </a:tcPr>
                </a:tc>
                <a:tc>
                  <a:txBody>
                    <a:bodyPr wrap="square"/>
                    <a:lstStyle/>
                    <a:p>
                      <a:pPr algn="l"/>
                      <a:r>
                        <a:rPr sz="950" b="0" i="0">
                          <a:solidFill>
                            <a:srgbClr val="000000"/>
                          </a:solidFill>
                        </a:rPr>
                        <a:t>5,926</a:t>
                      </a:r>
                    </a:p>
                  </a:txBody>
                  <a:tcPr marL="45720" marR="45720" marT="18288" marB="18288" anchor="ctr">
                    <a:solidFill>
                      <a:srgbClr val="FFFFFF"/>
                    </a:solidFill>
                  </a:tcPr>
                </a:tc>
                <a:tc>
                  <a:txBody>
                    <a:bodyPr wrap="square"/>
                    <a:lstStyle/>
                    <a:p>
                      <a:pPr algn="l"/>
                      <a:r>
                        <a:rPr sz="950" b="0" i="0">
                          <a:solidFill>
                            <a:srgbClr val="000000"/>
                          </a:solidFill>
                        </a:rPr>
                        <a:t>23</a:t>
                      </a:r>
                    </a:p>
                  </a:txBody>
                  <a:tcPr marL="45720" marR="45720" marT="18288" marB="18288" anchor="ctr">
                    <a:solidFill>
                      <a:srgbClr val="FFFFFF"/>
                    </a:solidFill>
                  </a:tcPr>
                </a:tc>
              </a:tr>
              <a:tr h="274320">
                <a:tc>
                  <a:txBody>
                    <a:bodyPr wrap="square"/>
                    <a:lstStyle/>
                    <a:p>
                      <a:pPr algn="l"/>
                      <a:r>
                        <a:rPr sz="950" b="0" i="0">
                          <a:solidFill>
                            <a:srgbClr val="000000"/>
                          </a:solidFill>
                        </a:rPr>
                        <a:t>rtu</a:t>
                      </a:r>
                    </a:p>
                  </a:txBody>
                  <a:tcPr marL="45720" marR="45720" marT="18288" marB="18288" anchor="ctr">
                    <a:solidFill>
                      <a:srgbClr val="F2F6FA"/>
                    </a:solidFill>
                  </a:tcPr>
                </a:tc>
                <a:tc>
                  <a:txBody>
                    <a:bodyPr wrap="square"/>
                    <a:lstStyle/>
                    <a:p>
                      <a:pPr algn="l"/>
                      <a:r>
                        <a:rPr sz="950" b="0" i="0">
                          <a:solidFill>
                            <a:srgbClr val="000000"/>
                          </a:solidFill>
                        </a:rPr>
                        <a:t>NT 16, NW 16</a:t>
                      </a:r>
                    </a:p>
                  </a:txBody>
                  <a:tcPr marL="45720" marR="45720" marT="18288" marB="18288" anchor="ctr">
                    <a:solidFill>
                      <a:srgbClr val="F2F6FA"/>
                    </a:solidFill>
                  </a:tcPr>
                </a:tc>
                <a:tc>
                  <a:txBody>
                    <a:bodyPr wrap="square"/>
                    <a:lstStyle/>
                    <a:p>
                      <a:pPr algn="l"/>
                      <a:r>
                        <a:rPr sz="950" b="0" i="0">
                          <a:solidFill>
                            <a:srgbClr val="000000"/>
                          </a:solidFill>
                        </a:rPr>
                        <a:t>300 / 298</a:t>
                      </a:r>
                    </a:p>
                  </a:txBody>
                  <a:tcPr marL="45720" marR="45720" marT="18288" marB="18288" anchor="ctr">
                    <a:solidFill>
                      <a:srgbClr val="F2F6FA"/>
                    </a:solidFill>
                  </a:tcPr>
                </a:tc>
                <a:tc>
                  <a:txBody>
                    <a:bodyPr wrap="square"/>
                    <a:lstStyle/>
                    <a:p>
                      <a:pPr algn="l"/>
                      <a:r>
                        <a:rPr sz="950" b="0" i="0">
                          <a:solidFill>
                            <a:srgbClr val="000000"/>
                          </a:solidFill>
                        </a:rPr>
                        <a:t>67,881</a:t>
                      </a:r>
                    </a:p>
                  </a:txBody>
                  <a:tcPr marL="45720" marR="45720" marT="18288" marB="18288" anchor="ctr">
                    <a:solidFill>
                      <a:srgbClr val="F2F6FA"/>
                    </a:solidFill>
                  </a:tcPr>
                </a:tc>
                <a:tc>
                  <a:txBody>
                    <a:bodyPr wrap="square"/>
                    <a:lstStyle/>
                    <a:p>
                      <a:pPr algn="l"/>
                      <a:r>
                        <a:rPr sz="950" b="0" i="0">
                          <a:solidFill>
                            <a:srgbClr val="000000"/>
                          </a:solidFill>
                        </a:rPr>
                        <a:t>95,516</a:t>
                      </a:r>
                    </a:p>
                  </a:txBody>
                  <a:tcPr marL="45720" marR="45720" marT="18288" marB="18288" anchor="ctr">
                    <a:solidFill>
                      <a:srgbClr val="F2F6FA"/>
                    </a:solidFill>
                  </a:tcPr>
                </a:tc>
                <a:tc>
                  <a:txBody>
                    <a:bodyPr wrap="square"/>
                    <a:lstStyle/>
                    <a:p>
                      <a:pPr algn="l"/>
                      <a:r>
                        <a:rPr sz="950" b="0" i="0">
                          <a:solidFill>
                            <a:srgbClr val="000000"/>
                          </a:solidFill>
                        </a:rPr>
                        <a:t>53</a:t>
                      </a:r>
                    </a:p>
                  </a:txBody>
                  <a:tcPr marL="45720" marR="45720" marT="18288" marB="18288" anchor="ctr">
                    <a:solidFill>
                      <a:srgbClr val="F2F6FA"/>
                    </a:solidFill>
                  </a:tcPr>
                </a:tc>
                <a:tc>
                  <a:txBody>
                    <a:bodyPr wrap="square"/>
                    <a:lstStyle/>
                    <a:p>
                      <a:pPr algn="l"/>
                      <a:r>
                        <a:rPr sz="950" b="0" i="0">
                          <a:solidFill>
                            <a:srgbClr val="000000"/>
                          </a:solidFill>
                        </a:rPr>
                        <a:t>146</a:t>
                      </a:r>
                    </a:p>
                  </a:txBody>
                  <a:tcPr marL="45720" marR="45720" marT="18288" marB="18288" anchor="ctr">
                    <a:solidFill>
                      <a:srgbClr val="F2F6FA"/>
                    </a:solidFill>
                  </a:tcPr>
                </a:tc>
                <a:tc>
                  <a:txBody>
                    <a:bodyPr wrap="square"/>
                    <a:lstStyle/>
                    <a:p>
                      <a:pPr algn="l"/>
                      <a:r>
                        <a:rPr sz="950" b="0" i="0">
                          <a:solidFill>
                            <a:srgbClr val="000000"/>
                          </a:solidFill>
                        </a:rPr>
                        <a:t>400 / 903</a:t>
                      </a:r>
                    </a:p>
                  </a:txBody>
                  <a:tcPr marL="45720" marR="45720" marT="18288" marB="18288" anchor="ctr">
                    <a:solidFill>
                      <a:srgbClr val="F2F6FA"/>
                    </a:solidFill>
                  </a:tcPr>
                </a:tc>
                <a:tc>
                  <a:txBody>
                    <a:bodyPr wrap="square"/>
                    <a:lstStyle/>
                    <a:p>
                      <a:pPr algn="l"/>
                      <a:r>
                        <a:rPr sz="950" b="0" i="0">
                          <a:solidFill>
                            <a:srgbClr val="000000"/>
                          </a:solidFill>
                        </a:rPr>
                        <a:t>98,965</a:t>
                      </a:r>
                    </a:p>
                  </a:txBody>
                  <a:tcPr marL="45720" marR="45720" marT="18288" marB="18288" anchor="ctr">
                    <a:solidFill>
                      <a:srgbClr val="F2F6FA"/>
                    </a:solidFill>
                  </a:tcPr>
                </a:tc>
                <a:tc>
                  <a:txBody>
                    <a:bodyPr wrap="square"/>
                    <a:lstStyle/>
                    <a:p>
                      <a:pPr algn="l"/>
                      <a:r>
                        <a:rPr sz="950" b="0" i="0">
                          <a:solidFill>
                            <a:srgbClr val="000000"/>
                          </a:solidFill>
                        </a:rPr>
                        <a:t>361</a:t>
                      </a:r>
                    </a:p>
                  </a:txBody>
                  <a:tcPr marL="45720" marR="45720" marT="18288" marB="18288" anchor="ctr">
                    <a:solidFill>
                      <a:srgbClr val="F2F6FA"/>
                    </a:solidFill>
                  </a:tcPr>
                </a:tc>
              </a:tr>
              <a:tr h="274320">
                <a:tc>
                  <a:txBody>
                    <a:bodyPr wrap="square"/>
                    <a:lstStyle/>
                    <a:p>
                      <a:pPr algn="l"/>
                      <a:r>
                        <a:rPr sz="950" b="0" i="0">
                          <a:solidFill>
                            <a:srgbClr val="000000"/>
                          </a:solidFill>
                        </a:rPr>
                        <a:t>gfx</a:t>
                      </a:r>
                    </a:p>
                  </a:txBody>
                  <a:tcPr marL="45720" marR="45720" marT="18288" marB="18288" anchor="ctr">
                    <a:solidFill>
                      <a:srgbClr val="FFFFFF"/>
                    </a:solidFill>
                  </a:tcPr>
                </a:tc>
                <a:tc>
                  <a:txBody>
                    <a:bodyPr wrap="square"/>
                    <a:lstStyle/>
                    <a:p>
                      <a:pPr algn="l"/>
                      <a:r>
                        <a:rPr sz="950" b="0" i="0">
                          <a:solidFill>
                            <a:srgbClr val="000000"/>
                          </a:solidFill>
                        </a:rPr>
                        <a:t>NT 16, NW 16 (ASAP7 4×4)</a:t>
                      </a:r>
                    </a:p>
                  </a:txBody>
                  <a:tcPr marL="45720" marR="45720" marT="18288" marB="18288" anchor="ctr">
                    <a:solidFill>
                      <a:srgbClr val="FFFFFF"/>
                    </a:solidFill>
                  </a:tcPr>
                </a:tc>
                <a:tc>
                  <a:txBody>
                    <a:bodyPr wrap="square"/>
                    <a:lstStyle/>
                    <a:p>
                      <a:pPr algn="l"/>
                      <a:r>
                        <a:rPr sz="950" b="0" i="0">
                          <a:solidFill>
                            <a:srgbClr val="000000"/>
                          </a:solidFill>
                        </a:rPr>
                        <a:t>250 / 250</a:t>
                      </a:r>
                    </a:p>
                  </a:txBody>
                  <a:tcPr marL="45720" marR="45720" marT="18288" marB="18288" anchor="ctr">
                    <a:solidFill>
                      <a:srgbClr val="FFFFFF"/>
                    </a:solidFill>
                  </a:tcPr>
                </a:tc>
                <a:tc>
                  <a:txBody>
                    <a:bodyPr wrap="square"/>
                    <a:lstStyle/>
                    <a:p>
                      <a:pPr algn="l"/>
                      <a:r>
                        <a:rPr sz="950" b="0" i="0">
                          <a:solidFill>
                            <a:srgbClr val="000000"/>
                          </a:solidFill>
                        </a:rPr>
                        <a:t>204,871</a:t>
                      </a:r>
                    </a:p>
                  </a:txBody>
                  <a:tcPr marL="45720" marR="45720" marT="18288" marB="18288" anchor="ctr">
                    <a:solidFill>
                      <a:srgbClr val="FFFFFF"/>
                    </a:solidFill>
                  </a:tcPr>
                </a:tc>
                <a:tc>
                  <a:txBody>
                    <a:bodyPr wrap="square"/>
                    <a:lstStyle/>
                    <a:p>
                      <a:pPr algn="l"/>
                      <a:r>
                        <a:rPr sz="950" b="0" i="0">
                          <a:solidFill>
                            <a:srgbClr val="000000"/>
                          </a:solidFill>
                        </a:rPr>
                        <a:t>221,979</a:t>
                      </a:r>
                    </a:p>
                  </a:txBody>
                  <a:tcPr marL="45720" marR="45720" marT="18288" marB="18288" anchor="ctr">
                    <a:solidFill>
                      <a:srgbClr val="FFFFFF"/>
                    </a:solidFill>
                  </a:tcPr>
                </a:tc>
                <a:tc>
                  <a:txBody>
                    <a:bodyPr wrap="square"/>
                    <a:lstStyle/>
                    <a:p>
                      <a:pPr algn="l"/>
                      <a:r>
                        <a:rPr sz="950" b="0" i="0">
                          <a:solidFill>
                            <a:srgbClr val="000000"/>
                          </a:solidFill>
                        </a:rPr>
                        <a:t>165</a:t>
                      </a:r>
                    </a:p>
                  </a:txBody>
                  <a:tcPr marL="45720" marR="45720" marT="18288" marB="18288" anchor="ctr">
                    <a:solidFill>
                      <a:srgbClr val="FFFFFF"/>
                    </a:solidFill>
                  </a:tcPr>
                </a:tc>
                <a:tc>
                  <a:txBody>
                    <a:bodyPr wrap="square"/>
                    <a:lstStyle/>
                    <a:p>
                      <a:pPr algn="l"/>
                      <a:r>
                        <a:rPr sz="950" b="0" i="0">
                          <a:solidFill>
                            <a:srgbClr val="000000"/>
                          </a:solidFill>
                        </a:rPr>
                        <a:t>752</a:t>
                      </a:r>
                    </a:p>
                  </a:txBody>
                  <a:tcPr marL="45720" marR="45720" marT="18288" marB="18288" anchor="ctr">
                    <a:solidFill>
                      <a:srgbClr val="FFFFFF"/>
                    </a:solidFill>
                  </a:tcPr>
                </a:tc>
                <a:tc>
                  <a:txBody>
                    <a:bodyPr wrap="square"/>
                    <a:lstStyle/>
                    <a:p>
                      <a:pPr algn="l"/>
                      <a:r>
                        <a:rPr sz="950" b="0" i="0">
                          <a:solidFill>
                            <a:srgbClr val="000000"/>
                          </a:solidFill>
                        </a:rPr>
                        <a:t>400 / 850</a:t>
                      </a:r>
                    </a:p>
                  </a:txBody>
                  <a:tcPr marL="45720" marR="45720" marT="18288" marB="18288" anchor="ctr">
                    <a:solidFill>
                      <a:srgbClr val="FFFFFF"/>
                    </a:solidFill>
                  </a:tcPr>
                </a:tc>
                <a:tc>
                  <a:txBody>
                    <a:bodyPr wrap="square"/>
                    <a:lstStyle/>
                    <a:p>
                      <a:pPr algn="l"/>
                      <a:r>
                        <a:rPr sz="950" b="0" i="0">
                          <a:solidFill>
                            <a:srgbClr val="000000"/>
                          </a:solidFill>
                        </a:rPr>
                        <a:t>242,203</a:t>
                      </a:r>
                    </a:p>
                  </a:txBody>
                  <a:tcPr marL="45720" marR="45720" marT="18288" marB="18288" anchor="ctr">
                    <a:solidFill>
                      <a:srgbClr val="FFFFFF"/>
                    </a:solidFill>
                  </a:tcPr>
                </a:tc>
                <a:tc>
                  <a:txBody>
                    <a:bodyPr wrap="square"/>
                    <a:lstStyle/>
                    <a:p>
                      <a:pPr algn="l"/>
                      <a:r>
                        <a:rPr sz="950" b="0" i="0">
                          <a:solidFill>
                            <a:srgbClr val="000000"/>
                          </a:solidFill>
                        </a:rPr>
                        <a:t>624</a:t>
                      </a:r>
                    </a:p>
                  </a:txBody>
                  <a:tcPr marL="45720" marR="45720" marT="18288" marB="18288" anchor="ctr">
                    <a:solidFill>
                      <a:srgbClr val="FFFFFF"/>
                    </a:solidFill>
                  </a:tcPr>
                </a:tc>
              </a:tr>
              <a:tr h="274320">
                <a:tc>
                  <a:txBody>
                    <a:bodyPr wrap="square"/>
                    <a:lstStyle/>
                    <a:p>
                      <a:pPr algn="l"/>
                      <a:r>
                        <a:rPr sz="950" b="0" i="0">
                          <a:solidFill>
                            <a:srgbClr val="000000"/>
                          </a:solidFill>
                        </a:rPr>
                        <a:t>vm</a:t>
                      </a:r>
                    </a:p>
                  </a:txBody>
                  <a:tcPr marL="45720" marR="45720" marT="18288" marB="18288" anchor="ctr">
                    <a:solidFill>
                      <a:srgbClr val="F2F6FA"/>
                    </a:solidFill>
                  </a:tcPr>
                </a:tc>
                <a:tc>
                  <a:txBody>
                    <a:bodyPr wrap="square"/>
                    <a:lstStyle/>
                    <a:p>
                      <a:pPr algn="l"/>
                      <a:r>
                        <a:rPr sz="950" b="0" i="0">
                          <a:solidFill>
                            <a:srgbClr val="000000"/>
                          </a:solidFill>
                        </a:rPr>
                        <a:t>NT 16, NW 16, 2 cores (ASAP7 8×8)</a:t>
                      </a:r>
                    </a:p>
                  </a:txBody>
                  <a:tcPr marL="45720" marR="45720" marT="18288" marB="18288" anchor="ctr">
                    <a:solidFill>
                      <a:srgbClr val="F2F6FA"/>
                    </a:solidFill>
                  </a:tcPr>
                </a:tc>
                <a:tc>
                  <a:txBody>
                    <a:bodyPr wrap="square"/>
                    <a:lstStyle/>
                    <a:p>
                      <a:pPr algn="l"/>
                      <a:r>
                        <a:rPr sz="950" b="0" i="0">
                          <a:solidFill>
                            <a:srgbClr val="000000"/>
                          </a:solidFill>
                        </a:rPr>
                        <a:t>250 / 250</a:t>
                      </a:r>
                    </a:p>
                  </a:txBody>
                  <a:tcPr marL="45720" marR="45720" marT="18288" marB="18288" anchor="ctr">
                    <a:solidFill>
                      <a:srgbClr val="F2F6FA"/>
                    </a:solidFill>
                  </a:tcPr>
                </a:tc>
                <a:tc>
                  <a:txBody>
                    <a:bodyPr wrap="square"/>
                    <a:lstStyle/>
                    <a:p>
                      <a:pPr algn="l"/>
                      <a:r>
                        <a:rPr sz="950" b="0" i="0">
                          <a:solidFill>
                            <a:srgbClr val="000000"/>
                          </a:solidFill>
                        </a:rPr>
                        <a:t>119,695</a:t>
                      </a:r>
                    </a:p>
                  </a:txBody>
                  <a:tcPr marL="45720" marR="45720" marT="18288" marB="18288" anchor="ctr">
                    <a:solidFill>
                      <a:srgbClr val="F2F6FA"/>
                    </a:solidFill>
                  </a:tcPr>
                </a:tc>
                <a:tc>
                  <a:txBody>
                    <a:bodyPr wrap="square"/>
                    <a:lstStyle/>
                    <a:p>
                      <a:pPr algn="l"/>
                      <a:r>
                        <a:rPr sz="950" b="0" i="0">
                          <a:solidFill>
                            <a:srgbClr val="000000"/>
                          </a:solidFill>
                        </a:rPr>
                        <a:t>113,304</a:t>
                      </a:r>
                    </a:p>
                  </a:txBody>
                  <a:tcPr marL="45720" marR="45720" marT="18288" marB="18288" anchor="ctr">
                    <a:solidFill>
                      <a:srgbClr val="F2F6FA"/>
                    </a:solidFill>
                  </a:tcPr>
                </a:tc>
                <a:tc>
                  <a:txBody>
                    <a:bodyPr wrap="square"/>
                    <a:lstStyle/>
                    <a:p>
                      <a:pPr algn="l"/>
                      <a:r>
                        <a:rPr sz="950" b="0" i="0">
                          <a:solidFill>
                            <a:srgbClr val="000000"/>
                          </a:solidFill>
                        </a:rPr>
                        <a:t>180</a:t>
                      </a:r>
                    </a:p>
                  </a:txBody>
                  <a:tcPr marL="45720" marR="45720" marT="18288" marB="18288" anchor="ctr">
                    <a:solidFill>
                      <a:srgbClr val="F2F6FA"/>
                    </a:solidFill>
                  </a:tcPr>
                </a:tc>
                <a:tc>
                  <a:txBody>
                    <a:bodyPr wrap="square"/>
                    <a:lstStyle/>
                    <a:p>
                      <a:pPr algn="l"/>
                      <a:r>
                        <a:rPr sz="950" b="0" i="0">
                          <a:solidFill>
                            <a:srgbClr val="000000"/>
                          </a:solidFill>
                        </a:rPr>
                        <a:t>0</a:t>
                      </a:r>
                    </a:p>
                  </a:txBody>
                  <a:tcPr marL="45720" marR="45720" marT="18288" marB="18288" anchor="ctr">
                    <a:solidFill>
                      <a:srgbClr val="F2F6FA"/>
                    </a:solidFill>
                  </a:tcPr>
                </a:tc>
                <a:tc>
                  <a:txBody>
                    <a:bodyPr wrap="square"/>
                    <a:lstStyle/>
                    <a:p>
                      <a:pPr algn="l"/>
                      <a:r>
                        <a:rPr sz="950" b="0" i="0">
                          <a:solidFill>
                            <a:srgbClr val="000000"/>
                          </a:solidFill>
                        </a:rPr>
                        <a:t>400 / 1,029</a:t>
                      </a:r>
                    </a:p>
                  </a:txBody>
                  <a:tcPr marL="45720" marR="45720" marT="18288" marB="18288" anchor="ctr">
                    <a:solidFill>
                      <a:srgbClr val="F2F6FA"/>
                    </a:solidFill>
                  </a:tcPr>
                </a:tc>
                <a:tc>
                  <a:txBody>
                    <a:bodyPr wrap="square"/>
                    <a:lstStyle/>
                    <a:p>
                      <a:pPr algn="l"/>
                      <a:r>
                        <a:rPr sz="950" b="0" i="0">
                          <a:solidFill>
                            <a:srgbClr val="000000"/>
                          </a:solidFill>
                        </a:rPr>
                        <a:t>146,445</a:t>
                      </a:r>
                    </a:p>
                  </a:txBody>
                  <a:tcPr marL="45720" marR="45720" marT="18288" marB="18288" anchor="ctr">
                    <a:solidFill>
                      <a:srgbClr val="F2F6FA"/>
                    </a:solidFill>
                  </a:tcPr>
                </a:tc>
                <a:tc>
                  <a:txBody>
                    <a:bodyPr wrap="square"/>
                    <a:lstStyle/>
                    <a:p>
                      <a:pPr algn="l"/>
                      <a:r>
                        <a:rPr sz="950" b="0" i="0">
                          <a:solidFill>
                            <a:srgbClr val="000000"/>
                          </a:solidFill>
                        </a:rPr>
                        <a:t>185</a:t>
                      </a:r>
                    </a:p>
                  </a:txBody>
                  <a:tcPr marL="45720" marR="45720" marT="18288" marB="18288" anchor="ctr">
                    <a:solidFill>
                      <a:srgbClr val="F2F6FA"/>
                    </a:solidFill>
                  </a:tcPr>
                </a:tc>
              </a:tr>
              <a:tr h="274320">
                <a:tc>
                  <a:txBody>
                    <a:bodyPr wrap="square"/>
                    <a:lstStyle/>
                    <a:p>
                      <a:pPr algn="l"/>
                      <a:r>
                        <a:rPr sz="950" b="0" i="0">
                          <a:solidFill>
                            <a:srgbClr val="000000"/>
                          </a:solidFill>
                        </a:rPr>
                        <a:t>mufu</a:t>
                      </a:r>
                    </a:p>
                  </a:txBody>
                  <a:tcPr marL="45720" marR="45720" marT="18288" marB="18288" anchor="ctr">
                    <a:solidFill>
                      <a:srgbClr val="FFFFFF"/>
                    </a:solidFill>
                  </a:tcPr>
                </a:tc>
                <a:tc>
                  <a:txBody>
                    <a:bodyPr wrap="square"/>
                    <a:lstStyle/>
                    <a:p>
                      <a:pPr algn="l"/>
                      <a:r>
                        <a:rPr sz="950" b="0" i="0">
                          <a:solidFill>
                            <a:srgbClr val="000000"/>
                          </a:solidFill>
                        </a:rPr>
                        <a:t>NT 16, NW 16</a:t>
                      </a:r>
                    </a:p>
                  </a:txBody>
                  <a:tcPr marL="45720" marR="45720" marT="18288" marB="18288" anchor="ctr">
                    <a:solidFill>
                      <a:srgbClr val="FFFFFF"/>
                    </a:solidFill>
                  </a:tcPr>
                </a:tc>
                <a:tc>
                  <a:txBody>
                    <a:bodyPr wrap="square"/>
                    <a:lstStyle/>
                    <a:p>
                      <a:pPr algn="l"/>
                      <a:r>
                        <a:rPr sz="950" b="0" i="0">
                          <a:solidFill>
                            <a:srgbClr val="000000"/>
                          </a:solidFill>
                        </a:rPr>
                        <a:t>300 / 318</a:t>
                      </a:r>
                    </a:p>
                  </a:txBody>
                  <a:tcPr marL="45720" marR="45720" marT="18288" marB="18288" anchor="ctr">
                    <a:solidFill>
                      <a:srgbClr val="FFFFFF"/>
                    </a:solidFill>
                  </a:tcPr>
                </a:tc>
                <a:tc>
                  <a:txBody>
                    <a:bodyPr wrap="square"/>
                    <a:lstStyle/>
                    <a:p>
                      <a:pPr algn="l"/>
                      <a:r>
                        <a:rPr sz="950" b="0" i="0">
                          <a:solidFill>
                            <a:srgbClr val="000000"/>
                          </a:solidFill>
                        </a:rPr>
                        <a:t>2,030</a:t>
                      </a:r>
                    </a:p>
                  </a:txBody>
                  <a:tcPr marL="45720" marR="45720" marT="18288" marB="18288" anchor="ctr">
                    <a:solidFill>
                      <a:srgbClr val="FFFFFF"/>
                    </a:solidFill>
                  </a:tcPr>
                </a:tc>
                <a:tc>
                  <a:txBody>
                    <a:bodyPr wrap="square"/>
                    <a:lstStyle/>
                    <a:p>
                      <a:pPr algn="l"/>
                      <a:r>
                        <a:rPr sz="950" b="0" i="0">
                          <a:solidFill>
                            <a:srgbClr val="000000"/>
                          </a:solidFill>
                        </a:rPr>
                        <a:t>1,105</a:t>
                      </a:r>
                    </a:p>
                  </a:txBody>
                  <a:tcPr marL="45720" marR="45720" marT="18288" marB="18288" anchor="ctr">
                    <a:solidFill>
                      <a:srgbClr val="FFFFFF"/>
                    </a:solidFill>
                  </a:tcPr>
                </a:tc>
                <a:tc>
                  <a:txBody>
                    <a:bodyPr wrap="square"/>
                    <a:lstStyle/>
                    <a:p>
                      <a:pPr algn="l"/>
                      <a:r>
                        <a:rPr sz="950" b="0" i="0">
                          <a:solidFill>
                            <a:srgbClr val="000000"/>
                          </a:solidFill>
                        </a:rPr>
                        <a:t>1</a:t>
                      </a:r>
                    </a:p>
                  </a:txBody>
                  <a:tcPr marL="45720" marR="45720" marT="18288" marB="18288" anchor="ctr">
                    <a:solidFill>
                      <a:srgbClr val="FFFFFF"/>
                    </a:solidFill>
                  </a:tcPr>
                </a:tc>
                <a:tc>
                  <a:txBody>
                    <a:bodyPr wrap="square"/>
                    <a:lstStyle/>
                    <a:p>
                      <a:pPr algn="l"/>
                      <a:r>
                        <a:rPr sz="950" b="0" i="0">
                          <a:solidFill>
                            <a:srgbClr val="000000"/>
                          </a:solidFill>
                        </a:rPr>
                        <a:t>3</a:t>
                      </a:r>
                    </a:p>
                  </a:txBody>
                  <a:tcPr marL="45720" marR="45720" marT="18288" marB="18288" anchor="ctr">
                    <a:solidFill>
                      <a:srgbClr val="FFFFFF"/>
                    </a:solidFill>
                  </a:tcPr>
                </a:tc>
                <a:tc>
                  <a:txBody>
                    <a:bodyPr wrap="square"/>
                    <a:lstStyle/>
                    <a:p>
                      <a:pPr algn="l"/>
                      <a:r>
                        <a:rPr sz="950" b="0" i="0">
                          <a:solidFill>
                            <a:srgbClr val="000000"/>
                          </a:solidFill>
                        </a:rPr>
                        <a:t>800 / 1,040</a:t>
                      </a:r>
                    </a:p>
                  </a:txBody>
                  <a:tcPr marL="45720" marR="45720" marT="18288" marB="18288" anchor="ctr">
                    <a:solidFill>
                      <a:srgbClr val="FFFFFF"/>
                    </a:solidFill>
                  </a:tcPr>
                </a:tc>
                <a:tc>
                  <a:txBody>
                    <a:bodyPr wrap="square"/>
                    <a:lstStyle/>
                    <a:p>
                      <a:pPr algn="l"/>
                      <a:r>
                        <a:rPr sz="950" b="0" i="0">
                          <a:solidFill>
                            <a:srgbClr val="000000"/>
                          </a:solidFill>
                        </a:rPr>
                        <a:t>2,073</a:t>
                      </a:r>
                    </a:p>
                  </a:txBody>
                  <a:tcPr marL="45720" marR="45720" marT="18288" marB="18288" anchor="ctr">
                    <a:solidFill>
                      <a:srgbClr val="FFFFFF"/>
                    </a:solidFill>
                  </a:tcPr>
                </a:tc>
                <a:tc>
                  <a:txBody>
                    <a:bodyPr wrap="square"/>
                    <a:lstStyle/>
                    <a:p>
                      <a:pPr algn="l"/>
                      <a:r>
                        <a:rPr sz="950" b="0" i="0">
                          <a:solidFill>
                            <a:srgbClr val="000000"/>
                          </a:solidFill>
                        </a:rPr>
                        <a:t>17</a:t>
                      </a:r>
                    </a:p>
                  </a:txBody>
                  <a:tcPr marL="45720" marR="45720" marT="18288" marB="18288" anchor="ctr">
                    <a:solidFill>
                      <a:srgbClr val="FFFFFF"/>
                    </a:solidFill>
                  </a:tcPr>
                </a:tc>
              </a:tr>
            </a:tbl>
          </a:graphicData>
        </a:graphic>
      </p:graphicFrame>
      <p:sp>
        <p:nvSpPr>
          <p:cNvPr id="6" name="TextBox 5"/>
          <p:cNvSpPr txBox="1"/>
          <p:nvPr/>
        </p:nvSpPr>
        <p:spPr>
          <a:xfrm>
            <a:off x="731520" y="5440680"/>
            <a:ext cx="10881360" cy="228600"/>
          </a:xfrm>
          <a:prstGeom prst="rect">
            <a:avLst/>
          </a:prstGeom>
          <a:noFill/>
        </p:spPr>
        <p:txBody>
          <a:bodyPr wrap="square" lIns="27432" rIns="27432" tIns="27432" bIns="27432" anchor="t">
            <a:spAutoFit/>
          </a:bodyPr>
          <a:lstStyle/>
          <a:p>
            <a:pPr algn="r"/>
            <a:r>
              <a:rPr sz="900" b="0" i="1">
                <a:solidFill>
                  <a:srgbClr val="7F7F7F"/>
                </a:solidFill>
              </a:rPr>
              <a:t>ci/baselines/synthesis/xilinx/*.json (Vivado post-implementation) and yosys/*.json (sv2v → Yosys 0.69 → ABC → OpenSTA 3.1.0, ASAP7 RVT TT); SRAM area excluded from cell area</a:t>
            </a:r>
          </a:p>
        </p:txBody>
      </p:sp>
      <p:sp>
        <p:nvSpPr>
          <p:cNvPr id="7" name="TextBox 6"/>
          <p:cNvSpPr txBox="1"/>
          <p:nvPr/>
        </p:nvSpPr>
        <p:spPr>
          <a:xfrm>
            <a:off x="731520" y="5669280"/>
            <a:ext cx="10881360" cy="457200"/>
          </a:xfrm>
          <a:prstGeom prst="rect">
            <a:avLst/>
          </a:prstGeom>
          <a:noFill/>
        </p:spPr>
        <p:txBody>
          <a:bodyPr wrap="square" lIns="27432" rIns="27432" tIns="27432" bIns="27432" anchor="t">
            <a:spAutoFit/>
          </a:bodyPr>
          <a:lstStyle/>
          <a:p>
            <a:pPr algn="l"/>
            <a:r>
              <a:rPr sz="1000" b="0" i="1">
                <a:solidFill>
                  <a:srgbClr val="555555"/>
                </a:solidFill>
              </a:rPr>
              <a:t>Reading the ASIC column: ABC maps to the target period, so cell area is the sensitive metric; Fmax is what OpenSTA reports after that mapping.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822960" y="228600"/>
            <a:ext cx="10149840" cy="822960"/>
          </a:xfrm>
        </p:spPr>
        <p:txBody>
          <a:bodyPr/>
          <a:lstStyle/>
          <a:p>
            <a:r>
              <a:rPr sz="3200"/>
              <a:t>Takeaways</a:t>
            </a:r>
          </a:p>
        </p:txBody>
      </p:sp>
      <p:sp>
        <p:nvSpPr>
          <p:cNvPr id="3" name="Text Placeholder 2"/>
          <p:cNvSpPr>
            <a:spLocks noGrp="1"/>
          </p:cNvSpPr>
          <p:nvPr>
            <p:ph type="body" idx="1"/>
          </p:nvPr>
        </p:nvSpPr>
        <p:spPr>
          <a:xfrm>
            <a:off x="731520" y="1234440"/>
            <a:ext cx="10881360" cy="4937760"/>
          </a:xfrm>
        </p:spPr>
        <p:txBody>
          <a:bodyPr wrap="square"/>
          <a:lstStyle/>
          <a:p>
            <a:pPr marL="0" indent="0">
              <a:spcBef>
                <a:spcPts val="700"/>
              </a:spcBef>
              <a:buNone/>
            </a:pPr>
            <a:r>
              <a:rPr sz="1600" b="1" i="0">
                <a:solidFill>
                  <a:srgbClr val="1F394D"/>
                </a:solidFill>
              </a:rPr>
              <a:t>Core</a:t>
            </a:r>
          </a:p>
          <a:p>
            <a:pPr lvl="1" marL="342900" indent="-228600">
              <a:spcBef>
                <a:spcPts val="300"/>
              </a:spcBef>
              <a:buFont typeface="Arial"/>
              <a:buChar char="•"/>
            </a:pPr>
            <a:r>
              <a:rPr sz="1350" b="0" i="0">
                <a:solidFill>
                  <a:srgbClr val="000000"/>
                </a:solidFill>
              </a:rPr>
              <a:t>GTO issue, scoreboard XREGS + FU locks, uop sequencer; RVC, Zicond, A-ext committed at the LLC; in-house F32/F64 FPU; sectored L2/L3; MMU v2</a:t>
            </a:r>
          </a:p>
          <a:p>
            <a:pPr marL="0" indent="0">
              <a:spcBef>
                <a:spcPts val="700"/>
              </a:spcBef>
              <a:buNone/>
            </a:pPr>
            <a:r>
              <a:rPr sz="1600" b="1" i="0">
                <a:solidFill>
                  <a:srgbClr val="1F394D"/>
                </a:solidFill>
              </a:rPr>
              <a:t>Control plane</a:t>
            </a:r>
          </a:p>
          <a:p>
            <a:pPr lvl="1" marL="342900" indent="-228600">
              <a:spcBef>
                <a:spcPts val="300"/>
              </a:spcBef>
              <a:buFont typeface="Arial"/>
              <a:buChar char="•"/>
            </a:pPr>
            <a:r>
              <a:rPr sz="1350" b="0" i="0">
                <a:solidFill>
                  <a:srgbClr val="000000"/>
                </a:solidFill>
              </a:rPr>
              <a:t>host-resident CP ring → KMU grid walk → message-locked launch bus → per-core CTA dispatcher with stride-contiguous clusters</a:t>
            </a:r>
          </a:p>
          <a:p>
            <a:pPr marL="0" indent="0">
              <a:spcBef>
                <a:spcPts val="700"/>
              </a:spcBef>
              <a:buNone/>
            </a:pPr>
            <a:r>
              <a:rPr sz="1600" b="1" i="0">
                <a:solidFill>
                  <a:srgbClr val="1F394D"/>
                </a:solidFill>
              </a:rPr>
              <a:t>Barriers</a:t>
            </a:r>
          </a:p>
          <a:p>
            <a:pPr lvl="1" marL="342900" indent="-228600">
              <a:spcBef>
                <a:spcPts val="300"/>
              </a:spcBef>
              <a:buFont typeface="Arial"/>
              <a:buChar char="•"/>
            </a:pPr>
            <a:r>
              <a:rPr sz="1350" b="0" i="0">
                <a:solidFill>
                  <a:srgbClr val="000000"/>
                </a:solidFill>
              </a:rPr>
              <a:t>arrive / wait(phase) / expect_tx on a scheduler table row; engines complete barriers directly (1.03× vs mbarrier-style, 1.56× vs software)</a:t>
            </a:r>
          </a:p>
          <a:p>
            <a:pPr marL="0" indent="0">
              <a:spcBef>
                <a:spcPts val="700"/>
              </a:spcBef>
              <a:buNone/>
            </a:pPr>
            <a:r>
              <a:rPr sz="1600" b="1" i="0">
                <a:solidFill>
                  <a:srgbClr val="1F394D"/>
                </a:solidFill>
              </a:rPr>
              <a:t>Tensor</a:t>
            </a:r>
          </a:p>
          <a:p>
            <a:pPr lvl="1" marL="342900" indent="-228600">
              <a:spcBef>
                <a:spcPts val="300"/>
              </a:spcBef>
              <a:buFont typeface="Arial"/>
              <a:buChar char="•"/>
            </a:pPr>
            <a:r>
              <a:rPr sz="1350" b="0" i="0">
                <a:solidFill>
                  <a:srgbClr val="000000"/>
                </a:solidFill>
              </a:rPr>
              <a:t>TFR FEDP: one 4-cycle FP/INT pipeline, TF32 … INT4 + MX, 2.7–7.9× HardFloat / DSP / FPnew throughput; 2:4 sparsity; WGMMA with a shared B buffer; 16 threads/warp is the sweet spot</a:t>
            </a:r>
          </a:p>
          <a:p>
            <a:pPr marL="0" indent="0">
              <a:spcBef>
                <a:spcPts val="700"/>
              </a:spcBef>
              <a:buNone/>
            </a:pPr>
            <a:r>
              <a:rPr sz="1600" b="1" i="0">
                <a:solidFill>
                  <a:srgbClr val="1F394D"/>
                </a:solidFill>
              </a:rPr>
              <a:t>DXA</a:t>
            </a:r>
          </a:p>
          <a:p>
            <a:pPr lvl="1" marL="342900" indent="-228600">
              <a:spcBef>
                <a:spcPts val="300"/>
              </a:spcBef>
              <a:buFont typeface="Arial"/>
              <a:buChar char="•"/>
            </a:pPr>
            <a:r>
              <a:rPr sz="1350" b="0" i="0">
                <a:solidFill>
                  <a:srgbClr val="000000"/>
                </a:solidFill>
              </a:rPr>
              <a:t>cluster-shared TMA-style copy engine: 16 descriptors, ≤ 8 lines in flight, multicast over cluster slots, K-major transpose; 1.85× over load–store</a:t>
            </a:r>
          </a:p>
          <a:p>
            <a:pPr marL="0" indent="0">
              <a:spcBef>
                <a:spcPts val="700"/>
              </a:spcBef>
              <a:buNone/>
            </a:pPr>
            <a:r>
              <a:rPr sz="1600" b="1" i="0">
                <a:solidFill>
                  <a:srgbClr val="1F394D"/>
                </a:solidFill>
              </a:rPr>
              <a:t>Graphics / RT</a:t>
            </a:r>
          </a:p>
          <a:p>
            <a:pPr lvl="1" marL="342900" indent="-228600">
              <a:spcBef>
                <a:spcPts val="300"/>
              </a:spcBef>
              <a:buFont typeface="Arial"/>
              <a:buChar char="•"/>
            </a:pPr>
            <a:r>
              <a:rPr sz="1350" b="0" i="0">
                <a:solidFill>
                  <a:srgbClr val="000000"/>
                </a:solidFill>
              </a:rPr>
              <a:t>RASTER pushes 1-warp fragment CTAs; TEX and OM behind a scoreboard-or-store law; stateful RTU with parked WAIT and CW-BVH4; 1.5 GHz on ASAP7</a:t>
            </a:r>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pic>
        <p:nvPicPr>
          <p:cNvPr id="4" name="Picture 3" descr="old_s1_Picture_1.png"/>
          <p:cNvPicPr>
            <a:picLocks noChangeAspect="1"/>
          </p:cNvPicPr>
          <p:nvPr/>
        </p:nvPicPr>
        <p:blipFill>
          <a:blip r:embed="rId2"/>
          <a:stretch>
            <a:fillRect/>
          </a:stretch>
        </p:blipFill>
        <p:spPr>
          <a:xfrm>
            <a:off x="11073384" y="0"/>
            <a:ext cx="1042415" cy="1042415"/>
          </a:xfrm>
          <a:prstGeom prst="rect">
            <a:avLst/>
          </a:prstGeom>
        </p:spPr>
      </p:pic>
      <p:sp>
        <p:nvSpPr>
          <p:cNvPr id="5" name="TextBox 4"/>
          <p:cNvSpPr txBox="1"/>
          <p:nvPr/>
        </p:nvSpPr>
        <p:spPr>
          <a:xfrm>
            <a:off x="3200400" y="2377440"/>
            <a:ext cx="5760720" cy="914400"/>
          </a:xfrm>
          <a:prstGeom prst="rect">
            <a:avLst/>
          </a:prstGeom>
          <a:noFill/>
        </p:spPr>
        <p:txBody>
          <a:bodyPr wrap="square" lIns="27432" rIns="27432" tIns="27432" bIns="27432" anchor="t">
            <a:spAutoFit/>
          </a:bodyPr>
          <a:lstStyle/>
          <a:p>
            <a:pPr algn="ctr"/>
            <a:r>
              <a:rPr sz="4800" b="1" i="0">
                <a:solidFill>
                  <a:srgbClr val="000000"/>
                </a:solidFill>
              </a:rPr>
              <a:t>Thank You!</a:t>
            </a:r>
          </a:p>
        </p:txBody>
      </p:sp>
      <p:sp>
        <p:nvSpPr>
          <p:cNvPr id="6" name="TextBox 5"/>
          <p:cNvSpPr txBox="1"/>
          <p:nvPr/>
        </p:nvSpPr>
        <p:spPr>
          <a:xfrm>
            <a:off x="1828800" y="3657600"/>
            <a:ext cx="8503920" cy="1828800"/>
          </a:xfrm>
          <a:prstGeom prst="rect">
            <a:avLst/>
          </a:prstGeom>
          <a:noFill/>
        </p:spPr>
        <p:txBody>
          <a:bodyPr wrap="square" lIns="27432" rIns="27432" tIns="27432" bIns="27432" anchor="t">
            <a:spAutoFit/>
          </a:bodyPr>
          <a:lstStyle/>
          <a:p>
            <a:pPr algn="ctr"/>
            <a:r>
              <a:rPr sz="1600" b="0" i="0">
                <a:solidFill>
                  <a:srgbClr val="2774AE"/>
                </a:solidFill>
              </a:rPr>
              <a:t>https://github.com/vortexgpgpu/vortex</a:t>
            </a:r>
          </a:p>
          <a:p>
            <a:pPr algn="ctr"/>
            <a:r>
              <a:rPr sz="1600" b="0" i="0">
                <a:solidFill>
                  <a:srgbClr val="2774AE"/>
                </a:solidFill>
              </a:rPr>
              <a:t>https://github.com/vortexgpgpu/vortex/releases/tag/v3.0</a:t>
            </a:r>
          </a:p>
          <a:p>
            <a:pPr algn="ctr"/>
            <a:r>
              <a:rPr sz="1600" b="0" i="0">
                <a:solidFill>
                  <a:srgbClr val="2774AE"/>
                </a:solidFill>
              </a:rPr>
              <a:t>docs/designs/*.md · CHANGELOG.md · AGENTS.md</a:t>
            </a:r>
          </a:p>
        </p:txBody>
      </p:sp>
    </p:spTree>
  </p:cSld>
  <p:clrMapOvr>
    <a:masterClrMapping/>
  </p:clrMapOvr>
</p:sld>
</file>

<file path=ppt/theme/theme1.xml><?xml version="1.0" encoding="utf-8"?>
<a:theme xmlns:a="http://schemas.openxmlformats.org/drawingml/2006/main" name="UCLA_Vortex">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spAutoFit/>
      </a:bodyPr>
      <a:lstStyle>
        <a:defPPr algn="l">
          <a:defRPr sz="1400" dirty="0" err="1" smtClean="0"/>
        </a:defPPr>
      </a:lstStyle>
    </a:txDef>
  </a:objectDefaults>
  <a:extraClrSchemeLst/>
  <a:extLst>
    <a:ext uri="{05A4C25C-085E-4340-85A3-A5531E510DB2}">
      <thm15:themeFamily xmlns:thm15="http://schemas.microsoft.com/office/thememl/2012/main" name="UCLA_Vortex" id="{9375EB92-862B-4916-93E0-C0B37A2663F6}" vid="{6B966FCB-53A6-490C-8810-DF8FB9A37D9B}"/>
    </a:ext>
  </a:extLst>
</a:theme>
</file>

<file path=ppt/theme/theme2.xml><?xml version="1.0" encoding="utf-8"?>
<a:theme xmlns:a="http://schemas.openxmlformats.org/drawingml/2006/main" name="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1_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5.xml><?xml version="1.0" encoding="utf-8"?>
<a:theme xmlns:a="http://schemas.openxmlformats.org/drawingml/2006/main" name="1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6.xml><?xml version="1.0" encoding="utf-8"?>
<a:theme xmlns:a="http://schemas.openxmlformats.org/drawingml/2006/main" name="2_presentation-01-dark">
  <a:themeElements>
    <a:clrScheme name="Brand-01-Colors">
      <a:dk1>
        <a:srgbClr val="57585B"/>
      </a:dk1>
      <a:lt1>
        <a:srgbClr val="FFFFFF"/>
      </a:lt1>
      <a:dk2>
        <a:srgbClr val="2774AE"/>
      </a:dk2>
      <a:lt2>
        <a:srgbClr val="FFFFFF"/>
      </a:lt2>
      <a:accent1>
        <a:srgbClr val="2774AE"/>
      </a:accent1>
      <a:accent2>
        <a:srgbClr val="898989"/>
      </a:accent2>
      <a:accent3>
        <a:srgbClr val="DAE6F4"/>
      </a:accent3>
      <a:accent4>
        <a:srgbClr val="8AB8E8"/>
      </a:accent4>
      <a:accent5>
        <a:srgbClr val="FFC72B"/>
      </a:accent5>
      <a:accent6>
        <a:srgbClr val="00375B"/>
      </a:accent6>
      <a:hlink>
        <a:srgbClr val="00375B"/>
      </a:hlink>
      <a:folHlink>
        <a:srgbClr val="5123B0"/>
      </a:folHlink>
    </a:clrScheme>
    <a:fontScheme name="Brand-StratComm">
      <a:majorFont>
        <a:latin typeface="Helvetica"/>
        <a:ea typeface=""/>
        <a:cs typeface=""/>
      </a:majorFont>
      <a:minorFont>
        <a:latin typeface="Helvetica"/>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29398D0B-90C9-544C-A6FC-AE19BFCCC692}" vid="{F69EEA45-44B6-3944-BC30-5A6DA2629FF5}"/>
    </a:ext>
  </a:extLst>
</a:theme>
</file>

<file path=ppt/theme/theme7.xml><?xml version="1.0" encoding="utf-8"?>
<a:theme xmlns:a="http://schemas.openxmlformats.org/drawingml/2006/main" name="2_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8.xml><?xml version="1.0" encoding="utf-8"?>
<a:theme xmlns:a="http://schemas.openxmlformats.org/drawingml/2006/main" name="3_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9.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FB5C5C43C8E84ABE433E05E59A4B5B" ma:contentTypeVersion="18" ma:contentTypeDescription="Create a new document." ma:contentTypeScope="" ma:versionID="63a7a3aebf17c7c9242822f200b38eb6">
  <xsd:schema xmlns:xsd="http://www.w3.org/2001/XMLSchema" xmlns:xs="http://www.w3.org/2001/XMLSchema" xmlns:p="http://schemas.microsoft.com/office/2006/metadata/properties" xmlns:ns2="f01fee57-14a4-4fb3-a7a7-17af854556b0" xmlns:ns3="703aaed8-5f35-4ebd-8684-7d64e521d80b" targetNamespace="http://schemas.microsoft.com/office/2006/metadata/properties" ma:root="true" ma:fieldsID="b7aad06b7d8759478fbf08495ee7c7bd" ns2:_="" ns3:_="">
    <xsd:import namespace="f01fee57-14a4-4fb3-a7a7-17af854556b0"/>
    <xsd:import namespace="703aaed8-5f35-4ebd-8684-7d64e521d80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1fee57-14a4-4fb3-a7a7-17af854556b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c2506c3-735d-4e70-aa79-204d06275b9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03aaed8-5f35-4ebd-8684-7d64e521d80b"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d8e6f15-7c59-437e-bc44-2b236e666d5f}" ma:internalName="TaxCatchAll" ma:showField="CatchAllData" ma:web="703aaed8-5f35-4ebd-8684-7d64e521d80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3aaed8-5f35-4ebd-8684-7d64e521d80b" xsi:nil="true"/>
    <lcf76f155ced4ddcb4097134ff3c332f xmlns="f01fee57-14a4-4fb3-a7a7-17af854556b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6EE536E-B3DF-406A-8F80-1335CE81825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1fee57-14a4-4fb3-a7a7-17af854556b0"/>
    <ds:schemaRef ds:uri="703aaed8-5f35-4ebd-8684-7d64e521d8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D5221C-16B5-484F-810B-94003F3E1D80}">
  <ds:schemaRefs>
    <ds:schemaRef ds:uri="http://schemas.microsoft.com/office/2006/metadata/properties"/>
    <ds:schemaRef ds:uri="http://schemas.microsoft.com/office/infopath/2007/PartnerControls"/>
    <ds:schemaRef ds:uri="703aaed8-5f35-4ebd-8684-7d64e521d80b"/>
    <ds:schemaRef ds:uri="f01fee57-14a4-4fb3-a7a7-17af854556b0"/>
  </ds:schemaRefs>
</ds:datastoreItem>
</file>

<file path=customXml/itemProps3.xml><?xml version="1.0" encoding="utf-8"?>
<ds:datastoreItem xmlns:ds="http://schemas.openxmlformats.org/officeDocument/2006/customXml" ds:itemID="{C242DC33-4890-45EF-929E-C505358E6A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6584</TotalTime>
  <Words>1217</Words>
  <Application>Microsoft Office PowerPoint</Application>
  <PresentationFormat>Widescreen</PresentationFormat>
  <Paragraphs>330</Paragraphs>
  <Slides>23</Slides>
  <Notes>19</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23</vt:i4>
      </vt:variant>
    </vt:vector>
  </HeadingPairs>
  <TitlesOfParts>
    <vt:vector size="39" baseType="lpstr">
      <vt:lpstr>Helvetica Regular</vt:lpstr>
      <vt:lpstr>Calibri</vt:lpstr>
      <vt:lpstr>Wingdings 3</vt:lpstr>
      <vt:lpstr>Tahoma</vt:lpstr>
      <vt:lpstr>Arial</vt:lpstr>
      <vt:lpstr>Trebuchet MS</vt:lpstr>
      <vt:lpstr>Helvetica</vt:lpstr>
      <vt:lpstr>Times New Roman</vt:lpstr>
      <vt:lpstr>UCLA_Vortex</vt:lpstr>
      <vt:lpstr>presentation-01-dark</vt:lpstr>
      <vt:lpstr>Facet</vt:lpstr>
      <vt:lpstr>1_presentation-01-dark</vt:lpstr>
      <vt:lpstr>1_Facet</vt:lpstr>
      <vt:lpstr>2_presentation-01-dark</vt:lpstr>
      <vt:lpstr>2_Facet</vt:lpstr>
      <vt:lpstr>3_Facet</vt:lpstr>
      <vt:lpstr>Vortex Microarchitecture</vt:lpstr>
      <vt:lpstr>Agenda</vt:lpstr>
      <vt:lpstr>Vortex GPGPU Platform</vt:lpstr>
      <vt:lpstr>Vortex GPGPU Platform (Skybox)</vt:lpstr>
      <vt:lpstr>RISC-V ISA Extension for Vortex</vt:lpstr>
      <vt:lpstr>Vortex GPU Microarchitecture</vt:lpstr>
      <vt:lpstr>Vortex GPU Microarchitecture (2)</vt:lpstr>
      <vt:lpstr>Vortex GPU Microarchitecture (3)</vt:lpstr>
      <vt:lpstr>Vortex GPU Microarchitecture (4)</vt:lpstr>
      <vt:lpstr>Vortex GPU Microarchitecture (5)</vt:lpstr>
      <vt:lpstr>Vortex GPU Microarchitecture (6)</vt:lpstr>
      <vt:lpstr>Vortex GPU Microarchitecture (7)</vt:lpstr>
      <vt:lpstr>GPU Hierarchical Clustering</vt:lpstr>
      <vt:lpstr>Execute Stage</vt:lpstr>
      <vt:lpstr>Compute Scaling</vt:lpstr>
      <vt:lpstr>Memory Scaling</vt:lpstr>
      <vt:lpstr>Vortex High-bandwidth Caches</vt:lpstr>
      <vt:lpstr>Tensor Cores</vt:lpstr>
      <vt:lpstr>Vortex Tensor API</vt:lpstr>
      <vt:lpstr>Pipeline Extension for Tensor Cores</vt:lpstr>
      <vt:lpstr>Tensor Core Microarchitecture</vt:lpstr>
      <vt:lpstr>Tensor Core Performance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Vortex 2.0: A Scalable  Reconfigurable RISC-V GPU Accelerator for Architecture Research</dc:title>
  <dc:creator>Microsoft Office User</dc:creator>
  <cp:lastModifiedBy>Blaise Tine</cp:lastModifiedBy>
  <cp:revision>206</cp:revision>
  <dcterms:created xsi:type="dcterms:W3CDTF">2017-09-19T22:16:54Z</dcterms:created>
  <dcterms:modified xsi:type="dcterms:W3CDTF">2025-10-17T22:23:58Z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0x010100AAFB5C5C43C8E84ABE433E05E59A4B5B</vt:lpwstr>
  </property>
  <property fmtid="{D5CDD505-2E9C-101B-9397-08002B2CF9AE}" pid="3" name="MediaServiceImageTags">
    <vt:lpwstr/>
  </property>
</Properties>
</file>