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tiff" ContentType="image/tif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4"/>
    <p:sldMasterId id="2147483692" r:id="rId5"/>
    <p:sldMasterId id="2147483694" r:id="rId6"/>
    <p:sldMasterId id="2147483713" r:id="rId7"/>
    <p:sldMasterId id="2147483715" r:id="rId8"/>
    <p:sldMasterId id="2147483734" r:id="rId9"/>
    <p:sldMasterId id="2147483736" r:id="rId10"/>
    <p:sldMasterId id="2147483774" r:id="rId11"/>
  </p:sldMasterIdLst>
  <p:notesMasterIdLst>
    <p:notesMasterId r:id="rId35"/>
  </p:notesMasterIdLst>
  <p:sldIdLst>
    <p:sldId id="256" r:id="rId30"/>
    <p:sldId id="257" r:id="rId31"/>
    <p:sldId id="258" r:id="rId32"/>
    <p:sldId id="259" r:id="rId33"/>
    <p:sldId id="260" r:id="rId34"/>
    <p:sldId id="261" r:id="rId29"/>
    <p:sldId id="262" r:id="rId28"/>
    <p:sldId id="263" r:id="rId27"/>
    <p:sldId id="264" r:id="rId26"/>
    <p:sldId id="265" r:id="rId25"/>
    <p:sldId id="266" r:id="rId24"/>
    <p:sldId id="267" r:id="rId23"/>
    <p:sldId id="268" r:id="rId22"/>
    <p:sldId id="269" r:id="rId21"/>
    <p:sldId id="270" r:id="rId20"/>
    <p:sldId id="271" r:id="rId19"/>
    <p:sldId id="272" r:id="rId18"/>
    <p:sldId id="273" r:id="rId17"/>
    <p:sldId id="274" r:id="rId16"/>
    <p:sldId id="275" r:id="rId15"/>
    <p:sldId id="276" r:id="rId14"/>
    <p:sldId id="277" r:id="rId13"/>
    <p:sldId id="278" r:id="rId12"/>
    <p:sldId id="279" r:id="rId53"/>
  </p:sldIdLst>
  <p:sldSz cx="12192000" cy="6858000"/>
  <p:notesSz cx="6858000" cy="9144000"/>
  <p:embeddedFontLst>
    <p:embeddedFont>
      <p:font typeface="Helvetica" panose="020B0604020202020204" pitchFamily="34" charset="0"/>
      <p:regular r:id="rId36"/>
      <p:bold r:id="rId37"/>
      <p:italic r:id="rId38"/>
      <p:boldItalic r:id="rId39"/>
    </p:embeddedFont>
    <p:embeddedFont>
      <p:font typeface="Tahoma" panose="020B0604030504040204" pitchFamily="34" charset="0"/>
      <p:regular r:id="rId40"/>
      <p:bold r:id="rId41"/>
    </p:embeddedFont>
    <p:embeddedFont>
      <p:font typeface="Trebuchet MS" panose="020B0603020202020204" pitchFamily="34" charset="0"/>
      <p:regular r:id="rId42"/>
      <p:bold r:id="rId43"/>
      <p:italic r:id="rId44"/>
      <p:boldItalic r:id="rId45"/>
    </p:embeddedFont>
    <p:embeddedFont>
      <p:font typeface="Wingdings 3" panose="05040102010807070707" pitchFamily="18" charset="2"/>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47" roundtripDataSignature="AMtx7mhZ4xxTzL3d/7saKVOWLYiqxK7b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CD46A3-9D25-460A-BBFB-7A3CFD71B460}" v="18" dt="2021-10-16T01:32:44.5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83" d="100"/>
          <a:sy n="83" d="100"/>
        </p:scale>
        <p:origin x="648" y="2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12" Type="http://schemas.openxmlformats.org/officeDocument/2006/relationships/slide" Target="slides/slide23.xml"/><Relationship Id="rId13" Type="http://schemas.openxmlformats.org/officeDocument/2006/relationships/slide" Target="slides/slide22.xml"/><Relationship Id="rId14" Type="http://schemas.openxmlformats.org/officeDocument/2006/relationships/slide" Target="slides/slide21.xml"/><Relationship Id="rId15" Type="http://schemas.openxmlformats.org/officeDocument/2006/relationships/slide" Target="slides/slide20.xml"/><Relationship Id="rId16" Type="http://schemas.openxmlformats.org/officeDocument/2006/relationships/slide" Target="slides/slide19.xml"/><Relationship Id="rId17" Type="http://schemas.openxmlformats.org/officeDocument/2006/relationships/slide" Target="slides/slide18.xml"/><Relationship Id="rId18" Type="http://schemas.openxmlformats.org/officeDocument/2006/relationships/slide" Target="slides/slide17.xml"/><Relationship Id="rId19" Type="http://schemas.openxmlformats.org/officeDocument/2006/relationships/slide" Target="slides/slide16.xml"/><Relationship Id="rId20" Type="http://schemas.openxmlformats.org/officeDocument/2006/relationships/slide" Target="slides/slide15.xml"/><Relationship Id="rId21" Type="http://schemas.openxmlformats.org/officeDocument/2006/relationships/slide" Target="slides/slide14.xml"/><Relationship Id="rId22" Type="http://schemas.openxmlformats.org/officeDocument/2006/relationships/slide" Target="slides/slide13.xml"/><Relationship Id="rId23" Type="http://schemas.openxmlformats.org/officeDocument/2006/relationships/slide" Target="slides/slide12.xml"/><Relationship Id="rId24" Type="http://schemas.openxmlformats.org/officeDocument/2006/relationships/slide" Target="slides/slide11.xml"/><Relationship Id="rId25" Type="http://schemas.openxmlformats.org/officeDocument/2006/relationships/slide" Target="slides/slide10.xml"/><Relationship Id="rId26" Type="http://schemas.openxmlformats.org/officeDocument/2006/relationships/slide" Target="slides/slide9.xml"/><Relationship Id="rId27" Type="http://schemas.openxmlformats.org/officeDocument/2006/relationships/slide" Target="slides/slide8.xml"/><Relationship Id="rId28" Type="http://schemas.openxmlformats.org/officeDocument/2006/relationships/slide" Target="slides/slide7.xml"/><Relationship Id="rId29" Type="http://schemas.openxmlformats.org/officeDocument/2006/relationships/slide" Target="slides/slide6.xml"/><Relationship Id="rId30" Type="http://schemas.openxmlformats.org/officeDocument/2006/relationships/slide" Target="slides/slide1.xml"/><Relationship Id="rId31" Type="http://schemas.openxmlformats.org/officeDocument/2006/relationships/slide" Target="slides/slide2.xml"/><Relationship Id="rId32" Type="http://schemas.openxmlformats.org/officeDocument/2006/relationships/slide" Target="slides/slide3.xml"/><Relationship Id="rId33" Type="http://schemas.openxmlformats.org/officeDocument/2006/relationships/slide" Target="slides/slide4.xml"/><Relationship Id="rId34" Type="http://schemas.openxmlformats.org/officeDocument/2006/relationships/slide" Target="slides/slide5.xml"/><Relationship Id="rId35" Type="http://schemas.openxmlformats.org/officeDocument/2006/relationships/notesMaster" Target="notesMasters/notesMaster1.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font" Target="fonts/font5.fntdata"/><Relationship Id="rId41" Type="http://schemas.openxmlformats.org/officeDocument/2006/relationships/font" Target="fonts/font6.fntdata"/><Relationship Id="rId42" Type="http://schemas.openxmlformats.org/officeDocument/2006/relationships/font" Target="fonts/font7.fntdata"/><Relationship Id="rId43" Type="http://schemas.openxmlformats.org/officeDocument/2006/relationships/font" Target="fonts/font8.fntdata"/><Relationship Id="rId44" Type="http://schemas.openxmlformats.org/officeDocument/2006/relationships/font" Target="fonts/font9.fntdata"/><Relationship Id="rId45" Type="http://schemas.openxmlformats.org/officeDocument/2006/relationships/font" Target="fonts/font10.fntdata"/><Relationship Id="rId46" Type="http://schemas.openxmlformats.org/officeDocument/2006/relationships/font" Target="fonts/font11.fntdata"/><Relationship Id="rId47" Type="http://customschemas.google.com/relationships/presentationmetadata" Target="metadata"/><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5/10/relationships/revisionInfo" Target="revisionInfo.xml"/><Relationship Id="rId53"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Last year: OpenCL (PoCL 5) and CUDA (CuPBoP) on LLVM 18. This year: PoCL 7.0 carries OpenCL C, SPIR-V and HIP (through chipStar); Mesa vortexpipe carries Vulkan; CuPBoP still carries CUDA. All feed VOLT (LLVM 20 with the Vortex SIMT backend) and link the device runtime libvortex2.a. On the host, every front end calls the same vortex2.h API from the SDK install tree; libvortex.so is a stub that loads the backend named by VORTEX_DRIVER.</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Standard RISC-V extensions now implemented in hardware: A (LR/SC + AMO*, completed at the LLC), C (decompressor in fetch), Zicond, F and D. Vortex custom instructions live in custom-0 (by funct7) and custom-1 (by funct3); MUFU transcendental ops in custom-2. MISA advertises TEX=6, RASTER=7, OM=8, TCU=9, DXA=10 so software can query the device.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warp-control intrinsics are unchanged in spirit — wspawn, tmc, split/join, pred, barrier — plus the v3 additions: split barriers, DXA issue, tensor, RT, pack-loads, vote/shuffle, wgather. The kernel-library entry point is now vx_spawn2.h with the vortex.kernel calling convention and the CTA CSR family for ids and dimensions.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Same two-sided picture as last year with the v3 pieces named. Kernel: front end → IR → link builtins and the per-XLEN kernel bitcode → VOLT passes → Vortex ISA → ELF linked at a 16 MB code base with libvortex2.a and newlib → vxbin.py (symbol table footer). Host: the application compiles against vortex2.h and links libvortex.so from the SDK; a .vxbin is loaded with vx_module_load_file and kernels resolved by name.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v2 the host poked DCRs and a start register directly. In v3 every host action is a command in a host-resident ring: memory writes/reads, DCR writes, launches, cache flushes, events. The CP fetches commands over its host AXI port, drives the KMU, and writes a completion sequence number back. The same CP model (C++) runs under SimX, rtlsim and gem5; RTL CP runs on FPGA.</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locked v1 core in the shape of Vulkan/CUDA runtimes: six opaque handles, queues, timeline events, modules and kernels, raw-pointer UVA kernel arguments. Complexity is pushed up to the translators (PoCL, chipStar, vortexpipe) and sideways into per-block helpers (dxa.h, graphics.h, tensor.h). The legacy vortex.h survives as a thin wrapper.</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scheduler barrier became a split, transaction-aware barrier: arrive counts the warp and returns the phase bit; wait blocks while the phase still equals the one observed; expect_tx pre-registers pending transaction events that asynchronous engines complete — DXA posts one completion per transfer into the barrier named at issue. A fused arrive-and-wait with no events is the old synchronous barrier, so existing kernels run unchanged. Three kernel-side classes: barrier (CTA), gbarrier (cores), group_barrier (co-resident CTAs).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Same shape as last year, now with WGMMA and sparsity selected at compile time: input/output format, accumulator count NRC and RS-vs-SS mode are template parameters, so one kernel source compiles to dense WMMA, dense WGMMA or sparse WGMMA. The host side prunes and compresses A and packs the 2:4 metadata into the per-thread SRAM layout the TCU_LD expects.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host links the system ocl-icd loader; PoCL is built ICD-only with the Vortex device driver statically linked into libpocl.so — the only code that issues vx_* calls. The driver is two files: pocl-vortex.c (ops table, run, async worker) and vortex_utils.cc (processKernels, JIT). The device ISA is queried once and validated against what the driver emits. clEnqueue* is asynchronous: submit pushes to a ready list and a worker thread executes off the caller's stack — a correctness requirement, because PoCL submits migrations while holding a buffer lock.</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clBuildProgram runs the PoCL pipeline then the Vortex post-build hook: front end (Clang or spirv_parser) with target riscv{32,64} +xvortex +zicond, llvm-link against the per-XLEN kernel bitcode, work-group passes, processKernels, codegen and ELF link, vxbin.py, vx_module_load_file into one of 112 16 MB code slots. Launch: __local arguments aligned to 128 bytes, a work-group is one CTA and never spans cores, max work-group size = warps × threads; TEX binds for images are folded into one command batch with the launch.</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hipcc with CHIP_BE=opencl emits SPIR-V; PoCL's spirv_parser turns it into LLVM IR and JITs it to .vxbin, so HIP rides the same driver and device runtime as OpenCL. v3 added rv32: hipcc accepts --offload-pointer-width={32,64} and emits OpMemoryModel Physical32/64; a single libCHIP.so ships both widths' device libraries and picks at runtime from CL_DEVICE_ADDRESS_BITS. Vortex's own tree is untouched — the load-bearing pieces are external forks installed into $TOOLDIR. Four HIP tests run per driver at both XLENs; atomics tests need the A extension.</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Vulkan app → lavapipe (Mesa's Vulkan front end) → Gallium → vortexpipe, a thin decorator on llvmpipe that patches vtable slots in place and saves the originals; the device is reached beside the stack through the SDK. Conformance model: "inherit and accelerate" — lavapipe is both fallback and oracle. Every call either runs on Vortex, is routed to an on-device software fallback, or is gated back to llvmpipe; a strict env var turns a missing path into a logged no-op so silent non-conformance never hides.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hw/rtl/VX_config.vh is gone. VX_config.toml holds the hardware knobs (consumed by RTL and simulators only); VX_types.toml holds the ISA/ABI contract (CSR, DCR, memory map) consumed by hardware and software. ci/gen_config.py emits unresolved headers, resolved headers, and the -D list. Every knob carries the VX_CFG_ prefix. Footgun: an unknown -D is silently ignored, so -DL2_ENABLE does nothing.</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Pick by what you need to learn. simx is the C++ cycle model and the oracle for the RTL — fastest for architecture studies, scales to the 132-core h100 profile. rtlsim is Verilator on the RTL. gem5 puts a simulated host CPU in front of the command processor over real MMIO; SST mirrors memory traffic into memHierarchy for system studies. FireSim runs the RTL on an FPGA with a decoupled DRAM timing model for reproducible cycle counts at 150× rtlsim speed; the xrt/opae/aved backends run the real AFU on a card. All are selected by VORTEX_DRIVER or blackbox --driver and run the same software.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catalog case marked check: model_parity runs the same app, args and configs on simx and rtlsim and asserts identical retired-instruction counts — a mismatch is functional divergence, not timing — and a cycle gap within the case tolerance, 5% by default. Known gaps carry an explicit known_issue reason. Debugging with the oracle: mirror the RTL structure in SimX, dump matching CSV traces from both, diff to the first divergence. v3 specifically added SimX cache-flush parity and DXA LMEM write counting to match rtlsim exactly.</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ci/perfetto.py converts a SimX or RTL log into Chrome Trace JSON, auto-detecting the flavour, and Perfetto renders it. One process "Vortex GPU 1" with tracks per core: a warp track with an async slice per instruction from its first stage to commit and instant markers for schedule, decode, dispatch, execute and commit carrying uuid, warp, PC, thread mask, unit, opcode and registers; a warp-state track with active, stalled and active_threads counters; and cache/memory tracks with instants such as dcache:miss, l2:hit, mem:req with address and tag. Export a cycle window for big logs; UUID correlation links an instruction to its memory traffic.</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YAML catalog under ci/testcases is the single source of truth for local and CI runs: 648 cases in 35 categories with eight axes — category, driver, xlen, configs, shape, tier, needs, touches — run by pytest with drivers as markers. It replaced about 1,400 lines of bash with hard-coded invocations. A planner turns the catalog into a GitHub matrix; the same catalog drives pytest locally. known_issue entries xfail and XPASS when fixed. Every config knob must carry the VX_CFG_ prefix because an unknown -D is silently ignored.</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model_parity and perf_gate protect behaviour and cycles; fpga_gate and asic_gate protect what synthesis costs. perf_gate runs on rtlsim against goldens in ci/baselines/perf: instructions must match exactly, cycles within ±2%, a config hash invalidates a stale golden, and an improvement beyond 2% also fails until a human locks it in — the goldens always state the real number. fpga_gate puts nine DUTs through Vivado synthesis and place-and-route on a self-hosted runner; asic_gate runs sv2v → Yosys → ABC → OpenSTA on ASAP7, nightly, one hosted job per DUT. Both share ci/synth_gate.py.</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For architecture work the native path is the shortest: a kernel.cpp using vx_spawn2.h, a main.cpp using vortex2.h, and a Makefile that includes tests/regression/common.mk. The test is a folder under tests/regression and runs through blackbox.sh on any driver. CONFIGS must match between app and driver — rebuild the app when changing NUM_THREADS or enabling an extension.</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Instruction traces at three debug levels, VCD waveforms, SAIF activity for power, perf-counter classes, Perfetto timelines (session 7), vx_printf from kernels, HTIF/ELF loading for riscv-tests, and SimX-as-oracle differential debugging against the RTL. The regression script's configs are the canonical tested set; tinygpu isolates infrastructure bugs from core bugs.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tif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a:xfrm>
            <a:off x="9876712" y="6339840"/>
            <a:ext cx="1255776" cy="487680"/>
          </a:xfrm>
          <a:prstGeom prst="rect">
            <a:avLst/>
          </a:prstGeom>
        </p:spPr>
        <p:txBody>
          <a:bodyPr/>
          <a:lstStyle/>
          <a:p>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5" name="Background">
            <a:extLst>
              <a:ext uri="{FF2B5EF4-FFF2-40B4-BE49-F238E27FC236}">
                <a16:creationId xmlns:a16="http://schemas.microsoft.com/office/drawing/2014/main" id="{4C1E4286-FD2F-814C-A4E5-B50094C0B6DB}"/>
              </a:ext>
            </a:extLst>
          </p:cNvPr>
          <p:cNvSpPr>
            <a:spLocks noChangeAspect="1"/>
          </p:cNvSpPr>
          <p:nvPr/>
        </p:nvSpPr>
        <p:spPr>
          <a:xfrm>
            <a:off x="0" y="1"/>
            <a:ext cx="12192000" cy="6868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853440" y="6219032"/>
            <a:ext cx="2180084"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853440" y="5975192"/>
            <a:ext cx="1503232"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Presenter Name</a:t>
            </a:r>
          </a:p>
        </p:txBody>
      </p:sp>
      <p:sp>
        <p:nvSpPr>
          <p:cNvPr id="15" name="Header rule">
            <a:extLst>
              <a:ext uri="{FF2B5EF4-FFF2-40B4-BE49-F238E27FC236}">
                <a16:creationId xmlns:a16="http://schemas.microsoft.com/office/drawing/2014/main" id="{9D6D4E19-3FBE-DF40-B8C1-98D35A8D9F51}"/>
              </a:ext>
            </a:extLst>
          </p:cNvPr>
          <p:cNvSpPr/>
          <p:nvPr/>
        </p:nvSpPr>
        <p:spPr>
          <a:xfrm>
            <a:off x="853440" y="4023360"/>
            <a:ext cx="10363200" cy="48768"/>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sp>
        <p:nvSpPr>
          <p:cNvPr id="7" name="Header rule">
            <a:extLst>
              <a:ext uri="{FF2B5EF4-FFF2-40B4-BE49-F238E27FC236}">
                <a16:creationId xmlns:a16="http://schemas.microsoft.com/office/drawing/2014/main" id="{09B1960F-507A-E84C-8B64-1891B754A975}"/>
              </a:ext>
            </a:extLst>
          </p:cNvPr>
          <p:cNvSpPr/>
          <p:nvPr/>
        </p:nvSpPr>
        <p:spPr>
          <a:xfrm>
            <a:off x="853440" y="2438400"/>
            <a:ext cx="10363200" cy="48768"/>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pic>
        <p:nvPicPr>
          <p:cNvPr id="3" name="logo lockup" hidden="1">
            <a:extLst>
              <a:ext uri="{FF2B5EF4-FFF2-40B4-BE49-F238E27FC236}">
                <a16:creationId xmlns:a16="http://schemas.microsoft.com/office/drawing/2014/main" id="{A0682890-AF0C-4247-AD31-1CB6F62F7850}"/>
              </a:ext>
            </a:extLst>
          </p:cNvPr>
          <p:cNvPicPr>
            <a:picLocks noChangeAspect="1"/>
          </p:cNvPicPr>
          <p:nvPr/>
        </p:nvPicPr>
        <p:blipFill>
          <a:blip r:embed="rId2"/>
          <a:stretch>
            <a:fillRect/>
          </a:stretch>
        </p:blipFill>
        <p:spPr>
          <a:xfrm>
            <a:off x="853440" y="631500"/>
            <a:ext cx="4572000" cy="508000"/>
          </a:xfrm>
          <a:prstGeom prst="rect">
            <a:avLst/>
          </a:prstGeom>
        </p:spPr>
      </p:pic>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863598" y="635002"/>
            <a:ext cx="7419517" cy="1375519"/>
          </a:xfrm>
          <a:prstGeom prst="rect">
            <a:avLst/>
          </a:prstGeom>
        </p:spPr>
        <p:txBody>
          <a:bodyPr wrap="square" lIns="0" tIns="0" rIns="0" anchor="t" anchorCtr="0">
            <a:noAutofit/>
          </a:bodyPr>
          <a:lstStyle>
            <a:lvl1pPr marL="0" indent="0" algn="l">
              <a:buNone/>
              <a:defRPr sz="1333"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12" name="TextBox 11" hidden="1">
            <a:extLst>
              <a:ext uri="{FF2B5EF4-FFF2-40B4-BE49-F238E27FC236}">
                <a16:creationId xmlns:a16="http://schemas.microsoft.com/office/drawing/2014/main" id="{992A067E-6CB9-C14C-9A18-33F98E6EF3A7}"/>
              </a:ext>
            </a:extLst>
          </p:cNvPr>
          <p:cNvSpPr txBox="1"/>
          <p:nvPr/>
        </p:nvSpPr>
        <p:spPr>
          <a:xfrm>
            <a:off x="865632" y="633984"/>
            <a:ext cx="1066800" cy="499872"/>
          </a:xfrm>
          <a:prstGeom prst="rect">
            <a:avLst/>
          </a:prstGeom>
          <a:solidFill>
            <a:srgbClr val="FF00FF"/>
          </a:solidFill>
          <a:ln w="6350">
            <a:noFill/>
          </a:ln>
        </p:spPr>
        <p:txBody>
          <a:bodyPr wrap="square" lIns="24384" tIns="12192" rIns="24384" bIns="0" rtlCol="0" anchor="ctr" anchorCtr="1">
            <a:normAutofit fontScale="92500" lnSpcReduction="20000"/>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67" dirty="0">
                <a:solidFill>
                  <a:schemeClr val="bg1"/>
                </a:solidFill>
              </a:rPr>
              <a:t>Resize the UCLA logo to match the size &amp; position of this box</a:t>
            </a:r>
          </a:p>
        </p:txBody>
      </p:sp>
      <p:sp>
        <p:nvSpPr>
          <p:cNvPr id="2" name="TextBox 1">
            <a:extLst>
              <a:ext uri="{FF2B5EF4-FFF2-40B4-BE49-F238E27FC236}">
                <a16:creationId xmlns:a16="http://schemas.microsoft.com/office/drawing/2014/main" id="{E2AB141D-50D8-B545-AC99-DA856384CC54}"/>
              </a:ext>
            </a:extLst>
          </p:cNvPr>
          <p:cNvSpPr txBox="1"/>
          <p:nvPr/>
        </p:nvSpPr>
        <p:spPr>
          <a:xfrm>
            <a:off x="8793019" y="406400"/>
            <a:ext cx="1902691" cy="379656"/>
          </a:xfrm>
          <a:prstGeom prst="rect">
            <a:avLst/>
          </a:prstGeom>
          <a:noFill/>
        </p:spPr>
        <p:txBody>
          <a:bodyPr wrap="square" rtlCol="0">
            <a:spAutoFit/>
          </a:bodyPr>
          <a:lstStyle/>
          <a:p>
            <a:endParaRPr lang="en-US" sz="1867" dirty="0"/>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3744"/>
            <a:ext cx="10363200" cy="1470061"/>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dirty="0"/>
              <a:t>Presentation Opener Title</a:t>
            </a:r>
          </a:p>
          <a:p>
            <a:pPr lvl="0"/>
            <a:r>
              <a:rPr lang="en-US" dirty="0"/>
              <a:t>Goes Here</a:t>
            </a:r>
          </a:p>
        </p:txBody>
      </p:sp>
      <p:sp>
        <p:nvSpPr>
          <p:cNvPr id="19" name="TextBox 18" hidden="1">
            <a:extLst>
              <a:ext uri="{FF2B5EF4-FFF2-40B4-BE49-F238E27FC236}">
                <a16:creationId xmlns:a16="http://schemas.microsoft.com/office/drawing/2014/main" id="{DAEABCCE-008D-444A-9E36-5D3414A07090}"/>
              </a:ext>
            </a:extLst>
          </p:cNvPr>
          <p:cNvSpPr txBox="1"/>
          <p:nvPr/>
        </p:nvSpPr>
        <p:spPr>
          <a:xfrm>
            <a:off x="865632" y="633984"/>
            <a:ext cx="1066800" cy="499872"/>
          </a:xfrm>
          <a:prstGeom prst="rect">
            <a:avLst/>
          </a:prstGeom>
          <a:solidFill>
            <a:srgbClr val="FF00FF"/>
          </a:solidFill>
          <a:ln w="6350">
            <a:noFill/>
          </a:ln>
        </p:spPr>
        <p:txBody>
          <a:bodyPr wrap="square" lIns="24384" tIns="12192" rIns="24384" bIns="0" rtlCol="0" anchor="ctr" anchorCtr="1">
            <a:normAutofit fontScale="92500" lnSpcReduction="20000"/>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67" dirty="0">
                <a:solidFill>
                  <a:schemeClr val="bg1"/>
                </a:solidFill>
              </a:rPr>
              <a:t>Resize the UCLA logo to match the size &amp; position of this box</a:t>
            </a:r>
          </a:p>
        </p:txBody>
      </p:sp>
      <p:sp>
        <p:nvSpPr>
          <p:cNvPr id="20" name="TextBox 19">
            <a:extLst>
              <a:ext uri="{FF2B5EF4-FFF2-40B4-BE49-F238E27FC236}">
                <a16:creationId xmlns:a16="http://schemas.microsoft.com/office/drawing/2014/main" id="{7B98486D-C649-D848-B5F6-E86CD5336334}"/>
              </a:ext>
            </a:extLst>
          </p:cNvPr>
          <p:cNvSpPr txBox="1"/>
          <p:nvPr/>
        </p:nvSpPr>
        <p:spPr>
          <a:xfrm>
            <a:off x="8793019" y="406400"/>
            <a:ext cx="1902691" cy="379656"/>
          </a:xfrm>
          <a:prstGeom prst="rect">
            <a:avLst/>
          </a:prstGeom>
          <a:noFill/>
        </p:spPr>
        <p:txBody>
          <a:bodyPr wrap="square" rtlCol="0">
            <a:spAutoFit/>
          </a:bodyPr>
          <a:lstStyle/>
          <a:p>
            <a:endParaRPr lang="en-US" sz="1867" dirty="0"/>
          </a:p>
        </p:txBody>
      </p:sp>
    </p:spTree>
    <p:extLst>
      <p:ext uri="{BB962C8B-B14F-4D97-AF65-F5344CB8AC3E}">
        <p14:creationId xmlns:p14="http://schemas.microsoft.com/office/powerpoint/2010/main" val="3959784480"/>
      </p:ext>
    </p:extLst>
  </p:cSld>
  <p:clrMapOvr>
    <a:masterClrMapping/>
  </p:clrMapOvr>
  <p:hf hdr="0" ftr="0" dt="0"/>
  <p:extLst>
    <p:ext uri="{DCECCB84-F9BA-43D5-87BE-67443E8EF086}">
      <p15:sldGuideLst xmlns:p15="http://schemas.microsoft.com/office/powerpoint/2012/main">
        <p15:guide id="5" orient="horz" pos="300">
          <p15:clr>
            <a:srgbClr val="FBAE40"/>
          </p15:clr>
        </p15:guide>
        <p15:guide id="6" orient="horz" pos="540">
          <p15:clr>
            <a:srgbClr val="FBAE40"/>
          </p15:clr>
        </p15:guide>
        <p15:guide id="7" pos="4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12192000" cy="60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3113960386"/>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4" name="Text Placeholder 3">
            <a:extLst>
              <a:ext uri="{FF2B5EF4-FFF2-40B4-BE49-F238E27FC236}">
                <a16:creationId xmlns:a16="http://schemas.microsoft.com/office/drawing/2014/main" id="{DF2C5F55-93C0-9344-9E3D-94935F3D2760}"/>
              </a:ext>
            </a:extLst>
          </p:cNvPr>
          <p:cNvSpPr>
            <a:spLocks noGrp="1"/>
          </p:cNvSpPr>
          <p:nvPr>
            <p:ph type="body" sz="quarter" idx="20" hasCustomPrompt="1"/>
          </p:nvPr>
        </p:nvSpPr>
        <p:spPr>
          <a:xfrm>
            <a:off x="853439" y="3535680"/>
            <a:ext cx="10363200" cy="295402"/>
          </a:xfrm>
          <a:prstGeom prst="rect">
            <a:avLst/>
          </a:prstGeom>
        </p:spPr>
        <p:txBody>
          <a:bodyPr>
            <a:spAutoFit/>
          </a:bodyPr>
          <a:lstStyle>
            <a:lvl1pPr marL="0" indent="0">
              <a:buFontTx/>
              <a:buNone/>
              <a:defRPr sz="2133" b="1" i="0" cap="all" baseline="0">
                <a:latin typeface="Helvetica" pitchFamily="2" charset="0"/>
              </a:defRPr>
            </a:lvl1pPr>
            <a:lvl2pPr>
              <a:buFontTx/>
              <a:buNone/>
              <a:defRPr b="1"/>
            </a:lvl2pPr>
            <a:lvl3pPr marL="914377" indent="0">
              <a:buFontTx/>
              <a:buNone/>
              <a:defRPr b="1"/>
            </a:lvl3pPr>
            <a:lvl4pPr marL="1371566" indent="0">
              <a:buFontTx/>
              <a:buNone/>
              <a:defRPr b="1"/>
            </a:lvl4pPr>
            <a:lvl5pPr marL="1828754" indent="0">
              <a:buFontTx/>
              <a:buNone/>
              <a:defRPr b="1"/>
            </a:lvl5pPr>
          </a:lstStyle>
          <a:p>
            <a:pPr lvl="0"/>
            <a:r>
              <a:rPr lang="en-US" dirty="0"/>
              <a:t>ADDITIONAL TEXT GOES HERE </a:t>
            </a:r>
          </a:p>
        </p:txBody>
      </p:sp>
      <p:sp>
        <p:nvSpPr>
          <p:cNvPr id="7" name="Header rule">
            <a:extLst>
              <a:ext uri="{FF2B5EF4-FFF2-40B4-BE49-F238E27FC236}">
                <a16:creationId xmlns:a16="http://schemas.microsoft.com/office/drawing/2014/main" id="{09B1960F-507A-E84C-8B64-1891B754A975}"/>
              </a:ext>
            </a:extLst>
          </p:cNvPr>
          <p:cNvSpPr/>
          <p:nvPr/>
        </p:nvSpPr>
        <p:spPr>
          <a:xfrm>
            <a:off x="853440" y="3291840"/>
            <a:ext cx="10363200" cy="48768"/>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graphicFrame>
        <p:nvGraphicFramePr>
          <p:cNvPr id="9" name="Table 8" hidden="1">
            <a:extLst>
              <a:ext uri="{FF2B5EF4-FFF2-40B4-BE49-F238E27FC236}">
                <a16:creationId xmlns:a16="http://schemas.microsoft.com/office/drawing/2014/main" id="{D23CA481-98CA-0745-833B-EFD0DBCDDA4E}"/>
              </a:ext>
            </a:extLst>
          </p:cNvPr>
          <p:cNvGraphicFramePr>
            <a:graphicFrameLocks noGrp="1"/>
          </p:cNvGraphicFramePr>
          <p:nvPr>
            <p:extLst>
              <p:ext uri="{D42A27DB-BD31-4B8C-83A1-F6EECF244321}">
                <p14:modId xmlns:p14="http://schemas.microsoft.com/office/powerpoint/2010/main" val="3279498072"/>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graphicFrame>
        <p:nvGraphicFramePr>
          <p:cNvPr id="12" name="Table 11" hidden="1">
            <a:extLst>
              <a:ext uri="{FF2B5EF4-FFF2-40B4-BE49-F238E27FC236}">
                <a16:creationId xmlns:a16="http://schemas.microsoft.com/office/drawing/2014/main" id="{EF7DC21F-99F8-4F48-9203-63793CFF7D9C}"/>
              </a:ext>
            </a:extLst>
          </p:cNvPr>
          <p:cNvGraphicFramePr>
            <a:graphicFrameLocks noGrp="1"/>
          </p:cNvGraphicFramePr>
          <p:nvPr>
            <p:extLst>
              <p:ext uri="{D42A27DB-BD31-4B8C-83A1-F6EECF244321}">
                <p14:modId xmlns:p14="http://schemas.microsoft.com/office/powerpoint/2010/main" val="4083986431"/>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4"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9507"/>
            <a:ext cx="10363200" cy="664797"/>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a:t>Section Divider</a:t>
            </a:r>
            <a:endParaRPr lang="en-US" dirty="0"/>
          </a:p>
        </p:txBody>
      </p:sp>
    </p:spTree>
    <p:extLst>
      <p:ext uri="{BB962C8B-B14F-4D97-AF65-F5344CB8AC3E}">
        <p14:creationId xmlns:p14="http://schemas.microsoft.com/office/powerpoint/2010/main" val="1700030544"/>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er w/copy">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463040" y="2072640"/>
            <a:ext cx="9144000" cy="775790"/>
          </a:xfrm>
          <a:prstGeom prst="rect">
            <a:avLst/>
          </a:prstGeom>
        </p:spPr>
        <p:txBody>
          <a:bodyPr>
            <a:sp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463040" y="1584960"/>
            <a:ext cx="9144000" cy="287259"/>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3" name="Title 2">
            <a:extLst>
              <a:ext uri="{FF2B5EF4-FFF2-40B4-BE49-F238E27FC236}">
                <a16:creationId xmlns:a16="http://schemas.microsoft.com/office/drawing/2014/main" id="{8B117F2E-F782-844A-A783-F9F40B77A93D}"/>
              </a:ext>
            </a:extLst>
          </p:cNvPr>
          <p:cNvSpPr>
            <a:spLocks noGrp="1"/>
          </p:cNvSpPr>
          <p:nvPr>
            <p:ph type="title" hasCustomPrompt="1"/>
          </p:nvPr>
        </p:nvSpPr>
        <p:spPr>
          <a:xfrm>
            <a:off x="853436" y="489869"/>
            <a:ext cx="10363200" cy="519972"/>
          </a:xfrm>
        </p:spPr>
        <p:txBody>
          <a:bodyPr anchor="b" anchorCtr="0"/>
          <a:lstStyle/>
          <a:p>
            <a:r>
              <a:rPr lang="en-US" dirty="0"/>
              <a:t>Header w/copy</a:t>
            </a:r>
          </a:p>
        </p:txBody>
      </p:sp>
    </p:spTree>
    <p:extLst>
      <p:ext uri="{BB962C8B-B14F-4D97-AF65-F5344CB8AC3E}">
        <p14:creationId xmlns:p14="http://schemas.microsoft.com/office/powerpoint/2010/main" val="3171329003"/>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w/bullet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463040" y="2072640"/>
            <a:ext cx="9144000" cy="775790"/>
          </a:xfrm>
          <a:prstGeom prst="rect">
            <a:avLst/>
          </a:prstGeom>
        </p:spPr>
        <p:txBody>
          <a:bodyPr>
            <a:sp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463040" y="1584960"/>
            <a:ext cx="9144000" cy="287259"/>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4" name="Title 3">
            <a:extLst>
              <a:ext uri="{FF2B5EF4-FFF2-40B4-BE49-F238E27FC236}">
                <a16:creationId xmlns:a16="http://schemas.microsoft.com/office/drawing/2014/main" id="{34576D38-1D07-4944-9AE7-710415891258}"/>
              </a:ext>
            </a:extLst>
          </p:cNvPr>
          <p:cNvSpPr>
            <a:spLocks noGrp="1"/>
          </p:cNvSpPr>
          <p:nvPr>
            <p:ph type="title" hasCustomPrompt="1"/>
          </p:nvPr>
        </p:nvSpPr>
        <p:spPr/>
        <p:txBody>
          <a:bodyPr/>
          <a:lstStyle/>
          <a:p>
            <a:r>
              <a:rPr lang="en-US" dirty="0"/>
              <a:t>Header w/copy and bullets</a:t>
            </a:r>
          </a:p>
        </p:txBody>
      </p:sp>
      <p:sp>
        <p:nvSpPr>
          <p:cNvPr id="5" name="Text Placeholder 4">
            <a:extLst>
              <a:ext uri="{FF2B5EF4-FFF2-40B4-BE49-F238E27FC236}">
                <a16:creationId xmlns:a16="http://schemas.microsoft.com/office/drawing/2014/main" id="{FEB3799F-3DE7-0C45-B34C-091D879B69B2}"/>
              </a:ext>
            </a:extLst>
          </p:cNvPr>
          <p:cNvSpPr>
            <a:spLocks noGrp="1"/>
          </p:cNvSpPr>
          <p:nvPr>
            <p:ph type="body" sz="quarter" idx="21" hasCustomPrompt="1"/>
          </p:nvPr>
        </p:nvSpPr>
        <p:spPr>
          <a:xfrm>
            <a:off x="1463041" y="3048001"/>
            <a:ext cx="9144000" cy="518519"/>
          </a:xfrm>
        </p:spPr>
        <p:txBody>
          <a:bodyPr lIns="365760">
            <a:spAutoFit/>
          </a:bodyPr>
          <a:lstStyle>
            <a:lvl1pPr>
              <a:defRPr/>
            </a:lvl1pPr>
          </a:lstStyle>
          <a:p>
            <a:pPr lvl="0"/>
            <a:r>
              <a:rPr lang="en-US" dirty="0"/>
              <a:t>Most bulleted slides should have no more than 5 bullets with only about 5-6 words per bullet.</a:t>
            </a:r>
          </a:p>
        </p:txBody>
      </p:sp>
    </p:spTree>
    <p:extLst>
      <p:ext uri="{BB962C8B-B14F-4D97-AF65-F5344CB8AC3E}">
        <p14:creationId xmlns:p14="http://schemas.microsoft.com/office/powerpoint/2010/main" val="3172573535"/>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w/two column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463040" y="2072640"/>
            <a:ext cx="4511040" cy="1551579"/>
          </a:xfrm>
          <a:prstGeom prst="rect">
            <a:avLst/>
          </a:prstGeom>
        </p:spPr>
        <p:txBody>
          <a:bodyPr>
            <a:sp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463040" y="1584960"/>
            <a:ext cx="4511040" cy="287259"/>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One Subhead</a:t>
            </a: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705600" y="2072640"/>
            <a:ext cx="4511040" cy="1551579"/>
          </a:xfrm>
          <a:prstGeom prst="rect">
            <a:avLst/>
          </a:prstGeom>
        </p:spPr>
        <p:txBody>
          <a:bodyPr>
            <a:sp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705600" y="1584960"/>
            <a:ext cx="4511040" cy="287259"/>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Two Subhead</a:t>
            </a:r>
          </a:p>
        </p:txBody>
      </p:sp>
      <p:sp>
        <p:nvSpPr>
          <p:cNvPr id="2" name="Title 1">
            <a:extLst>
              <a:ext uri="{FF2B5EF4-FFF2-40B4-BE49-F238E27FC236}">
                <a16:creationId xmlns:a16="http://schemas.microsoft.com/office/drawing/2014/main" id="{B3E3FFDB-27DF-174A-9ED2-F20F22E29A5C}"/>
              </a:ext>
            </a:extLst>
          </p:cNvPr>
          <p:cNvSpPr>
            <a:spLocks noGrp="1"/>
          </p:cNvSpPr>
          <p:nvPr>
            <p:ph type="title" hasCustomPrompt="1"/>
          </p:nvPr>
        </p:nvSpPr>
        <p:spPr/>
        <p:txBody>
          <a:bodyPr/>
          <a:lstStyle/>
          <a:p>
            <a:r>
              <a:rPr lang="en-US" dirty="0"/>
              <a:t>Header w/two columns</a:t>
            </a:r>
          </a:p>
        </p:txBody>
      </p:sp>
    </p:spTree>
    <p:extLst>
      <p:ext uri="{BB962C8B-B14F-4D97-AF65-F5344CB8AC3E}">
        <p14:creationId xmlns:p14="http://schemas.microsoft.com/office/powerpoint/2010/main" val="2916060793"/>
      </p:ext>
    </p:extLst>
  </p:cSld>
  <p:clrMapOvr>
    <a:masterClrMapping/>
  </p:clrMapOvr>
  <p:hf hdr="0" ftr="0" dt="0"/>
  <p:extLst>
    <p:ext uri="{DCECCB84-F9BA-43D5-87BE-67443E8EF086}">
      <p15:sldGuideLst xmlns:p15="http://schemas.microsoft.com/office/powerpoint/2012/main">
        <p15:guide id="1" pos="2880">
          <p15:clr>
            <a:srgbClr val="FBAE40"/>
          </p15:clr>
        </p15:guide>
        <p15:guide id="2" pos="30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er w/table">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3" name="Title 2">
            <a:extLst>
              <a:ext uri="{FF2B5EF4-FFF2-40B4-BE49-F238E27FC236}">
                <a16:creationId xmlns:a16="http://schemas.microsoft.com/office/drawing/2014/main" id="{3BE623E0-A664-AE40-BA0B-DD28927DB98C}"/>
              </a:ext>
            </a:extLst>
          </p:cNvPr>
          <p:cNvSpPr>
            <a:spLocks noGrp="1"/>
          </p:cNvSpPr>
          <p:nvPr>
            <p:ph type="title" hasCustomPrompt="1"/>
          </p:nvPr>
        </p:nvSpPr>
        <p:spPr/>
        <p:txBody>
          <a:bodyPr/>
          <a:lstStyle/>
          <a:p>
            <a:r>
              <a:rPr lang="en-US" dirty="0"/>
              <a:t>Header w/table</a:t>
            </a:r>
          </a:p>
        </p:txBody>
      </p:sp>
      <p:sp>
        <p:nvSpPr>
          <p:cNvPr id="4" name="Table Placeholder 3">
            <a:extLst>
              <a:ext uri="{FF2B5EF4-FFF2-40B4-BE49-F238E27FC236}">
                <a16:creationId xmlns:a16="http://schemas.microsoft.com/office/drawing/2014/main" id="{DC239404-90E7-C24E-AFE4-2269257F0B4F}"/>
              </a:ext>
            </a:extLst>
          </p:cNvPr>
          <p:cNvSpPr>
            <a:spLocks noGrp="1"/>
          </p:cNvSpPr>
          <p:nvPr>
            <p:ph type="tbl" sz="quarter" idx="20"/>
          </p:nvPr>
        </p:nvSpPr>
        <p:spPr>
          <a:xfrm>
            <a:off x="1463040" y="1584960"/>
            <a:ext cx="8534400" cy="258597"/>
          </a:xfrm>
          <a:prstGeom prst="rect">
            <a:avLst/>
          </a:prstGeom>
          <a:solidFill>
            <a:srgbClr val="DBE7F5"/>
          </a:solidFill>
        </p:spPr>
        <p:txBody>
          <a:bodyPr anchor="t" anchorCtr="1"/>
          <a:lstStyle>
            <a:lvl1pPr marL="0" indent="0" algn="ctr">
              <a:buNone/>
              <a:defRPr>
                <a:solidFill>
                  <a:srgbClr val="898989"/>
                </a:solidFill>
              </a:defRPr>
            </a:lvl1pPr>
          </a:lstStyle>
          <a:p>
            <a:r>
              <a:rPr lang="en-US"/>
              <a:t>Click icon to add table</a:t>
            </a:r>
            <a:endParaRPr lang="en-US" dirty="0"/>
          </a:p>
        </p:txBody>
      </p:sp>
      <p:sp>
        <p:nvSpPr>
          <p:cNvPr id="7" name="Text Placeholder 3">
            <a:extLst>
              <a:ext uri="{FF2B5EF4-FFF2-40B4-BE49-F238E27FC236}">
                <a16:creationId xmlns:a16="http://schemas.microsoft.com/office/drawing/2014/main" id="{333AD3F6-9F07-D947-93D3-62C883A521CD}"/>
              </a:ext>
            </a:extLst>
          </p:cNvPr>
          <p:cNvSpPr>
            <a:spLocks noGrp="1"/>
          </p:cNvSpPr>
          <p:nvPr>
            <p:ph type="body" sz="quarter" idx="12" hasCustomPrompt="1"/>
          </p:nvPr>
        </p:nvSpPr>
        <p:spPr>
          <a:xfrm>
            <a:off x="10319746" y="1584961"/>
            <a:ext cx="1262655" cy="1805623"/>
          </a:xfrm>
          <a:prstGeom prst="rect">
            <a:avLst/>
          </a:prstGeom>
        </p:spPr>
        <p:txBody>
          <a:bodyPr wrap="square" lIns="0">
            <a:spAutoFit/>
          </a:bodyPr>
          <a:lstStyle>
            <a:lvl1pPr marL="0" indent="0" algn="l">
              <a:lnSpc>
                <a:spcPct val="100000"/>
              </a:lnSpc>
              <a:buNone/>
              <a:defRPr sz="1067" b="0">
                <a:solidFill>
                  <a:srgbClr val="FC28FC"/>
                </a:solidFill>
              </a:defRPr>
            </a:lvl1pPr>
            <a:lvl2pPr marL="457189" indent="0">
              <a:buNone/>
              <a:defRPr>
                <a:solidFill>
                  <a:srgbClr val="FF0000"/>
                </a:solidFill>
              </a:defRPr>
            </a:lvl2pPr>
            <a:lvl3pPr marL="914377" indent="0">
              <a:buNone/>
              <a:defRPr>
                <a:solidFill>
                  <a:srgbClr val="FF0000"/>
                </a:solidFill>
              </a:defRPr>
            </a:lvl3pPr>
            <a:lvl4pPr marL="1371566" indent="0">
              <a:buNone/>
              <a:defRPr>
                <a:solidFill>
                  <a:srgbClr val="FF0000"/>
                </a:solidFill>
              </a:defRPr>
            </a:lvl4pPr>
            <a:lvl5pPr marL="1828754" indent="0">
              <a:buNone/>
              <a:defRPr>
                <a:solidFill>
                  <a:srgbClr val="FF0000"/>
                </a:solidFill>
              </a:defRPr>
            </a:lvl5pPr>
          </a:lstStyle>
          <a:p>
            <a:pPr lvl="0"/>
            <a:r>
              <a:rPr lang="en-US" dirty="0"/>
              <a:t>Input data using the custom table. If you’re not sure you’ll need this table, we recommend HIDING the slide temporarily instead of deleting it. Once deleted, the custom table can be recovered from the master source file. </a:t>
            </a:r>
          </a:p>
        </p:txBody>
      </p:sp>
    </p:spTree>
    <p:extLst>
      <p:ext uri="{BB962C8B-B14F-4D97-AF65-F5344CB8AC3E}">
        <p14:creationId xmlns:p14="http://schemas.microsoft.com/office/powerpoint/2010/main" val="771876391"/>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w/one image on Left">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096000" y="2072640"/>
            <a:ext cx="5120637" cy="1551579"/>
          </a:xfrm>
          <a:prstGeom prst="rect">
            <a:avLst/>
          </a:prstGeom>
        </p:spPr>
        <p:txBody>
          <a:bodyPr lIns="36576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095999" y="1584960"/>
            <a:ext cx="5120639" cy="287259"/>
          </a:xfrm>
          <a:prstGeom prst="rect">
            <a:avLst/>
          </a:prstGeom>
        </p:spPr>
        <p:txBody>
          <a:bodyPr lIns="365760" rIns="0">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853440" y="1584960"/>
            <a:ext cx="524256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left</a:t>
            </a:r>
          </a:p>
        </p:txBody>
      </p:sp>
    </p:spTree>
    <p:extLst>
      <p:ext uri="{BB962C8B-B14F-4D97-AF65-F5344CB8AC3E}">
        <p14:creationId xmlns:p14="http://schemas.microsoft.com/office/powerpoint/2010/main" val="2082759098"/>
      </p:ext>
    </p:extLst>
  </p:cSld>
  <p:clrMapOvr>
    <a:masterClrMapping/>
  </p:clrMapOvr>
  <p:hf hdr="0" ftr="0" dt="0"/>
  <p:extLst>
    <p:ext uri="{DCECCB84-F9BA-43D5-87BE-67443E8EF086}">
      <p15:sldGuideLst xmlns:p15="http://schemas.microsoft.com/office/powerpoint/2012/main">
        <p15:guide id="1" pos="2880">
          <p15:clr>
            <a:srgbClr val="FBAE40"/>
          </p15:clr>
        </p15:guide>
        <p15:guide id="2" pos="31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w/one image on Right">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853439" y="2072640"/>
            <a:ext cx="5120640" cy="1551579"/>
          </a:xfrm>
          <a:prstGeom prst="rect">
            <a:avLst/>
          </a:prstGeom>
        </p:spPr>
        <p:txBody>
          <a:bodyPr lIns="0" rIns="36576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853441" y="1584960"/>
            <a:ext cx="5120639" cy="292608"/>
          </a:xfrm>
          <a:prstGeom prst="rect">
            <a:avLst/>
          </a:prstGeom>
        </p:spPr>
        <p:txBody>
          <a:bodyPr lIns="0" rIns="365760"/>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5974079" y="1584960"/>
            <a:ext cx="524256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right</a:t>
            </a:r>
          </a:p>
        </p:txBody>
      </p:sp>
    </p:spTree>
    <p:extLst>
      <p:ext uri="{BB962C8B-B14F-4D97-AF65-F5344CB8AC3E}">
        <p14:creationId xmlns:p14="http://schemas.microsoft.com/office/powerpoint/2010/main" val="860160863"/>
      </p:ext>
    </p:extLst>
  </p:cSld>
  <p:clrMapOvr>
    <a:masterClrMapping/>
  </p:clrMapOvr>
  <p:hf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w/two images">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2083852" y="1584960"/>
            <a:ext cx="2537554" cy="258597"/>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853441" y="4389120"/>
            <a:ext cx="4998719" cy="960456"/>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w/two images</a:t>
            </a:r>
          </a:p>
        </p:txBody>
      </p:sp>
      <p:sp>
        <p:nvSpPr>
          <p:cNvPr id="13" name="Picture Placeholder 2">
            <a:extLst>
              <a:ext uri="{FF2B5EF4-FFF2-40B4-BE49-F238E27FC236}">
                <a16:creationId xmlns:a16="http://schemas.microsoft.com/office/drawing/2014/main" id="{9C652879-E485-9847-B5DA-F17C66D89A13}"/>
              </a:ext>
            </a:extLst>
          </p:cNvPr>
          <p:cNvSpPr>
            <a:spLocks noGrp="1"/>
          </p:cNvSpPr>
          <p:nvPr>
            <p:ph type="pic" sz="quarter" idx="29"/>
          </p:nvPr>
        </p:nvSpPr>
        <p:spPr>
          <a:xfrm>
            <a:off x="7448503" y="1584960"/>
            <a:ext cx="2537554" cy="258597"/>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4" name="Text Placeholder 19">
            <a:extLst>
              <a:ext uri="{FF2B5EF4-FFF2-40B4-BE49-F238E27FC236}">
                <a16:creationId xmlns:a16="http://schemas.microsoft.com/office/drawing/2014/main" id="{3075D6A2-6D65-FC47-AC64-35561CC02CFD}"/>
              </a:ext>
            </a:extLst>
          </p:cNvPr>
          <p:cNvSpPr>
            <a:spLocks noGrp="1"/>
          </p:cNvSpPr>
          <p:nvPr>
            <p:ph type="body" sz="quarter" idx="30" hasCustomPrompt="1"/>
          </p:nvPr>
        </p:nvSpPr>
        <p:spPr>
          <a:xfrm>
            <a:off x="6217921" y="4389120"/>
            <a:ext cx="4998719" cy="960456"/>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Tree>
    <p:extLst>
      <p:ext uri="{BB962C8B-B14F-4D97-AF65-F5344CB8AC3E}">
        <p14:creationId xmlns:p14="http://schemas.microsoft.com/office/powerpoint/2010/main" val="2157054281"/>
      </p:ext>
    </p:extLst>
  </p:cSld>
  <p:clrMapOvr>
    <a:masterClrMapping/>
  </p:clrMapOvr>
  <p:hf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mall header w/two captioned images captions">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a:xfrm>
            <a:off x="11582400" y="6339840"/>
            <a:ext cx="609600" cy="422744"/>
          </a:xfrm>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 name="Rectangle 1">
            <a:extLst>
              <a:ext uri="{FF2B5EF4-FFF2-40B4-BE49-F238E27FC236}">
                <a16:creationId xmlns:a16="http://schemas.microsoft.com/office/drawing/2014/main" id="{3735DA87-8D0D-5646-9263-BA8534F57B0F}"/>
              </a:ext>
            </a:extLst>
          </p:cNvPr>
          <p:cNvSpPr/>
          <p:nvPr/>
        </p:nvSpPr>
        <p:spPr>
          <a:xfrm>
            <a:off x="0" y="0"/>
            <a:ext cx="12192000" cy="155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20" name="Title 1">
            <a:extLst>
              <a:ext uri="{FF2B5EF4-FFF2-40B4-BE49-F238E27FC236}">
                <a16:creationId xmlns:a16="http://schemas.microsoft.com/office/drawing/2014/main" id="{CD6FC555-1AA9-E647-94A1-A53C5C1DD7CF}"/>
              </a:ext>
            </a:extLst>
          </p:cNvPr>
          <p:cNvSpPr txBox="1">
            <a:spLocks/>
          </p:cNvSpPr>
          <p:nvPr/>
        </p:nvSpPr>
        <p:spPr>
          <a:xfrm>
            <a:off x="853439" y="487680"/>
            <a:ext cx="10363200" cy="36576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2400" dirty="0"/>
              <a:t>Small Header w/two captioned images</a:t>
            </a:r>
          </a:p>
        </p:txBody>
      </p:sp>
      <p:sp>
        <p:nvSpPr>
          <p:cNvPr id="6" name="Header rule">
            <a:extLst>
              <a:ext uri="{FF2B5EF4-FFF2-40B4-BE49-F238E27FC236}">
                <a16:creationId xmlns:a16="http://schemas.microsoft.com/office/drawing/2014/main" id="{A64E2F76-6F70-6E41-8E67-76251B3CBB36}"/>
              </a:ext>
            </a:extLst>
          </p:cNvPr>
          <p:cNvSpPr/>
          <p:nvPr/>
        </p:nvSpPr>
        <p:spPr>
          <a:xfrm>
            <a:off x="853440" y="898199"/>
            <a:ext cx="10363200" cy="48768"/>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sp>
        <p:nvSpPr>
          <p:cNvPr id="9" name="Text Placeholder 8">
            <a:extLst>
              <a:ext uri="{FF2B5EF4-FFF2-40B4-BE49-F238E27FC236}">
                <a16:creationId xmlns:a16="http://schemas.microsoft.com/office/drawing/2014/main" id="{8D21123F-3052-7448-8323-EBC781A2C598}"/>
              </a:ext>
            </a:extLst>
          </p:cNvPr>
          <p:cNvSpPr>
            <a:spLocks noGrp="1"/>
          </p:cNvSpPr>
          <p:nvPr>
            <p:ph type="body" sz="quarter" idx="24" hasCustomPrompt="1"/>
          </p:nvPr>
        </p:nvSpPr>
        <p:spPr>
          <a:xfrm>
            <a:off x="853267" y="5486401"/>
            <a:ext cx="4998719" cy="178852"/>
          </a:xfrm>
          <a:prstGeom prst="rect">
            <a:avLst/>
          </a:prstGeom>
        </p:spPr>
        <p:txBody>
          <a:bodyPr wrap="square" anchor="t" anchorCtr="0">
            <a:spAutoFit/>
          </a:bodyPr>
          <a:lstStyle>
            <a:lvl1pPr marL="0" indent="0">
              <a:lnSpc>
                <a:spcPts val="1467"/>
              </a:lnSpc>
              <a:buNone/>
              <a:defRPr sz="1067">
                <a:latin typeface="+mn-lt"/>
              </a:defRPr>
            </a:lvl1pPr>
            <a:lvl2pPr>
              <a:defRPr sz="1067">
                <a:latin typeface="+mn-lt"/>
              </a:defRPr>
            </a:lvl2pPr>
            <a:lvl3pPr>
              <a:defRPr sz="1067">
                <a:latin typeface="+mn-lt"/>
              </a:defRPr>
            </a:lvl3pPr>
            <a:lvl4pPr>
              <a:defRPr sz="1067">
                <a:latin typeface="+mn-lt"/>
              </a:defRPr>
            </a:lvl4pPr>
            <a:lvl5pPr>
              <a:defRPr sz="1067">
                <a:latin typeface="+mn-lt"/>
              </a:defRPr>
            </a:lvl5pPr>
          </a:lstStyle>
          <a:p>
            <a:pPr lvl="0"/>
            <a:r>
              <a:rPr lang="en-US" dirty="0"/>
              <a:t>Caption goes here, one line recommended, two lines max. lorem ipsum</a:t>
            </a:r>
          </a:p>
        </p:txBody>
      </p:sp>
      <p:sp>
        <p:nvSpPr>
          <p:cNvPr id="11" name="Rectangle 10">
            <a:extLst>
              <a:ext uri="{FF2B5EF4-FFF2-40B4-BE49-F238E27FC236}">
                <a16:creationId xmlns:a16="http://schemas.microsoft.com/office/drawing/2014/main" id="{15ECEDA9-F4E9-D546-AADD-9E9431B373F9}"/>
              </a:ext>
            </a:extLst>
          </p:cNvPr>
          <p:cNvSpPr/>
          <p:nvPr/>
        </p:nvSpPr>
        <p:spPr>
          <a:xfrm>
            <a:off x="0" y="0"/>
            <a:ext cx="12192000" cy="155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12" name="Title 1">
            <a:extLst>
              <a:ext uri="{FF2B5EF4-FFF2-40B4-BE49-F238E27FC236}">
                <a16:creationId xmlns:a16="http://schemas.microsoft.com/office/drawing/2014/main" id="{30B111C0-E62E-C246-80CF-91DB63D57A70}"/>
              </a:ext>
            </a:extLst>
          </p:cNvPr>
          <p:cNvSpPr txBox="1">
            <a:spLocks/>
          </p:cNvSpPr>
          <p:nvPr/>
        </p:nvSpPr>
        <p:spPr>
          <a:xfrm>
            <a:off x="853439" y="487680"/>
            <a:ext cx="10363200" cy="36576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2400" dirty="0"/>
              <a:t>Small Header w/two captioned images</a:t>
            </a:r>
          </a:p>
        </p:txBody>
      </p:sp>
      <p:sp>
        <p:nvSpPr>
          <p:cNvPr id="13" name="Header rule">
            <a:extLst>
              <a:ext uri="{FF2B5EF4-FFF2-40B4-BE49-F238E27FC236}">
                <a16:creationId xmlns:a16="http://schemas.microsoft.com/office/drawing/2014/main" id="{89329647-72E2-B74F-AFC5-F88F766072F0}"/>
              </a:ext>
            </a:extLst>
          </p:cNvPr>
          <p:cNvSpPr/>
          <p:nvPr/>
        </p:nvSpPr>
        <p:spPr>
          <a:xfrm>
            <a:off x="853440" y="898199"/>
            <a:ext cx="10363200" cy="48768"/>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sp>
        <p:nvSpPr>
          <p:cNvPr id="10" name="Picture Placeholder 2">
            <a:extLst>
              <a:ext uri="{FF2B5EF4-FFF2-40B4-BE49-F238E27FC236}">
                <a16:creationId xmlns:a16="http://schemas.microsoft.com/office/drawing/2014/main" id="{3B0E2BCC-7E9A-8848-B8C5-2789C328FDF4}"/>
              </a:ext>
            </a:extLst>
          </p:cNvPr>
          <p:cNvSpPr>
            <a:spLocks noGrp="1"/>
          </p:cNvSpPr>
          <p:nvPr>
            <p:ph type="pic" sz="quarter" idx="23"/>
          </p:nvPr>
        </p:nvSpPr>
        <p:spPr>
          <a:xfrm>
            <a:off x="853269" y="1385303"/>
            <a:ext cx="4998719" cy="402336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B9DA235E-5166-4A4E-85BC-FDE49E99E6E3}"/>
              </a:ext>
            </a:extLst>
          </p:cNvPr>
          <p:cNvSpPr>
            <a:spLocks noGrp="1"/>
          </p:cNvSpPr>
          <p:nvPr>
            <p:ph type="body" sz="quarter" idx="25" hasCustomPrompt="1"/>
          </p:nvPr>
        </p:nvSpPr>
        <p:spPr>
          <a:xfrm>
            <a:off x="6217919" y="5486401"/>
            <a:ext cx="4998719" cy="178852"/>
          </a:xfrm>
          <a:prstGeom prst="rect">
            <a:avLst/>
          </a:prstGeom>
        </p:spPr>
        <p:txBody>
          <a:bodyPr wrap="square" anchor="t" anchorCtr="0">
            <a:spAutoFit/>
          </a:bodyPr>
          <a:lstStyle>
            <a:lvl1pPr marL="0" indent="0">
              <a:lnSpc>
                <a:spcPts val="1467"/>
              </a:lnSpc>
              <a:buNone/>
              <a:defRPr sz="1067">
                <a:latin typeface="+mn-lt"/>
              </a:defRPr>
            </a:lvl1pPr>
            <a:lvl2pPr>
              <a:defRPr sz="1067">
                <a:latin typeface="+mn-lt"/>
              </a:defRPr>
            </a:lvl2pPr>
            <a:lvl3pPr>
              <a:defRPr sz="1067">
                <a:latin typeface="+mn-lt"/>
              </a:defRPr>
            </a:lvl3pPr>
            <a:lvl4pPr>
              <a:defRPr sz="1067">
                <a:latin typeface="+mn-lt"/>
              </a:defRPr>
            </a:lvl4pPr>
            <a:lvl5pPr>
              <a:defRPr sz="1067">
                <a:latin typeface="+mn-lt"/>
              </a:defRPr>
            </a:lvl5pPr>
          </a:lstStyle>
          <a:p>
            <a:pPr lvl="0"/>
            <a:r>
              <a:rPr lang="en-US" dirty="0"/>
              <a:t>Caption goes here, one line recommended, two lines max. lorem ipsum</a:t>
            </a:r>
          </a:p>
        </p:txBody>
      </p:sp>
      <p:sp>
        <p:nvSpPr>
          <p:cNvPr id="17" name="Picture Placeholder 2">
            <a:extLst>
              <a:ext uri="{FF2B5EF4-FFF2-40B4-BE49-F238E27FC236}">
                <a16:creationId xmlns:a16="http://schemas.microsoft.com/office/drawing/2014/main" id="{2298A9C0-48AD-FD43-A59A-12E1524D052B}"/>
              </a:ext>
            </a:extLst>
          </p:cNvPr>
          <p:cNvSpPr>
            <a:spLocks noGrp="1"/>
          </p:cNvSpPr>
          <p:nvPr>
            <p:ph type="pic" sz="quarter" idx="26"/>
          </p:nvPr>
        </p:nvSpPr>
        <p:spPr>
          <a:xfrm>
            <a:off x="6217921" y="1385303"/>
            <a:ext cx="4998719" cy="402336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Tree>
    <p:extLst>
      <p:ext uri="{BB962C8B-B14F-4D97-AF65-F5344CB8AC3E}">
        <p14:creationId xmlns:p14="http://schemas.microsoft.com/office/powerpoint/2010/main" val="3535479035"/>
      </p:ext>
    </p:extLst>
  </p:cSld>
  <p:clrMapOvr>
    <a:masterClrMapping/>
  </p:clrMapOvr>
  <p:hf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 w/three images">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1230412" y="1584960"/>
            <a:ext cx="2537553" cy="258597"/>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19">
            <a:extLst>
              <a:ext uri="{FF2B5EF4-FFF2-40B4-BE49-F238E27FC236}">
                <a16:creationId xmlns:a16="http://schemas.microsoft.com/office/drawing/2014/main" id="{D690DD6C-A294-D34A-8F02-8254600AA0CF}"/>
              </a:ext>
            </a:extLst>
          </p:cNvPr>
          <p:cNvSpPr>
            <a:spLocks noGrp="1"/>
          </p:cNvSpPr>
          <p:nvPr>
            <p:ph type="body" sz="quarter" idx="24" hasCustomPrompt="1"/>
          </p:nvPr>
        </p:nvSpPr>
        <p:spPr>
          <a:xfrm>
            <a:off x="7924800" y="4389121"/>
            <a:ext cx="3291840" cy="1219052"/>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
        <p:nvSpPr>
          <p:cNvPr id="17" name="Picture Placeholder 2">
            <a:extLst>
              <a:ext uri="{FF2B5EF4-FFF2-40B4-BE49-F238E27FC236}">
                <a16:creationId xmlns:a16="http://schemas.microsoft.com/office/drawing/2014/main" id="{4893D48C-9A05-6D48-AEBE-B035AC90CB7B}"/>
              </a:ext>
            </a:extLst>
          </p:cNvPr>
          <p:cNvSpPr>
            <a:spLocks noGrp="1"/>
          </p:cNvSpPr>
          <p:nvPr>
            <p:ph type="pic" sz="quarter" idx="25"/>
          </p:nvPr>
        </p:nvSpPr>
        <p:spPr>
          <a:xfrm>
            <a:off x="7924800" y="1584960"/>
            <a:ext cx="329184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8" name="Text Placeholder 19">
            <a:extLst>
              <a:ext uri="{FF2B5EF4-FFF2-40B4-BE49-F238E27FC236}">
                <a16:creationId xmlns:a16="http://schemas.microsoft.com/office/drawing/2014/main" id="{8415C831-E177-844F-9712-8A40A7EF2C79}"/>
              </a:ext>
            </a:extLst>
          </p:cNvPr>
          <p:cNvSpPr>
            <a:spLocks noGrp="1"/>
          </p:cNvSpPr>
          <p:nvPr>
            <p:ph type="body" sz="quarter" idx="26" hasCustomPrompt="1"/>
          </p:nvPr>
        </p:nvSpPr>
        <p:spPr>
          <a:xfrm>
            <a:off x="4389120" y="4389121"/>
            <a:ext cx="3291840" cy="1219052"/>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
        <p:nvSpPr>
          <p:cNvPr id="19" name="Picture Placeholder 2">
            <a:extLst>
              <a:ext uri="{FF2B5EF4-FFF2-40B4-BE49-F238E27FC236}">
                <a16:creationId xmlns:a16="http://schemas.microsoft.com/office/drawing/2014/main" id="{2A52D487-6A99-CB44-ADDA-84E2583B5DE2}"/>
              </a:ext>
            </a:extLst>
          </p:cNvPr>
          <p:cNvSpPr>
            <a:spLocks noGrp="1"/>
          </p:cNvSpPr>
          <p:nvPr>
            <p:ph type="pic" sz="quarter" idx="27"/>
          </p:nvPr>
        </p:nvSpPr>
        <p:spPr>
          <a:xfrm>
            <a:off x="4389035" y="1584960"/>
            <a:ext cx="329184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853440" y="4389121"/>
            <a:ext cx="3291840" cy="1219052"/>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w/three images</a:t>
            </a:r>
          </a:p>
        </p:txBody>
      </p:sp>
    </p:spTree>
    <p:extLst>
      <p:ext uri="{BB962C8B-B14F-4D97-AF65-F5344CB8AC3E}">
        <p14:creationId xmlns:p14="http://schemas.microsoft.com/office/powerpoint/2010/main" val="1002952708"/>
      </p:ext>
    </p:extLst>
  </p:cSld>
  <p:clrMapOvr>
    <a:masterClrMapping/>
  </p:clrMapOvr>
  <p:hf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wide image">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853440" y="4876801"/>
            <a:ext cx="10363200" cy="701859"/>
          </a:xfrm>
          <a:prstGeom prst="rect">
            <a:avLst/>
          </a:prstGeom>
        </p:spPr>
        <p:txBody>
          <a:bodyPr lIns="0" tIns="18288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a:t>
            </a: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853440" y="1584960"/>
            <a:ext cx="1036320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w/wide image</a:t>
            </a:r>
          </a:p>
        </p:txBody>
      </p:sp>
    </p:spTree>
    <p:extLst>
      <p:ext uri="{BB962C8B-B14F-4D97-AF65-F5344CB8AC3E}">
        <p14:creationId xmlns:p14="http://schemas.microsoft.com/office/powerpoint/2010/main" val="12679140"/>
      </p:ext>
    </p:extLst>
  </p:cSld>
  <p:clrMapOvr>
    <a:masterClrMapping/>
  </p:clrMapOvr>
  <p:hf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Header w/video">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2438400" y="1584960"/>
            <a:ext cx="731520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w/video</a:t>
            </a:r>
          </a:p>
        </p:txBody>
      </p:sp>
    </p:spTree>
    <p:extLst>
      <p:ext uri="{BB962C8B-B14F-4D97-AF65-F5344CB8AC3E}">
        <p14:creationId xmlns:p14="http://schemas.microsoft.com/office/powerpoint/2010/main" val="2690920502"/>
      </p:ext>
    </p:extLst>
  </p:cSld>
  <p:clrMapOvr>
    <a:masterClrMapping/>
  </p:clrMapOvr>
  <p:hf hdr="0" ft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er w/video and copy">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7559040" y="2072641"/>
            <a:ext cx="3657600" cy="1292983"/>
          </a:xfrm>
          <a:prstGeom prst="rect">
            <a:avLst/>
          </a:prstGeom>
        </p:spPr>
        <p:txBody>
          <a:bodyPr lIns="365760" r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7559040" y="1584960"/>
            <a:ext cx="3657600" cy="287259"/>
          </a:xfrm>
          <a:prstGeom prst="rect">
            <a:avLst/>
          </a:prstGeom>
        </p:spPr>
        <p:txBody>
          <a:bodyPr lIns="365760" rIns="0"/>
          <a:lstStyle>
            <a:lvl1pPr marL="0" indent="0">
              <a:lnSpc>
                <a:spcPct val="100000"/>
              </a:lnSpc>
              <a:buFontTx/>
              <a:buNone/>
              <a:defRPr b="1" i="0" cap="all" baseline="0">
                <a:latin typeface="Helvetica" pitchFamily="2" charset="0"/>
              </a:defRPr>
            </a:lvl1pPr>
          </a:lstStyle>
          <a:p>
            <a:pPr lvl="0"/>
            <a:r>
              <a:rPr lang="en-US" dirty="0"/>
              <a:t>SUBHEAD</a:t>
            </a:r>
          </a:p>
        </p:txBody>
      </p:sp>
      <p:sp>
        <p:nvSpPr>
          <p:cNvPr id="4" name="Media Placeholder 3">
            <a:extLst>
              <a:ext uri="{FF2B5EF4-FFF2-40B4-BE49-F238E27FC236}">
                <a16:creationId xmlns:a16="http://schemas.microsoft.com/office/drawing/2014/main" id="{EDEC991D-2A90-BD44-8865-BCD7365AA034}"/>
              </a:ext>
            </a:extLst>
          </p:cNvPr>
          <p:cNvSpPr>
            <a:spLocks noGrp="1"/>
          </p:cNvSpPr>
          <p:nvPr>
            <p:ph type="media" sz="quarter" idx="23"/>
          </p:nvPr>
        </p:nvSpPr>
        <p:spPr>
          <a:xfrm>
            <a:off x="853440" y="1584960"/>
            <a:ext cx="670560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media</a:t>
            </a:r>
            <a:endParaRPr lang="en-US" dirty="0"/>
          </a:p>
        </p:txBody>
      </p:sp>
      <p:sp>
        <p:nvSpPr>
          <p:cNvPr id="2" name="Title 1">
            <a:extLst>
              <a:ext uri="{FF2B5EF4-FFF2-40B4-BE49-F238E27FC236}">
                <a16:creationId xmlns:a16="http://schemas.microsoft.com/office/drawing/2014/main" id="{B215D343-E871-2D4D-89DF-1CBE83C41245}"/>
              </a:ext>
            </a:extLst>
          </p:cNvPr>
          <p:cNvSpPr>
            <a:spLocks noGrp="1"/>
          </p:cNvSpPr>
          <p:nvPr>
            <p:ph type="title" hasCustomPrompt="1"/>
          </p:nvPr>
        </p:nvSpPr>
        <p:spPr/>
        <p:txBody>
          <a:bodyPr/>
          <a:lstStyle/>
          <a:p>
            <a:r>
              <a:rPr lang="en-US" dirty="0"/>
              <a:t>Header w/video and copy</a:t>
            </a:r>
          </a:p>
        </p:txBody>
      </p:sp>
    </p:spTree>
    <p:extLst>
      <p:ext uri="{BB962C8B-B14F-4D97-AF65-F5344CB8AC3E}">
        <p14:creationId xmlns:p14="http://schemas.microsoft.com/office/powerpoint/2010/main" val="544177606"/>
      </p:ext>
    </p:extLst>
  </p:cSld>
  <p:clrMapOvr>
    <a:masterClrMapping/>
  </p:clrMapOvr>
  <p:hf hdr="0" ft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tement w/white background">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1"/>
            <a:ext cx="12192000" cy="6132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6" name="Title 3" hidden="1">
            <a:extLst>
              <a:ext uri="{FF2B5EF4-FFF2-40B4-BE49-F238E27FC236}">
                <a16:creationId xmlns:a16="http://schemas.microsoft.com/office/drawing/2014/main" id="{47BA5E82-2DE4-214E-A6B1-6C2A16953F79}"/>
              </a:ext>
            </a:extLst>
          </p:cNvPr>
          <p:cNvSpPr txBox="1">
            <a:spLocks/>
          </p:cNvSpPr>
          <p:nvPr/>
        </p:nvSpPr>
        <p:spPr>
          <a:xfrm>
            <a:off x="1828800" y="1828896"/>
            <a:ext cx="8534400" cy="2462021"/>
          </a:xfrm>
          <a:prstGeom prst="rect">
            <a:avLst/>
          </a:prstGeom>
          <a:solidFill>
            <a:schemeClr val="bg1"/>
          </a:solidFill>
        </p:spPr>
        <p:txBody>
          <a:bodyPr vert="horz" wrap="square" lIns="0" tIns="0" rIns="0" bIns="0" rtlCol="0" anchor="ctr" anchorCtr="1">
            <a:sp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spcBef>
                <a:spcPts val="0"/>
              </a:spcBef>
            </a:pPr>
            <a:r>
              <a:rPr lang="en-US" sz="5333" b="0" i="0" dirty="0">
                <a:solidFill>
                  <a:srgbClr val="2774AE"/>
                </a:solidFill>
                <a:latin typeface="Helvetica Regular" pitchFamily="2" charset="0"/>
              </a:rPr>
              <a:t>Lorem ipsum dolor sit </a:t>
            </a:r>
            <a:r>
              <a:rPr lang="en-US" sz="5333" b="0" i="0" dirty="0" err="1">
                <a:solidFill>
                  <a:srgbClr val="2774AE"/>
                </a:solidFill>
                <a:latin typeface="Helvetica Regular" pitchFamily="2" charset="0"/>
              </a:rPr>
              <a:t>amet</a:t>
            </a:r>
            <a:r>
              <a:rPr lang="en-US" sz="5333" b="0" i="0" dirty="0">
                <a:solidFill>
                  <a:srgbClr val="2774AE"/>
                </a:solidFill>
                <a:latin typeface="Helvetica Regular" pitchFamily="2" charset="0"/>
              </a:rPr>
              <a:t> ex </a:t>
            </a:r>
            <a:r>
              <a:rPr lang="en-US" sz="5333" b="0" i="0" dirty="0" err="1">
                <a:solidFill>
                  <a:srgbClr val="2774AE"/>
                </a:solidFill>
                <a:latin typeface="Helvetica Regular" pitchFamily="2" charset="0"/>
              </a:rPr>
              <a:t>eum</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reque</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graece</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nam</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harum</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vonsequat</a:t>
            </a:r>
            <a:endParaRPr lang="en-US" sz="5333" b="0" i="0" dirty="0">
              <a:solidFill>
                <a:srgbClr val="2774AE"/>
              </a:solidFill>
              <a:latin typeface="Helvetica Regular" pitchFamily="2" charset="0"/>
            </a:endParaRPr>
          </a:p>
        </p:txBody>
      </p:sp>
      <p:sp>
        <p:nvSpPr>
          <p:cNvPr id="4" name="Text Placeholder 3">
            <a:extLst>
              <a:ext uri="{FF2B5EF4-FFF2-40B4-BE49-F238E27FC236}">
                <a16:creationId xmlns:a16="http://schemas.microsoft.com/office/drawing/2014/main" id="{9D1F839A-7F1F-7444-AF82-48ECCE4F3858}"/>
              </a:ext>
            </a:extLst>
          </p:cNvPr>
          <p:cNvSpPr>
            <a:spLocks noGrp="1"/>
          </p:cNvSpPr>
          <p:nvPr>
            <p:ph type="body" sz="quarter" idx="21" hasCustomPrompt="1"/>
          </p:nvPr>
        </p:nvSpPr>
        <p:spPr>
          <a:xfrm>
            <a:off x="1828800" y="1828801"/>
            <a:ext cx="8534400" cy="2220095"/>
          </a:xfrm>
        </p:spPr>
        <p:txBody>
          <a:bodyPr anchor="ctr" anchorCtr="0"/>
          <a:lstStyle>
            <a:lvl1pPr marL="0" indent="0" algn="ctr">
              <a:buNone/>
              <a:defRPr sz="5333">
                <a:solidFill>
                  <a:srgbClr val="2774AE"/>
                </a:solidFill>
              </a:defRPr>
            </a:lvl1pPr>
            <a:lvl2pPr marL="365751" indent="0" algn="ctr">
              <a:buNone/>
              <a:defRPr sz="5333">
                <a:solidFill>
                  <a:srgbClr val="2774AE"/>
                </a:solidFill>
              </a:defRPr>
            </a:lvl2pPr>
            <a:lvl3pPr marL="731502" indent="0" algn="ctr">
              <a:buNone/>
              <a:defRPr sz="5333">
                <a:solidFill>
                  <a:srgbClr val="2774AE"/>
                </a:solidFill>
              </a:defRPr>
            </a:lvl3pPr>
            <a:lvl4pPr marL="1097253" indent="0" algn="ctr">
              <a:buNone/>
              <a:defRPr sz="5333">
                <a:solidFill>
                  <a:srgbClr val="2774AE"/>
                </a:solidFill>
              </a:defRPr>
            </a:lvl4pPr>
            <a:lvl5pPr marL="1463003" indent="0" algn="ctr">
              <a:buNone/>
              <a:defRPr sz="5333">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3720082039"/>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12192000" cy="60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1736718671"/>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3" name="TextBox 2">
            <a:extLst>
              <a:ext uri="{FF2B5EF4-FFF2-40B4-BE49-F238E27FC236}">
                <a16:creationId xmlns:a16="http://schemas.microsoft.com/office/drawing/2014/main" id="{5F64B9DE-6557-C54A-BF36-8E798604EA3F}"/>
              </a:ext>
            </a:extLst>
          </p:cNvPr>
          <p:cNvSpPr txBox="1"/>
          <p:nvPr/>
        </p:nvSpPr>
        <p:spPr>
          <a:xfrm>
            <a:off x="853440" y="2499360"/>
            <a:ext cx="10363200" cy="738664"/>
          </a:xfrm>
          <a:prstGeom prst="rect">
            <a:avLst/>
          </a:prstGeom>
          <a:noFill/>
        </p:spPr>
        <p:txBody>
          <a:bodyPr wrap="square" lIns="0" tIns="0" rIns="0" bIns="0" rtlCol="0" anchor="b" anchorCtr="0">
            <a:spAutoFit/>
          </a:bodyPr>
          <a:lstStyle/>
          <a:p>
            <a:pPr algn="ctr"/>
            <a:r>
              <a:rPr lang="en-US" sz="4800" b="1" i="0" baseline="0" dirty="0">
                <a:solidFill>
                  <a:srgbClr val="58595B"/>
                </a:solidFill>
                <a:latin typeface="Helvetica" pitchFamily="2" charset="0"/>
              </a:rPr>
              <a:t>Q&amp;A</a:t>
            </a:r>
          </a:p>
        </p:txBody>
      </p:sp>
      <p:sp>
        <p:nvSpPr>
          <p:cNvPr id="7" name="Header rule">
            <a:extLst>
              <a:ext uri="{FF2B5EF4-FFF2-40B4-BE49-F238E27FC236}">
                <a16:creationId xmlns:a16="http://schemas.microsoft.com/office/drawing/2014/main" id="{09B1960F-507A-E84C-8B64-1891B754A975}"/>
              </a:ext>
            </a:extLst>
          </p:cNvPr>
          <p:cNvSpPr/>
          <p:nvPr/>
        </p:nvSpPr>
        <p:spPr>
          <a:xfrm>
            <a:off x="853440" y="3291840"/>
            <a:ext cx="10363200" cy="48768"/>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extLst>
              <p:ext uri="{D42A27DB-BD31-4B8C-83A1-F6EECF244321}">
                <p14:modId xmlns:p14="http://schemas.microsoft.com/office/powerpoint/2010/main" val="42495035"/>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extLst>
              <p:ext uri="{D42A27DB-BD31-4B8C-83A1-F6EECF244321}">
                <p14:modId xmlns:p14="http://schemas.microsoft.com/office/powerpoint/2010/main" val="2393666196"/>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Tree>
    <p:extLst>
      <p:ext uri="{BB962C8B-B14F-4D97-AF65-F5344CB8AC3E}">
        <p14:creationId xmlns:p14="http://schemas.microsoft.com/office/powerpoint/2010/main" val="1155635478"/>
      </p:ext>
    </p:extLst>
  </p:cSld>
  <p:clrMapOvr>
    <a:masterClrMapping/>
  </p:clrMapOvr>
  <p:hf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12192000" cy="60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2" name="Picture 1"/>
          <p:cNvPicPr>
            <a:picLocks noChangeAspect="1"/>
          </p:cNvPicPr>
          <p:nvPr/>
        </p:nvPicPr>
        <p:blipFill>
          <a:blip r:embed="rId2"/>
          <a:stretch>
            <a:fillRect/>
          </a:stretch>
        </p:blipFill>
        <p:spPr>
          <a:xfrm>
            <a:off x="3042195" y="3042690"/>
            <a:ext cx="6107611" cy="772621"/>
          </a:xfrm>
          <a:prstGeom prst="rect">
            <a:avLst/>
          </a:prstGeom>
        </p:spPr>
      </p:pic>
    </p:spTree>
    <p:extLst>
      <p:ext uri="{BB962C8B-B14F-4D97-AF65-F5344CB8AC3E}">
        <p14:creationId xmlns:p14="http://schemas.microsoft.com/office/powerpoint/2010/main" val="3486891473"/>
      </p:ext>
    </p:extLst>
  </p:cSld>
  <p:clrMapOvr>
    <a:masterClrMapping/>
  </p:clrMapOvr>
  <p:hf hdr="0" ft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304800" y="152400"/>
            <a:ext cx="11277600" cy="83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1F394D"/>
              </a:buClr>
              <a:buSzPts val="3200"/>
              <a:buFont typeface="Tahoma"/>
              <a:buNone/>
              <a:defRPr>
                <a:solidFill>
                  <a:srgbClr val="1F394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3" name="Google Shape;23;p20"/>
          <p:cNvSpPr txBox="1">
            <a:spLocks noGrp="1"/>
          </p:cNvSpPr>
          <p:nvPr>
            <p:ph type="ftr" idx="11"/>
          </p:nvPr>
        </p:nvSpPr>
        <p:spPr>
          <a:xfrm>
            <a:off x="304800" y="6579370"/>
            <a:ext cx="7823200" cy="228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200" b="0" i="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24" name="Google Shape;24;p20"/>
          <p:cNvSpPr txBox="1">
            <a:spLocks noGrp="1"/>
          </p:cNvSpPr>
          <p:nvPr>
            <p:ph type="sldNum" idx="12"/>
          </p:nvPr>
        </p:nvSpPr>
        <p:spPr>
          <a:xfrm>
            <a:off x="11277600" y="6604233"/>
            <a:ext cx="1016000" cy="228600"/>
          </a:xfrm>
          <a:prstGeom prst="rect">
            <a:avLst/>
          </a:prstGeom>
          <a:noFill/>
          <a:ln>
            <a:noFill/>
          </a:ln>
        </p:spPr>
        <p:txBody>
          <a:bodyPr spcFirstLastPara="1" wrap="square" lIns="91425" tIns="45700" rIns="91425" bIns="45700" anchor="t" anchorCtr="0">
            <a:noAutofit/>
          </a:bodyPr>
          <a:lstStyle>
            <a:lvl1pPr marL="0" marR="0" lvl="0"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1pPr>
            <a:lvl2pPr marL="0" marR="0" lvl="1"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2pPr>
            <a:lvl3pPr marL="0" marR="0" lvl="2"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3pPr>
            <a:lvl4pPr marL="0" marR="0" lvl="3"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4pPr>
            <a:lvl5pPr marL="0" marR="0" lvl="4"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5pPr>
            <a:lvl6pPr marL="0" marR="0" lvl="5"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6pPr>
            <a:lvl7pPr marL="0" marR="0" lvl="6"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7pPr>
            <a:lvl8pPr marL="0" marR="0" lvl="7"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8pPr>
            <a:lvl9pPr marL="0" marR="0" lvl="8"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9pPr>
          </a:lstStyle>
          <a:p>
            <a:pPr marL="0" lvl="0" indent="0" algn="ctr" rtl="0">
              <a:spcBef>
                <a:spcPts val="0"/>
              </a:spcBef>
              <a:spcAft>
                <a:spcPts val="0"/>
              </a:spcAft>
              <a:buNone/>
            </a:pPr>
            <a:fld id="{00000000-1234-1234-1234-123412341234}" type="slidenum">
              <a:rPr lang="en-US" smtClean="0"/>
              <a:t>‹#›</a:t>
            </a:fld>
            <a:endParaRPr lang="en-US"/>
          </a:p>
        </p:txBody>
      </p:sp>
      <p:sp>
        <p:nvSpPr>
          <p:cNvPr id="25" name="Google Shape;25;p20"/>
          <p:cNvSpPr txBox="1">
            <a:spLocks noGrp="1"/>
          </p:cNvSpPr>
          <p:nvPr>
            <p:ph type="body" idx="1"/>
          </p:nvPr>
        </p:nvSpPr>
        <p:spPr>
          <a:xfrm>
            <a:off x="304800" y="1143000"/>
            <a:ext cx="11582400" cy="51816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600"/>
              </a:spcBef>
              <a:spcAft>
                <a:spcPts val="0"/>
              </a:spcAft>
              <a:buSzPts val="2400"/>
              <a:buChar char="|"/>
              <a:defRPr sz="2400">
                <a:latin typeface="Tahoma"/>
                <a:ea typeface="Tahoma"/>
                <a:cs typeface="Tahoma"/>
                <a:sym typeface="Tahoma"/>
              </a:defRPr>
            </a:lvl1pPr>
            <a:lvl2pPr marL="914400" lvl="1" indent="-325119" algn="l">
              <a:lnSpc>
                <a:spcPct val="100000"/>
              </a:lnSpc>
              <a:spcBef>
                <a:spcPts val="500"/>
              </a:spcBef>
              <a:spcAft>
                <a:spcPts val="0"/>
              </a:spcAft>
              <a:buSzPts val="1520"/>
              <a:buChar char="•"/>
              <a:defRPr sz="2000">
                <a:solidFill>
                  <a:srgbClr val="232F4E"/>
                </a:solidFill>
                <a:latin typeface="Tahoma"/>
                <a:ea typeface="Tahoma"/>
                <a:cs typeface="Tahoma"/>
                <a:sym typeface="Tahoma"/>
              </a:defRPr>
            </a:lvl2pPr>
            <a:lvl3pPr marL="1371600" lvl="2" indent="-315467" algn="l">
              <a:lnSpc>
                <a:spcPct val="100000"/>
              </a:lnSpc>
              <a:spcBef>
                <a:spcPts val="500"/>
              </a:spcBef>
              <a:spcAft>
                <a:spcPts val="0"/>
              </a:spcAft>
              <a:buSzPts val="1368"/>
              <a:buChar char="?"/>
              <a:defRPr sz="1800">
                <a:latin typeface="Tahoma"/>
                <a:ea typeface="Tahoma"/>
                <a:cs typeface="Tahoma"/>
                <a:sym typeface="Tahoma"/>
              </a:defRPr>
            </a:lvl3pPr>
            <a:lvl4pPr marL="1828800" lvl="3" indent="-299719" algn="l">
              <a:lnSpc>
                <a:spcPct val="100000"/>
              </a:lnSpc>
              <a:spcBef>
                <a:spcPts val="400"/>
              </a:spcBef>
              <a:spcAft>
                <a:spcPts val="0"/>
              </a:spcAft>
              <a:buSzPts val="1120"/>
              <a:buChar char="◻"/>
              <a:defRPr sz="1600">
                <a:latin typeface="Tahoma"/>
                <a:ea typeface="Tahoma"/>
                <a:cs typeface="Tahoma"/>
                <a:sym typeface="Tahoma"/>
              </a:defRPr>
            </a:lvl4pPr>
            <a:lvl5pPr marL="2286000" lvl="4" indent="-290829" algn="l">
              <a:lnSpc>
                <a:spcPct val="100000"/>
              </a:lnSpc>
              <a:spcBef>
                <a:spcPts val="300"/>
              </a:spcBef>
              <a:spcAft>
                <a:spcPts val="0"/>
              </a:spcAft>
              <a:buSzPts val="980"/>
              <a:buChar char="◻"/>
              <a:defRPr sz="1400">
                <a:latin typeface="Tahoma"/>
                <a:ea typeface="Tahoma"/>
                <a:cs typeface="Tahoma"/>
                <a:sym typeface="Tahoma"/>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pPr lvl="0"/>
            <a:r>
              <a:rPr lang="en-US"/>
              <a:t>Click to edit Master text styles</a:t>
            </a:r>
          </a:p>
        </p:txBody>
      </p:sp>
    </p:spTree>
    <p:extLst>
      <p:ext uri="{BB962C8B-B14F-4D97-AF65-F5344CB8AC3E}">
        <p14:creationId xmlns:p14="http://schemas.microsoft.com/office/powerpoint/2010/main" val="3207801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2032000" y="3429000"/>
            <a:ext cx="10160000" cy="12192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chemeClr val="dk1"/>
              </a:buClr>
              <a:buSzPts val="3200"/>
              <a:buFont typeface="Tahoma"/>
              <a:buNone/>
              <a:defRPr sz="320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4064000" y="4648200"/>
            <a:ext cx="8128000" cy="91440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600"/>
              </a:spcBef>
              <a:spcAft>
                <a:spcPts val="0"/>
              </a:spcAft>
              <a:buSzPts val="2000"/>
              <a:buNone/>
              <a:defRPr sz="2000">
                <a:solidFill>
                  <a:schemeClr val="dk2"/>
                </a:solidFill>
                <a:latin typeface="Tahoma"/>
                <a:ea typeface="Tahoma"/>
                <a:cs typeface="Tahoma"/>
                <a:sym typeface="Tahoma"/>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a:endParaRPr/>
          </a:p>
        </p:txBody>
      </p:sp>
      <p:sp>
        <p:nvSpPr>
          <p:cNvPr id="18" name="Google Shape;18;p17"/>
          <p:cNvSpPr txBox="1">
            <a:spLocks noGrp="1"/>
          </p:cNvSpPr>
          <p:nvPr>
            <p:ph type="dt" idx="10"/>
          </p:nvPr>
        </p:nvSpPr>
        <p:spPr>
          <a:xfrm>
            <a:off x="8534400" y="6355080"/>
            <a:ext cx="3048000" cy="36576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3864864" y="6355080"/>
            <a:ext cx="4632960" cy="36576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1621536" y="6355080"/>
            <a:ext cx="1625600" cy="36576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151221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828800" y="1876991"/>
            <a:ext cx="8534400" cy="2220095"/>
          </a:xfrm>
          <a:prstGeom prst="rect">
            <a:avLst/>
          </a:prstGeom>
        </p:spPr>
        <p:txBody>
          <a:bodyPr lIns="0" tIns="0" rIns="0" bIns="0" anchor="ctr" anchorCtr="0">
            <a:spAutoFit/>
          </a:bodyPr>
          <a:lstStyle>
            <a:lvl1pPr marL="0" indent="0" algn="ctr">
              <a:buNone/>
              <a:defRPr sz="5333">
                <a:solidFill>
                  <a:schemeClr val="bg1"/>
                </a:solidFill>
              </a:defRPr>
            </a:lvl1pPr>
            <a:lvl2pPr marL="365751" indent="0" algn="ctr">
              <a:buNone/>
              <a:defRPr sz="5333">
                <a:solidFill>
                  <a:srgbClr val="2774AE"/>
                </a:solidFill>
              </a:defRPr>
            </a:lvl2pPr>
            <a:lvl3pPr marL="731502" indent="0" algn="ctr">
              <a:buNone/>
              <a:defRPr sz="5333">
                <a:solidFill>
                  <a:srgbClr val="2774AE"/>
                </a:solidFill>
              </a:defRPr>
            </a:lvl3pPr>
            <a:lvl4pPr marL="1097253" indent="0" algn="ctr">
              <a:buNone/>
              <a:defRPr sz="5333">
                <a:solidFill>
                  <a:srgbClr val="2774AE"/>
                </a:solidFill>
              </a:defRPr>
            </a:lvl4pPr>
            <a:lvl5pPr marL="1463003" indent="0" algn="ctr">
              <a:buNone/>
              <a:defRPr sz="5333">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1323441850"/>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39826103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602524551"/>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27697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813961933"/>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587910558"/>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964256447"/>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716309375"/>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748488137"/>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978061848"/>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22319594"/>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100853665"/>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8334039"/>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970938148"/>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37333909"/>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92645706"/>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53018434"/>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4202281"/>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a:xfrm>
            <a:off x="9876712" y="6339840"/>
            <a:ext cx="1255776" cy="487680"/>
          </a:xfrm>
          <a:prstGeom prst="rect">
            <a:avLst/>
          </a:prstGeom>
        </p:spPr>
        <p:txBody>
          <a:bodyPr/>
          <a:lstStyle/>
          <a:p>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853440" y="6219032"/>
            <a:ext cx="2180084"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853440" y="5975192"/>
            <a:ext cx="1503232"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Presenter Name</a:t>
            </a:r>
          </a:p>
        </p:txBody>
      </p:sp>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863598" y="635002"/>
            <a:ext cx="7419517" cy="1375519"/>
          </a:xfrm>
          <a:prstGeom prst="rect">
            <a:avLst/>
          </a:prstGeom>
        </p:spPr>
        <p:txBody>
          <a:bodyPr wrap="square" lIns="0" tIns="0" rIns="0" anchor="t" anchorCtr="0">
            <a:noAutofit/>
          </a:bodyPr>
          <a:lstStyle>
            <a:lvl1pPr marL="0" indent="0" algn="l">
              <a:buNone/>
              <a:defRPr sz="1333"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3744"/>
            <a:ext cx="10363200" cy="1470061"/>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dirty="0"/>
              <a:t>Presentation Opener Title</a:t>
            </a:r>
          </a:p>
          <a:p>
            <a:pPr lvl="0"/>
            <a:r>
              <a:rPr lang="en-US" dirty="0"/>
              <a:t>Goes Here</a:t>
            </a:r>
          </a:p>
        </p:txBody>
      </p:sp>
    </p:spTree>
    <p:extLst>
      <p:ext uri="{BB962C8B-B14F-4D97-AF65-F5344CB8AC3E}">
        <p14:creationId xmlns:p14="http://schemas.microsoft.com/office/powerpoint/2010/main" val="3439137675"/>
      </p:ext>
    </p:extLst>
  </p:cSld>
  <p:clrMapOvr>
    <a:masterClrMapping/>
  </p:clrMapOvr>
  <p:hf hdr="0" ftr="0" dt="0"/>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22" name="Google Shape;22;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3" name="Google Shape;23;p4"/>
          <p:cNvSpPr txBox="1">
            <a:spLocks noGrp="1"/>
          </p:cNvSpPr>
          <p:nvPr>
            <p:ph type="sldNum" idx="12"/>
          </p:nvPr>
        </p:nvSpPr>
        <p:spPr>
          <a:xfrm>
            <a:off x="11320333" y="624134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545271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828800" y="1876991"/>
            <a:ext cx="8534400" cy="2220095"/>
          </a:xfrm>
          <a:prstGeom prst="rect">
            <a:avLst/>
          </a:prstGeom>
        </p:spPr>
        <p:txBody>
          <a:bodyPr lIns="0" tIns="0" rIns="0" bIns="0" anchor="ctr" anchorCtr="0">
            <a:spAutoFit/>
          </a:bodyPr>
          <a:lstStyle>
            <a:lvl1pPr marL="0" indent="0" algn="ctr">
              <a:buNone/>
              <a:defRPr sz="5333">
                <a:solidFill>
                  <a:schemeClr val="bg1"/>
                </a:solidFill>
              </a:defRPr>
            </a:lvl1pPr>
            <a:lvl2pPr marL="365751" indent="0" algn="ctr">
              <a:buNone/>
              <a:defRPr sz="5333">
                <a:solidFill>
                  <a:srgbClr val="2774AE"/>
                </a:solidFill>
              </a:defRPr>
            </a:lvl2pPr>
            <a:lvl3pPr marL="731502" indent="0" algn="ctr">
              <a:buNone/>
              <a:defRPr sz="5333">
                <a:solidFill>
                  <a:srgbClr val="2774AE"/>
                </a:solidFill>
              </a:defRPr>
            </a:lvl3pPr>
            <a:lvl4pPr marL="1097253" indent="0" algn="ctr">
              <a:buNone/>
              <a:defRPr sz="5333">
                <a:solidFill>
                  <a:srgbClr val="2774AE"/>
                </a:solidFill>
              </a:defRPr>
            </a:lvl4pPr>
            <a:lvl5pPr marL="1463003" indent="0" algn="ctr">
              <a:buNone/>
              <a:defRPr sz="5333">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2622372510"/>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031993230"/>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895810520"/>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97880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725732221"/>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342647852"/>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949043557"/>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058742263"/>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706950940"/>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068912162"/>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852706679"/>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525158161"/>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79253723"/>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70403308"/>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52932273"/>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059083232"/>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405707901"/>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409314718"/>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a:xfrm>
            <a:off x="9876712" y="6339840"/>
            <a:ext cx="1255776" cy="487680"/>
          </a:xfrm>
          <a:prstGeom prst="rect">
            <a:avLst/>
          </a:prstGeom>
        </p:spPr>
        <p:txBody>
          <a:bodyPr/>
          <a:lstStyle/>
          <a:p>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853440" y="6219032"/>
            <a:ext cx="2180084"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853440" y="5975192"/>
            <a:ext cx="1503232"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Presenter Name</a:t>
            </a:r>
          </a:p>
        </p:txBody>
      </p:sp>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863598" y="635002"/>
            <a:ext cx="7419517" cy="1375519"/>
          </a:xfrm>
          <a:prstGeom prst="rect">
            <a:avLst/>
          </a:prstGeom>
        </p:spPr>
        <p:txBody>
          <a:bodyPr wrap="square" lIns="0" tIns="0" rIns="0" anchor="t" anchorCtr="0">
            <a:noAutofit/>
          </a:bodyPr>
          <a:lstStyle>
            <a:lvl1pPr marL="0" indent="0" algn="l">
              <a:buNone/>
              <a:defRPr sz="1333"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3744"/>
            <a:ext cx="10363200" cy="1470061"/>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dirty="0"/>
              <a:t>Presentation Opener Title</a:t>
            </a:r>
          </a:p>
          <a:p>
            <a:pPr lvl="0"/>
            <a:r>
              <a:rPr lang="en-US" dirty="0"/>
              <a:t>Goes Here</a:t>
            </a:r>
          </a:p>
        </p:txBody>
      </p:sp>
    </p:spTree>
    <p:extLst>
      <p:ext uri="{BB962C8B-B14F-4D97-AF65-F5344CB8AC3E}">
        <p14:creationId xmlns:p14="http://schemas.microsoft.com/office/powerpoint/2010/main" val="1454178778"/>
      </p:ext>
    </p:extLst>
  </p:cSld>
  <p:clrMapOvr>
    <a:masterClrMapping/>
  </p:clrMapOvr>
  <p:hf hdr="0" ftr="0" dt="0"/>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22" name="Google Shape;22;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3" name="Google Shape;23;p4"/>
          <p:cNvSpPr txBox="1">
            <a:spLocks noGrp="1"/>
          </p:cNvSpPr>
          <p:nvPr>
            <p:ph type="sldNum" idx="12"/>
          </p:nvPr>
        </p:nvSpPr>
        <p:spPr>
          <a:xfrm>
            <a:off x="11320333" y="624134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931515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828800" y="1876991"/>
            <a:ext cx="8534400" cy="2220095"/>
          </a:xfrm>
          <a:prstGeom prst="rect">
            <a:avLst/>
          </a:prstGeom>
        </p:spPr>
        <p:txBody>
          <a:bodyPr lIns="0" tIns="0" rIns="0" bIns="0" anchor="ctr" anchorCtr="0">
            <a:spAutoFit/>
          </a:bodyPr>
          <a:lstStyle>
            <a:lvl1pPr marL="0" indent="0" algn="ctr">
              <a:buNone/>
              <a:defRPr sz="5333">
                <a:solidFill>
                  <a:schemeClr val="bg1"/>
                </a:solidFill>
              </a:defRPr>
            </a:lvl1pPr>
            <a:lvl2pPr marL="365751" indent="0" algn="ctr">
              <a:buNone/>
              <a:defRPr sz="5333">
                <a:solidFill>
                  <a:srgbClr val="2774AE"/>
                </a:solidFill>
              </a:defRPr>
            </a:lvl2pPr>
            <a:lvl3pPr marL="731502" indent="0" algn="ctr">
              <a:buNone/>
              <a:defRPr sz="5333">
                <a:solidFill>
                  <a:srgbClr val="2774AE"/>
                </a:solidFill>
              </a:defRPr>
            </a:lvl3pPr>
            <a:lvl4pPr marL="1097253" indent="0" algn="ctr">
              <a:buNone/>
              <a:defRPr sz="5333">
                <a:solidFill>
                  <a:srgbClr val="2774AE"/>
                </a:solidFill>
              </a:defRPr>
            </a:lvl4pPr>
            <a:lvl5pPr marL="1463003" indent="0" algn="ctr">
              <a:buNone/>
              <a:defRPr sz="5333">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3108357771"/>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589694068"/>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1347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971946280"/>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557301166"/>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208023305"/>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662671389"/>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73838721"/>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347434848"/>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519759852"/>
      </p:ext>
    </p:extLst>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42619028"/>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82034544"/>
      </p:ext>
    </p:extLst>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074962388"/>
      </p:ext>
    </p:extLst>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27195476"/>
      </p:ext>
    </p:extLst>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840000685"/>
      </p:ext>
    </p:extLst>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221444198"/>
      </p:ext>
    </p:extLst>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635861504"/>
      </p:ext>
    </p:extLst>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a:xfrm>
            <a:off x="9876712" y="6339840"/>
            <a:ext cx="1255776" cy="487680"/>
          </a:xfrm>
          <a:prstGeom prst="rect">
            <a:avLst/>
          </a:prstGeom>
        </p:spPr>
        <p:txBody>
          <a:bodyPr/>
          <a:lstStyle/>
          <a:p>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853440" y="6219032"/>
            <a:ext cx="2180084"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853440" y="5975192"/>
            <a:ext cx="1503232"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Presenter Name</a:t>
            </a:r>
          </a:p>
        </p:txBody>
      </p:sp>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863598" y="635002"/>
            <a:ext cx="7419517" cy="1375519"/>
          </a:xfrm>
          <a:prstGeom prst="rect">
            <a:avLst/>
          </a:prstGeom>
        </p:spPr>
        <p:txBody>
          <a:bodyPr wrap="square" lIns="0" tIns="0" rIns="0" anchor="t" anchorCtr="0">
            <a:noAutofit/>
          </a:bodyPr>
          <a:lstStyle>
            <a:lvl1pPr marL="0" indent="0" algn="l">
              <a:buNone/>
              <a:defRPr sz="1333"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3744"/>
            <a:ext cx="10363200" cy="1470061"/>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dirty="0"/>
              <a:t>Presentation Opener Title</a:t>
            </a:r>
          </a:p>
          <a:p>
            <a:pPr lvl="0"/>
            <a:r>
              <a:rPr lang="en-US" dirty="0"/>
              <a:t>Goes Here</a:t>
            </a:r>
          </a:p>
        </p:txBody>
      </p:sp>
    </p:spTree>
    <p:extLst>
      <p:ext uri="{BB962C8B-B14F-4D97-AF65-F5344CB8AC3E}">
        <p14:creationId xmlns:p14="http://schemas.microsoft.com/office/powerpoint/2010/main" val="4272875308"/>
      </p:ext>
    </p:extLst>
  </p:cSld>
  <p:clrMapOvr>
    <a:masterClrMapping/>
  </p:clrMapOvr>
  <p:hf hdr="0" ftr="0" dt="0"/>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22" name="Google Shape;22;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3" name="Google Shape;23;p4"/>
          <p:cNvSpPr txBox="1">
            <a:spLocks noGrp="1"/>
          </p:cNvSpPr>
          <p:nvPr>
            <p:ph type="sldNum" idx="12"/>
          </p:nvPr>
        </p:nvSpPr>
        <p:spPr>
          <a:xfrm>
            <a:off x="11320333" y="624134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2505045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294036635"/>
      </p:ext>
    </p:extLst>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71389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695520592"/>
      </p:ext>
    </p:extLst>
  </p:cSld>
  <p:clrMapOvr>
    <a:masterClrMapping/>
  </p:clrMapOvr>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193133939"/>
      </p:ext>
    </p:extLst>
  </p:cSld>
  <p:clrMapOvr>
    <a:masterClrMapping/>
  </p:clrMapOvr>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2513023"/>
      </p:ext>
    </p:extLst>
  </p:cSld>
  <p:clrMapOvr>
    <a:masterClrMapping/>
  </p:clrMapOvr>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702327200"/>
      </p:ext>
    </p:extLst>
  </p:cSld>
  <p:clrMapOvr>
    <a:masterClrMapping/>
  </p:clrMapOvr>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052907931"/>
      </p:ext>
    </p:extLst>
  </p:cSld>
  <p:clrMapOvr>
    <a:masterClrMapping/>
  </p:clrMapOvr>
  <p:hf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92293904"/>
      </p:ext>
    </p:extLst>
  </p:cSld>
  <p:clrMapOvr>
    <a:masterClrMapping/>
  </p:clrMapOvr>
  <p:hf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Tree>
    <p:extLst>
      <p:ext uri="{BB962C8B-B14F-4D97-AF65-F5344CB8AC3E}">
        <p14:creationId xmlns:p14="http://schemas.microsoft.com/office/powerpoint/2010/main" val="4104693688"/>
      </p:ext>
    </p:extLst>
  </p:cSld>
  <p:clrMapOvr>
    <a:masterClrMapping/>
  </p:clrMapOvr>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34455442"/>
      </p:ext>
    </p:extLst>
  </p:cSld>
  <p:clrMapOvr>
    <a:masterClrMapping/>
  </p:clrMapOvr>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71864473"/>
      </p:ext>
    </p:extLst>
  </p:cSld>
  <p:clrMapOvr>
    <a:masterClrMapping/>
  </p:clrMapOvr>
  <p:hf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925784099"/>
      </p:ext>
    </p:extLst>
  </p:cSld>
  <p:clrMapOvr>
    <a:masterClrMapping/>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75976060"/>
      </p:ext>
    </p:extLst>
  </p:cSld>
  <p:clrMapOvr>
    <a:masterClrMapping/>
  </p:clrMapOvr>
  <p:hf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84516733"/>
      </p:ext>
    </p:extLst>
  </p:cSld>
  <p:clrMapOvr>
    <a:masterClrMapping/>
  </p:clrMapOvr>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753120727"/>
      </p:ext>
    </p:extLst>
  </p:cSld>
  <p:clrMapOvr>
    <a:masterClrMapping/>
  </p:clrMapOvr>
  <p:hf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21549079"/>
      </p:ext>
    </p:extLst>
  </p:cSld>
  <p:clrMapOvr>
    <a:masterClrMapping/>
  </p:clrMapOvr>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theme" Target="../theme/theme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Relationship Id="rId16" Type="http://schemas.openxmlformats.org/officeDocument/2006/relationships/slideLayout" Target="../slideLayouts/slideLayout37.xml"/><Relationship Id="rId17" Type="http://schemas.openxmlformats.org/officeDocument/2006/relationships/slideLayout" Target="../slideLayouts/slideLayout38.xml"/><Relationship Id="rId18" Type="http://schemas.openxmlformats.org/officeDocument/2006/relationships/slideLayout" Target="../slideLayouts/slideLayout39.xml"/><Relationship Id="rId1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theme" Target="../theme/theme4.xml"/><Relationship Id="rId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 Id="rId9" Type="http://schemas.openxmlformats.org/officeDocument/2006/relationships/slideLayout" Target="../slideLayouts/slideLayout50.xml"/><Relationship Id="rId10" Type="http://schemas.openxmlformats.org/officeDocument/2006/relationships/slideLayout" Target="../slideLayouts/slideLayout51.xml"/><Relationship Id="rId11" Type="http://schemas.openxmlformats.org/officeDocument/2006/relationships/slideLayout" Target="../slideLayouts/slideLayout52.xml"/><Relationship Id="rId12" Type="http://schemas.openxmlformats.org/officeDocument/2006/relationships/slideLayout" Target="../slideLayouts/slideLayout53.xml"/><Relationship Id="rId13" Type="http://schemas.openxmlformats.org/officeDocument/2006/relationships/slideLayout" Target="../slideLayouts/slideLayout54.xml"/><Relationship Id="rId14" Type="http://schemas.openxmlformats.org/officeDocument/2006/relationships/slideLayout" Target="../slideLayouts/slideLayout55.xml"/><Relationship Id="rId15" Type="http://schemas.openxmlformats.org/officeDocument/2006/relationships/slideLayout" Target="../slideLayouts/slideLayout56.xml"/><Relationship Id="rId16" Type="http://schemas.openxmlformats.org/officeDocument/2006/relationships/slideLayout" Target="../slideLayouts/slideLayout57.xml"/><Relationship Id="rId17" Type="http://schemas.openxmlformats.org/officeDocument/2006/relationships/slideLayout" Target="../slideLayouts/slideLayout58.xml"/><Relationship Id="rId18" Type="http://schemas.openxmlformats.org/officeDocument/2006/relationships/slideLayout" Target="../slideLayouts/slideLayout59.xml"/><Relationship Id="rId1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theme" Target="../theme/theme6.xml"/><Relationship Id="rId3"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9" Type="http://schemas.openxmlformats.org/officeDocument/2006/relationships/slideLayout" Target="../slideLayouts/slideLayout69.xml"/><Relationship Id="rId10" Type="http://schemas.openxmlformats.org/officeDocument/2006/relationships/slideLayout" Target="../slideLayouts/slideLayout70.xml"/><Relationship Id="rId11" Type="http://schemas.openxmlformats.org/officeDocument/2006/relationships/slideLayout" Target="../slideLayouts/slideLayout71.xml"/><Relationship Id="rId12" Type="http://schemas.openxmlformats.org/officeDocument/2006/relationships/slideLayout" Target="../slideLayouts/slideLayout72.xml"/><Relationship Id="rId13" Type="http://schemas.openxmlformats.org/officeDocument/2006/relationships/slideLayout" Target="../slideLayouts/slideLayout73.xml"/><Relationship Id="rId14" Type="http://schemas.openxmlformats.org/officeDocument/2006/relationships/slideLayout" Target="../slideLayouts/slideLayout74.xml"/><Relationship Id="rId15" Type="http://schemas.openxmlformats.org/officeDocument/2006/relationships/slideLayout" Target="../slideLayouts/slideLayout75.xml"/><Relationship Id="rId16" Type="http://schemas.openxmlformats.org/officeDocument/2006/relationships/slideLayout" Target="../slideLayouts/slideLayout76.xml"/><Relationship Id="rId17" Type="http://schemas.openxmlformats.org/officeDocument/2006/relationships/slideLayout" Target="../slideLayouts/slideLayout77.xml"/><Relationship Id="rId18" Type="http://schemas.openxmlformats.org/officeDocument/2006/relationships/slideLayout" Target="../slideLayouts/slideLayout78.xml"/><Relationship Id="rId19"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slideLayout" Target="../slideLayouts/slideLayout80.xml"/><Relationship Id="rId3" Type="http://schemas.openxmlformats.org/officeDocument/2006/relationships/slideLayout" Target="../slideLayouts/slideLayout81.xml"/><Relationship Id="rId4" Type="http://schemas.openxmlformats.org/officeDocument/2006/relationships/slideLayout" Target="../slideLayouts/slideLayout82.xml"/><Relationship Id="rId5" Type="http://schemas.openxmlformats.org/officeDocument/2006/relationships/slideLayout" Target="../slideLayouts/slideLayout83.xml"/><Relationship Id="rId6" Type="http://schemas.openxmlformats.org/officeDocument/2006/relationships/slideLayout" Target="../slideLayouts/slideLayout84.xml"/><Relationship Id="rId7" Type="http://schemas.openxmlformats.org/officeDocument/2006/relationships/slideLayout" Target="../slideLayouts/slideLayout85.xml"/><Relationship Id="rId8" Type="http://schemas.openxmlformats.org/officeDocument/2006/relationships/slideLayout" Target="../slideLayouts/slideLayout86.xml"/><Relationship Id="rId9" Type="http://schemas.openxmlformats.org/officeDocument/2006/relationships/slideLayout" Target="../slideLayouts/slideLayout87.xml"/><Relationship Id="rId10" Type="http://schemas.openxmlformats.org/officeDocument/2006/relationships/slideLayout" Target="../slideLayouts/slideLayout88.xml"/><Relationship Id="rId11" Type="http://schemas.openxmlformats.org/officeDocument/2006/relationships/slideLayout" Target="../slideLayouts/slideLayout89.xml"/><Relationship Id="rId12" Type="http://schemas.openxmlformats.org/officeDocument/2006/relationships/slideLayout" Target="../slideLayouts/slideLayout90.xml"/><Relationship Id="rId13" Type="http://schemas.openxmlformats.org/officeDocument/2006/relationships/slideLayout" Target="../slideLayouts/slideLayout91.xml"/><Relationship Id="rId14" Type="http://schemas.openxmlformats.org/officeDocument/2006/relationships/slideLayout" Target="../slideLayouts/slideLayout92.xml"/><Relationship Id="rId15" Type="http://schemas.openxmlformats.org/officeDocument/2006/relationships/slideLayout" Target="../slideLayouts/slideLayout93.xml"/><Relationship Id="rId16" Type="http://schemas.openxmlformats.org/officeDocument/2006/relationships/slideLayout" Target="../slideLayouts/slideLayout94.xml"/><Relationship Id="rId17"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Brand logo">
            <a:extLst>
              <a:ext uri="{FF2B5EF4-FFF2-40B4-BE49-F238E27FC236}">
                <a16:creationId xmlns:a16="http://schemas.microsoft.com/office/drawing/2014/main" id="{B905BEBE-FC81-0D47-9AF4-9E3655228635}"/>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457201" y="6155475"/>
            <a:ext cx="1830252" cy="354621"/>
          </a:xfrm>
          <a:prstGeom prst="rect">
            <a:avLst/>
          </a:prstGeom>
        </p:spPr>
      </p:pic>
      <p:sp>
        <p:nvSpPr>
          <p:cNvPr id="17" name="Header rule">
            <a:extLst>
              <a:ext uri="{FF2B5EF4-FFF2-40B4-BE49-F238E27FC236}">
                <a16:creationId xmlns:a16="http://schemas.microsoft.com/office/drawing/2014/main" id="{98E6E0B5-9270-574F-A10E-09DA8982DB02}"/>
              </a:ext>
            </a:extLst>
          </p:cNvPr>
          <p:cNvSpPr/>
          <p:nvPr/>
        </p:nvSpPr>
        <p:spPr>
          <a:xfrm>
            <a:off x="853440" y="1095523"/>
            <a:ext cx="10363200" cy="48768"/>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sp>
        <p:nvSpPr>
          <p:cNvPr id="22" name="Title Placeholder">
            <a:extLst>
              <a:ext uri="{FF2B5EF4-FFF2-40B4-BE49-F238E27FC236}">
                <a16:creationId xmlns:a16="http://schemas.microsoft.com/office/drawing/2014/main" id="{7143B24C-1C3A-8E4C-BD32-A8A3EF401E90}"/>
              </a:ext>
            </a:extLst>
          </p:cNvPr>
          <p:cNvSpPr>
            <a:spLocks noGrp="1"/>
          </p:cNvSpPr>
          <p:nvPr>
            <p:ph type="title"/>
          </p:nvPr>
        </p:nvSpPr>
        <p:spPr>
          <a:xfrm>
            <a:off x="853439" y="489869"/>
            <a:ext cx="10363200" cy="519972"/>
          </a:xfrm>
          <a:prstGeom prst="rect">
            <a:avLst/>
          </a:prstGeom>
        </p:spPr>
        <p:txBody>
          <a:bodyPr vert="horz" wrap="square" lIns="0" tIns="0" rIns="0" bIns="0" rtlCol="0" anchor="b" anchorCtr="0">
            <a:spAutoFit/>
          </a:bodyPr>
          <a:lstStyle/>
          <a:p>
            <a:r>
              <a:rPr lang="en-US" dirty="0"/>
              <a:t>Click to edit Master title</a:t>
            </a:r>
          </a:p>
        </p:txBody>
      </p:sp>
      <p:sp>
        <p:nvSpPr>
          <p:cNvPr id="27" name="Slide Number Placeholder">
            <a:extLst>
              <a:ext uri="{FF2B5EF4-FFF2-40B4-BE49-F238E27FC236}">
                <a16:creationId xmlns:a16="http://schemas.microsoft.com/office/drawing/2014/main" id="{BB99265C-2058-D148-A5A5-70540F68B968}"/>
              </a:ext>
            </a:extLst>
          </p:cNvPr>
          <p:cNvSpPr>
            <a:spLocks noGrp="1"/>
          </p:cNvSpPr>
          <p:nvPr>
            <p:ph type="sldNum" sz="quarter" idx="4"/>
          </p:nvPr>
        </p:nvSpPr>
        <p:spPr>
          <a:xfrm>
            <a:off x="11582400" y="6339840"/>
            <a:ext cx="609600" cy="422744"/>
          </a:xfrm>
          <a:prstGeom prst="rect">
            <a:avLst/>
          </a:prstGeom>
        </p:spPr>
        <p:txBody>
          <a:bodyPr vert="horz" wrap="square" lIns="0" tIns="0" rIns="0" bIns="256032" rtlCol="0" anchor="t" anchorCtr="0">
            <a:spAutoFit/>
          </a:bodyPr>
          <a:lstStyle>
            <a:lvl1pPr algn="l">
              <a:lnSpc>
                <a:spcPct val="100000"/>
              </a:lnSpc>
              <a:defRPr sz="1067" b="0" i="0">
                <a:solidFill>
                  <a:srgbClr val="898989"/>
                </a:solidFill>
                <a:latin typeface="Helvetica Regular" pitchFamily="2" charset="0"/>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4" name="Text Placeholder 3">
            <a:extLst>
              <a:ext uri="{FF2B5EF4-FFF2-40B4-BE49-F238E27FC236}">
                <a16:creationId xmlns:a16="http://schemas.microsoft.com/office/drawing/2014/main" id="{883B9C53-1485-764E-86F1-EF642FC86547}"/>
              </a:ext>
            </a:extLst>
          </p:cNvPr>
          <p:cNvSpPr>
            <a:spLocks noGrp="1"/>
          </p:cNvSpPr>
          <p:nvPr>
            <p:ph type="body" idx="1"/>
          </p:nvPr>
        </p:nvSpPr>
        <p:spPr>
          <a:xfrm>
            <a:off x="1463041" y="1584961"/>
            <a:ext cx="9753599" cy="1567695"/>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39991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Lst>
  <p:hf hdr="0" ftr="0" dt="0"/>
  <p:txStyles>
    <p:titleStyle>
      <a:lvl1pPr algn="l" defTabSz="914377" rtl="0" eaLnBrk="1" latinLnBrk="0" hangingPunct="1">
        <a:lnSpc>
          <a:spcPct val="90000"/>
        </a:lnSpc>
        <a:spcBef>
          <a:spcPct val="0"/>
        </a:spcBef>
        <a:buNone/>
        <a:defRPr sz="3733" b="1" i="0" kern="1200" baseline="0">
          <a:solidFill>
            <a:srgbClr val="58595B"/>
          </a:solidFill>
          <a:latin typeface="Helvetica"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67" b="0" kern="1200">
          <a:solidFill>
            <a:srgbClr val="58595B"/>
          </a:solidFill>
          <a:latin typeface="+mn-lt"/>
          <a:ea typeface="+mn-ea"/>
          <a:cs typeface="+mn-cs"/>
        </a:defRPr>
      </a:lvl1pPr>
      <a:lvl2pPr marL="597393" indent="-231642" algn="l" defTabSz="914377" rtl="0" eaLnBrk="1" latinLnBrk="0" hangingPunct="1">
        <a:lnSpc>
          <a:spcPct val="90000"/>
        </a:lnSpc>
        <a:spcBef>
          <a:spcPts val="500"/>
        </a:spcBef>
        <a:spcAft>
          <a:spcPts val="0"/>
        </a:spcAft>
        <a:buFont typeface="Arial" panose="020B0604020202020204" pitchFamily="34" charset="0"/>
        <a:buChar char="•"/>
        <a:defRPr sz="1867" b="0" i="0" kern="1200" baseline="0">
          <a:solidFill>
            <a:srgbClr val="58595B"/>
          </a:solidFill>
          <a:latin typeface="+mn-lt"/>
          <a:ea typeface="+mn-ea"/>
          <a:cs typeface="+mn-cs"/>
        </a:defRPr>
      </a:lvl2pPr>
      <a:lvl3pPr marL="963144" indent="-231642" algn="l" defTabSz="914377" rtl="0" eaLnBrk="1" latinLnBrk="0" hangingPunct="1">
        <a:lnSpc>
          <a:spcPct val="90000"/>
        </a:lnSpc>
        <a:spcBef>
          <a:spcPts val="500"/>
        </a:spcBef>
        <a:spcAft>
          <a:spcPts val="0"/>
        </a:spcAft>
        <a:buFont typeface="Arial" panose="020B0604020202020204" pitchFamily="34" charset="0"/>
        <a:buChar char="•"/>
        <a:defRPr sz="1867" b="0" kern="1200">
          <a:solidFill>
            <a:srgbClr val="58595B"/>
          </a:solidFill>
          <a:latin typeface="+mn-lt"/>
          <a:ea typeface="+mn-ea"/>
          <a:cs typeface="+mn-cs"/>
        </a:defRPr>
      </a:lvl3pPr>
      <a:lvl4pPr marL="1328895" indent="-231642" algn="l" defTabSz="914377" rtl="0" eaLnBrk="1" latinLnBrk="0" hangingPunct="1">
        <a:lnSpc>
          <a:spcPct val="90000"/>
        </a:lnSpc>
        <a:spcBef>
          <a:spcPts val="500"/>
        </a:spcBef>
        <a:spcAft>
          <a:spcPts val="0"/>
        </a:spcAft>
        <a:buFont typeface="Arial" panose="020B0604020202020204" pitchFamily="34" charset="0"/>
        <a:buChar char="•"/>
        <a:defRPr sz="1867" b="0" i="0" kern="1200">
          <a:solidFill>
            <a:srgbClr val="58595B"/>
          </a:solidFill>
          <a:latin typeface="+mn-lt"/>
          <a:ea typeface="+mn-ea"/>
          <a:cs typeface="+mn-cs"/>
        </a:defRPr>
      </a:lvl4pPr>
      <a:lvl5pPr marL="1694646" indent="-231642" algn="l" defTabSz="914377" rtl="0" eaLnBrk="1" latinLnBrk="0" hangingPunct="1">
        <a:lnSpc>
          <a:spcPct val="90000"/>
        </a:lnSpc>
        <a:spcBef>
          <a:spcPts val="500"/>
        </a:spcBef>
        <a:spcAft>
          <a:spcPts val="0"/>
        </a:spcAft>
        <a:buFont typeface="Arial" panose="020B0604020202020204" pitchFamily="34" charset="0"/>
        <a:buChar char="•"/>
        <a:defRPr sz="1867" b="0" kern="1200">
          <a:solidFill>
            <a:srgbClr val="58595B"/>
          </a:solidFill>
          <a:latin typeface="+mn-lt"/>
          <a:ea typeface="+mn-ea"/>
          <a:cs typeface="+mn-cs"/>
        </a:defRPr>
      </a:lvl5pPr>
      <a:lvl6pPr marL="838179" indent="-868658" algn="l" defTabSz="914377" rtl="0" eaLnBrk="1" latinLnBrk="0" hangingPunct="1">
        <a:lnSpc>
          <a:spcPct val="90000"/>
        </a:lnSpc>
        <a:spcBef>
          <a:spcPts val="0"/>
        </a:spcBef>
        <a:spcAft>
          <a:spcPts val="800"/>
        </a:spcAft>
        <a:buFont typeface="Arial" panose="020B0604020202020204" pitchFamily="34" charset="0"/>
        <a:buNone/>
        <a:defRPr sz="133" kern="1200">
          <a:solidFill>
            <a:schemeClr val="tx1"/>
          </a:solidFill>
          <a:latin typeface="+mn-lt"/>
          <a:ea typeface="+mn-ea"/>
          <a:cs typeface="+mn-cs"/>
        </a:defRPr>
      </a:lvl6pPr>
      <a:lvl7pPr marL="743693" indent="-259074" algn="l" defTabSz="914377" rtl="0" eaLnBrk="1" latinLnBrk="0" hangingPunct="1">
        <a:lnSpc>
          <a:spcPct val="90000"/>
        </a:lnSpc>
        <a:spcBef>
          <a:spcPts val="0"/>
        </a:spcBef>
        <a:spcAft>
          <a:spcPts val="800"/>
        </a:spcAft>
        <a:buFont typeface="Arial" panose="020B0604020202020204" pitchFamily="34" charset="0"/>
        <a:buChar char="•"/>
        <a:defRPr sz="7200" kern="1200">
          <a:solidFill>
            <a:schemeClr val="tx1"/>
          </a:solidFill>
          <a:latin typeface="+mn-lt"/>
          <a:ea typeface="+mn-ea"/>
          <a:cs typeface="+mn-cs"/>
        </a:defRPr>
      </a:lvl7pPr>
      <a:lvl8pPr marL="365751" indent="-228594" algn="l" defTabSz="914377" rtl="0" eaLnBrk="1" latinLnBrk="0" hangingPunct="1">
        <a:lnSpc>
          <a:spcPct val="90000"/>
        </a:lnSpc>
        <a:spcBef>
          <a:spcPts val="0"/>
        </a:spcBef>
        <a:spcAft>
          <a:spcPts val="800"/>
        </a:spcAft>
        <a:buFont typeface="Arial" panose="020B0604020202020204" pitchFamily="34" charset="0"/>
        <a:buChar char="•"/>
        <a:defRPr sz="133"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5533"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1"/>
            <a:ext cx="12192000" cy="68486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914400" y="475565"/>
          <a:ext cx="10363200" cy="610852"/>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610852">
                <a:tc>
                  <a:txBody>
                    <a:bodyPr/>
                    <a:lstStyle/>
                    <a:p>
                      <a:pPr>
                        <a:lnSpc>
                          <a:spcPct val="100000"/>
                        </a:lnSpc>
                      </a:pPr>
                      <a:r>
                        <a:rPr lang="en-US" sz="3700" b="0" i="0" dirty="0">
                          <a:ln>
                            <a:noFill/>
                          </a:ln>
                          <a:solidFill>
                            <a:srgbClr val="58595B"/>
                          </a:solidFill>
                          <a:latin typeface="Helvetica Regular" pitchFamily="2" charset="0"/>
                          <a:cs typeface="Arial" panose="020B0604020202020204" pitchFamily="34" charset="0"/>
                        </a:rPr>
                        <a:t>Preferred Header Size</a:t>
                      </a:r>
                      <a:endParaRPr lang="en-US" sz="3700" b="0" i="0" dirty="0">
                        <a:ln>
                          <a:noFill/>
                        </a:ln>
                        <a:latin typeface="Helvetica Regular" pitchFamily="2" charset="0"/>
                      </a:endParaRPr>
                    </a:p>
                  </a:txBody>
                  <a:tcPr marL="0" marR="0" marT="0" marB="24384">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6152549"/>
            <a:ext cx="1834037" cy="374583"/>
          </a:xfrm>
          <a:prstGeom prst="rect">
            <a:avLst/>
          </a:prstGeom>
        </p:spPr>
      </p:pic>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11582400" y="6339840"/>
            <a:ext cx="609600" cy="508922"/>
          </a:xfrm>
          <a:prstGeom prst="rect">
            <a:avLst/>
          </a:prstGeom>
        </p:spPr>
        <p:txBody>
          <a:bodyPr vert="horz" wrap="square" lIns="0" tIns="0" rIns="0" bIns="341376"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z="1067" smtClean="0">
                <a:solidFill>
                  <a:schemeClr val="bg1"/>
                </a:solidFill>
              </a:rPr>
              <a:pPr/>
              <a:t>‹#›</a:t>
            </a:fld>
            <a:endParaRPr lang="en-US" sz="1067" dirty="0">
              <a:solidFill>
                <a:schemeClr val="bg1"/>
              </a:solidFill>
            </a:endParaRPr>
          </a:p>
        </p:txBody>
      </p:sp>
    </p:spTree>
    <p:extLst>
      <p:ext uri="{BB962C8B-B14F-4D97-AF65-F5344CB8AC3E}">
        <p14:creationId xmlns:p14="http://schemas.microsoft.com/office/powerpoint/2010/main" val="2731349684"/>
      </p:ext>
    </p:extLst>
  </p:cSld>
  <p:clrMap bg1="lt1" tx1="dk1" bg2="lt2" tx2="dk2" accent1="accent1" accent2="accent2" accent3="accent3" accent4="accent4" accent5="accent5" accent6="accent6" hlink="hlink" folHlink="folHlink"/>
  <p:sldLayoutIdLst>
    <p:sldLayoutId id="2147483693" r:id="rId1"/>
    <p:sldLayoutId id="2147483772" r:id="rId2"/>
  </p:sldLayoutIdLst>
  <p:hf hdr="0" ftr="0"/>
  <p:txStyles>
    <p:titleStyle>
      <a:lvl1pPr algn="l" defTabSz="914377" rtl="0" eaLnBrk="1" latinLnBrk="0" hangingPunct="1">
        <a:lnSpc>
          <a:spcPct val="90000"/>
        </a:lnSpc>
        <a:spcBef>
          <a:spcPct val="0"/>
        </a:spcBef>
        <a:buNone/>
        <a:defRPr sz="3733" b="1" i="0" kern="1200">
          <a:solidFill>
            <a:srgbClr val="58595B"/>
          </a:solidFill>
          <a:latin typeface="Helvetica"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67" kern="1200">
          <a:solidFill>
            <a:srgbClr val="58595B"/>
          </a:solidFill>
          <a:latin typeface="Helvetica" pitchFamily="2" charset="0"/>
          <a:ea typeface="+mn-ea"/>
          <a:cs typeface="+mn-cs"/>
        </a:defRPr>
      </a:lvl1pPr>
      <a:lvl2pPr marL="457189" indent="0" algn="l" defTabSz="914377" rtl="0" eaLnBrk="1" latinLnBrk="0" hangingPunct="1">
        <a:lnSpc>
          <a:spcPct val="100000"/>
        </a:lnSpc>
        <a:spcBef>
          <a:spcPts val="500"/>
        </a:spcBef>
        <a:buFontTx/>
        <a:buNone/>
        <a:defRPr sz="1867" kern="1200">
          <a:solidFill>
            <a:srgbClr val="58595B"/>
          </a:solidFill>
          <a:latin typeface="Helvetica"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67" b="1" i="0" kern="1200">
          <a:solidFill>
            <a:srgbClr val="58595B"/>
          </a:solidFill>
          <a:latin typeface="Helvetica"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76624644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1"/>
            <a:ext cx="12192000" cy="68486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914400" y="475565"/>
          <a:ext cx="10363200" cy="610852"/>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610852">
                <a:tc>
                  <a:txBody>
                    <a:bodyPr/>
                    <a:lstStyle/>
                    <a:p>
                      <a:pPr>
                        <a:lnSpc>
                          <a:spcPct val="100000"/>
                        </a:lnSpc>
                      </a:pPr>
                      <a:r>
                        <a:rPr lang="en-US" sz="3700" b="0" i="0" dirty="0">
                          <a:ln>
                            <a:noFill/>
                          </a:ln>
                          <a:solidFill>
                            <a:srgbClr val="58595B"/>
                          </a:solidFill>
                          <a:latin typeface="Helvetica Regular" pitchFamily="2" charset="0"/>
                          <a:cs typeface="Arial" panose="020B0604020202020204" pitchFamily="34" charset="0"/>
                        </a:rPr>
                        <a:t>Preferred Header Size</a:t>
                      </a:r>
                      <a:endParaRPr lang="en-US" sz="3700" b="0" i="0" dirty="0">
                        <a:ln>
                          <a:noFill/>
                        </a:ln>
                        <a:latin typeface="Helvetica Regular" pitchFamily="2" charset="0"/>
                      </a:endParaRPr>
                    </a:p>
                  </a:txBody>
                  <a:tcPr marL="0" marR="0" marT="0" marB="24384">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6152549"/>
            <a:ext cx="1834037" cy="374583"/>
          </a:xfrm>
          <a:prstGeom prst="rect">
            <a:avLst/>
          </a:prstGeom>
        </p:spPr>
      </p:pic>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11582400" y="6339840"/>
            <a:ext cx="609600" cy="508922"/>
          </a:xfrm>
          <a:prstGeom prst="rect">
            <a:avLst/>
          </a:prstGeom>
        </p:spPr>
        <p:txBody>
          <a:bodyPr vert="horz" wrap="square" lIns="0" tIns="0" rIns="0" bIns="341376"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z="1067" smtClean="0">
                <a:solidFill>
                  <a:schemeClr val="bg1"/>
                </a:solidFill>
              </a:rPr>
              <a:pPr/>
              <a:t>‹#›</a:t>
            </a:fld>
            <a:endParaRPr lang="en-US" sz="1067" dirty="0">
              <a:solidFill>
                <a:schemeClr val="bg1"/>
              </a:solidFill>
            </a:endParaRPr>
          </a:p>
        </p:txBody>
      </p:sp>
    </p:spTree>
    <p:extLst>
      <p:ext uri="{BB962C8B-B14F-4D97-AF65-F5344CB8AC3E}">
        <p14:creationId xmlns:p14="http://schemas.microsoft.com/office/powerpoint/2010/main" val="1084022337"/>
      </p:ext>
    </p:extLst>
  </p:cSld>
  <p:clrMap bg1="lt1" tx1="dk1" bg2="lt2" tx2="dk2" accent1="accent1" accent2="accent2" accent3="accent3" accent4="accent4" accent5="accent5" accent6="accent6" hlink="hlink" folHlink="folHlink"/>
  <p:sldLayoutIdLst>
    <p:sldLayoutId id="2147483714" r:id="rId1"/>
    <p:sldLayoutId id="2147483773" r:id="rId2"/>
  </p:sldLayoutIdLst>
  <p:hf hdr="0" ftr="0"/>
  <p:txStyles>
    <p:titleStyle>
      <a:lvl1pPr algn="l" defTabSz="914377" rtl="0" eaLnBrk="1" latinLnBrk="0" hangingPunct="1">
        <a:lnSpc>
          <a:spcPct val="90000"/>
        </a:lnSpc>
        <a:spcBef>
          <a:spcPct val="0"/>
        </a:spcBef>
        <a:buNone/>
        <a:defRPr sz="3733" b="1" i="0" kern="1200">
          <a:solidFill>
            <a:srgbClr val="58595B"/>
          </a:solidFill>
          <a:latin typeface="Helvetica"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67" kern="1200">
          <a:solidFill>
            <a:srgbClr val="58595B"/>
          </a:solidFill>
          <a:latin typeface="Helvetica" pitchFamily="2" charset="0"/>
          <a:ea typeface="+mn-ea"/>
          <a:cs typeface="+mn-cs"/>
        </a:defRPr>
      </a:lvl1pPr>
      <a:lvl2pPr marL="457189" indent="0" algn="l" defTabSz="914377" rtl="0" eaLnBrk="1" latinLnBrk="0" hangingPunct="1">
        <a:lnSpc>
          <a:spcPct val="100000"/>
        </a:lnSpc>
        <a:spcBef>
          <a:spcPts val="500"/>
        </a:spcBef>
        <a:buFontTx/>
        <a:buNone/>
        <a:defRPr sz="1867" kern="1200">
          <a:solidFill>
            <a:srgbClr val="58595B"/>
          </a:solidFill>
          <a:latin typeface="Helvetica"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67" b="1" i="0" kern="1200">
          <a:solidFill>
            <a:srgbClr val="58595B"/>
          </a:solidFill>
          <a:latin typeface="Helvetica"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016439887"/>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1"/>
            <a:ext cx="12192000" cy="68486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914400" y="475565"/>
          <a:ext cx="10363200" cy="610852"/>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610852">
                <a:tc>
                  <a:txBody>
                    <a:bodyPr/>
                    <a:lstStyle/>
                    <a:p>
                      <a:pPr>
                        <a:lnSpc>
                          <a:spcPct val="100000"/>
                        </a:lnSpc>
                      </a:pPr>
                      <a:r>
                        <a:rPr lang="en-US" sz="3700" b="0" i="0" dirty="0">
                          <a:ln>
                            <a:noFill/>
                          </a:ln>
                          <a:solidFill>
                            <a:srgbClr val="58595B"/>
                          </a:solidFill>
                          <a:latin typeface="Helvetica Regular" pitchFamily="2" charset="0"/>
                          <a:cs typeface="Arial" panose="020B0604020202020204" pitchFamily="34" charset="0"/>
                        </a:rPr>
                        <a:t>Preferred Header Size</a:t>
                      </a:r>
                      <a:endParaRPr lang="en-US" sz="3700" b="0" i="0" dirty="0">
                        <a:ln>
                          <a:noFill/>
                        </a:ln>
                        <a:latin typeface="Helvetica Regular" pitchFamily="2" charset="0"/>
                      </a:endParaRPr>
                    </a:p>
                  </a:txBody>
                  <a:tcPr marL="0" marR="0" marT="0" marB="24384">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6152549"/>
            <a:ext cx="1834037" cy="374583"/>
          </a:xfrm>
          <a:prstGeom prst="rect">
            <a:avLst/>
          </a:prstGeom>
        </p:spPr>
      </p:pic>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11582400" y="6339840"/>
            <a:ext cx="609600" cy="508922"/>
          </a:xfrm>
          <a:prstGeom prst="rect">
            <a:avLst/>
          </a:prstGeom>
        </p:spPr>
        <p:txBody>
          <a:bodyPr vert="horz" wrap="square" lIns="0" tIns="0" rIns="0" bIns="341376"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z="1067" smtClean="0">
                <a:solidFill>
                  <a:schemeClr val="bg1"/>
                </a:solidFill>
              </a:rPr>
              <a:pPr/>
              <a:t>‹#›</a:t>
            </a:fld>
            <a:endParaRPr lang="en-US" sz="1067" dirty="0">
              <a:solidFill>
                <a:schemeClr val="bg1"/>
              </a:solidFill>
            </a:endParaRPr>
          </a:p>
        </p:txBody>
      </p:sp>
    </p:spTree>
    <p:extLst>
      <p:ext uri="{BB962C8B-B14F-4D97-AF65-F5344CB8AC3E}">
        <p14:creationId xmlns:p14="http://schemas.microsoft.com/office/powerpoint/2010/main" val="3314835941"/>
      </p:ext>
    </p:extLst>
  </p:cSld>
  <p:clrMap bg1="lt1" tx1="dk1" bg2="lt2" tx2="dk2" accent1="accent1" accent2="accent2" accent3="accent3" accent4="accent4" accent5="accent5" accent6="accent6" hlink="hlink" folHlink="folHlink"/>
  <p:sldLayoutIdLst>
    <p:sldLayoutId id="2147483735" r:id="rId1"/>
  </p:sldLayoutIdLst>
  <p:hf hdr="0" ftr="0"/>
  <p:txStyles>
    <p:titleStyle>
      <a:lvl1pPr algn="l" defTabSz="914377" rtl="0" eaLnBrk="1" latinLnBrk="0" hangingPunct="1">
        <a:lnSpc>
          <a:spcPct val="90000"/>
        </a:lnSpc>
        <a:spcBef>
          <a:spcPct val="0"/>
        </a:spcBef>
        <a:buNone/>
        <a:defRPr sz="3733" b="1" i="0" kern="1200">
          <a:solidFill>
            <a:srgbClr val="58595B"/>
          </a:solidFill>
          <a:latin typeface="Helvetica"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67" kern="1200">
          <a:solidFill>
            <a:srgbClr val="58595B"/>
          </a:solidFill>
          <a:latin typeface="Helvetica" pitchFamily="2" charset="0"/>
          <a:ea typeface="+mn-ea"/>
          <a:cs typeface="+mn-cs"/>
        </a:defRPr>
      </a:lvl1pPr>
      <a:lvl2pPr marL="457189" indent="0" algn="l" defTabSz="914377" rtl="0" eaLnBrk="1" latinLnBrk="0" hangingPunct="1">
        <a:lnSpc>
          <a:spcPct val="100000"/>
        </a:lnSpc>
        <a:spcBef>
          <a:spcPts val="500"/>
        </a:spcBef>
        <a:buFontTx/>
        <a:buNone/>
        <a:defRPr sz="1867" kern="1200">
          <a:solidFill>
            <a:srgbClr val="58595B"/>
          </a:solidFill>
          <a:latin typeface="Helvetica"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67" b="1" i="0" kern="1200">
          <a:solidFill>
            <a:srgbClr val="58595B"/>
          </a:solidFill>
          <a:latin typeface="Helvetica"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408473596"/>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65086374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image" Target="../media/image6.png"/><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48056" y="2468880"/>
            <a:ext cx="10332720" cy="1554480"/>
          </a:xfrm>
        </p:spPr>
        <p:txBody>
          <a:bodyPr/>
          <a:lstStyle/>
          <a:p>
            <a:r>
              <a:rPr sz="5400"/>
              <a:t>Vortex 3.0 Software Stack</a:t>
            </a:r>
          </a:p>
        </p:txBody>
      </p:sp>
      <p:sp>
        <p:nvSpPr>
          <p:cNvPr id="3" name="Subtitle 2"/>
          <p:cNvSpPr>
            <a:spLocks noGrp="1"/>
          </p:cNvSpPr>
          <p:nvPr>
            <p:ph type="subTitle" idx="1"/>
          </p:nvPr>
        </p:nvSpPr>
        <p:spPr>
          <a:xfrm>
            <a:off x="1508760" y="4114800"/>
            <a:ext cx="7772400" cy="1280160"/>
          </a:xfrm>
        </p:spPr>
        <p:txBody>
          <a:bodyPr/>
          <a:lstStyle/>
          <a:p>
            <a:r>
              <a:rPr sz="3200" b="1"/>
              <a:t>Blaise Tine</a:t>
            </a:r>
          </a:p>
          <a:p>
            <a:r>
              <a:rPr sz="1800"/>
              <a:t>MICRO-59 Tutorial · November 2026</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pic>
        <p:nvPicPr>
          <p:cNvPr id="5" name="Picture 4" descr="old_s1_Picture_3.png"/>
          <p:cNvPicPr>
            <a:picLocks noChangeAspect="1"/>
          </p:cNvPicPr>
          <p:nvPr/>
        </p:nvPicPr>
        <p:blipFill>
          <a:blip r:embed="rId3"/>
          <a:stretch>
            <a:fillRect/>
          </a:stretch>
        </p:blipFill>
        <p:spPr>
          <a:xfrm>
            <a:off x="448056" y="6153912"/>
            <a:ext cx="1892807" cy="365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Agenda</a:t>
            </a:r>
          </a:p>
        </p:txBody>
      </p:sp>
      <p:sp>
        <p:nvSpPr>
          <p:cNvPr id="3" name="Text Placeholder 2"/>
          <p:cNvSpPr>
            <a:spLocks noGrp="1"/>
          </p:cNvSpPr>
          <p:nvPr>
            <p:ph type="body" idx="1"/>
          </p:nvPr>
        </p:nvSpPr>
        <p:spPr>
          <a:xfrm>
            <a:off x="822960" y="1371600"/>
            <a:ext cx="10515600" cy="4754880"/>
          </a:xfrm>
        </p:spPr>
        <p:txBody>
          <a:bodyPr wrap="square"/>
          <a:lstStyle/>
          <a:p>
            <a:pPr lvl="1" marL="342900" indent="-228600">
              <a:spcBef>
                <a:spcPts val="800"/>
              </a:spcBef>
              <a:buFont typeface="Arial"/>
              <a:buChar char="•"/>
            </a:pPr>
            <a:r>
              <a:rPr sz="2200" b="0" i="0">
                <a:solidFill>
                  <a:srgbClr val="000000"/>
                </a:solidFill>
              </a:rPr>
              <a:t>The stack: front ends, compiler, runtime, backends</a:t>
            </a:r>
          </a:p>
          <a:p>
            <a:pPr lvl="1" marL="342900" indent="-228600">
              <a:spcBef>
                <a:spcPts val="800"/>
              </a:spcBef>
              <a:buFont typeface="Arial"/>
              <a:buChar char="•"/>
            </a:pPr>
            <a:r>
              <a:rPr sz="2200" b="0" i="0">
                <a:solidFill>
                  <a:srgbClr val="000000"/>
                </a:solidFill>
              </a:rPr>
              <a:t>ISA surface and kernel-side intrinsics</a:t>
            </a:r>
          </a:p>
          <a:p>
            <a:pPr lvl="1" marL="342900" indent="-228600">
              <a:spcBef>
                <a:spcPts val="800"/>
              </a:spcBef>
              <a:buFont typeface="Arial"/>
              <a:buChar char="•"/>
            </a:pPr>
            <a:r>
              <a:rPr sz="2200" b="0" i="0">
                <a:solidFill>
                  <a:srgbClr val="000000"/>
                </a:solidFill>
              </a:rPr>
              <a:t>Runtime: host–device flow, vortex2.h, barriers, tensor API</a:t>
            </a:r>
          </a:p>
          <a:p>
            <a:pPr lvl="1" marL="342900" indent="-228600">
              <a:spcBef>
                <a:spcPts val="800"/>
              </a:spcBef>
              <a:buFont typeface="Arial"/>
              <a:buChar char="•"/>
            </a:pPr>
            <a:r>
              <a:rPr sz="2200" b="0" i="0">
                <a:solidFill>
                  <a:srgbClr val="000000"/>
                </a:solidFill>
              </a:rPr>
              <a:t>OpenCL (PoCL 7), HIP (chipStar), Vulkan (vortexpipe)</a:t>
            </a:r>
          </a:p>
          <a:p>
            <a:pPr lvl="1" marL="342900" indent="-228600">
              <a:spcBef>
                <a:spcPts val="800"/>
              </a:spcBef>
              <a:buFont typeface="Arial"/>
              <a:buChar char="•"/>
            </a:pPr>
            <a:r>
              <a:rPr sz="2200" b="0" i="0">
                <a:solidFill>
                  <a:srgbClr val="000000"/>
                </a:solidFill>
              </a:rPr>
              <a:t>Build configuration and simulation vehicles</a:t>
            </a:r>
          </a:p>
          <a:p>
            <a:pPr lvl="1" marL="342900" indent="-228600">
              <a:spcBef>
                <a:spcPts val="800"/>
              </a:spcBef>
              <a:buFont typeface="Arial"/>
              <a:buChar char="•"/>
            </a:pPr>
            <a:r>
              <a:rPr sz="2200" b="0" i="0">
                <a:solidFill>
                  <a:srgbClr val="000000"/>
                </a:solidFill>
              </a:rPr>
              <a:t>CI: parity, perf, FPGA and ASIC gates; Perfetto</a:t>
            </a:r>
          </a:p>
          <a:p>
            <a:pPr lvl="1" marL="342900" indent="-228600">
              <a:spcBef>
                <a:spcPts val="800"/>
              </a:spcBef>
              <a:buFont typeface="Arial"/>
              <a:buChar char="•"/>
            </a:pPr>
            <a:r>
              <a:rPr sz="2200" b="0" i="0">
                <a:solidFill>
                  <a:srgbClr val="000000"/>
                </a:solidFill>
              </a:rPr>
              <a:t>Writing and debugging a native program</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The Software Stack in One Picture</a:t>
            </a:r>
          </a:p>
        </p:txBody>
      </p:sp>
      <p:sp>
        <p:nvSpPr>
          <p:cNvPr id="3" name="Text Placeholder 2"/>
          <p:cNvSpPr>
            <a:spLocks noGrp="1"/>
          </p:cNvSpPr>
          <p:nvPr>
            <p:ph type="body" idx="1"/>
          </p:nvPr>
        </p:nvSpPr>
        <p:spPr>
          <a:xfrm>
            <a:off x="731520" y="4480560"/>
            <a:ext cx="5303520" cy="1737360"/>
          </a:xfrm>
        </p:spPr>
        <p:txBody>
          <a:bodyPr wrap="square"/>
          <a:lstStyle/>
          <a:p>
            <a:pPr marL="0" indent="0">
              <a:spcBef>
                <a:spcPts val="400"/>
              </a:spcBef>
              <a:buNone/>
            </a:pPr>
            <a:r>
              <a:rPr sz="1200" b="1" i="0">
                <a:solidFill>
                  <a:srgbClr val="1F394D"/>
                </a:solidFill>
              </a:rPr>
              <a:t>Versions</a:t>
            </a:r>
          </a:p>
          <a:p>
            <a:pPr lvl="1" marL="342900" indent="-228600">
              <a:spcBef>
                <a:spcPts val="0"/>
              </a:spcBef>
              <a:buFont typeface="Arial"/>
              <a:buChar char="•"/>
            </a:pPr>
            <a:r>
              <a:rPr sz="1100" b="0" i="0">
                <a:solidFill>
                  <a:srgbClr val="000000"/>
                </a:solidFill>
              </a:rPr>
              <a:t>LLVM 20 · POCL 7.0 · chipStar (vortex_3.x) · Mesa (lavapipe + vortexpipe) · CuPBoP (CUDA 12.1)</a:t>
            </a:r>
          </a:p>
          <a:p>
            <a:pPr marL="0" indent="0">
              <a:spcBef>
                <a:spcPts val="400"/>
              </a:spcBef>
              <a:buNone/>
            </a:pPr>
            <a:r>
              <a:rPr sz="1200" b="1" i="0">
                <a:solidFill>
                  <a:srgbClr val="1F394D"/>
                </a:solidFill>
              </a:rPr>
              <a:t>Install shape</a:t>
            </a:r>
          </a:p>
          <a:p>
            <a:pPr lvl="1" marL="342900" indent="-228600">
              <a:spcBef>
                <a:spcPts val="0"/>
              </a:spcBef>
              <a:buFont typeface="Arial"/>
              <a:buChar char="•"/>
            </a:pPr>
            <a:r>
              <a:rPr sz="1100" b="0" i="0">
                <a:solidFill>
                  <a:srgbClr val="000000"/>
                </a:solidFill>
                <a:latin typeface="Consolas"/>
              </a:rPr>
              <a:t>make install</a:t>
            </a:r>
            <a:r>
              <a:rPr sz="1100" b="0" i="0">
                <a:solidFill>
                  <a:srgbClr val="000000"/>
                </a:solidFill>
              </a:rPr>
              <a:t> → </a:t>
            </a:r>
            <a:r>
              <a:rPr sz="1100" b="0" i="0">
                <a:solidFill>
                  <a:srgbClr val="000000"/>
                </a:solidFill>
                <a:latin typeface="Consolas"/>
              </a:rPr>
              <a:t>$VORTEX_PATH/{kernel,runtime}/{include,lib&lt;XLEN&gt;}</a:t>
            </a:r>
            <a:r>
              <a:rPr sz="1100" b="0" i="0">
                <a:solidFill>
                  <a:srgbClr val="000000"/>
                </a:solidFill>
              </a:rPr>
              <a:t> + </a:t>
            </a:r>
            <a:r>
              <a:rPr sz="1100" b="0" i="0">
                <a:solidFill>
                  <a:srgbClr val="000000"/>
                </a:solidFill>
                <a:latin typeface="Consolas"/>
              </a:rPr>
              <a:t>vortex-{runtime,kernel}.pc</a:t>
            </a:r>
            <a:r>
              <a:rPr sz="1100" b="0" i="0">
                <a:solidFill>
                  <a:srgbClr val="000000"/>
                </a:solidFill>
              </a:rPr>
              <a:t>; downstream links only the install tree</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ounded Rectangle 4"/>
          <p:cNvSpPr/>
          <p:nvPr/>
        </p:nvSpPr>
        <p:spPr>
          <a:xfrm>
            <a:off x="731520" y="1325880"/>
            <a:ext cx="2029967" cy="548640"/>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OpenCL C / SPIR-V</a:t>
            </a:r>
          </a:p>
        </p:txBody>
      </p:sp>
      <p:sp>
        <p:nvSpPr>
          <p:cNvPr id="6" name="Rounded Rectangle 5"/>
          <p:cNvSpPr/>
          <p:nvPr/>
        </p:nvSpPr>
        <p:spPr>
          <a:xfrm>
            <a:off x="2944368" y="1325880"/>
            <a:ext cx="2029967" cy="548640"/>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HIP (hipcc)</a:t>
            </a:r>
          </a:p>
        </p:txBody>
      </p:sp>
      <p:sp>
        <p:nvSpPr>
          <p:cNvPr id="7" name="Rounded Rectangle 6"/>
          <p:cNvSpPr/>
          <p:nvPr/>
        </p:nvSpPr>
        <p:spPr>
          <a:xfrm>
            <a:off x="5157216" y="1325880"/>
            <a:ext cx="2029967" cy="548640"/>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CUDA (nvcc-like)</a:t>
            </a:r>
          </a:p>
        </p:txBody>
      </p:sp>
      <p:sp>
        <p:nvSpPr>
          <p:cNvPr id="8" name="Rounded Rectangle 7"/>
          <p:cNvSpPr/>
          <p:nvPr/>
        </p:nvSpPr>
        <p:spPr>
          <a:xfrm>
            <a:off x="7370064" y="1325880"/>
            <a:ext cx="2029967" cy="548640"/>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Vulkan (GLSL / SPIR-V)</a:t>
            </a:r>
          </a:p>
        </p:txBody>
      </p:sp>
      <p:sp>
        <p:nvSpPr>
          <p:cNvPr id="9" name="Rounded Rectangle 8"/>
          <p:cNvSpPr/>
          <p:nvPr/>
        </p:nvSpPr>
        <p:spPr>
          <a:xfrm>
            <a:off x="9582912" y="1325880"/>
            <a:ext cx="2029967" cy="548640"/>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Native C/C++ (vx_*)</a:t>
            </a:r>
          </a:p>
        </p:txBody>
      </p:sp>
      <p:sp>
        <p:nvSpPr>
          <p:cNvPr id="10" name="Rounded Rectangle 9"/>
          <p:cNvSpPr/>
          <p:nvPr/>
        </p:nvSpPr>
        <p:spPr>
          <a:xfrm>
            <a:off x="731520" y="2057400"/>
            <a:ext cx="2029967" cy="54864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PoCL 7.0 — Vortex device driver</a:t>
            </a:r>
          </a:p>
        </p:txBody>
      </p:sp>
      <p:sp>
        <p:nvSpPr>
          <p:cNvPr id="11" name="Rounded Rectangle 10"/>
          <p:cNvSpPr/>
          <p:nvPr/>
        </p:nvSpPr>
        <p:spPr>
          <a:xfrm>
            <a:off x="2944368" y="2057400"/>
            <a:ext cx="2029967" cy="54864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chipStar → SPIR-V</a:t>
            </a:r>
          </a:p>
        </p:txBody>
      </p:sp>
      <p:sp>
        <p:nvSpPr>
          <p:cNvPr id="12" name="Rounded Rectangle 11"/>
          <p:cNvSpPr/>
          <p:nvPr/>
        </p:nvSpPr>
        <p:spPr>
          <a:xfrm>
            <a:off x="5157216" y="2057400"/>
            <a:ext cx="2029967" cy="54864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CuPBoP-Vortex</a:t>
            </a:r>
          </a:p>
        </p:txBody>
      </p:sp>
      <p:sp>
        <p:nvSpPr>
          <p:cNvPr id="13" name="Rounded Rectangle 12"/>
          <p:cNvSpPr/>
          <p:nvPr/>
        </p:nvSpPr>
        <p:spPr>
          <a:xfrm>
            <a:off x="7370064" y="2057400"/>
            <a:ext cx="2029967" cy="54864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lavapipe → vortexpipe (NIR → LLVM IR)</a:t>
            </a:r>
          </a:p>
        </p:txBody>
      </p:sp>
      <p:sp>
        <p:nvSpPr>
          <p:cNvPr id="14" name="Rounded Rectangle 13"/>
          <p:cNvSpPr/>
          <p:nvPr/>
        </p:nvSpPr>
        <p:spPr>
          <a:xfrm>
            <a:off x="9582912" y="2057400"/>
            <a:ext cx="2029967" cy="54864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clang direct</a:t>
            </a:r>
          </a:p>
        </p:txBody>
      </p:sp>
      <p:cxnSp>
        <p:nvCxnSpPr>
          <p:cNvPr id="15" name="Connector 14"/>
          <p:cNvCxnSpPr/>
          <p:nvPr/>
        </p:nvCxnSpPr>
        <p:spPr>
          <a:xfrm>
            <a:off x="1819656" y="1874519"/>
            <a:ext cx="0" cy="18288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995927" y="1874519"/>
            <a:ext cx="0" cy="18288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72200" y="1874519"/>
            <a:ext cx="0" cy="18288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348471" y="1874519"/>
            <a:ext cx="0" cy="18288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24744" y="1874519"/>
            <a:ext cx="0" cy="18288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2093976" y="2606040"/>
            <a:ext cx="1901952"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31520" y="2880360"/>
            <a:ext cx="10881360" cy="59436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VOLT compiler — LLVM 20 + Vortex SIMT backend (+xvortex, +zicond) → riscv{32,64} ELF → vxbin.py → .vxbin   (details: next talk)</a:t>
            </a:r>
          </a:p>
        </p:txBody>
      </p:sp>
      <p:cxnSp>
        <p:nvCxnSpPr>
          <p:cNvPr id="22" name="Connector 21"/>
          <p:cNvCxnSpPr/>
          <p:nvPr/>
        </p:nvCxnSpPr>
        <p:spPr>
          <a:xfrm>
            <a:off x="6172200" y="3474720"/>
            <a:ext cx="0" cy="274319"/>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31520" y="3749039"/>
            <a:ext cx="5303520" cy="59436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Device: sw/kernel — vx_intrinsics.h, vx_spawn2.h, vx_tensor.h, vx_dxa.h, vx_barrier.h, vx_graphics.h, vx_print.h → libvortex2.a</a:t>
            </a:r>
          </a:p>
        </p:txBody>
      </p:sp>
      <p:sp>
        <p:nvSpPr>
          <p:cNvPr id="24" name="Rectangle 23"/>
          <p:cNvSpPr/>
          <p:nvPr/>
        </p:nvSpPr>
        <p:spPr>
          <a:xfrm>
            <a:off x="6309360" y="3749039"/>
            <a:ext cx="5303520" cy="59436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Host: sw/runtime — vortex2.h (queues, events, modules, kernels, UVA args) + dxa.h / graphics.h / tensor.h → libvortex.so</a:t>
            </a:r>
          </a:p>
        </p:txBody>
      </p:sp>
      <p:cxnSp>
        <p:nvCxnSpPr>
          <p:cNvPr id="25" name="Connector 24"/>
          <p:cNvCxnSpPr/>
          <p:nvPr/>
        </p:nvCxnSpPr>
        <p:spPr>
          <a:xfrm>
            <a:off x="8961120" y="4343400"/>
            <a:ext cx="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309360" y="4617720"/>
            <a:ext cx="710619" cy="502920"/>
          </a:xfrm>
          <a:prstGeom prst="roundRect">
            <a:avLst>
              <a:gd name="adj" fmla="val 12000"/>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libvortex-simx</a:t>
            </a:r>
          </a:p>
        </p:txBody>
      </p:sp>
      <p:sp>
        <p:nvSpPr>
          <p:cNvPr id="27" name="Rounded Rectangle 26"/>
          <p:cNvSpPr/>
          <p:nvPr/>
        </p:nvSpPr>
        <p:spPr>
          <a:xfrm>
            <a:off x="7074843" y="4617720"/>
            <a:ext cx="710619" cy="502920"/>
          </a:xfrm>
          <a:prstGeom prst="roundRect">
            <a:avLst>
              <a:gd name="adj" fmla="val 12000"/>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-rtlsim</a:t>
            </a:r>
          </a:p>
        </p:txBody>
      </p:sp>
      <p:sp>
        <p:nvSpPr>
          <p:cNvPr id="28" name="Rounded Rectangle 27"/>
          <p:cNvSpPr/>
          <p:nvPr/>
        </p:nvSpPr>
        <p:spPr>
          <a:xfrm>
            <a:off x="7840326" y="4617720"/>
            <a:ext cx="710619" cy="502920"/>
          </a:xfrm>
          <a:prstGeom prst="roundRect">
            <a:avLst>
              <a:gd name="adj" fmla="val 12000"/>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-xrt</a:t>
            </a:r>
          </a:p>
        </p:txBody>
      </p:sp>
      <p:sp>
        <p:nvSpPr>
          <p:cNvPr id="29" name="Rounded Rectangle 28"/>
          <p:cNvSpPr/>
          <p:nvPr/>
        </p:nvSpPr>
        <p:spPr>
          <a:xfrm>
            <a:off x="8605810" y="4617720"/>
            <a:ext cx="710619" cy="502920"/>
          </a:xfrm>
          <a:prstGeom prst="roundRect">
            <a:avLst>
              <a:gd name="adj" fmla="val 12000"/>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-opae</a:t>
            </a:r>
          </a:p>
        </p:txBody>
      </p:sp>
      <p:sp>
        <p:nvSpPr>
          <p:cNvPr id="30" name="Rounded Rectangle 29"/>
          <p:cNvSpPr/>
          <p:nvPr/>
        </p:nvSpPr>
        <p:spPr>
          <a:xfrm>
            <a:off x="9371293" y="4617720"/>
            <a:ext cx="710619" cy="502920"/>
          </a:xfrm>
          <a:prstGeom prst="roundRect">
            <a:avLst>
              <a:gd name="adj" fmla="val 12000"/>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-aved</a:t>
            </a:r>
          </a:p>
        </p:txBody>
      </p:sp>
      <p:sp>
        <p:nvSpPr>
          <p:cNvPr id="31" name="Rounded Rectangle 30"/>
          <p:cNvSpPr/>
          <p:nvPr/>
        </p:nvSpPr>
        <p:spPr>
          <a:xfrm>
            <a:off x="10136777" y="4617720"/>
            <a:ext cx="710619" cy="502920"/>
          </a:xfrm>
          <a:prstGeom prst="roundRect">
            <a:avLst>
              <a:gd name="adj" fmla="val 12000"/>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-gem5</a:t>
            </a:r>
          </a:p>
        </p:txBody>
      </p:sp>
      <p:sp>
        <p:nvSpPr>
          <p:cNvPr id="32" name="Rounded Rectangle 31"/>
          <p:cNvSpPr/>
          <p:nvPr/>
        </p:nvSpPr>
        <p:spPr>
          <a:xfrm>
            <a:off x="10902260" y="4617720"/>
            <a:ext cx="710619" cy="502920"/>
          </a:xfrm>
          <a:prstGeom prst="roundRect">
            <a:avLst>
              <a:gd name="adj" fmla="val 12000"/>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-firesim</a:t>
            </a:r>
          </a:p>
        </p:txBody>
      </p:sp>
      <p:sp>
        <p:nvSpPr>
          <p:cNvPr id="33" name="TextBox 32"/>
          <p:cNvSpPr txBox="1"/>
          <p:nvPr/>
        </p:nvSpPr>
        <p:spPr>
          <a:xfrm>
            <a:off x="6309360" y="5166360"/>
            <a:ext cx="5303520" cy="320040"/>
          </a:xfrm>
          <a:prstGeom prst="rect">
            <a:avLst/>
          </a:prstGeom>
          <a:noFill/>
        </p:spPr>
        <p:txBody>
          <a:bodyPr wrap="square" lIns="27432" rIns="27432" tIns="27432" bIns="27432" anchor="t">
            <a:spAutoFit/>
          </a:bodyPr>
          <a:lstStyle/>
          <a:p>
            <a:pPr algn="ctr"/>
            <a:r>
              <a:rPr sz="1000" b="0" i="1">
                <a:solidFill>
                  <a:srgbClr val="555555"/>
                </a:solidFill>
              </a:rPr>
              <a:t>VORTEX_DRIVER selects the backend at load time (sw/runtime/stub)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ISA Surface in v3.0</a:t>
            </a:r>
          </a:p>
        </p:txBody>
      </p:sp>
      <p:sp>
        <p:nvSpPr>
          <p:cNvPr id="3" name="Text Placeholder 2"/>
          <p:cNvSpPr>
            <a:spLocks noGrp="1"/>
          </p:cNvSpPr>
          <p:nvPr>
            <p:ph type="body" idx="1"/>
          </p:nvPr>
        </p:nvSpPr>
        <p:spPr>
          <a:xfrm>
            <a:off x="6583680" y="1234440"/>
            <a:ext cx="5029200" cy="4846320"/>
          </a:xfrm>
        </p:spPr>
        <p:txBody>
          <a:bodyPr wrap="square"/>
          <a:lstStyle/>
          <a:p>
            <a:pPr marL="0" indent="0">
              <a:spcBef>
                <a:spcPts val="600"/>
              </a:spcBef>
              <a:buNone/>
            </a:pPr>
            <a:r>
              <a:rPr sz="1400" b="1" i="0">
                <a:solidFill>
                  <a:srgbClr val="1F394D"/>
                </a:solidFill>
              </a:rPr>
              <a:t>MISA feature bits</a:t>
            </a:r>
          </a:p>
          <a:p>
            <a:pPr lvl="1" marL="342900" indent="-228600">
              <a:spcBef>
                <a:spcPts val="200"/>
              </a:spcBef>
              <a:buFont typeface="Arial"/>
              <a:buChar char="•"/>
            </a:pPr>
            <a:r>
              <a:rPr sz="1200" b="0" i="0">
                <a:solidFill>
                  <a:srgbClr val="000000"/>
                </a:solidFill>
              </a:rPr>
              <a:t>TEX = 6, RASTER = 7, OM = 8, TCU = 9, DXA = 10</a:t>
            </a:r>
          </a:p>
          <a:p>
            <a:pPr lvl="1" marL="342900" indent="-228600">
              <a:spcBef>
                <a:spcPts val="200"/>
              </a:spcBef>
              <a:buFont typeface="Arial"/>
              <a:buChar char="•"/>
            </a:pPr>
            <a:r>
              <a:rPr sz="1200" b="0" i="0">
                <a:solidFill>
                  <a:srgbClr val="000000"/>
                </a:solidFill>
              </a:rPr>
              <a:t>Queried by software via VX_CAPS_ISA_FLAGS</a:t>
            </a:r>
          </a:p>
          <a:p>
            <a:pPr marL="0" indent="0">
              <a:spcBef>
                <a:spcPts val="600"/>
              </a:spcBef>
              <a:buNone/>
            </a:pPr>
            <a:r>
              <a:rPr sz="1400" b="1" i="0">
                <a:solidFill>
                  <a:srgbClr val="1F394D"/>
                </a:solidFill>
              </a:rPr>
              <a:t>Async barriers</a:t>
            </a:r>
          </a:p>
          <a:p>
            <a:pPr lvl="1" marL="342900" indent="-228600">
              <a:spcBef>
                <a:spcPts val="200"/>
              </a:spcBef>
              <a:buFont typeface="Arial"/>
              <a:buChar char="•"/>
            </a:pPr>
            <a:r>
              <a:rPr sz="1200" b="0" i="0">
                <a:solidFill>
                  <a:srgbClr val="000000"/>
                </a:solidFill>
              </a:rPr>
              <a:t>arrive / wait(phase) / expect_tx on the bar unit</a:t>
            </a:r>
          </a:p>
          <a:p>
            <a:pPr lvl="1" marL="342900" indent="-228600">
              <a:spcBef>
                <a:spcPts val="200"/>
              </a:spcBef>
              <a:buFont typeface="Arial"/>
              <a:buChar char="•"/>
            </a:pPr>
            <a:r>
              <a:rPr sz="1200" b="0" i="0">
                <a:solidFill>
                  <a:srgbClr val="000000"/>
                </a:solidFill>
              </a:rPr>
              <a:t>bar id = {index &lt;&lt; 8 | CTA slot}; group and global forms</a:t>
            </a:r>
          </a:p>
          <a:p>
            <a:pPr marL="0" indent="0">
              <a:spcBef>
                <a:spcPts val="600"/>
              </a:spcBef>
              <a:buNone/>
            </a:pPr>
            <a:r>
              <a:rPr sz="1400" b="1" i="0">
                <a:solidFill>
                  <a:srgbClr val="1F394D"/>
                </a:solidFill>
              </a:rPr>
              <a:t>Design rule for accelerators</a:t>
            </a:r>
          </a:p>
          <a:p>
            <a:pPr lvl="1" marL="342900" indent="-228600">
              <a:spcBef>
                <a:spcPts val="200"/>
              </a:spcBef>
              <a:buFont typeface="Arial"/>
              <a:buChar char="•"/>
            </a:pPr>
            <a:r>
              <a:rPr sz="1200" b="0" i="0">
                <a:solidFill>
                  <a:srgbClr val="000000"/>
                </a:solidFill>
              </a:rPr>
              <a:t>per-dispatch → DCR; per-warp → lane packing (vx_wgather)</a:t>
            </a:r>
          </a:p>
          <a:p>
            <a:pPr lvl="1" marL="342900" indent="-228600">
              <a:spcBef>
                <a:spcPts val="200"/>
              </a:spcBef>
              <a:buFont typeface="Arial"/>
              <a:buChar char="•"/>
            </a:pPr>
            <a:r>
              <a:rPr sz="1200" b="0" i="0">
                <a:solidFill>
                  <a:srgbClr val="000000"/>
                </a:solidFill>
              </a:rPr>
              <a:t>per-thread → register window; bulk → custom load</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graphicFrame>
        <p:nvGraphicFramePr>
          <p:cNvPr id="5" name="Table 4"/>
          <p:cNvGraphicFramePr>
            <a:graphicFrameLocks noGrp="1"/>
          </p:cNvGraphicFramePr>
          <p:nvPr/>
        </p:nvGraphicFramePr>
        <p:xfrm>
          <a:off x="731520" y="1280160"/>
          <a:ext cx="5577839" cy="2304288"/>
        </p:xfrm>
        <a:graphic>
          <a:graphicData uri="http://schemas.openxmlformats.org/drawingml/2006/table">
            <a:tbl>
              <a:tblPr firstRow="0" bandRow="0">
                <a:tableStyleId>{5940675A-B579-460E-94D1-54222C63F5DA}</a:tableStyleId>
              </a:tblPr>
              <a:tblGrid>
                <a:gridCol w="2124891"/>
                <a:gridCol w="3452948"/>
              </a:tblGrid>
              <a:tr h="329184">
                <a:tc>
                  <a:txBody>
                    <a:bodyPr wrap="square"/>
                    <a:lstStyle/>
                    <a:p>
                      <a:pPr algn="l"/>
                      <a:r>
                        <a:rPr sz="1100" b="1" i="0">
                          <a:solidFill>
                            <a:srgbClr val="FFFFFF"/>
                          </a:solidFill>
                        </a:rPr>
                        <a:t>Standard extension</a:t>
                      </a:r>
                    </a:p>
                  </a:txBody>
                  <a:tcPr marL="45720" marR="45720" marT="18288" marB="18288" anchor="ctr">
                    <a:solidFill>
                      <a:srgbClr val="1F394D"/>
                    </a:solidFill>
                  </a:tcPr>
                </a:tc>
                <a:tc>
                  <a:txBody>
                    <a:bodyPr wrap="square"/>
                    <a:lstStyle/>
                    <a:p>
                      <a:pPr algn="l"/>
                      <a:r>
                        <a:rPr sz="1100" b="1" i="0">
                          <a:solidFill>
                            <a:srgbClr val="FFFFFF"/>
                          </a:solidFill>
                        </a:rPr>
                        <a:t>v3.0 status</a:t>
                      </a:r>
                    </a:p>
                  </a:txBody>
                  <a:tcPr marL="45720" marR="45720" marT="18288" marB="18288" anchor="ctr">
                    <a:solidFill>
                      <a:srgbClr val="1F394D"/>
                    </a:solidFill>
                  </a:tcPr>
                </a:tc>
              </a:tr>
              <a:tr h="329184">
                <a:tc>
                  <a:txBody>
                    <a:bodyPr wrap="square"/>
                    <a:lstStyle/>
                    <a:p>
                      <a:pPr algn="l"/>
                      <a:r>
                        <a:rPr sz="1100" b="0" i="0">
                          <a:solidFill>
                            <a:srgbClr val="000000"/>
                          </a:solidFill>
                        </a:rPr>
                        <a:t>I / M / F (RV32, RV64)</a:t>
                      </a:r>
                    </a:p>
                  </a:txBody>
                  <a:tcPr marL="45720" marR="45720" marT="18288" marB="18288" anchor="ctr">
                    <a:solidFill>
                      <a:srgbClr val="FFFFFF"/>
                    </a:solidFill>
                  </a:tcPr>
                </a:tc>
                <a:tc>
                  <a:txBody>
                    <a:bodyPr wrap="square"/>
                    <a:lstStyle/>
                    <a:p>
                      <a:pPr algn="l"/>
                      <a:r>
                        <a:rPr sz="1100" b="0" i="0">
                          <a:solidFill>
                            <a:srgbClr val="000000"/>
                          </a:solidFill>
                        </a:rPr>
                        <a:t>baseline</a:t>
                      </a:r>
                    </a:p>
                  </a:txBody>
                  <a:tcPr marL="45720" marR="45720" marT="18288" marB="18288" anchor="ctr">
                    <a:solidFill>
                      <a:srgbClr val="FFFFFF"/>
                    </a:solidFill>
                  </a:tcPr>
                </a:tc>
              </a:tr>
              <a:tr h="329184">
                <a:tc>
                  <a:txBody>
                    <a:bodyPr wrap="square"/>
                    <a:lstStyle/>
                    <a:p>
                      <a:pPr algn="l"/>
                      <a:r>
                        <a:rPr sz="1100" b="0" i="0">
                          <a:solidFill>
                            <a:srgbClr val="000000"/>
                          </a:solidFill>
                        </a:rPr>
                        <a:t>D (double)</a:t>
                      </a:r>
                    </a:p>
                  </a:txBody>
                  <a:tcPr marL="45720" marR="45720" marT="18288" marB="18288" anchor="ctr">
                    <a:solidFill>
                      <a:srgbClr val="F2F6FA"/>
                    </a:solidFill>
                  </a:tcPr>
                </a:tc>
                <a:tc>
                  <a:txBody>
                    <a:bodyPr wrap="square"/>
                    <a:lstStyle/>
                    <a:p>
                      <a:pPr algn="l"/>
                      <a:r>
                        <a:rPr sz="1100" b="0" i="0">
                          <a:solidFill>
                            <a:srgbClr val="000000"/>
                          </a:solidFill>
                        </a:rPr>
                        <a:t>native F64 in VX_fpu_std (XLEN=64)</a:t>
                      </a:r>
                    </a:p>
                  </a:txBody>
                  <a:tcPr marL="45720" marR="45720" marT="18288" marB="18288" anchor="ctr">
                    <a:solidFill>
                      <a:srgbClr val="F2F6FA"/>
                    </a:solidFill>
                  </a:tcPr>
                </a:tc>
              </a:tr>
              <a:tr h="329184">
                <a:tc>
                  <a:txBody>
                    <a:bodyPr wrap="square"/>
                    <a:lstStyle/>
                    <a:p>
                      <a:pPr algn="l"/>
                      <a:r>
                        <a:rPr sz="1100" b="0" i="0">
                          <a:solidFill>
                            <a:srgbClr val="000000"/>
                          </a:solidFill>
                        </a:rPr>
                        <a:t>A (atomics)</a:t>
                      </a:r>
                    </a:p>
                  </a:txBody>
                  <a:tcPr marL="45720" marR="45720" marT="18288" marB="18288" anchor="ctr">
                    <a:solidFill>
                      <a:srgbClr val="FFFFFF"/>
                    </a:solidFill>
                  </a:tcPr>
                </a:tc>
                <a:tc>
                  <a:txBody>
                    <a:bodyPr wrap="square"/>
                    <a:lstStyle/>
                    <a:p>
                      <a:pPr algn="l"/>
                      <a:r>
                        <a:rPr sz="1100" b="0" i="0">
                          <a:solidFill>
                            <a:srgbClr val="000000"/>
                          </a:solidFill>
                        </a:rPr>
                        <a:t>LR/SC + 9 AMO ops, Zacas optional</a:t>
                      </a:r>
                    </a:p>
                  </a:txBody>
                  <a:tcPr marL="45720" marR="45720" marT="18288" marB="18288" anchor="ctr">
                    <a:solidFill>
                      <a:srgbClr val="FFFFFF"/>
                    </a:solidFill>
                  </a:tcPr>
                </a:tc>
              </a:tr>
              <a:tr h="329184">
                <a:tc>
                  <a:txBody>
                    <a:bodyPr wrap="square"/>
                    <a:lstStyle/>
                    <a:p>
                      <a:pPr algn="l"/>
                      <a:r>
                        <a:rPr sz="1100" b="0" i="0">
                          <a:solidFill>
                            <a:srgbClr val="000000"/>
                          </a:solidFill>
                        </a:rPr>
                        <a:t>C (compressed)</a:t>
                      </a:r>
                    </a:p>
                  </a:txBody>
                  <a:tcPr marL="45720" marR="45720" marT="18288" marB="18288" anchor="ctr">
                    <a:solidFill>
                      <a:srgbClr val="F2F6FA"/>
                    </a:solidFill>
                  </a:tcPr>
                </a:tc>
                <a:tc>
                  <a:txBody>
                    <a:bodyPr wrap="square"/>
                    <a:lstStyle/>
                    <a:p>
                      <a:pPr algn="l"/>
                      <a:r>
                        <a:rPr sz="1100" b="0" i="0">
                          <a:solidFill>
                            <a:srgbClr val="000000"/>
                          </a:solidFill>
                        </a:rPr>
                        <a:t>VX_decompressor in fetch stage</a:t>
                      </a:r>
                    </a:p>
                  </a:txBody>
                  <a:tcPr marL="45720" marR="45720" marT="18288" marB="18288" anchor="ctr">
                    <a:solidFill>
                      <a:srgbClr val="F2F6FA"/>
                    </a:solidFill>
                  </a:tcPr>
                </a:tc>
              </a:tr>
              <a:tr h="329184">
                <a:tc>
                  <a:txBody>
                    <a:bodyPr wrap="square"/>
                    <a:lstStyle/>
                    <a:p>
                      <a:pPr algn="l"/>
                      <a:r>
                        <a:rPr sz="1100" b="0" i="0">
                          <a:solidFill>
                            <a:srgbClr val="000000"/>
                          </a:solidFill>
                        </a:rPr>
                        <a:t>Zicond</a:t>
                      </a:r>
                    </a:p>
                  </a:txBody>
                  <a:tcPr marL="45720" marR="45720" marT="18288" marB="18288" anchor="ctr">
                    <a:solidFill>
                      <a:srgbClr val="FFFFFF"/>
                    </a:solidFill>
                  </a:tcPr>
                </a:tc>
                <a:tc>
                  <a:txBody>
                    <a:bodyPr wrap="square"/>
                    <a:lstStyle/>
                    <a:p>
                      <a:pPr algn="l"/>
                      <a:r>
                        <a:rPr sz="1100" b="0" i="0">
                          <a:solidFill>
                            <a:srgbClr val="000000"/>
                          </a:solidFill>
                        </a:rPr>
                        <a:t>CZERO.EQZ / CZERO.NEZ</a:t>
                      </a:r>
                    </a:p>
                  </a:txBody>
                  <a:tcPr marL="45720" marR="45720" marT="18288" marB="18288" anchor="ctr">
                    <a:solidFill>
                      <a:srgbClr val="FFFFFF"/>
                    </a:solidFill>
                  </a:tcPr>
                </a:tc>
              </a:tr>
              <a:tr h="329184">
                <a:tc>
                  <a:txBody>
                    <a:bodyPr wrap="square"/>
                    <a:lstStyle/>
                    <a:p>
                      <a:pPr algn="l"/>
                      <a:r>
                        <a:rPr sz="1100" b="0" i="0">
                          <a:solidFill>
                            <a:srgbClr val="000000"/>
                          </a:solidFill>
                        </a:rPr>
                        <a:t>M-mode traps</a:t>
                      </a:r>
                    </a:p>
                  </a:txBody>
                  <a:tcPr marL="45720" marR="45720" marT="18288" marB="18288" anchor="ctr">
                    <a:solidFill>
                      <a:srgbClr val="F2F6FA"/>
                    </a:solidFill>
                  </a:tcPr>
                </a:tc>
                <a:tc>
                  <a:txBody>
                    <a:bodyPr wrap="square"/>
                    <a:lstStyle/>
                    <a:p>
                      <a:pPr algn="l"/>
                      <a:r>
                        <a:rPr sz="1100" b="0" i="0">
                          <a:solidFill>
                            <a:srgbClr val="000000"/>
                          </a:solidFill>
                        </a:rPr>
                        <a:t>ECALL / EBREAK / MRET + 6 CSRs</a:t>
                      </a:r>
                    </a:p>
                  </a:txBody>
                  <a:tcPr marL="45720" marR="45720" marT="18288" marB="18288" anchor="ctr">
                    <a:solidFill>
                      <a:srgbClr val="F2F6FA"/>
                    </a:solidFill>
                  </a:tcPr>
                </a:tc>
              </a:tr>
            </a:tbl>
          </a:graphicData>
        </a:graphic>
      </p:graphicFrame>
      <p:graphicFrame>
        <p:nvGraphicFramePr>
          <p:cNvPr id="6" name="Table 5"/>
          <p:cNvGraphicFramePr>
            <a:graphicFrameLocks noGrp="1"/>
          </p:cNvGraphicFramePr>
          <p:nvPr/>
        </p:nvGraphicFramePr>
        <p:xfrm>
          <a:off x="731520" y="3840480"/>
          <a:ext cx="5577838" cy="1828800"/>
        </p:xfrm>
        <a:graphic>
          <a:graphicData uri="http://schemas.openxmlformats.org/drawingml/2006/table">
            <a:tbl>
              <a:tblPr firstRow="0" bandRow="0">
                <a:tableStyleId>{5940675A-B579-460E-94D1-54222C63F5DA}</a:tableStyleId>
              </a:tblPr>
              <a:tblGrid>
                <a:gridCol w="1554479"/>
                <a:gridCol w="4023359"/>
              </a:tblGrid>
              <a:tr h="457200">
                <a:tc>
                  <a:txBody>
                    <a:bodyPr wrap="square"/>
                    <a:lstStyle/>
                    <a:p>
                      <a:pPr algn="l"/>
                      <a:r>
                        <a:rPr sz="1050" b="1" i="0">
                          <a:solidFill>
                            <a:srgbClr val="FFFFFF"/>
                          </a:solidFill>
                        </a:rPr>
                        <a:t>Vortex custom opcode space</a:t>
                      </a:r>
                    </a:p>
                  </a:txBody>
                  <a:tcPr marL="45720" marR="45720" marT="18288" marB="18288" anchor="ctr">
                    <a:solidFill>
                      <a:srgbClr val="1F394D"/>
                    </a:solidFill>
                  </a:tcPr>
                </a:tc>
                <a:tc>
                  <a:txBody>
                    <a:bodyPr wrap="square"/>
                    <a:lstStyle/>
                    <a:p>
                      <a:pPr algn="l"/>
                      <a:r>
                        <a:rPr sz="1050" b="1" i="0">
                          <a:solidFill>
                            <a:srgbClr val="FFFFFF"/>
                          </a:solidFill>
                        </a:rPr>
                        <a:t>Contents</a:t>
                      </a:r>
                    </a:p>
                  </a:txBody>
                  <a:tcPr marL="45720" marR="45720" marT="18288" marB="18288" anchor="ctr">
                    <a:solidFill>
                      <a:srgbClr val="1F394D"/>
                    </a:solidFill>
                  </a:tcPr>
                </a:tc>
              </a:tr>
              <a:tr h="457200">
                <a:tc>
                  <a:txBody>
                    <a:bodyPr wrap="square"/>
                    <a:lstStyle/>
                    <a:p>
                      <a:pPr algn="l"/>
                      <a:r>
                        <a:rPr sz="1050" b="0" i="0">
                          <a:solidFill>
                            <a:srgbClr val="000000"/>
                          </a:solidFill>
                        </a:rPr>
                        <a:t>custom-0 (0x0B), by funct7</a:t>
                      </a:r>
                    </a:p>
                  </a:txBody>
                  <a:tcPr marL="45720" marR="45720" marT="18288" marB="18288" anchor="ctr">
                    <a:solidFill>
                      <a:srgbClr val="FFFFFF"/>
                    </a:solidFill>
                  </a:tcPr>
                </a:tc>
                <a:tc>
                  <a:txBody>
                    <a:bodyPr wrap="square"/>
                    <a:lstStyle/>
                    <a:p>
                      <a:pPr algn="l"/>
                      <a:r>
                        <a:rPr sz="1050" b="0" i="0">
                          <a:solidFill>
                            <a:srgbClr val="000000"/>
                          </a:solidFill>
                        </a:rPr>
                        <a:t>0x00 warp ctl (tmc, wspawn, split, join, bar, pred, wsync) · 0x01 vote/shuffle · 0x02 tensor · 0x03 DXA · 0x04 pack-load</a:t>
                      </a:r>
                    </a:p>
                  </a:txBody>
                  <a:tcPr marL="45720" marR="45720" marT="18288" marB="18288" anchor="ctr">
                    <a:solidFill>
                      <a:srgbClr val="FFFFFF"/>
                    </a:solidFill>
                  </a:tcPr>
                </a:tc>
              </a:tr>
              <a:tr h="457200">
                <a:tc>
                  <a:txBody>
                    <a:bodyPr wrap="square"/>
                    <a:lstStyle/>
                    <a:p>
                      <a:pPr algn="l"/>
                      <a:r>
                        <a:rPr sz="1050" b="0" i="0">
                          <a:solidFill>
                            <a:srgbClr val="000000"/>
                          </a:solidFill>
                        </a:rPr>
                        <a:t>custom-1 (0x2B), by funct3</a:t>
                      </a:r>
                    </a:p>
                  </a:txBody>
                  <a:tcPr marL="45720" marR="45720" marT="18288" marB="18288" anchor="ctr">
                    <a:solidFill>
                      <a:srgbClr val="F2F6FA"/>
                    </a:solidFill>
                  </a:tcPr>
                </a:tc>
                <a:tc>
                  <a:txBody>
                    <a:bodyPr wrap="square"/>
                    <a:lstStyle/>
                    <a:p>
                      <a:pPr algn="l"/>
                      <a:r>
                        <a:rPr sz="1050" b="0" i="0">
                          <a:solidFill>
                            <a:srgbClr val="000000"/>
                          </a:solidFill>
                        </a:rPr>
                        <a:t>0 vx_wgather · 3 vx_om_export · 5 vx_tex · 6 RTU hit window · 7 vx_rt_trace / vx_rt_wait</a:t>
                      </a:r>
                    </a:p>
                  </a:txBody>
                  <a:tcPr marL="45720" marR="45720" marT="18288" marB="18288" anchor="ctr">
                    <a:solidFill>
                      <a:srgbClr val="F2F6FA"/>
                    </a:solidFill>
                  </a:tcPr>
                </a:tc>
              </a:tr>
              <a:tr h="457200">
                <a:tc>
                  <a:txBody>
                    <a:bodyPr wrap="square"/>
                    <a:lstStyle/>
                    <a:p>
                      <a:pPr algn="l"/>
                      <a:r>
                        <a:rPr sz="1050" b="0" i="0">
                          <a:solidFill>
                            <a:srgbClr val="000000"/>
                          </a:solidFill>
                        </a:rPr>
                        <a:t>custom-2 (0x5B)</a:t>
                      </a:r>
                    </a:p>
                  </a:txBody>
                  <a:tcPr marL="45720" marR="45720" marT="18288" marB="18288" anchor="ctr">
                    <a:solidFill>
                      <a:srgbClr val="FFFFFF"/>
                    </a:solidFill>
                  </a:tcPr>
                </a:tc>
                <a:tc>
                  <a:txBody>
                    <a:bodyPr wrap="square"/>
                    <a:lstStyle/>
                    <a:p>
                      <a:pPr algn="l"/>
                      <a:r>
                        <a:rPr sz="1050" b="0" i="0">
                          <a:solidFill>
                            <a:srgbClr val="000000"/>
                          </a:solidFill>
                        </a:rPr>
                        <a:t>MUFU: rcp, rsqrt, ex2, lg2, sinpi, cospi, tanh</a:t>
                      </a:r>
                    </a:p>
                  </a:txBody>
                  <a:tcPr marL="45720" marR="45720" marT="18288" marB="18288"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Kernel Side: ISA Intrinsics and vx_spawn2</a:t>
            </a:r>
          </a:p>
        </p:txBody>
      </p:sp>
      <p:sp>
        <p:nvSpPr>
          <p:cNvPr id="3" name="Text Placeholder 2"/>
          <p:cNvSpPr>
            <a:spLocks noGrp="1"/>
          </p:cNvSpPr>
          <p:nvPr>
            <p:ph type="body" idx="1"/>
          </p:nvPr>
        </p:nvSpPr>
        <p:spPr>
          <a:xfrm>
            <a:off x="6766560" y="4023360"/>
            <a:ext cx="4846320" cy="2103120"/>
          </a:xfrm>
        </p:spPr>
        <p:txBody>
          <a:bodyPr wrap="square"/>
          <a:lstStyle/>
          <a:p>
            <a:pPr marL="0" indent="0">
              <a:spcBef>
                <a:spcPts val="400"/>
              </a:spcBef>
              <a:buNone/>
            </a:pPr>
            <a:r>
              <a:rPr sz="1150" b="1" i="0">
                <a:solidFill>
                  <a:srgbClr val="1F394D"/>
                </a:solidFill>
              </a:rPr>
              <a:t>vx_spawn2.h</a:t>
            </a:r>
          </a:p>
          <a:p>
            <a:pPr lvl="1" marL="342900" indent="-228600">
              <a:spcBef>
                <a:spcPts val="0"/>
              </a:spcBef>
              <a:buFont typeface="Arial"/>
              <a:buChar char="•"/>
            </a:pPr>
            <a:r>
              <a:rPr sz="1050" b="0" i="0">
                <a:solidFill>
                  <a:srgbClr val="000000"/>
                </a:solidFill>
                <a:latin typeface="Consolas"/>
              </a:rPr>
              <a:t>__kernel</a:t>
            </a:r>
            <a:r>
              <a:rPr sz="1050" b="0" i="0">
                <a:solidFill>
                  <a:srgbClr val="000000"/>
                </a:solidFill>
              </a:rPr>
              <a:t> = </a:t>
            </a:r>
            <a:r>
              <a:rPr sz="1050" b="0" i="0">
                <a:solidFill>
                  <a:srgbClr val="000000"/>
                </a:solidFill>
                <a:latin typeface="Consolas"/>
              </a:rPr>
              <a:t>vortex.kernel</a:t>
            </a:r>
            <a:r>
              <a:rPr sz="1050" b="0" i="0">
                <a:solidFill>
                  <a:srgbClr val="000000"/>
                </a:solidFill>
              </a:rPr>
              <a:t> calling convention: no callee-saved spills, ra saved</a:t>
            </a:r>
          </a:p>
          <a:p>
            <a:pPr lvl="1" marL="342900" indent="-228600">
              <a:spcBef>
                <a:spcPts val="0"/>
              </a:spcBef>
              <a:buFont typeface="Arial"/>
              <a:buChar char="•"/>
            </a:pPr>
            <a:r>
              <a:rPr sz="1050" b="0" i="0">
                <a:solidFill>
                  <a:srgbClr val="000000"/>
                </a:solidFill>
              </a:rPr>
              <a:t>blockIdx / blockDim / gridDim / threadIdx read CTA CSRs 0xCD0–0xCE1</a:t>
            </a:r>
          </a:p>
          <a:p>
            <a:pPr lvl="1" marL="342900" indent="-228600">
              <a:spcBef>
                <a:spcPts val="0"/>
              </a:spcBef>
              <a:buFont typeface="Arial"/>
              <a:buChar char="•"/>
            </a:pPr>
            <a:r>
              <a:rPr sz="1050" b="0" i="0">
                <a:solidFill>
                  <a:srgbClr val="000000"/>
                </a:solidFill>
              </a:rPr>
              <a:t>KMU dispatches CTAs; </a:t>
            </a:r>
            <a:r>
              <a:rPr sz="1050" b="0" i="0">
                <a:solidFill>
                  <a:srgbClr val="000000"/>
                </a:solidFill>
                <a:latin typeface="Consolas"/>
              </a:rPr>
              <a:t>__vx_cta_entry</a:t>
            </a:r>
            <a:r>
              <a:rPr sz="1050" b="0" i="0">
                <a:solidFill>
                  <a:srgbClr val="000000"/>
                </a:solidFill>
              </a:rPr>
              <a:t> prologue runs once per CTA, then </a:t>
            </a:r>
            <a:r>
              <a:rPr sz="1050" b="0" i="0">
                <a:solidFill>
                  <a:srgbClr val="000000"/>
                </a:solidFill>
                <a:latin typeface="Consolas"/>
              </a:rPr>
              <a:t>vx_tmc zero</a:t>
            </a:r>
          </a:p>
          <a:p>
            <a:pPr marL="0" indent="0">
              <a:spcBef>
                <a:spcPts val="400"/>
              </a:spcBef>
              <a:buNone/>
            </a:pPr>
            <a:r>
              <a:rPr sz="1150" b="1" i="0">
                <a:solidFill>
                  <a:srgbClr val="1F394D"/>
                </a:solidFill>
              </a:rPr>
              <a:t>Also in sw/kernel</a:t>
            </a:r>
          </a:p>
          <a:p>
            <a:pPr lvl="1" marL="342900" indent="-228600">
              <a:spcBef>
                <a:spcPts val="0"/>
              </a:spcBef>
              <a:buFont typeface="Arial"/>
              <a:buChar char="•"/>
            </a:pPr>
            <a:r>
              <a:rPr sz="1050" b="0" i="0">
                <a:solidFill>
                  <a:srgbClr val="000000"/>
                </a:solidFill>
              </a:rPr>
              <a:t>vx_print.h (vx_printf via host console), vx_barrier.h, vx_dxa.h, vx_tensor.h, vx_graphics.h</a:t>
            </a:r>
          </a:p>
          <a:p>
            <a:pPr lvl="1" marL="342900" indent="-228600">
              <a:spcBef>
                <a:spcPts val="0"/>
              </a:spcBef>
              <a:buFont typeface="Arial"/>
              <a:buChar char="•"/>
            </a:pPr>
            <a:r>
              <a:rPr sz="1050" b="0" i="0">
                <a:solidFill>
                  <a:srgbClr val="000000"/>
                </a:solidFill>
              </a:rPr>
              <a:t>libvortex2.a: startup (vx_start.S), KMU entry, printf, newlib glue</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graphicFrame>
        <p:nvGraphicFramePr>
          <p:cNvPr id="5" name="Table 4"/>
          <p:cNvGraphicFramePr>
            <a:graphicFrameLocks noGrp="1"/>
          </p:cNvGraphicFramePr>
          <p:nvPr/>
        </p:nvGraphicFramePr>
        <p:xfrm>
          <a:off x="731520" y="1280160"/>
          <a:ext cx="5760718" cy="3950208"/>
        </p:xfrm>
        <a:graphic>
          <a:graphicData uri="http://schemas.openxmlformats.org/drawingml/2006/table">
            <a:tbl>
              <a:tblPr firstRow="0" bandRow="0">
                <a:tableStyleId>{5940675A-B579-460E-94D1-54222C63F5DA}</a:tableStyleId>
              </a:tblPr>
              <a:tblGrid>
                <a:gridCol w="2834639"/>
                <a:gridCol w="2926079"/>
              </a:tblGrid>
              <a:tr h="329184">
                <a:tc>
                  <a:txBody>
                    <a:bodyPr wrap="square"/>
                    <a:lstStyle/>
                    <a:p>
                      <a:pPr algn="l"/>
                      <a:r>
                        <a:rPr sz="1000" b="1" i="0">
                          <a:solidFill>
                            <a:srgbClr val="FFFFFF"/>
                          </a:solidFill>
                        </a:rPr>
                        <a:t>Intrinsic</a:t>
                      </a:r>
                    </a:p>
                  </a:txBody>
                  <a:tcPr marL="45720" marR="45720" marT="18288" marB="18288" anchor="ctr">
                    <a:solidFill>
                      <a:srgbClr val="1F394D"/>
                    </a:solidFill>
                  </a:tcPr>
                </a:tc>
                <a:tc>
                  <a:txBody>
                    <a:bodyPr wrap="square"/>
                    <a:lstStyle/>
                    <a:p>
                      <a:pPr algn="l"/>
                      <a:r>
                        <a:rPr sz="1000" b="1" i="0">
                          <a:solidFill>
                            <a:srgbClr val="FFFFFF"/>
                          </a:solidFill>
                        </a:rPr>
                        <a:t>Instruction / effect</a:t>
                      </a:r>
                    </a:p>
                  </a:txBody>
                  <a:tcPr marL="45720" marR="45720" marT="18288" marB="18288" anchor="ctr">
                    <a:solidFill>
                      <a:srgbClr val="1F394D"/>
                    </a:solidFill>
                  </a:tcPr>
                </a:tc>
              </a:tr>
              <a:tr h="329184">
                <a:tc>
                  <a:txBody>
                    <a:bodyPr wrap="square"/>
                    <a:lstStyle/>
                    <a:p>
                      <a:pPr algn="l"/>
                      <a:r>
                        <a:rPr sz="1000" b="0" i="0">
                          <a:solidFill>
                            <a:srgbClr val="000000"/>
                          </a:solidFill>
                        </a:rPr>
                        <a:t>vx_wspawn(n, pc)</a:t>
                      </a:r>
                    </a:p>
                  </a:txBody>
                  <a:tcPr marL="45720" marR="45720" marT="18288" marB="18288" anchor="ctr">
                    <a:solidFill>
                      <a:srgbClr val="FFFFFF"/>
                    </a:solidFill>
                  </a:tcPr>
                </a:tc>
                <a:tc>
                  <a:txBody>
                    <a:bodyPr wrap="square"/>
                    <a:lstStyle/>
                    <a:p>
                      <a:pPr algn="l"/>
                      <a:r>
                        <a:rPr sz="1000" b="0" i="0">
                          <a:solidFill>
                            <a:srgbClr val="000000"/>
                          </a:solidFill>
                        </a:rPr>
                        <a:t>activate n warps at pc</a:t>
                      </a:r>
                    </a:p>
                  </a:txBody>
                  <a:tcPr marL="45720" marR="45720" marT="18288" marB="18288" anchor="ctr">
                    <a:solidFill>
                      <a:srgbClr val="FFFFFF"/>
                    </a:solidFill>
                  </a:tcPr>
                </a:tc>
              </a:tr>
              <a:tr h="329184">
                <a:tc>
                  <a:txBody>
                    <a:bodyPr wrap="square"/>
                    <a:lstStyle/>
                    <a:p>
                      <a:pPr algn="l"/>
                      <a:r>
                        <a:rPr sz="1000" b="0" i="0">
                          <a:solidFill>
                            <a:srgbClr val="000000"/>
                          </a:solidFill>
                        </a:rPr>
                        <a:t>vx_tmc(mask) · vx_pred(c, mask)</a:t>
                      </a:r>
                    </a:p>
                  </a:txBody>
                  <a:tcPr marL="45720" marR="45720" marT="18288" marB="18288" anchor="ctr">
                    <a:solidFill>
                      <a:srgbClr val="F2F6FA"/>
                    </a:solidFill>
                  </a:tcPr>
                </a:tc>
                <a:tc>
                  <a:txBody>
                    <a:bodyPr wrap="square"/>
                    <a:lstStyle/>
                    <a:p>
                      <a:pPr algn="l"/>
                      <a:r>
                        <a:rPr sz="1000" b="0" i="0">
                          <a:solidFill>
                            <a:srgbClr val="000000"/>
                          </a:solidFill>
                        </a:rPr>
                        <a:t>thread mask control · predication</a:t>
                      </a:r>
                    </a:p>
                  </a:txBody>
                  <a:tcPr marL="45720" marR="45720" marT="18288" marB="18288" anchor="ctr">
                    <a:solidFill>
                      <a:srgbClr val="F2F6FA"/>
                    </a:solidFill>
                  </a:tcPr>
                </a:tc>
              </a:tr>
              <a:tr h="329184">
                <a:tc>
                  <a:txBody>
                    <a:bodyPr wrap="square"/>
                    <a:lstStyle/>
                    <a:p>
                      <a:pPr algn="l"/>
                      <a:r>
                        <a:rPr sz="1000" b="0" i="0">
                          <a:solidFill>
                            <a:srgbClr val="000000"/>
                          </a:solidFill>
                        </a:rPr>
                        <a:t>vx_split(p) / vx_join(sp)</a:t>
                      </a:r>
                    </a:p>
                  </a:txBody>
                  <a:tcPr marL="45720" marR="45720" marT="18288" marB="18288" anchor="ctr">
                    <a:solidFill>
                      <a:srgbClr val="FFFFFF"/>
                    </a:solidFill>
                  </a:tcPr>
                </a:tc>
                <a:tc>
                  <a:txBody>
                    <a:bodyPr wrap="square"/>
                    <a:lstStyle/>
                    <a:p>
                      <a:pPr algn="l"/>
                      <a:r>
                        <a:rPr sz="1000" b="0" i="0">
                          <a:solidFill>
                            <a:srgbClr val="000000"/>
                          </a:solidFill>
                        </a:rPr>
                        <a:t>IPDOM push / pop (compiler-inserted)</a:t>
                      </a:r>
                    </a:p>
                  </a:txBody>
                  <a:tcPr marL="45720" marR="45720" marT="18288" marB="18288" anchor="ctr">
                    <a:solidFill>
                      <a:srgbClr val="FFFFFF"/>
                    </a:solidFill>
                  </a:tcPr>
                </a:tc>
              </a:tr>
              <a:tr h="329184">
                <a:tc>
                  <a:txBody>
                    <a:bodyPr wrap="square"/>
                    <a:lstStyle/>
                    <a:p>
                      <a:pPr algn="l"/>
                      <a:r>
                        <a:rPr sz="1000" b="0" i="0">
                          <a:solidFill>
                            <a:srgbClr val="000000"/>
                          </a:solidFill>
                        </a:rPr>
                        <a:t>vx_barrier(id, n) · vx_barrier_arrive / _wait / _expect_tx</a:t>
                      </a:r>
                    </a:p>
                  </a:txBody>
                  <a:tcPr marL="45720" marR="45720" marT="18288" marB="18288" anchor="ctr">
                    <a:solidFill>
                      <a:srgbClr val="F2F6FA"/>
                    </a:solidFill>
                  </a:tcPr>
                </a:tc>
                <a:tc>
                  <a:txBody>
                    <a:bodyPr wrap="square"/>
                    <a:lstStyle/>
                    <a:p>
                      <a:pPr algn="l"/>
                      <a:r>
                        <a:rPr sz="1000" b="0" i="0">
                          <a:solidFill>
                            <a:srgbClr val="000000"/>
                          </a:solidFill>
                        </a:rPr>
                        <a:t>synchronous and split barriers (VX_bar_unit)</a:t>
                      </a:r>
                    </a:p>
                  </a:txBody>
                  <a:tcPr marL="45720" marR="45720" marT="18288" marB="18288" anchor="ctr">
                    <a:solidFill>
                      <a:srgbClr val="F2F6FA"/>
                    </a:solidFill>
                  </a:tcPr>
                </a:tc>
              </a:tr>
              <a:tr h="329184">
                <a:tc>
                  <a:txBody>
                    <a:bodyPr wrap="square"/>
                    <a:lstStyle/>
                    <a:p>
                      <a:pPr algn="l"/>
                      <a:r>
                        <a:rPr sz="1000" b="0" i="0">
                          <a:solidFill>
                            <a:srgbClr val="000000"/>
                          </a:solidFill>
                        </a:rPr>
                        <a:t>vx_wgather(a0..a3)</a:t>
                      </a:r>
                    </a:p>
                  </a:txBody>
                  <a:tcPr marL="45720" marR="45720" marT="18288" marB="18288" anchor="ctr">
                    <a:solidFill>
                      <a:srgbClr val="FFFFFF"/>
                    </a:solidFill>
                  </a:tcPr>
                </a:tc>
                <a:tc>
                  <a:txBody>
                    <a:bodyPr wrap="square"/>
                    <a:lstStyle/>
                    <a:p>
                      <a:pPr algn="l"/>
                      <a:r>
                        <a:rPr sz="1000" b="0" i="0">
                          <a:solidFill>
                            <a:srgbClr val="000000"/>
                          </a:solidFill>
                        </a:rPr>
                        <a:t>pack 4 scalars of one lane into 4 lanes (R4)</a:t>
                      </a:r>
                    </a:p>
                  </a:txBody>
                  <a:tcPr marL="45720" marR="45720" marT="18288" marB="18288" anchor="ctr">
                    <a:solidFill>
                      <a:srgbClr val="FFFFFF"/>
                    </a:solidFill>
                  </a:tcPr>
                </a:tc>
              </a:tr>
              <a:tr h="329184">
                <a:tc>
                  <a:txBody>
                    <a:bodyPr wrap="square"/>
                    <a:lstStyle/>
                    <a:p>
                      <a:pPr algn="l"/>
                      <a:r>
                        <a:rPr sz="1000" b="0" i="0">
                          <a:solidFill>
                            <a:srgbClr val="000000"/>
                          </a:solidFill>
                        </a:rPr>
                        <a:t>vx_vote / vx_shuffle / vx_quad_ddx</a:t>
                      </a:r>
                    </a:p>
                  </a:txBody>
                  <a:tcPr marL="45720" marR="45720" marT="18288" marB="18288" anchor="ctr">
                    <a:solidFill>
                      <a:srgbClr val="F2F6FA"/>
                    </a:solidFill>
                  </a:tcPr>
                </a:tc>
                <a:tc>
                  <a:txBody>
                    <a:bodyPr wrap="square"/>
                    <a:lstStyle/>
                    <a:p>
                      <a:pPr algn="l"/>
                      <a:r>
                        <a:rPr sz="1000" b="0" i="0">
                          <a:solidFill>
                            <a:srgbClr val="000000"/>
                          </a:solidFill>
                        </a:rPr>
                        <a:t>custom-0 funct7 0x01 cross-lane ops</a:t>
                      </a:r>
                    </a:p>
                  </a:txBody>
                  <a:tcPr marL="45720" marR="45720" marT="18288" marB="18288" anchor="ctr">
                    <a:solidFill>
                      <a:srgbClr val="F2F6FA"/>
                    </a:solidFill>
                  </a:tcPr>
                </a:tc>
              </a:tr>
              <a:tr h="329184">
                <a:tc>
                  <a:txBody>
                    <a:bodyPr wrap="square"/>
                    <a:lstStyle/>
                    <a:p>
                      <a:pPr algn="l"/>
                      <a:r>
                        <a:rPr sz="1000" b="0" i="0">
                          <a:solidFill>
                            <a:srgbClr val="000000"/>
                          </a:solidFill>
                        </a:rPr>
                        <a:t>vx_packlb_f / vx_packlh_f</a:t>
                      </a:r>
                    </a:p>
                  </a:txBody>
                  <a:tcPr marL="45720" marR="45720" marT="18288" marB="18288" anchor="ctr">
                    <a:solidFill>
                      <a:srgbClr val="FFFFFF"/>
                    </a:solidFill>
                  </a:tcPr>
                </a:tc>
                <a:tc>
                  <a:txBody>
                    <a:bodyPr wrap="square"/>
                    <a:lstStyle/>
                    <a:p>
                      <a:pPr algn="l"/>
                      <a:r>
                        <a:rPr sz="1000" b="0" i="0">
                          <a:solidFill>
                            <a:srgbClr val="000000"/>
                          </a:solidFill>
                        </a:rPr>
                        <a:t>strided pack-loads (4 LSU uops)</a:t>
                      </a:r>
                    </a:p>
                  </a:txBody>
                  <a:tcPr marL="45720" marR="45720" marT="18288" marB="18288" anchor="ctr">
                    <a:solidFill>
                      <a:srgbClr val="FFFFFF"/>
                    </a:solidFill>
                  </a:tcPr>
                </a:tc>
              </a:tr>
              <a:tr h="329184">
                <a:tc>
                  <a:txBody>
                    <a:bodyPr wrap="square"/>
                    <a:lstStyle/>
                    <a:p>
                      <a:pPr algn="l"/>
                      <a:r>
                        <a:rPr sz="1000" b="0" i="0">
                          <a:solidFill>
                            <a:srgbClr val="000000"/>
                          </a:solidFill>
                        </a:rPr>
                        <a:t>vx_dxa_issue_{1..5}d_wg, _multicast_wg</a:t>
                      </a:r>
                    </a:p>
                  </a:txBody>
                  <a:tcPr marL="45720" marR="45720" marT="18288" marB="18288" anchor="ctr">
                    <a:solidFill>
                      <a:srgbClr val="F2F6FA"/>
                    </a:solidFill>
                  </a:tcPr>
                </a:tc>
                <a:tc>
                  <a:txBody>
                    <a:bodyPr wrap="square"/>
                    <a:lstStyle/>
                    <a:p>
                      <a:pPr algn="l"/>
                      <a:r>
                        <a:rPr sz="1000" b="0" i="0">
                          <a:solidFill>
                            <a:srgbClr val="000000"/>
                          </a:solidFill>
                        </a:rPr>
                        <a:t>DXA copy (custom-0 funct7 0x03)</a:t>
                      </a:r>
                    </a:p>
                  </a:txBody>
                  <a:tcPr marL="45720" marR="45720" marT="18288" marB="18288" anchor="ctr">
                    <a:solidFill>
                      <a:srgbClr val="F2F6FA"/>
                    </a:solidFill>
                  </a:tcPr>
                </a:tc>
              </a:tr>
              <a:tr h="329184">
                <a:tc>
                  <a:txBody>
                    <a:bodyPr wrap="square"/>
                    <a:lstStyle/>
                    <a:p>
                      <a:pPr algn="l"/>
                      <a:r>
                        <a:rPr sz="1000" b="0" i="0">
                          <a:solidFill>
                            <a:srgbClr val="000000"/>
                          </a:solidFill>
                        </a:rPr>
                        <a:t>vx_tensor.h: wmma / wgmma / TCU_LD</a:t>
                      </a:r>
                    </a:p>
                  </a:txBody>
                  <a:tcPr marL="45720" marR="45720" marT="18288" marB="18288" anchor="ctr">
                    <a:solidFill>
                      <a:srgbClr val="FFFFFF"/>
                    </a:solidFill>
                  </a:tcPr>
                </a:tc>
                <a:tc>
                  <a:txBody>
                    <a:bodyPr wrap="square"/>
                    <a:lstStyle/>
                    <a:p>
                      <a:pPr algn="l"/>
                      <a:r>
                        <a:rPr sz="1000" b="0" i="0">
                          <a:solidFill>
                            <a:srgbClr val="000000"/>
                          </a:solidFill>
                        </a:rPr>
                        <a:t>tensor ops (funct7 0x02)</a:t>
                      </a:r>
                    </a:p>
                  </a:txBody>
                  <a:tcPr marL="45720" marR="45720" marT="18288" marB="18288" anchor="ctr">
                    <a:solidFill>
                      <a:srgbClr val="FFFFFF"/>
                    </a:solidFill>
                  </a:tcPr>
                </a:tc>
              </a:tr>
              <a:tr h="329184">
                <a:tc>
                  <a:txBody>
                    <a:bodyPr wrap="square"/>
                    <a:lstStyle/>
                    <a:p>
                      <a:pPr algn="l"/>
                      <a:r>
                        <a:rPr sz="1000" b="0" i="0">
                          <a:solidFill>
                            <a:srgbClr val="000000"/>
                          </a:solidFill>
                        </a:rPr>
                        <a:t>vx_rt_wtrace / wait / continue · vx_tex · vx_om_export</a:t>
                      </a:r>
                    </a:p>
                  </a:txBody>
                  <a:tcPr marL="45720" marR="45720" marT="18288" marB="18288" anchor="ctr">
                    <a:solidFill>
                      <a:srgbClr val="F2F6FA"/>
                    </a:solidFill>
                  </a:tcPr>
                </a:tc>
                <a:tc>
                  <a:txBody>
                    <a:bodyPr wrap="square"/>
                    <a:lstStyle/>
                    <a:p>
                      <a:pPr algn="l"/>
                      <a:r>
                        <a:rPr sz="1000" b="0" i="0">
                          <a:solidFill>
                            <a:srgbClr val="000000"/>
                          </a:solidFill>
                        </a:rPr>
                        <a:t>custom-1 graphics / RT</a:t>
                      </a:r>
                    </a:p>
                  </a:txBody>
                  <a:tcPr marL="45720" marR="45720" marT="18288" marB="18288" anchor="ctr">
                    <a:solidFill>
                      <a:srgbClr val="F2F6FA"/>
                    </a:solidFill>
                  </a:tcPr>
                </a:tc>
              </a:tr>
              <a:tr h="329184">
                <a:tc>
                  <a:txBody>
                    <a:bodyPr wrap="square"/>
                    <a:lstStyle/>
                    <a:p>
                      <a:pPr algn="l"/>
                      <a:r>
                        <a:rPr sz="1000" b="0" i="0">
                          <a:solidFill>
                            <a:srgbClr val="000000"/>
                          </a:solidFill>
                        </a:rPr>
                        <a:t>vx_rsqrt, vx_ex2, …</a:t>
                      </a:r>
                    </a:p>
                  </a:txBody>
                  <a:tcPr marL="45720" marR="45720" marT="18288" marB="18288" anchor="ctr">
                    <a:solidFill>
                      <a:srgbClr val="FFFFFF"/>
                    </a:solidFill>
                  </a:tcPr>
                </a:tc>
                <a:tc>
                  <a:txBody>
                    <a:bodyPr wrap="square"/>
                    <a:lstStyle/>
                    <a:p>
                      <a:pPr algn="l"/>
                      <a:r>
                        <a:rPr sz="1000" b="0" i="0">
                          <a:solidFill>
                            <a:srgbClr val="000000"/>
                          </a:solidFill>
                        </a:rPr>
                        <a:t>MUFU (custom-2)</a:t>
                      </a:r>
                    </a:p>
                  </a:txBody>
                  <a:tcPr marL="45720" marR="45720" marT="18288" marB="18288" anchor="ctr">
                    <a:solidFill>
                      <a:srgbClr val="FFFFFF"/>
                    </a:solidFill>
                  </a:tcPr>
                </a:tc>
              </a:tr>
            </a:tbl>
          </a:graphicData>
        </a:graphic>
      </p:graphicFrame>
      <p:sp>
        <p:nvSpPr>
          <p:cNvPr id="6" name="Rectangle 5"/>
          <p:cNvSpPr/>
          <p:nvPr/>
        </p:nvSpPr>
        <p:spPr>
          <a:xfrm>
            <a:off x="6766560" y="1280160"/>
            <a:ext cx="4846320" cy="265176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000" b="0" i="0">
                <a:solidFill>
                  <a:srgbClr val="FFFFFF"/>
                </a:solidFill>
                <a:latin typeface="Consolas"/>
              </a:rPr>
              <a:t>#include &lt;vx_spawn2.h&gt;</a:t>
            </a:r>
          </a:p>
          <a:p>
            <a:pPr algn="l"/>
            <a:r>
              <a:rPr sz="1000" b="0" i="0">
                <a:solidFill>
                  <a:srgbClr val="FFFFFF"/>
                </a:solidFill>
                <a:latin typeface="Consolas"/>
              </a:rPr>
              <a:t>struct kargs { float *a, *b, *c; uint32_t n; };</a:t>
            </a:r>
          </a:p>
          <a:p>
            <a:pPr algn="l"/>
          </a:p>
          <a:p>
            <a:pPr algn="l"/>
            <a:r>
              <a:rPr sz="1000" b="0" i="0">
                <a:solidFill>
                  <a:srgbClr val="FFFFFF"/>
                </a:solidFill>
                <a:latin typeface="Consolas"/>
              </a:rPr>
              <a:t>__kernel void vecadd(kargs *k) {   // vortex.kernel CC</a:t>
            </a:r>
          </a:p>
          <a:p>
            <a:pPr algn="l"/>
            <a:r>
              <a:rPr sz="1000" b="0" i="0">
                <a:solidFill>
                  <a:srgbClr val="FFFFFF"/>
                </a:solidFill>
                <a:latin typeface="Consolas"/>
              </a:rPr>
              <a:t>  uint32_t tid = blockIdx.x * blockDim.x + threadIdx.x;</a:t>
            </a:r>
          </a:p>
          <a:p>
            <a:pPr algn="l"/>
            <a:r>
              <a:rPr sz="1000" b="0" i="0">
                <a:solidFill>
                  <a:srgbClr val="FFFFFF"/>
                </a:solidFill>
                <a:latin typeface="Consolas"/>
              </a:rPr>
              <a:t>  if (tid &lt; k-&gt;n) k-&gt;c[tid] = k-&gt;a[tid] + k-&gt;b[tid];</a:t>
            </a:r>
          </a:p>
          <a:p>
            <a:pPr algn="l"/>
            <a:r>
              <a:rPr sz="1000" b="0" i="0">
                <a:solidFill>
                  <a:srgbClr val="FFFFFF"/>
                </a:solidFill>
                <a:latin typeface="Consolas"/>
              </a:rPr>
              <a:t>}</a:t>
            </a:r>
          </a:p>
          <a:p>
            <a:pPr algn="l"/>
          </a:p>
          <a:p>
            <a:pPr algn="l"/>
            <a:r>
              <a:rPr sz="1000" b="0" i="0">
                <a:solidFill>
                  <a:srgbClr val="FFFFFF"/>
                </a:solidFill>
                <a:latin typeface="Consolas"/>
              </a:rPr>
              <a:t>// CSR-backed ids: VX_CSR_CTA_THREAD_ID_X,</a:t>
            </a:r>
          </a:p>
          <a:p>
            <a:pPr algn="l"/>
            <a:r>
              <a:rPr sz="1000" b="0" i="0">
                <a:solidFill>
                  <a:srgbClr val="FFFFFF"/>
                </a:solidFill>
                <a:latin typeface="Consolas"/>
              </a:rPr>
              <a:t>// CTA_BLOCK_ID_*, CTA_BLOCK_DIM_*, CTA_GRID_DIM_*</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Program Compilation Flow (v3.0)</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25880"/>
            <a:ext cx="5303520" cy="4754880"/>
          </a:xfrm>
          <a:prstGeom prst="rect">
            <a:avLst/>
          </a:prstGeom>
          <a:solidFill>
            <a:srgbClr val="FFF8EE"/>
          </a:solidFill>
          <a:ln w="9525">
            <a:solidFill>
              <a:srgbClr val="D18B2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6" name="TextBox 5"/>
          <p:cNvSpPr txBox="1"/>
          <p:nvPr/>
        </p:nvSpPr>
        <p:spPr>
          <a:xfrm>
            <a:off x="777240" y="1344168"/>
            <a:ext cx="5212080" cy="228600"/>
          </a:xfrm>
          <a:prstGeom prst="rect">
            <a:avLst/>
          </a:prstGeom>
          <a:noFill/>
        </p:spPr>
        <p:txBody>
          <a:bodyPr wrap="square" lIns="27432" rIns="27432" tIns="27432" bIns="27432" anchor="t">
            <a:spAutoFit/>
          </a:bodyPr>
          <a:lstStyle/>
          <a:p>
            <a:pPr algn="l"/>
            <a:r>
              <a:rPr sz="1000" b="1" i="0">
                <a:solidFill>
                  <a:srgbClr val="404040"/>
                </a:solidFill>
              </a:rPr>
              <a:t>Kernel code</a:t>
            </a:r>
          </a:p>
        </p:txBody>
      </p:sp>
      <p:sp>
        <p:nvSpPr>
          <p:cNvPr id="7" name="Rounded Rectangle 6"/>
          <p:cNvSpPr/>
          <p:nvPr/>
        </p:nvSpPr>
        <p:spPr>
          <a:xfrm>
            <a:off x="868680" y="1645920"/>
            <a:ext cx="5029200" cy="62484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Kernel source (OpenCL C / SPIR-V / HIP / CUDA / C++)</a:t>
            </a:r>
          </a:p>
        </p:txBody>
      </p:sp>
      <p:cxnSp>
        <p:nvCxnSpPr>
          <p:cNvPr id="8" name="Connector 7"/>
          <p:cNvCxnSpPr/>
          <p:nvPr/>
        </p:nvCxnSpPr>
        <p:spPr>
          <a:xfrm>
            <a:off x="3383280" y="2270760"/>
            <a:ext cx="0" cy="109728"/>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68680" y="2380488"/>
            <a:ext cx="5029200" cy="62484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Front end (PoCL · chipStar · CuPBoP · clang) → LLVM IR</a:t>
            </a:r>
          </a:p>
        </p:txBody>
      </p:sp>
      <p:cxnSp>
        <p:nvCxnSpPr>
          <p:cNvPr id="10" name="Connector 9"/>
          <p:cNvCxnSpPr/>
          <p:nvPr/>
        </p:nvCxnSpPr>
        <p:spPr>
          <a:xfrm>
            <a:off x="3383280" y="3005328"/>
            <a:ext cx="0" cy="109728"/>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68680" y="3115056"/>
            <a:ext cx="5029200" cy="62484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llvm-link: builtins (kernel-riscv{32,64}.bc), work-group passes, processKernels wrapper</a:t>
            </a:r>
          </a:p>
        </p:txBody>
      </p:sp>
      <p:cxnSp>
        <p:nvCxnSpPr>
          <p:cNvPr id="12" name="Connector 11"/>
          <p:cNvCxnSpPr/>
          <p:nvPr/>
        </p:nvCxnSpPr>
        <p:spPr>
          <a:xfrm>
            <a:off x="3383280" y="3739896"/>
            <a:ext cx="0" cy="109728"/>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68680" y="3849624"/>
            <a:ext cx="5029200" cy="62484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VOLT compiler: RISC-V + Vortex ISA codegen (next talk)</a:t>
            </a:r>
          </a:p>
        </p:txBody>
      </p:sp>
      <p:cxnSp>
        <p:nvCxnSpPr>
          <p:cNvPr id="14" name="Connector 13"/>
          <p:cNvCxnSpPr/>
          <p:nvPr/>
        </p:nvCxnSpPr>
        <p:spPr>
          <a:xfrm>
            <a:off x="3383280" y="4474464"/>
            <a:ext cx="0" cy="109728"/>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68680" y="4584192"/>
            <a:ext cx="5029200" cy="62484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ld: libvortex2.a + newlib libc.a, --gc-sections, 16 MB code base (112 module slots)</a:t>
            </a:r>
          </a:p>
        </p:txBody>
      </p:sp>
      <p:cxnSp>
        <p:nvCxnSpPr>
          <p:cNvPr id="16" name="Connector 15"/>
          <p:cNvCxnSpPr/>
          <p:nvPr/>
        </p:nvCxnSpPr>
        <p:spPr>
          <a:xfrm>
            <a:off x="3383280" y="5209032"/>
            <a:ext cx="0" cy="109728"/>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68680" y="5318760"/>
            <a:ext cx="5029200" cy="62484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vxbin.py → .vxbin [min_vma | max_vma | image | VXSYMTAB]</a:t>
            </a:r>
          </a:p>
        </p:txBody>
      </p:sp>
      <p:sp>
        <p:nvSpPr>
          <p:cNvPr id="18" name="Rectangle 17"/>
          <p:cNvSpPr/>
          <p:nvPr/>
        </p:nvSpPr>
        <p:spPr>
          <a:xfrm>
            <a:off x="6400800" y="1325880"/>
            <a:ext cx="5212080" cy="4754880"/>
          </a:xfrm>
          <a:prstGeom prst="rect">
            <a:avLst/>
          </a:prstGeom>
          <a:solidFill>
            <a:srgbClr val="EEF3F8"/>
          </a:solidFill>
          <a:ln w="9525">
            <a:solidFill>
              <a:srgbClr val="7B93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19" name="TextBox 18"/>
          <p:cNvSpPr txBox="1"/>
          <p:nvPr/>
        </p:nvSpPr>
        <p:spPr>
          <a:xfrm>
            <a:off x="6446520" y="1344168"/>
            <a:ext cx="5120640" cy="228600"/>
          </a:xfrm>
          <a:prstGeom prst="rect">
            <a:avLst/>
          </a:prstGeom>
          <a:noFill/>
        </p:spPr>
        <p:txBody>
          <a:bodyPr wrap="square" lIns="27432" rIns="27432" tIns="27432" bIns="27432" anchor="t">
            <a:spAutoFit/>
          </a:bodyPr>
          <a:lstStyle/>
          <a:p>
            <a:pPr algn="l"/>
            <a:r>
              <a:rPr sz="1000" b="1" i="0">
                <a:solidFill>
                  <a:srgbClr val="404040"/>
                </a:solidFill>
              </a:rPr>
              <a:t>Host code</a:t>
            </a:r>
          </a:p>
        </p:txBody>
      </p:sp>
      <p:sp>
        <p:nvSpPr>
          <p:cNvPr id="20" name="Rounded Rectangle 19"/>
          <p:cNvSpPr/>
          <p:nvPr/>
        </p:nvSpPr>
        <p:spPr>
          <a:xfrm>
            <a:off x="6537960" y="1645920"/>
            <a:ext cx="4937760" cy="580644"/>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Host source (vortex2.h, or OpenCL / HIP / Vulkan API)</a:t>
            </a:r>
          </a:p>
        </p:txBody>
      </p:sp>
      <p:cxnSp>
        <p:nvCxnSpPr>
          <p:cNvPr id="21" name="Connector 20"/>
          <p:cNvCxnSpPr/>
          <p:nvPr/>
        </p:nvCxnSpPr>
        <p:spPr>
          <a:xfrm>
            <a:off x="9006840" y="2226564"/>
            <a:ext cx="0" cy="109728"/>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537960" y="2336292"/>
            <a:ext cx="4937760" cy="580644"/>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host compiler (gcc / clang) + translator runtime (libpocl, libCHIP, mesa)</a:t>
            </a:r>
          </a:p>
        </p:txBody>
      </p:sp>
      <p:cxnSp>
        <p:nvCxnSpPr>
          <p:cNvPr id="23" name="Connector 22"/>
          <p:cNvCxnSpPr/>
          <p:nvPr/>
        </p:nvCxnSpPr>
        <p:spPr>
          <a:xfrm>
            <a:off x="9006840" y="2916936"/>
            <a:ext cx="0" cy="109728"/>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537960" y="3026664"/>
            <a:ext cx="4937760" cy="580644"/>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link libvortex.so via </a:t>
            </a:r>
            <a:r>
              <a:rPr sz="950" b="0" i="0">
                <a:solidFill>
                  <a:srgbClr val="000000"/>
                </a:solidFill>
                <a:latin typeface="Consolas"/>
              </a:rPr>
              <a:t>pkg-config --libs vortex-runtime</a:t>
            </a:r>
          </a:p>
        </p:txBody>
      </p:sp>
      <p:cxnSp>
        <p:nvCxnSpPr>
          <p:cNvPr id="25" name="Connector 24"/>
          <p:cNvCxnSpPr/>
          <p:nvPr/>
        </p:nvCxnSpPr>
        <p:spPr>
          <a:xfrm>
            <a:off x="9006840" y="3607308"/>
            <a:ext cx="0" cy="109728"/>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537960" y="3717036"/>
            <a:ext cx="4937760" cy="580644"/>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runtime: vx_module_load_file(.vxbin) → vx_module_get_kernel(name)</a:t>
            </a:r>
          </a:p>
        </p:txBody>
      </p:sp>
      <p:sp>
        <p:nvSpPr>
          <p:cNvPr id="27" name="Rectangle 26"/>
          <p:cNvSpPr/>
          <p:nvPr/>
        </p:nvSpPr>
        <p:spPr>
          <a:xfrm>
            <a:off x="6537960" y="4480560"/>
            <a:ext cx="4937760" cy="137160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950" b="0" i="0">
                <a:solidFill>
                  <a:srgbClr val="FFFFFF"/>
                </a:solidFill>
                <a:latin typeface="Consolas"/>
              </a:rPr>
              <a:t>cc main.cpp $(pkg-config --cflags --libs vortex-runtime)</a:t>
            </a:r>
          </a:p>
          <a:p>
            <a:pPr algn="l"/>
            <a:r>
              <a:rPr sz="950" b="0" i="0">
                <a:solidFill>
                  <a:srgbClr val="FFFFFF"/>
                </a:solidFill>
                <a:latin typeface="Consolas"/>
              </a:rPr>
              <a:t>VORTEX_DRIVER=simx ./main            # or rtlsim | xrt | opae</a:t>
            </a:r>
          </a:p>
          <a:p>
            <a:pPr algn="l"/>
            <a:r>
              <a:rPr sz="950" b="0" i="0">
                <a:solidFill>
                  <a:srgbClr val="FFFFFF"/>
                </a:solidFill>
                <a:latin typeface="Consolas"/>
              </a:rPr>
              <a:t>./ci/blackbox.sh --driver=rtlsim --app=vecadd --debug=3</a:t>
            </a:r>
          </a:p>
        </p:txBody>
      </p:sp>
      <p:cxnSp>
        <p:nvCxnSpPr>
          <p:cNvPr id="28" name="Connector 27"/>
          <p:cNvCxnSpPr/>
          <p:nvPr/>
        </p:nvCxnSpPr>
        <p:spPr>
          <a:xfrm flipV="1">
            <a:off x="5394960" y="5486400"/>
            <a:ext cx="1143000" cy="274320"/>
          </a:xfrm>
          <a:prstGeom prst="line">
            <a:avLst/>
          </a:prstGeom>
          <a:ln w="15875">
            <a:solidFill>
              <a:srgbClr val="40404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Host–Device Execution Flow</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25880"/>
            <a:ext cx="4846320" cy="4480560"/>
          </a:xfrm>
          <a:prstGeom prst="rect">
            <a:avLst/>
          </a:prstGeom>
          <a:solidFill>
            <a:srgbClr val="F7F7F7"/>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6" name="TextBox 5"/>
          <p:cNvSpPr txBox="1"/>
          <p:nvPr/>
        </p:nvSpPr>
        <p:spPr>
          <a:xfrm>
            <a:off x="777240" y="1344168"/>
            <a:ext cx="4754880" cy="228600"/>
          </a:xfrm>
          <a:prstGeom prst="rect">
            <a:avLst/>
          </a:prstGeom>
          <a:noFill/>
        </p:spPr>
        <p:txBody>
          <a:bodyPr wrap="square" lIns="27432" rIns="27432" tIns="27432" bIns="27432" anchor="t">
            <a:spAutoFit/>
          </a:bodyPr>
          <a:lstStyle/>
          <a:p>
            <a:pPr algn="l"/>
            <a:r>
              <a:rPr sz="1000" b="1" i="0">
                <a:solidFill>
                  <a:srgbClr val="404040"/>
                </a:solidFill>
              </a:rPr>
              <a:t>Host</a:t>
            </a:r>
          </a:p>
        </p:txBody>
      </p:sp>
      <p:sp>
        <p:nvSpPr>
          <p:cNvPr id="7" name="Rounded Rectangle 6"/>
          <p:cNvSpPr/>
          <p:nvPr/>
        </p:nvSpPr>
        <p:spPr>
          <a:xfrm>
            <a:off x="914400" y="1645920"/>
            <a:ext cx="4480560" cy="65471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Application (OpenCL / HIP / Vulkan / native)</a:t>
            </a:r>
          </a:p>
        </p:txBody>
      </p:sp>
      <p:cxnSp>
        <p:nvCxnSpPr>
          <p:cNvPr id="8" name="Connector 7"/>
          <p:cNvCxnSpPr/>
          <p:nvPr/>
        </p:nvCxnSpPr>
        <p:spPr>
          <a:xfrm>
            <a:off x="3154680" y="2300630"/>
            <a:ext cx="0" cy="164592"/>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 y="2465222"/>
            <a:ext cx="4480560" cy="65471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PoCL · chipStar · vortexpipe</a:t>
            </a:r>
          </a:p>
        </p:txBody>
      </p:sp>
      <p:cxnSp>
        <p:nvCxnSpPr>
          <p:cNvPr id="10" name="Connector 9"/>
          <p:cNvCxnSpPr/>
          <p:nvPr/>
        </p:nvCxnSpPr>
        <p:spPr>
          <a:xfrm>
            <a:off x="3154680" y="3119932"/>
            <a:ext cx="0" cy="164592"/>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14400" y="3284524"/>
            <a:ext cx="4480560" cy="65471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vortex2.h: vx_enqueue_launch / vx_enqueue_memcpy …</a:t>
            </a:r>
          </a:p>
        </p:txBody>
      </p:sp>
      <p:cxnSp>
        <p:nvCxnSpPr>
          <p:cNvPr id="12" name="Connector 11"/>
          <p:cNvCxnSpPr/>
          <p:nvPr/>
        </p:nvCxnSpPr>
        <p:spPr>
          <a:xfrm>
            <a:off x="3154680" y="3939235"/>
            <a:ext cx="0" cy="164592"/>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4103827"/>
            <a:ext cx="4480560" cy="65471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per-queue worker thread → encode command (64 B line)</a:t>
            </a:r>
          </a:p>
        </p:txBody>
      </p:sp>
      <p:cxnSp>
        <p:nvCxnSpPr>
          <p:cNvPr id="14" name="Connector 13"/>
          <p:cNvCxnSpPr/>
          <p:nvPr/>
        </p:nvCxnSpPr>
        <p:spPr>
          <a:xfrm>
            <a:off x="3154680" y="4758537"/>
            <a:ext cx="0" cy="164592"/>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14400" y="4923129"/>
            <a:ext cx="4480560" cy="654710"/>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memcpy into ring + doorbell (Q_TAIL)</a:t>
            </a:r>
          </a:p>
        </p:txBody>
      </p:sp>
      <p:sp>
        <p:nvSpPr>
          <p:cNvPr id="16" name="Rectangle 15"/>
          <p:cNvSpPr/>
          <p:nvPr/>
        </p:nvSpPr>
        <p:spPr>
          <a:xfrm>
            <a:off x="6035040" y="1325880"/>
            <a:ext cx="5577840" cy="4480560"/>
          </a:xfrm>
          <a:prstGeom prst="rect">
            <a:avLst/>
          </a:prstGeom>
          <a:solidFill>
            <a:srgbClr val="FFF8EE"/>
          </a:solidFill>
          <a:ln w="9525">
            <a:solidFill>
              <a:srgbClr val="D18B2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17" name="TextBox 16"/>
          <p:cNvSpPr txBox="1"/>
          <p:nvPr/>
        </p:nvSpPr>
        <p:spPr>
          <a:xfrm>
            <a:off x="6080759" y="1344168"/>
            <a:ext cx="5486400" cy="228600"/>
          </a:xfrm>
          <a:prstGeom prst="rect">
            <a:avLst/>
          </a:prstGeom>
          <a:noFill/>
        </p:spPr>
        <p:txBody>
          <a:bodyPr wrap="square" lIns="27432" rIns="27432" tIns="27432" bIns="27432" anchor="t">
            <a:spAutoFit/>
          </a:bodyPr>
          <a:lstStyle/>
          <a:p>
            <a:pPr algn="l"/>
            <a:r>
              <a:rPr sz="1000" b="1" i="0">
                <a:solidFill>
                  <a:srgbClr val="404040"/>
                </a:solidFill>
              </a:rPr>
              <a:t>Vortex device</a:t>
            </a:r>
          </a:p>
        </p:txBody>
      </p:sp>
      <p:sp>
        <p:nvSpPr>
          <p:cNvPr id="18" name="Rectangle 17"/>
          <p:cNvSpPr/>
          <p:nvPr/>
        </p:nvSpPr>
        <p:spPr>
          <a:xfrm>
            <a:off x="6217920" y="1691640"/>
            <a:ext cx="2468880" cy="82296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Command Processor</a:t>
            </a:r>
          </a:p>
          <a:p>
            <a:pPr algn="ctr"/>
            <a:r>
              <a:rPr sz="1050" b="0" i="0">
                <a:solidFill>
                  <a:srgbClr val="000000"/>
                </a:solidFill>
              </a:rPr>
              <a:t>fetch → unpack → engine → arbiters</a:t>
            </a:r>
          </a:p>
        </p:txBody>
      </p:sp>
      <p:sp>
        <p:nvSpPr>
          <p:cNvPr id="19" name="Rectangle 18"/>
          <p:cNvSpPr/>
          <p:nvPr/>
        </p:nvSpPr>
        <p:spPr>
          <a:xfrm>
            <a:off x="6217920" y="2743200"/>
            <a:ext cx="983894" cy="5029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KMU launch</a:t>
            </a:r>
          </a:p>
        </p:txBody>
      </p:sp>
      <p:sp>
        <p:nvSpPr>
          <p:cNvPr id="20" name="Rectangle 19"/>
          <p:cNvSpPr/>
          <p:nvPr/>
        </p:nvSpPr>
        <p:spPr>
          <a:xfrm>
            <a:off x="7274966" y="2743200"/>
            <a:ext cx="983894" cy="5029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DMA</a:t>
            </a:r>
          </a:p>
        </p:txBody>
      </p:sp>
      <p:sp>
        <p:nvSpPr>
          <p:cNvPr id="21" name="Rectangle 20"/>
          <p:cNvSpPr/>
          <p:nvPr/>
        </p:nvSpPr>
        <p:spPr>
          <a:xfrm>
            <a:off x="8332012" y="2743200"/>
            <a:ext cx="983894" cy="5029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DCR proxy</a:t>
            </a:r>
          </a:p>
        </p:txBody>
      </p:sp>
      <p:sp>
        <p:nvSpPr>
          <p:cNvPr id="22" name="Rectangle 21"/>
          <p:cNvSpPr/>
          <p:nvPr/>
        </p:nvSpPr>
        <p:spPr>
          <a:xfrm>
            <a:off x="9389059" y="2743200"/>
            <a:ext cx="983894" cy="5029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Event unit</a:t>
            </a:r>
          </a:p>
        </p:txBody>
      </p:sp>
      <p:sp>
        <p:nvSpPr>
          <p:cNvPr id="23" name="Rectangle 22"/>
          <p:cNvSpPr/>
          <p:nvPr/>
        </p:nvSpPr>
        <p:spPr>
          <a:xfrm>
            <a:off x="10446105" y="2743200"/>
            <a:ext cx="983894" cy="5029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Cache flush</a:t>
            </a:r>
          </a:p>
        </p:txBody>
      </p:sp>
      <p:sp>
        <p:nvSpPr>
          <p:cNvPr id="24" name="Rectangle 23"/>
          <p:cNvSpPr/>
          <p:nvPr/>
        </p:nvSpPr>
        <p:spPr>
          <a:xfrm>
            <a:off x="6217920" y="3474720"/>
            <a:ext cx="5212080"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KMU: grid walk → launch-bus tree → per-core CTA dispatchers</a:t>
            </a:r>
          </a:p>
        </p:txBody>
      </p:sp>
      <p:sp>
        <p:nvSpPr>
          <p:cNvPr id="25" name="Rectangle 24"/>
          <p:cNvSpPr/>
          <p:nvPr/>
        </p:nvSpPr>
        <p:spPr>
          <a:xfrm>
            <a:off x="6217920" y="4251960"/>
            <a:ext cx="5212080" cy="54864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Cores run warps; </a:t>
            </a:r>
            <a:r>
              <a:rPr sz="1100" b="0" i="0">
                <a:solidFill>
                  <a:srgbClr val="000000"/>
                </a:solidFill>
                <a:latin typeface="Consolas"/>
              </a:rPr>
              <a:t>busy</a:t>
            </a:r>
            <a:r>
              <a:rPr sz="1100" b="0" i="0">
                <a:solidFill>
                  <a:srgbClr val="000000"/>
                </a:solidFill>
              </a:rPr>
              <a:t> falls → CMD_LAUNCH retires → seqnum written to host</a:t>
            </a:r>
          </a:p>
        </p:txBody>
      </p:sp>
      <p:sp>
        <p:nvSpPr>
          <p:cNvPr id="26" name="Rectangle 25"/>
          <p:cNvSpPr/>
          <p:nvPr/>
        </p:nvSpPr>
        <p:spPr>
          <a:xfrm>
            <a:off x="8961120" y="1691640"/>
            <a:ext cx="2468880" cy="82296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Device memory</a:t>
            </a:r>
          </a:p>
          <a:p>
            <a:pPr algn="ctr"/>
            <a:r>
              <a:rPr sz="1050" b="0" i="0">
                <a:solidFill>
                  <a:srgbClr val="000000"/>
                </a:solidFill>
              </a:rPr>
              <a:t>(DMA via axi_dev)</a:t>
            </a:r>
          </a:p>
        </p:txBody>
      </p:sp>
      <p:cxnSp>
        <p:nvCxnSpPr>
          <p:cNvPr id="27" name="Connector 26"/>
          <p:cNvCxnSpPr/>
          <p:nvPr/>
        </p:nvCxnSpPr>
        <p:spPr>
          <a:xfrm>
            <a:off x="5394960" y="5440680"/>
            <a:ext cx="365760" cy="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760720" y="2103120"/>
            <a:ext cx="0" cy="333756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760720" y="2103120"/>
            <a:ext cx="45720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40680" y="3017520"/>
            <a:ext cx="731520" cy="1097280"/>
          </a:xfrm>
          <a:prstGeom prst="rect">
            <a:avLst/>
          </a:prstGeom>
          <a:noFill/>
        </p:spPr>
        <p:txBody>
          <a:bodyPr wrap="square" lIns="27432" rIns="27432" tIns="27432" bIns="27432" anchor="t">
            <a:spAutoFit/>
          </a:bodyPr>
          <a:lstStyle/>
          <a:p>
            <a:pPr algn="ctr"/>
            <a:r>
              <a:rPr sz="900" b="0" i="0">
                <a:solidFill>
                  <a:srgbClr val="555555"/>
                </a:solidFill>
              </a:rPr>
              <a:t>ring</a:t>
            </a:r>
          </a:p>
          <a:p>
            <a:pPr algn="ctr"/>
            <a:r>
              <a:rPr sz="900" b="0" i="0">
                <a:solidFill>
                  <a:srgbClr val="555555"/>
                </a:solidFill>
              </a:rPr>
              <a:t>fetch</a:t>
            </a:r>
          </a:p>
          <a:p>
            <a:pPr algn="ctr"/>
            <a:r>
              <a:rPr sz="900" b="0" i="0">
                <a:solidFill>
                  <a:srgbClr val="555555"/>
                </a:solidFill>
              </a:rPr>
              <a:t>+</a:t>
            </a:r>
          </a:p>
          <a:p>
            <a:pPr algn="ctr"/>
            <a:r>
              <a:rPr sz="900" b="0" i="0">
                <a:solidFill>
                  <a:srgbClr val="555555"/>
                </a:solidFill>
              </a:rPr>
              <a:t>seqnum</a:t>
            </a:r>
          </a:p>
        </p:txBody>
      </p:sp>
      <p:cxnSp>
        <p:nvCxnSpPr>
          <p:cNvPr id="31" name="Connector 30"/>
          <p:cNvCxnSpPr/>
          <p:nvPr/>
        </p:nvCxnSpPr>
        <p:spPr>
          <a:xfrm>
            <a:off x="7452360" y="2514600"/>
            <a:ext cx="0" cy="22860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52360" y="3246120"/>
            <a:ext cx="0" cy="22860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823960" y="4023360"/>
            <a:ext cx="0" cy="22860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2743200" y="5760720"/>
            <a:ext cx="8869680" cy="365760"/>
          </a:xfrm>
          <a:prstGeom prst="rect">
            <a:avLst/>
          </a:prstGeom>
          <a:solidFill>
            <a:srgbClr val="FFFBE6"/>
          </a:solidFill>
          <a:ln w="12700">
            <a:solidFill>
              <a:srgbClr val="D4B106"/>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050" b="0" i="0">
                <a:solidFill>
                  <a:srgbClr val="333333"/>
                </a:solidFill>
              </a:rPr>
              <a:t>A launch = 20× CMD_DCR_WRITE + CMD_LAUNCH + CMD_CACHE_FLUSH. Host cost per command: one memcpy + one doorbell; everything else is device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VortexRT: the vortex2.h Runtime API</a:t>
            </a:r>
          </a:p>
        </p:txBody>
      </p:sp>
      <p:sp>
        <p:nvSpPr>
          <p:cNvPr id="3" name="Text Placeholder 2"/>
          <p:cNvSpPr>
            <a:spLocks noGrp="1"/>
          </p:cNvSpPr>
          <p:nvPr>
            <p:ph type="body" idx="1"/>
          </p:nvPr>
        </p:nvSpPr>
        <p:spPr>
          <a:xfrm>
            <a:off x="6583680" y="1783080"/>
            <a:ext cx="5120640" cy="4297680"/>
          </a:xfrm>
        </p:spPr>
        <p:txBody>
          <a:bodyPr wrap="square"/>
          <a:lstStyle/>
          <a:p>
            <a:pPr marL="0" indent="0">
              <a:spcBef>
                <a:spcPts val="500"/>
              </a:spcBef>
              <a:buNone/>
            </a:pPr>
            <a:r>
              <a:rPr sz="1250" b="1" i="0">
                <a:solidFill>
                  <a:srgbClr val="1F394D"/>
                </a:solidFill>
              </a:rPr>
              <a:t>Shape-lock features</a:t>
            </a:r>
          </a:p>
          <a:p>
            <a:pPr lvl="1" marL="342900" indent="-228600">
              <a:spcBef>
                <a:spcPts val="100"/>
              </a:spcBef>
              <a:buFont typeface="Arial"/>
              <a:buChar char="•"/>
            </a:pPr>
            <a:r>
              <a:rPr sz="1100" b="0" i="0">
                <a:solidFill>
                  <a:srgbClr val="000000"/>
                </a:solidFill>
              </a:rPr>
              <a:t>timeline events: host-side refcounted, monotonic counter + condvar; </a:t>
            </a:r>
            <a:r>
              <a:rPr sz="1100" b="0" i="0">
                <a:solidFill>
                  <a:srgbClr val="000000"/>
                </a:solidFill>
                <a:latin typeface="Consolas"/>
              </a:rPr>
              <a:t>vx_event_{signal,get_value,wait_value,wait_values,get_profiling}</a:t>
            </a:r>
          </a:p>
          <a:p>
            <a:pPr lvl="1" marL="342900" indent="-228600">
              <a:spcBef>
                <a:spcPts val="100"/>
              </a:spcBef>
              <a:buFont typeface="Arial"/>
              <a:buChar char="•"/>
            </a:pPr>
            <a:r>
              <a:rPr sz="1100" b="0" i="0">
                <a:solidFill>
                  <a:srgbClr val="000000"/>
                </a:solidFill>
              </a:rPr>
              <a:t>module / kernel handles from </a:t>
            </a:r>
            <a:r>
              <a:rPr sz="1100" b="0" i="0">
                <a:solidFill>
                  <a:srgbClr val="000000"/>
                </a:solidFill>
                <a:latin typeface="Consolas"/>
              </a:rPr>
              <a:t>.vxbin</a:t>
            </a:r>
            <a:r>
              <a:rPr sz="1100" b="0" i="0">
                <a:solidFill>
                  <a:srgbClr val="000000"/>
                </a:solidFill>
              </a:rPr>
              <a:t> + VXSYMTAB; legacy → "main"</a:t>
            </a:r>
          </a:p>
          <a:p>
            <a:pPr lvl="1" marL="342900" indent="-228600">
              <a:spcBef>
                <a:spcPts val="100"/>
              </a:spcBef>
              <a:buFont typeface="Arial"/>
              <a:buChar char="•"/>
            </a:pPr>
            <a:r>
              <a:rPr sz="1100" b="0" i="0">
                <a:solidFill>
                  <a:srgbClr val="000000"/>
                </a:solidFill>
              </a:rPr>
              <a:t>UVA raw-pointer args: runtime stages the blob into a per-device scratch slot and programs KMU ARG DCRs</a:t>
            </a:r>
          </a:p>
          <a:p>
            <a:pPr marL="0" indent="0">
              <a:spcBef>
                <a:spcPts val="500"/>
              </a:spcBef>
              <a:buNone/>
            </a:pPr>
            <a:r>
              <a:rPr sz="1250" b="1" i="0">
                <a:solidFill>
                  <a:srgbClr val="1F394D"/>
                </a:solidFill>
              </a:rPr>
              <a:t>Execution</a:t>
            </a:r>
          </a:p>
          <a:p>
            <a:pPr lvl="1" marL="342900" indent="-228600">
              <a:spcBef>
                <a:spcPts val="100"/>
              </a:spcBef>
              <a:buFont typeface="Arial"/>
              <a:buChar char="•"/>
            </a:pPr>
            <a:r>
              <a:rPr sz="1100" b="0" i="0">
                <a:solidFill>
                  <a:srgbClr val="000000"/>
                </a:solidFill>
              </a:rPr>
              <a:t>each </a:t>
            </a:r>
            <a:r>
              <a:rPr sz="1100" b="0" i="0">
                <a:solidFill>
                  <a:srgbClr val="000000"/>
                </a:solidFill>
                <a:latin typeface="Consolas"/>
              </a:rPr>
              <a:t>vx_enqueue_*</a:t>
            </a:r>
            <a:r>
              <a:rPr sz="1100" b="0" i="0">
                <a:solidFill>
                  <a:srgbClr val="000000"/>
                </a:solidFill>
              </a:rPr>
              <a:t> pushes a lambda to a per-queue worker thread</a:t>
            </a:r>
          </a:p>
          <a:p>
            <a:pPr lvl="1" marL="342900" indent="-228600">
              <a:spcBef>
                <a:spcPts val="100"/>
              </a:spcBef>
              <a:buFont typeface="Arial"/>
              <a:buChar char="•"/>
            </a:pPr>
            <a:r>
              <a:rPr sz="1100" b="0" i="0">
                <a:solidFill>
                  <a:srgbClr val="000000"/>
                </a:solidFill>
              </a:rPr>
              <a:t>batch: </a:t>
            </a:r>
            <a:r>
              <a:rPr sz="1100" b="0" i="0">
                <a:solidFill>
                  <a:srgbClr val="000000"/>
                </a:solidFill>
                <a:latin typeface="Consolas"/>
              </a:rPr>
              <a:t>vx_enqueue_commands</a:t>
            </a:r>
            <a:r>
              <a:rPr sz="1100" b="0" i="0">
                <a:solidFill>
                  <a:srgbClr val="000000"/>
                </a:solidFill>
              </a:rPr>
              <a:t> = one doorbell (used for TEX binds + launch)</a:t>
            </a:r>
          </a:p>
          <a:p>
            <a:pPr marL="0" indent="0">
              <a:spcBef>
                <a:spcPts val="500"/>
              </a:spcBef>
              <a:buNone/>
            </a:pPr>
            <a:r>
              <a:rPr sz="1250" b="1" i="0">
                <a:solidFill>
                  <a:srgbClr val="1F394D"/>
                </a:solidFill>
              </a:rPr>
              <a:t>Deferred (additive)</a:t>
            </a:r>
          </a:p>
          <a:p>
            <a:pPr lvl="1" marL="342900" indent="-228600">
              <a:spcBef>
                <a:spcPts val="100"/>
              </a:spcBef>
              <a:buFont typeface="Arial"/>
              <a:buChar char="•"/>
            </a:pPr>
            <a:r>
              <a:rPr sz="1100" b="0" i="0">
                <a:solidFill>
                  <a:srgbClr val="000000"/>
                </a:solidFill>
              </a:rPr>
              <a:t>pools, indirect dispatch, host functions, SVM, command buffers, per-arg setters</a:t>
            </a:r>
          </a:p>
          <a:p>
            <a:pPr lvl="1" marL="342900" indent="-228600">
              <a:spcBef>
                <a:spcPts val="100"/>
              </a:spcBef>
              <a:buFont typeface="Arial"/>
              <a:buChar char="•"/>
            </a:pPr>
            <a:r>
              <a:rPr sz="1100" b="0" i="0">
                <a:solidFill>
                  <a:srgbClr val="000000"/>
                </a:solidFill>
              </a:rPr>
              <a:t>escape hatch: </a:t>
            </a:r>
            <a:r>
              <a:rPr sz="1100" b="0" i="0">
                <a:solidFill>
                  <a:srgbClr val="000000"/>
                </a:solidFill>
                <a:latin typeface="Consolas"/>
              </a:rPr>
              <a:t>kernel == NULL</a:t>
            </a:r>
            <a:r>
              <a:rPr sz="1100" b="0" i="0">
                <a:solidFill>
                  <a:srgbClr val="000000"/>
                </a:solidFill>
              </a:rPr>
              <a:t>, </a:t>
            </a:r>
            <a:r>
              <a:rPr sz="1100" b="0" i="0">
                <a:solidFill>
                  <a:srgbClr val="000000"/>
                </a:solidFill>
                <a:latin typeface="Consolas"/>
              </a:rPr>
              <a:t>args_host == NULL</a:t>
            </a:r>
            <a:r>
              <a:rPr sz="1100" b="0" i="0">
                <a:solidFill>
                  <a:srgbClr val="000000"/>
                </a:solidFill>
              </a:rPr>
              <a:t>, </a:t>
            </a:r>
            <a:r>
              <a:rPr sz="1100" b="0" i="0">
                <a:solidFill>
                  <a:srgbClr val="000000"/>
                </a:solidFill>
                <a:latin typeface="Consolas"/>
              </a:rPr>
              <a:t>ndim == 0</a:t>
            </a:r>
            <a:r>
              <a:rPr sz="1100" b="0" i="0">
                <a:solidFill>
                  <a:srgbClr val="000000"/>
                </a:solidFill>
              </a:rPr>
              <a:t> → pre-programmed DCRs</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ounded Rectangle 4"/>
          <p:cNvSpPr/>
          <p:nvPr/>
        </p:nvSpPr>
        <p:spPr>
          <a:xfrm>
            <a:off x="731520" y="1325880"/>
            <a:ext cx="1661160" cy="457200"/>
          </a:xfrm>
          <a:prstGeom prst="roundRect">
            <a:avLst>
              <a:gd name="adj" fmla="val 12000"/>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FFFFFF"/>
                </a:solidFill>
              </a:rPr>
              <a:t>vx_device_h</a:t>
            </a:r>
          </a:p>
        </p:txBody>
      </p:sp>
      <p:sp>
        <p:nvSpPr>
          <p:cNvPr id="6" name="Rounded Rectangle 5"/>
          <p:cNvSpPr/>
          <p:nvPr/>
        </p:nvSpPr>
        <p:spPr>
          <a:xfrm>
            <a:off x="2575560" y="1325880"/>
            <a:ext cx="1661160" cy="457200"/>
          </a:xfrm>
          <a:prstGeom prst="roundRect">
            <a:avLst>
              <a:gd name="adj" fmla="val 12000"/>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FFFFFF"/>
                </a:solidFill>
              </a:rPr>
              <a:t>vx_buffer_h</a:t>
            </a:r>
          </a:p>
        </p:txBody>
      </p:sp>
      <p:sp>
        <p:nvSpPr>
          <p:cNvPr id="7" name="Rounded Rectangle 6"/>
          <p:cNvSpPr/>
          <p:nvPr/>
        </p:nvSpPr>
        <p:spPr>
          <a:xfrm>
            <a:off x="4419600" y="1325880"/>
            <a:ext cx="1661160" cy="457200"/>
          </a:xfrm>
          <a:prstGeom prst="roundRect">
            <a:avLst>
              <a:gd name="adj" fmla="val 12000"/>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FFFFFF"/>
                </a:solidFill>
              </a:rPr>
              <a:t>vx_queue_h</a:t>
            </a:r>
          </a:p>
        </p:txBody>
      </p:sp>
      <p:sp>
        <p:nvSpPr>
          <p:cNvPr id="8" name="Rounded Rectangle 7"/>
          <p:cNvSpPr/>
          <p:nvPr/>
        </p:nvSpPr>
        <p:spPr>
          <a:xfrm>
            <a:off x="6263640" y="1325880"/>
            <a:ext cx="1661160" cy="457200"/>
          </a:xfrm>
          <a:prstGeom prst="roundRect">
            <a:avLst>
              <a:gd name="adj" fmla="val 12000"/>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FFFFFF"/>
                </a:solidFill>
              </a:rPr>
              <a:t>vx_event_h</a:t>
            </a:r>
          </a:p>
        </p:txBody>
      </p:sp>
      <p:sp>
        <p:nvSpPr>
          <p:cNvPr id="9" name="Rounded Rectangle 8"/>
          <p:cNvSpPr/>
          <p:nvPr/>
        </p:nvSpPr>
        <p:spPr>
          <a:xfrm>
            <a:off x="8107680" y="1325880"/>
            <a:ext cx="1661160" cy="457200"/>
          </a:xfrm>
          <a:prstGeom prst="roundRect">
            <a:avLst>
              <a:gd name="adj" fmla="val 12000"/>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FFFFFF"/>
                </a:solidFill>
              </a:rPr>
              <a:t>vx_module_h</a:t>
            </a:r>
          </a:p>
        </p:txBody>
      </p:sp>
      <p:sp>
        <p:nvSpPr>
          <p:cNvPr id="10" name="Rounded Rectangle 9"/>
          <p:cNvSpPr/>
          <p:nvPr/>
        </p:nvSpPr>
        <p:spPr>
          <a:xfrm>
            <a:off x="9951720" y="1325880"/>
            <a:ext cx="1661160" cy="457200"/>
          </a:xfrm>
          <a:prstGeom prst="roundRect">
            <a:avLst>
              <a:gd name="adj" fmla="val 12000"/>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FFFFFF"/>
                </a:solidFill>
              </a:rPr>
              <a:t>vx_kernel_h</a:t>
            </a:r>
          </a:p>
        </p:txBody>
      </p:sp>
      <p:sp>
        <p:nvSpPr>
          <p:cNvPr id="11" name="Rectangle 10"/>
          <p:cNvSpPr/>
          <p:nvPr/>
        </p:nvSpPr>
        <p:spPr>
          <a:xfrm>
            <a:off x="731520" y="1965960"/>
            <a:ext cx="5669280" cy="411480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050" b="0" i="0">
                <a:solidFill>
                  <a:srgbClr val="FFFFFF"/>
                </a:solidFill>
                <a:latin typeface="Consolas"/>
              </a:rPr>
              <a:t>vx_dev_open(0, &amp;dev); vx_mem_alloc(dev, N, VX_MEM_READ_WRITE, &amp;buf);</a:t>
            </a:r>
          </a:p>
          <a:p>
            <a:pPr algn="l"/>
            <a:r>
              <a:rPr sz="1050" b="0" i="0">
                <a:solidFill>
                  <a:srgbClr val="FFFFFF"/>
                </a:solidFill>
                <a:latin typeface="Consolas"/>
              </a:rPr>
              <a:t>vx_queue_create(dev, &amp;q);</a:t>
            </a:r>
          </a:p>
          <a:p>
            <a:pPr algn="l"/>
            <a:r>
              <a:rPr sz="1050" b="0" i="0">
                <a:solidFill>
                  <a:srgbClr val="FFFFFF"/>
                </a:solidFill>
                <a:latin typeface="Consolas"/>
              </a:rPr>
              <a:t>vx_module_load_file(dev, "kernel.vxbin", &amp;mod);</a:t>
            </a:r>
          </a:p>
          <a:p>
            <a:pPr algn="l"/>
            <a:r>
              <a:rPr sz="1050" b="0" i="0">
                <a:solidFill>
                  <a:srgbClr val="FFFFFF"/>
                </a:solidFill>
                <a:latin typeface="Consolas"/>
              </a:rPr>
              <a:t>vx_module_get_kernel(mod, "add_k", &amp;kernel);</a:t>
            </a:r>
          </a:p>
          <a:p>
            <a:pPr algn="l"/>
          </a:p>
          <a:p>
            <a:pPr algn="l"/>
            <a:r>
              <a:rPr sz="1050" b="0" i="0">
                <a:solidFill>
                  <a:srgbClr val="FFFFFF"/>
                </a:solidFill>
                <a:latin typeface="Consolas"/>
              </a:rPr>
              <a:t>vx_launch_info_t li = { .kernel = kernel,</a:t>
            </a:r>
          </a:p>
          <a:p>
            <a:pPr algn="l"/>
            <a:r>
              <a:rPr sz="1050" b="0" i="0">
                <a:solidFill>
                  <a:srgbClr val="FFFFFF"/>
                </a:solidFill>
                <a:latin typeface="Consolas"/>
              </a:rPr>
              <a:t>    .args_host = &amp;args, .args_size = sizeof(args),</a:t>
            </a:r>
          </a:p>
          <a:p>
            <a:pPr algn="l"/>
            <a:r>
              <a:rPr sz="1050" b="0" i="0">
                <a:solidFill>
                  <a:srgbClr val="FFFFFF"/>
                </a:solidFill>
                <a:latin typeface="Consolas"/>
              </a:rPr>
              <a:t>    .ndim = 1, .grid_dim = {G}, .block_dim = {B},</a:t>
            </a:r>
          </a:p>
          <a:p>
            <a:pPr algn="l"/>
            <a:r>
              <a:rPr sz="1050" b="0" i="0">
                <a:solidFill>
                  <a:srgbClr val="FFFFFF"/>
                </a:solidFill>
                <a:latin typeface="Consolas"/>
              </a:rPr>
              <a:t>    .cluster_dim = {1, 1, 1} };</a:t>
            </a:r>
          </a:p>
          <a:p>
            <a:pPr algn="l"/>
            <a:r>
              <a:rPr sz="1050" b="0" i="0">
                <a:solidFill>
                  <a:srgbClr val="FFFFFF"/>
                </a:solidFill>
                <a:latin typeface="Consolas"/>
              </a:rPr>
              <a:t>vx_enqueue_memcpy_htod(q, buf, src, N, 0, &amp;ev0);</a:t>
            </a:r>
          </a:p>
          <a:p>
            <a:pPr algn="l"/>
            <a:r>
              <a:rPr sz="1050" b="0" i="0">
                <a:solidFill>
                  <a:srgbClr val="FFFFFF"/>
                </a:solidFill>
                <a:latin typeface="Consolas"/>
              </a:rPr>
              <a:t>vx_enqueue_launch(q, &amp;li, &amp;ev1);</a:t>
            </a:r>
          </a:p>
          <a:p>
            <a:pPr algn="l"/>
            <a:r>
              <a:rPr sz="1050" b="0" i="0">
                <a:solidFill>
                  <a:srgbClr val="FFFFFF"/>
                </a:solidFill>
                <a:latin typeface="Consolas"/>
              </a:rPr>
              <a:t>vx_enqueue_memcpy_dtoh(q, dst, buf, N, 0, &amp;ev2);</a:t>
            </a:r>
          </a:p>
          <a:p>
            <a:pPr algn="l"/>
            <a:r>
              <a:rPr sz="1050" b="0" i="0">
                <a:solidFill>
                  <a:srgbClr val="FFFFFF"/>
                </a:solidFill>
                <a:latin typeface="Consolas"/>
              </a:rPr>
              <a:t>vx_event_wait_value(ev2, 1);  // timeline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Asynchronous Barriers: ISA and Kernel API</a:t>
            </a:r>
          </a:p>
        </p:txBody>
      </p:sp>
      <p:sp>
        <p:nvSpPr>
          <p:cNvPr id="3" name="Text Placeholder 2"/>
          <p:cNvSpPr>
            <a:spLocks noGrp="1"/>
          </p:cNvSpPr>
          <p:nvPr>
            <p:ph type="body" idx="1"/>
          </p:nvPr>
        </p:nvSpPr>
        <p:spPr>
          <a:xfrm>
            <a:off x="6583680" y="1188720"/>
            <a:ext cx="5120640" cy="4937760"/>
          </a:xfrm>
        </p:spPr>
        <p:txBody>
          <a:bodyPr wrap="square"/>
          <a:lstStyle/>
          <a:p>
            <a:pPr marL="0" indent="0">
              <a:spcBef>
                <a:spcPts val="500"/>
              </a:spcBef>
              <a:buNone/>
            </a:pPr>
            <a:r>
              <a:rPr sz="1300" b="1" i="0">
                <a:solidFill>
                  <a:srgbClr val="1F394D"/>
                </a:solidFill>
              </a:rPr>
              <a:t>Barrier id packing</a:t>
            </a:r>
          </a:p>
          <a:p>
            <a:pPr lvl="1" marL="342900" indent="-228600">
              <a:spcBef>
                <a:spcPts val="100"/>
              </a:spcBef>
              <a:buFont typeface="Arial"/>
              <a:buChar char="•"/>
            </a:pPr>
            <a:r>
              <a:rPr sz="1150" b="0" i="0">
                <a:solidFill>
                  <a:srgbClr val="000000"/>
                </a:solidFill>
                <a:latin typeface="Consolas"/>
              </a:rPr>
              <a:t>barrier</a:t>
            </a:r>
            <a:r>
              <a:rPr sz="1150" b="0" i="0">
                <a:solidFill>
                  <a:srgbClr val="000000"/>
                </a:solidFill>
              </a:rPr>
              <a:t>: (index &lt;&lt; 8) + local group id (CTA slot) → rows isolated per CTA</a:t>
            </a:r>
          </a:p>
          <a:p>
            <a:pPr lvl="1" marL="342900" indent="-228600">
              <a:spcBef>
                <a:spcPts val="100"/>
              </a:spcBef>
              <a:buFont typeface="Arial"/>
              <a:buChar char="•"/>
            </a:pPr>
            <a:r>
              <a:rPr sz="1150" b="0" i="0">
                <a:solidFill>
                  <a:srgbClr val="000000"/>
                </a:solidFill>
                <a:latin typeface="Consolas"/>
              </a:rPr>
              <a:t>gbarrier</a:t>
            </a:r>
            <a:r>
              <a:rPr sz="1150" b="0" i="0">
                <a:solidFill>
                  <a:srgbClr val="000000"/>
                </a:solidFill>
              </a:rPr>
              <a:t>: (index &lt;&lt; 8) | 0x80000000 → cluster-level unit, counts cores</a:t>
            </a:r>
          </a:p>
          <a:p>
            <a:pPr lvl="1" marL="342900" indent="-228600">
              <a:spcBef>
                <a:spcPts val="100"/>
              </a:spcBef>
              <a:buFont typeface="Arial"/>
              <a:buChar char="•"/>
            </a:pPr>
            <a:r>
              <a:rPr sz="1150" b="0" i="0">
                <a:solidFill>
                  <a:srgbClr val="000000"/>
                </a:solidFill>
                <a:latin typeface="Consolas"/>
              </a:rPr>
              <a:t>group_barrier</a:t>
            </a:r>
            <a:r>
              <a:rPr sz="1150" b="0" i="0">
                <a:solidFill>
                  <a:srgbClr val="000000"/>
                </a:solidFill>
              </a:rPr>
              <a:t>: (index &lt;&lt; 8), no CTA id → all K members share one row</a:t>
            </a:r>
          </a:p>
          <a:p>
            <a:pPr marL="0" indent="0">
              <a:spcBef>
                <a:spcPts val="500"/>
              </a:spcBef>
              <a:buNone/>
            </a:pPr>
            <a:r>
              <a:rPr sz="1300" b="1" i="0">
                <a:solidFill>
                  <a:srgbClr val="1F394D"/>
                </a:solidFill>
              </a:rPr>
              <a:t>Configuration</a:t>
            </a:r>
          </a:p>
          <a:p>
            <a:pPr lvl="1" marL="342900" indent="-228600">
              <a:spcBef>
                <a:spcPts val="100"/>
              </a:spcBef>
              <a:buFont typeface="Arial"/>
              <a:buChar char="•"/>
            </a:pPr>
            <a:r>
              <a:rPr sz="1150" b="0" i="0">
                <a:solidFill>
                  <a:srgbClr val="000000"/>
                </a:solidFill>
                <a:latin typeface="Consolas"/>
              </a:rPr>
              <a:t>VX_CFG_NUM_BARRIERS</a:t>
            </a:r>
            <a:r>
              <a:rPr sz="1150" b="0" i="0">
                <a:solidFill>
                  <a:srgbClr val="000000"/>
                </a:solidFill>
              </a:rPr>
              <a:t> = 8 per CTA · </a:t>
            </a:r>
            <a:r>
              <a:rPr sz="1150" b="0" i="0">
                <a:solidFill>
                  <a:srgbClr val="000000"/>
                </a:solidFill>
                <a:latin typeface="Consolas"/>
              </a:rPr>
              <a:t>VX_CFG_MAX_BAR_EVENTS</a:t>
            </a:r>
            <a:r>
              <a:rPr sz="1150" b="0" i="0">
                <a:solidFill>
                  <a:srgbClr val="000000"/>
                </a:solidFill>
              </a:rPr>
              <a:t> = 32</a:t>
            </a:r>
          </a:p>
          <a:p>
            <a:pPr lvl="1" marL="342900" indent="-228600">
              <a:spcBef>
                <a:spcPts val="100"/>
              </a:spcBef>
              <a:buFont typeface="Arial"/>
              <a:buChar char="•"/>
            </a:pPr>
            <a:r>
              <a:rPr sz="1150" b="0" i="0">
                <a:solidFill>
                  <a:srgbClr val="000000"/>
                </a:solidFill>
              </a:rPr>
              <a:t>bar unit row = {warp mask, count, events, phase}</a:t>
            </a:r>
          </a:p>
          <a:p>
            <a:pPr marL="0" indent="0">
              <a:spcBef>
                <a:spcPts val="500"/>
              </a:spcBef>
              <a:buNone/>
            </a:pPr>
            <a:r>
              <a:rPr sz="1300" b="1" i="0">
                <a:solidFill>
                  <a:srgbClr val="1F394D"/>
                </a:solidFill>
              </a:rPr>
              <a:t>Why</a:t>
            </a:r>
          </a:p>
          <a:p>
            <a:pPr lvl="1" marL="342900" indent="-228600">
              <a:spcBef>
                <a:spcPts val="100"/>
              </a:spcBef>
              <a:buFont typeface="Arial"/>
              <a:buChar char="•"/>
            </a:pPr>
            <a:r>
              <a:rPr sz="1150" b="0" i="0">
                <a:solidFill>
                  <a:srgbClr val="000000"/>
                </a:solidFill>
              </a:rPr>
              <a:t>producer announces a tile and moves on; consumers wait on one phase</a:t>
            </a:r>
          </a:p>
          <a:p>
            <a:pPr lvl="1" marL="342900" indent="-228600">
              <a:spcBef>
                <a:spcPts val="100"/>
              </a:spcBef>
              <a:buFont typeface="Arial"/>
              <a:buChar char="•"/>
            </a:pPr>
            <a:r>
              <a:rPr sz="1150" b="0" i="0">
                <a:solidFill>
                  <a:srgbClr val="000000"/>
                </a:solidFill>
              </a:rPr>
              <a:t>engines complete barriers directly — no polling warp, no shared-memory object</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graphicFrame>
        <p:nvGraphicFramePr>
          <p:cNvPr id="5" name="Table 4"/>
          <p:cNvGraphicFramePr>
            <a:graphicFrameLocks noGrp="1"/>
          </p:cNvGraphicFramePr>
          <p:nvPr/>
        </p:nvGraphicFramePr>
        <p:xfrm>
          <a:off x="731520" y="1280160"/>
          <a:ext cx="5669280" cy="2304288"/>
        </p:xfrm>
        <a:graphic>
          <a:graphicData uri="http://schemas.openxmlformats.org/drawingml/2006/table">
            <a:tbl>
              <a:tblPr firstRow="0" bandRow="0">
                <a:tableStyleId>{5940675A-B579-460E-94D1-54222C63F5DA}</a:tableStyleId>
              </a:tblPr>
              <a:tblGrid>
                <a:gridCol w="1737360"/>
                <a:gridCol w="3931920"/>
              </a:tblGrid>
              <a:tr h="384048">
                <a:tc>
                  <a:txBody>
                    <a:bodyPr wrap="square"/>
                    <a:lstStyle/>
                    <a:p>
                      <a:pPr algn="l"/>
                      <a:r>
                        <a:rPr sz="1050" b="1" i="0">
                          <a:solidFill>
                            <a:srgbClr val="FFFFFF"/>
                          </a:solidFill>
                        </a:rPr>
                        <a:t>Primitive</a:t>
                      </a:r>
                    </a:p>
                  </a:txBody>
                  <a:tcPr marL="45720" marR="45720" marT="18288" marB="18288" anchor="ctr">
                    <a:solidFill>
                      <a:srgbClr val="1F394D"/>
                    </a:solidFill>
                  </a:tcPr>
                </a:tc>
                <a:tc>
                  <a:txBody>
                    <a:bodyPr wrap="square"/>
                    <a:lstStyle/>
                    <a:p>
                      <a:pPr algn="l"/>
                      <a:r>
                        <a:rPr sz="1050" b="1" i="0">
                          <a:solidFill>
                            <a:srgbClr val="FFFFFF"/>
                          </a:solidFill>
                        </a:rPr>
                        <a:t>Semantics</a:t>
                      </a:r>
                    </a:p>
                  </a:txBody>
                  <a:tcPr marL="45720" marR="45720" marT="18288" marB="18288" anchor="ctr">
                    <a:solidFill>
                      <a:srgbClr val="1F394D"/>
                    </a:solidFill>
                  </a:tcPr>
                </a:tc>
              </a:tr>
              <a:tr h="384048">
                <a:tc>
                  <a:txBody>
                    <a:bodyPr wrap="square"/>
                    <a:lstStyle/>
                    <a:p>
                      <a:pPr algn="l"/>
                      <a:r>
                        <a:rPr sz="1050" b="0" i="0">
                          <a:solidFill>
                            <a:srgbClr val="000000"/>
                          </a:solidFill>
                          <a:latin typeface="Consolas"/>
                        </a:rPr>
                        <a:t>arrive(bar, count)</a:t>
                      </a:r>
                    </a:p>
                  </a:txBody>
                  <a:tcPr marL="45720" marR="45720" marT="18288" marB="18288" anchor="ctr">
                    <a:solidFill>
                      <a:srgbClr val="FFFFFF"/>
                    </a:solidFill>
                  </a:tcPr>
                </a:tc>
                <a:tc>
                  <a:txBody>
                    <a:bodyPr wrap="square"/>
                    <a:lstStyle/>
                    <a:p>
                      <a:pPr algn="l"/>
                      <a:r>
                        <a:rPr sz="1050" b="0" i="0">
                          <a:solidFill>
                            <a:srgbClr val="000000"/>
                          </a:solidFill>
                        </a:rPr>
                        <a:t>count the warp; returns phase bit sampled before arrival</a:t>
                      </a:r>
                    </a:p>
                  </a:txBody>
                  <a:tcPr marL="45720" marR="45720" marT="18288" marB="18288" anchor="ctr">
                    <a:solidFill>
                      <a:srgbClr val="FFFFFF"/>
                    </a:solidFill>
                  </a:tcPr>
                </a:tc>
              </a:tr>
              <a:tr h="384048">
                <a:tc>
                  <a:txBody>
                    <a:bodyPr wrap="square"/>
                    <a:lstStyle/>
                    <a:p>
                      <a:pPr algn="l"/>
                      <a:r>
                        <a:rPr sz="1050" b="0" i="0">
                          <a:solidFill>
                            <a:srgbClr val="000000"/>
                          </a:solidFill>
                          <a:latin typeface="Consolas"/>
                        </a:rPr>
                        <a:t>wait(bar, phase)</a:t>
                      </a:r>
                    </a:p>
                  </a:txBody>
                  <a:tcPr marL="45720" marR="45720" marT="18288" marB="18288" anchor="ctr">
                    <a:solidFill>
                      <a:srgbClr val="F2F6FA"/>
                    </a:solidFill>
                  </a:tcPr>
                </a:tc>
                <a:tc>
                  <a:txBody>
                    <a:bodyPr wrap="square"/>
                    <a:lstStyle/>
                    <a:p>
                      <a:pPr algn="l"/>
                      <a:r>
                        <a:rPr sz="1050" b="0" i="0">
                          <a:solidFill>
                            <a:srgbClr val="000000"/>
                          </a:solidFill>
                        </a:rPr>
                        <a:t>stall while barrier phase == phase (one bit flips per generation)</a:t>
                      </a:r>
                    </a:p>
                  </a:txBody>
                  <a:tcPr marL="45720" marR="45720" marT="18288" marB="18288" anchor="ctr">
                    <a:solidFill>
                      <a:srgbClr val="F2F6FA"/>
                    </a:solidFill>
                  </a:tcPr>
                </a:tc>
              </a:tr>
              <a:tr h="384048">
                <a:tc>
                  <a:txBody>
                    <a:bodyPr wrap="square"/>
                    <a:lstStyle/>
                    <a:p>
                      <a:pPr algn="l"/>
                      <a:r>
                        <a:rPr sz="1050" b="0" i="0">
                          <a:solidFill>
                            <a:srgbClr val="000000"/>
                          </a:solidFill>
                          <a:latin typeface="Consolas"/>
                        </a:rPr>
                        <a:t>expect_tx(bar, n)</a:t>
                      </a:r>
                    </a:p>
                  </a:txBody>
                  <a:tcPr marL="45720" marR="45720" marT="18288" marB="18288" anchor="ctr">
                    <a:solidFill>
                      <a:srgbClr val="FFFFFF"/>
                    </a:solidFill>
                  </a:tcPr>
                </a:tc>
                <a:tc>
                  <a:txBody>
                    <a:bodyPr wrap="square"/>
                    <a:lstStyle/>
                    <a:p>
                      <a:pPr algn="l"/>
                      <a:r>
                        <a:rPr sz="1050" b="0" i="0">
                          <a:solidFill>
                            <a:srgbClr val="000000"/>
                          </a:solidFill>
                        </a:rPr>
                        <a:t>add n pending completion events (cumulative)</a:t>
                      </a:r>
                    </a:p>
                  </a:txBody>
                  <a:tcPr marL="45720" marR="45720" marT="18288" marB="18288" anchor="ctr">
                    <a:solidFill>
                      <a:srgbClr val="FFFFFF"/>
                    </a:solidFill>
                  </a:tcPr>
                </a:tc>
              </a:tr>
              <a:tr h="384048">
                <a:tc>
                  <a:txBody>
                    <a:bodyPr wrap="square"/>
                    <a:lstStyle/>
                    <a:p>
                      <a:pPr algn="l"/>
                      <a:r>
                        <a:rPr sz="1050" b="0" i="0">
                          <a:solidFill>
                            <a:srgbClr val="000000"/>
                          </a:solidFill>
                          <a:latin typeface="Consolas"/>
                        </a:rPr>
                        <a:t>arrive_and_wait</a:t>
                      </a:r>
                    </a:p>
                  </a:txBody>
                  <a:tcPr marL="45720" marR="45720" marT="18288" marB="18288" anchor="ctr">
                    <a:solidFill>
                      <a:srgbClr val="F2F6FA"/>
                    </a:solidFill>
                  </a:tcPr>
                </a:tc>
                <a:tc>
                  <a:txBody>
                    <a:bodyPr wrap="square"/>
                    <a:lstStyle/>
                    <a:p>
                      <a:pPr algn="l"/>
                      <a:r>
                        <a:rPr sz="1050" b="0" i="0">
                          <a:solidFill>
                            <a:srgbClr val="000000"/>
                          </a:solidFill>
                        </a:rPr>
                        <a:t>fused = legacy </a:t>
                      </a:r>
                      <a:r>
                        <a:rPr sz="1050" b="0" i="0">
                          <a:solidFill>
                            <a:srgbClr val="000000"/>
                          </a:solidFill>
                          <a:latin typeface="Consolas"/>
                        </a:rPr>
                        <a:t>bar id, count</a:t>
                      </a:r>
                      <a:r>
                        <a:rPr sz="1050" b="0" i="0">
                          <a:solidFill>
                            <a:srgbClr val="000000"/>
                          </a:solidFill>
                        </a:rPr>
                        <a:t> (BAR drains the LSU first)</a:t>
                      </a:r>
                    </a:p>
                  </a:txBody>
                  <a:tcPr marL="45720" marR="45720" marT="18288" marB="18288" anchor="ctr">
                    <a:solidFill>
                      <a:srgbClr val="F2F6FA"/>
                    </a:solidFill>
                  </a:tcPr>
                </a:tc>
              </a:tr>
              <a:tr h="384048">
                <a:tc>
                  <a:txBody>
                    <a:bodyPr wrap="square"/>
                    <a:lstStyle/>
                    <a:p>
                      <a:pPr algn="l"/>
                      <a:r>
                        <a:rPr sz="1050" b="0" i="0">
                          <a:solidFill>
                            <a:srgbClr val="000000"/>
                          </a:solidFill>
                        </a:rPr>
                        <a:t>engine completion</a:t>
                      </a:r>
                    </a:p>
                  </a:txBody>
                  <a:tcPr marL="45720" marR="45720" marT="18288" marB="18288" anchor="ctr">
                    <a:solidFill>
                      <a:srgbClr val="FFFFFF"/>
                    </a:solidFill>
                  </a:tcPr>
                </a:tc>
                <a:tc>
                  <a:txBody>
                    <a:bodyPr wrap="square"/>
                    <a:lstStyle/>
                    <a:p>
                      <a:pPr algn="l"/>
                      <a:r>
                        <a:rPr sz="1050" b="0" i="0">
                          <a:solidFill>
                            <a:srgbClr val="000000"/>
                          </a:solidFill>
                        </a:rPr>
                        <a:t>DXA last-line write → VX_dxa_completion → txbar → events−1</a:t>
                      </a:r>
                    </a:p>
                  </a:txBody>
                  <a:tcPr marL="45720" marR="45720" marT="18288" marB="18288" anchor="ctr">
                    <a:solidFill>
                      <a:srgbClr val="FFFFFF"/>
                    </a:solidFill>
                  </a:tcPr>
                </a:tc>
              </a:tr>
            </a:tbl>
          </a:graphicData>
        </a:graphic>
      </p:graphicFrame>
      <p:sp>
        <p:nvSpPr>
          <p:cNvPr id="6" name="Rectangle 5"/>
          <p:cNvSpPr/>
          <p:nvPr/>
        </p:nvSpPr>
        <p:spPr>
          <a:xfrm>
            <a:off x="731520" y="3749039"/>
            <a:ext cx="5669280" cy="228600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000" b="0" i="0">
                <a:solidFill>
                  <a:srgbClr val="FFFFFF"/>
                </a:solidFill>
                <a:latin typeface="Consolas"/>
              </a:rPr>
              <a:t>vortex::barrier bar(0, num_warps); // id&lt;&lt;8 | CTA slot</a:t>
            </a:r>
          </a:p>
          <a:p>
            <a:pPr algn="l"/>
            <a:r>
              <a:rPr sz="1000" b="0" i="0">
                <a:solidFill>
                  <a:srgbClr val="FFFFFF"/>
                </a:solidFill>
                <a:latin typeface="Consolas"/>
              </a:rPr>
              <a:t>bar.expect_tx(1);                  // one DXA transfer</a:t>
            </a:r>
          </a:p>
          <a:p>
            <a:pPr algn="l"/>
            <a:r>
              <a:rPr sz="1000" b="0" i="0">
                <a:solidFill>
                  <a:srgbClr val="FFFFFF"/>
                </a:solidFill>
                <a:latin typeface="Consolas"/>
              </a:rPr>
              <a:t>vx_dxa_issue_2d_wg(smem, desc, x, y, bar.id());</a:t>
            </a:r>
          </a:p>
          <a:p>
            <a:pPr algn="l"/>
            <a:r>
              <a:rPr sz="1000" b="0" i="0">
                <a:solidFill>
                  <a:srgbClr val="FFFFFF"/>
                </a:solidFill>
                <a:latin typeface="Consolas"/>
              </a:rPr>
              <a:t>... compute on the previous tile ...</a:t>
            </a:r>
          </a:p>
          <a:p>
            <a:pPr algn="l"/>
            <a:r>
              <a:rPr sz="1000" b="0" i="0">
                <a:solidFill>
                  <a:srgbClr val="FFFFFF"/>
                </a:solidFill>
                <a:latin typeface="Consolas"/>
              </a:rPr>
              <a:t>uint32_t ph = bar.arrive();        // non-blocking</a:t>
            </a:r>
          </a:p>
          <a:p>
            <a:pPr algn="l"/>
            <a:r>
              <a:rPr sz="1000" b="0" i="0">
                <a:solidFill>
                  <a:srgbClr val="FFFFFF"/>
                </a:solidFill>
                <a:latin typeface="Consolas"/>
              </a:rPr>
              <a:t>bar.wait(ph);                      // tile landed</a:t>
            </a:r>
          </a:p>
          <a:p>
            <a:pPr algn="l"/>
          </a:p>
          <a:p>
            <a:pPr algn="l"/>
            <a:r>
              <a:rPr sz="1000" b="0" i="0">
                <a:solidFill>
                  <a:srgbClr val="FFFFFF"/>
                </a:solidFill>
                <a:latin typeface="Consolas"/>
              </a:rPr>
              <a:t>vortex::gbarrier g(1, vx_num_cores());   // cores</a:t>
            </a:r>
          </a:p>
          <a:p>
            <a:pPr algn="l"/>
            <a:r>
              <a:rPr sz="1000" b="0" i="0">
                <a:solidFill>
                  <a:srgbClr val="FFFFFF"/>
                </a:solidFill>
                <a:latin typeface="Consolas"/>
              </a:rPr>
              <a:t>vortex::group_barrier gb(2, K);  // co-resident CTAs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Tensor API: vx_tensor.h</a:t>
            </a:r>
          </a:p>
        </p:txBody>
      </p:sp>
      <p:sp>
        <p:nvSpPr>
          <p:cNvPr id="3" name="Text Placeholder 2"/>
          <p:cNvSpPr>
            <a:spLocks noGrp="1"/>
          </p:cNvSpPr>
          <p:nvPr>
            <p:ph type="body" idx="1"/>
          </p:nvPr>
        </p:nvSpPr>
        <p:spPr>
          <a:xfrm>
            <a:off x="7040880" y="1188720"/>
            <a:ext cx="4663440" cy="4937760"/>
          </a:xfrm>
        </p:spPr>
        <p:txBody>
          <a:bodyPr wrap="square"/>
          <a:lstStyle/>
          <a:p>
            <a:pPr marL="0" indent="0">
              <a:spcBef>
                <a:spcPts val="500"/>
              </a:spcBef>
              <a:buNone/>
            </a:pPr>
            <a:r>
              <a:rPr sz="1300" b="1" i="0">
                <a:solidFill>
                  <a:srgbClr val="1F394D"/>
                </a:solidFill>
              </a:rPr>
              <a:t>Compile-time selection</a:t>
            </a:r>
          </a:p>
          <a:p>
            <a:pPr lvl="1" marL="342900" indent="-228600">
              <a:spcBef>
                <a:spcPts val="100"/>
              </a:spcBef>
              <a:buFont typeface="Arial"/>
              <a:buChar char="•"/>
            </a:pPr>
            <a:r>
              <a:rPr sz="1150" b="0" i="0">
                <a:solidFill>
                  <a:srgbClr val="000000"/>
                </a:solidFill>
              </a:rPr>
              <a:t>ITYPE / OTYPE, NRC ∈ {8, 16, 32}, RS vs SS; </a:t>
            </a:r>
            <a:r>
              <a:rPr sz="1150" b="0" i="0">
                <a:solidFill>
                  <a:srgbClr val="000000"/>
                </a:solidFill>
                <a:latin typeface="Consolas"/>
              </a:rPr>
              <a:t>wgmma_config_t</a:t>
            </a:r>
            <a:r>
              <a:rPr sz="1150" b="0" i="0">
                <a:solidFill>
                  <a:srgbClr val="000000"/>
                </a:solidFill>
              </a:rPr>
              <a:t> + </a:t>
            </a:r>
            <a:r>
              <a:rPr sz="1150" b="0" i="0">
                <a:solidFill>
                  <a:srgbClr val="000000"/>
                </a:solidFill>
                <a:latin typeface="Consolas"/>
              </a:rPr>
              <a:t>wgmma_context</a:t>
            </a:r>
          </a:p>
          <a:p>
            <a:pPr lvl="1" marL="342900" indent="-228600">
              <a:spcBef>
                <a:spcPts val="100"/>
              </a:spcBef>
              <a:buFont typeface="Arial"/>
              <a:buChar char="•"/>
            </a:pPr>
            <a:r>
              <a:rPr sz="1150" b="0" i="0">
                <a:solidFill>
                  <a:srgbClr val="000000"/>
                </a:solidFill>
              </a:rPr>
              <a:t>same source → dense WMMA, dense WGMMA, sparse WGMMA</a:t>
            </a:r>
          </a:p>
          <a:p>
            <a:pPr marL="0" indent="0">
              <a:spcBef>
                <a:spcPts val="500"/>
              </a:spcBef>
              <a:buNone/>
            </a:pPr>
            <a:r>
              <a:rPr sz="1300" b="1" i="0">
                <a:solidFill>
                  <a:srgbClr val="1F394D"/>
                </a:solidFill>
              </a:rPr>
              <a:t>Host helpers</a:t>
            </a:r>
          </a:p>
          <a:p>
            <a:pPr lvl="1" marL="342900" indent="-228600">
              <a:spcBef>
                <a:spcPts val="100"/>
              </a:spcBef>
              <a:buFont typeface="Arial"/>
              <a:buChar char="•"/>
            </a:pPr>
            <a:r>
              <a:rPr sz="1150" b="0" i="0">
                <a:solidFill>
                  <a:srgbClr val="000000"/>
                </a:solidFill>
                <a:latin typeface="Consolas"/>
              </a:rPr>
              <a:t>prune_2to4_matrix</a:t>
            </a:r>
            <a:r>
              <a:rPr sz="1150" b="0" i="0">
                <a:solidFill>
                  <a:srgbClr val="000000"/>
                </a:solidFill>
              </a:rPr>
              <a:t> → </a:t>
            </a:r>
            <a:r>
              <a:rPr sz="1150" b="0" i="0">
                <a:solidFill>
                  <a:srgbClr val="000000"/>
                </a:solidFill>
                <a:latin typeface="Consolas"/>
              </a:rPr>
              <a:t>compress_2to4_matrix</a:t>
            </a:r>
            <a:r>
              <a:rPr sz="1150" b="0" i="0">
                <a:solidFill>
                  <a:srgbClr val="000000"/>
                </a:solidFill>
              </a:rPr>
              <a:t> → </a:t>
            </a:r>
            <a:r>
              <a:rPr sz="1150" b="0" i="0">
                <a:solidFill>
                  <a:srgbClr val="000000"/>
                </a:solidFill>
                <a:latin typeface="Consolas"/>
              </a:rPr>
              <a:t>pack_metadata_wg</a:t>
            </a:r>
          </a:p>
          <a:p>
            <a:pPr lvl="1" marL="342900" indent="-228600">
              <a:spcBef>
                <a:spcPts val="100"/>
              </a:spcBef>
              <a:buFont typeface="Arial"/>
              <a:buChar char="•"/>
            </a:pPr>
            <a:r>
              <a:rPr sz="1150" b="0" i="0">
                <a:solidFill>
                  <a:srgbClr val="000000"/>
                </a:solidFill>
              </a:rPr>
              <a:t>vortex::dxa::program_{1..5}d descriptors for tile staging</a:t>
            </a:r>
          </a:p>
          <a:p>
            <a:pPr marL="0" indent="0">
              <a:spcBef>
                <a:spcPts val="500"/>
              </a:spcBef>
              <a:buNone/>
            </a:pPr>
            <a:r>
              <a:rPr sz="1300" b="1" i="0">
                <a:solidFill>
                  <a:srgbClr val="1F394D"/>
                </a:solidFill>
              </a:rPr>
              <a:t>Kernel helpers</a:t>
            </a:r>
          </a:p>
          <a:p>
            <a:pPr lvl="1" marL="342900" indent="-228600">
              <a:spcBef>
                <a:spcPts val="100"/>
              </a:spcBef>
              <a:buFont typeface="Arial"/>
              <a:buChar char="•"/>
            </a:pPr>
            <a:r>
              <a:rPr sz="1150" b="0" i="0">
                <a:solidFill>
                  <a:srgbClr val="000000"/>
                </a:solidFill>
                <a:latin typeface="Consolas"/>
              </a:rPr>
              <a:t>load_matrix_sync</a:t>
            </a:r>
            <a:r>
              <a:rPr sz="1150" b="0" i="0">
                <a:solidFill>
                  <a:srgbClr val="000000"/>
                </a:solidFill>
              </a:rPr>
              <a:t> (RS), </a:t>
            </a:r>
            <a:r>
              <a:rPr sz="1150" b="0" i="0">
                <a:solidFill>
                  <a:srgbClr val="000000"/>
                </a:solidFill>
                <a:latin typeface="Consolas"/>
              </a:rPr>
              <a:t>vx_make_smem_desc</a:t>
            </a:r>
            <a:r>
              <a:rPr sz="1150" b="0" i="0">
                <a:solidFill>
                  <a:srgbClr val="000000"/>
                </a:solidFill>
              </a:rPr>
              <a:t> (SS), </a:t>
            </a:r>
            <a:r>
              <a:rPr sz="1150" b="0" i="0">
                <a:solidFill>
                  <a:srgbClr val="000000"/>
                </a:solidFill>
                <a:latin typeface="Consolas"/>
              </a:rPr>
              <a:t>load_sp_metadata</a:t>
            </a:r>
            <a:r>
              <a:rPr sz="1150" b="0" i="0">
                <a:solidFill>
                  <a:srgbClr val="000000"/>
                </a:solidFill>
              </a:rPr>
              <a:t>, </a:t>
            </a:r>
            <a:r>
              <a:rPr sz="1150" b="0" i="0">
                <a:solidFill>
                  <a:srgbClr val="000000"/>
                </a:solidFill>
                <a:latin typeface="Consolas"/>
              </a:rPr>
              <a:t>wgmma_sync</a:t>
            </a:r>
            <a:r>
              <a:rPr sz="1150" b="0" i="0">
                <a:solidFill>
                  <a:srgbClr val="000000"/>
                </a:solidFill>
              </a:rPr>
              <a:t>, </a:t>
            </a:r>
            <a:r>
              <a:rPr sz="1150" b="0" i="0">
                <a:solidFill>
                  <a:srgbClr val="000000"/>
                </a:solidFill>
                <a:latin typeface="Consolas"/>
              </a:rPr>
              <a:t>store_matrix_sync</a:t>
            </a:r>
          </a:p>
          <a:p>
            <a:pPr lvl="1" marL="342900" indent="-228600">
              <a:spcBef>
                <a:spcPts val="100"/>
              </a:spcBef>
              <a:buFont typeface="Arial"/>
              <a:buChar char="•"/>
            </a:pPr>
            <a:r>
              <a:rPr sz="1150" b="0" i="0">
                <a:solidFill>
                  <a:srgbClr val="000000"/>
                </a:solidFill>
              </a:rPr>
              <a:t>A section per warp padded to a bank row so warp w+1 starts on a fresh row</a:t>
            </a:r>
          </a:p>
          <a:p>
            <a:pPr marL="0" indent="0">
              <a:spcBef>
                <a:spcPts val="500"/>
              </a:spcBef>
              <a:buNone/>
            </a:pPr>
            <a:r>
              <a:rPr sz="1300" b="1" i="0">
                <a:solidFill>
                  <a:srgbClr val="1F394D"/>
                </a:solidFill>
              </a:rPr>
              <a:t>Where it lives</a:t>
            </a:r>
          </a:p>
          <a:p>
            <a:pPr lvl="1" marL="342900" indent="-228600">
              <a:spcBef>
                <a:spcPts val="100"/>
              </a:spcBef>
              <a:buFont typeface="Arial"/>
              <a:buChar char="•"/>
            </a:pPr>
            <a:r>
              <a:rPr sz="1150" b="0" i="0">
                <a:solidFill>
                  <a:srgbClr val="000000"/>
                </a:solidFill>
              </a:rPr>
              <a:t>sw/kernel/include/vx_tensor.h · sw/common/tensor_cfg.h (ABI, installed)</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280160"/>
            <a:ext cx="6035040" cy="475488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100" b="0" i="0">
                <a:solidFill>
                  <a:srgbClr val="FFFFFF"/>
                </a:solidFill>
                <a:latin typeface="Consolas"/>
              </a:rPr>
              <a:t>#include &lt;vx_tensor.h&gt;</a:t>
            </a:r>
          </a:p>
          <a:p>
            <a:pPr algn="l"/>
            <a:r>
              <a:rPr sz="1100" b="0" i="0">
                <a:solidFill>
                  <a:srgbClr val="FFFFFF"/>
                </a:solidFill>
                <a:latin typeface="Consolas"/>
              </a:rPr>
              <a:t>using ctx = vortex::tensor::wgmma_context&lt;</a:t>
            </a:r>
          </a:p>
          <a:p>
            <a:pPr algn="l"/>
            <a:r>
              <a:rPr sz="1100" b="0" i="0">
                <a:solidFill>
                  <a:srgbClr val="FFFFFF"/>
                </a:solidFill>
                <a:latin typeface="Consolas"/>
              </a:rPr>
              <a:t>    fp16 /*ITYPE*/, fp32 /*OTYPE*/, NRC, Mode::SS&gt;;</a:t>
            </a:r>
          </a:p>
          <a:p>
            <a:pPr algn="l"/>
          </a:p>
          <a:p>
            <a:pPr algn="l"/>
            <a:r>
              <a:rPr sz="1100" b="0" i="0">
                <a:solidFill>
                  <a:srgbClr val="FFFFFF"/>
                </a:solidFill>
                <a:latin typeface="Consolas"/>
              </a:rPr>
              <a:t>ctx::fragment_acc C; ctx::fill_fragment(C, 0);</a:t>
            </a:r>
          </a:p>
          <a:p>
            <a:pPr algn="l"/>
            <a:r>
              <a:rPr sz="1100" b="0" i="0">
                <a:solidFill>
                  <a:srgbClr val="FFFFFF"/>
                </a:solidFill>
                <a:latin typeface="Consolas"/>
              </a:rPr>
              <a:t>for (k = 0; k &lt; K; k += ctx::tileK) {</a:t>
            </a:r>
          </a:p>
          <a:p>
            <a:pPr algn="l"/>
            <a:r>
              <a:rPr sz="1100" b="0" i="0">
                <a:solidFill>
                  <a:srgbClr val="FFFFFF"/>
                </a:solidFill>
                <a:latin typeface="Consolas"/>
              </a:rPr>
              <a:t>  // stage A, B into shared memory (loads or DXA)</a:t>
            </a:r>
          </a:p>
          <a:p>
            <a:pPr algn="l"/>
            <a:r>
              <a:rPr sz="1100" b="0" i="0">
                <a:solidFill>
                  <a:srgbClr val="FFFFFF"/>
                </a:solidFill>
                <a:latin typeface="Consolas"/>
              </a:rPr>
              <a:t>  auto dA = vx_make_smem_desc(A_smem, strideA);</a:t>
            </a:r>
          </a:p>
          <a:p>
            <a:pPr algn="l"/>
            <a:r>
              <a:rPr sz="1100" b="0" i="0">
                <a:solidFill>
                  <a:srgbClr val="FFFFFF"/>
                </a:solidFill>
                <a:latin typeface="Consolas"/>
              </a:rPr>
              <a:t>  auto dB = vx_make_smem_desc(B_smem, strideB);</a:t>
            </a:r>
          </a:p>
          <a:p>
            <a:pPr algn="l"/>
            <a:r>
              <a:rPr sz="1100" b="0" i="0">
                <a:solidFill>
                  <a:srgbClr val="FFFFFF"/>
                </a:solidFill>
                <a:latin typeface="Consolas"/>
              </a:rPr>
              <a:t>  ctx::load_sp_metadata(fragA, meta);  // 2:4 only</a:t>
            </a:r>
          </a:p>
          <a:p>
            <a:pPr algn="l"/>
            <a:r>
              <a:rPr sz="1100" b="0" i="0">
                <a:solidFill>
                  <a:srgbClr val="FFFFFF"/>
                </a:solidFill>
                <a:latin typeface="Consolas"/>
              </a:rPr>
              <a:t>  ctx::wgmma_sync(C, dA, dB, C);        // SS mode</a:t>
            </a:r>
          </a:p>
          <a:p>
            <a:pPr algn="l"/>
            <a:r>
              <a:rPr sz="1100" b="0" i="0">
                <a:solidFill>
                  <a:srgbClr val="FFFFFF"/>
                </a:solidFill>
                <a:latin typeface="Consolas"/>
              </a:rPr>
              <a:t>}</a:t>
            </a:r>
          </a:p>
          <a:p>
            <a:pPr algn="l"/>
            <a:r>
              <a:rPr sz="1100" b="0" i="0">
                <a:solidFill>
                  <a:srgbClr val="FFFFFF"/>
                </a:solidFill>
                <a:latin typeface="Consolas"/>
              </a:rPr>
              <a:t>ctx::store_matrix_sync(pC, C, 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OpenCL on Vortex: PoCL 7.0 System Architecture</a:t>
            </a:r>
          </a:p>
        </p:txBody>
      </p:sp>
      <p:sp>
        <p:nvSpPr>
          <p:cNvPr id="3" name="Text Placeholder 2"/>
          <p:cNvSpPr>
            <a:spLocks noGrp="1"/>
          </p:cNvSpPr>
          <p:nvPr>
            <p:ph type="body" idx="1"/>
          </p:nvPr>
        </p:nvSpPr>
        <p:spPr>
          <a:xfrm>
            <a:off x="5029200" y="1188720"/>
            <a:ext cx="6675120" cy="4937760"/>
          </a:xfrm>
        </p:spPr>
        <p:txBody>
          <a:bodyPr wrap="square"/>
          <a:lstStyle/>
          <a:p>
            <a:pPr marL="0" indent="0">
              <a:spcBef>
                <a:spcPts val="500"/>
              </a:spcBef>
              <a:buNone/>
            </a:pPr>
            <a:r>
              <a:rPr sz="1200" b="1" i="0">
                <a:solidFill>
                  <a:srgbClr val="1F394D"/>
                </a:solidFill>
              </a:rPr>
              <a:t>Ownership</a:t>
            </a:r>
          </a:p>
          <a:p>
            <a:pPr lvl="1" marL="342900" indent="-228600">
              <a:spcBef>
                <a:spcPts val="100"/>
              </a:spcBef>
              <a:buFont typeface="Arial"/>
              <a:buChar char="•"/>
            </a:pPr>
            <a:r>
              <a:rPr sz="1050" b="0" i="0">
                <a:solidFill>
                  <a:srgbClr val="000000"/>
                </a:solidFill>
              </a:rPr>
              <a:t>external: vortexgpgpu/pocl @ vortex_3.x (driver, builtin library) → $TOOLDIR/pocl</a:t>
            </a:r>
          </a:p>
          <a:p>
            <a:pPr lvl="1" marL="342900" indent="-228600">
              <a:spcBef>
                <a:spcPts val="100"/>
              </a:spcBef>
              <a:buFont typeface="Arial"/>
              <a:buChar char="•"/>
            </a:pPr>
            <a:r>
              <a:rPr sz="1050" b="0" i="0">
                <a:solidFill>
                  <a:srgbClr val="000000"/>
                </a:solidFill>
              </a:rPr>
              <a:t>in-tree: tests/opencl (48 apps + Rodinia + common.mk), ci/testcases/opencl.yaml, sw/kernel → libvortex2.a</a:t>
            </a:r>
          </a:p>
          <a:p>
            <a:pPr marL="0" indent="0">
              <a:spcBef>
                <a:spcPts val="500"/>
              </a:spcBef>
              <a:buNone/>
            </a:pPr>
            <a:r>
              <a:rPr sz="1200" b="1" i="0">
                <a:solidFill>
                  <a:srgbClr val="1F394D"/>
                </a:solidFill>
              </a:rPr>
              <a:t>Driver</a:t>
            </a:r>
          </a:p>
          <a:p>
            <a:pPr lvl="1" marL="342900" indent="-228600">
              <a:spcBef>
                <a:spcPts val="100"/>
              </a:spcBef>
              <a:buFont typeface="Arial"/>
              <a:buChar char="•"/>
            </a:pPr>
            <a:r>
              <a:rPr sz="1050" b="0" i="0">
                <a:solidFill>
                  <a:srgbClr val="000000"/>
                </a:solidFill>
                <a:latin typeface="Consolas"/>
              </a:rPr>
              <a:t>pocl-vortex.c</a:t>
            </a:r>
            <a:r>
              <a:rPr sz="1050" b="0" i="0">
                <a:solidFill>
                  <a:srgbClr val="000000"/>
                </a:solidFill>
              </a:rPr>
              <a:t>: pocl_device_ops, caps, build, </a:t>
            </a:r>
            <a:r>
              <a:rPr sz="1050" b="0" i="0">
                <a:solidFill>
                  <a:srgbClr val="000000"/>
                </a:solidFill>
                <a:latin typeface="Consolas"/>
              </a:rPr>
              <a:t>pocl_vortex_run</a:t>
            </a:r>
            <a:r>
              <a:rPr sz="1050" b="0" i="0">
                <a:solidFill>
                  <a:srgbClr val="000000"/>
                </a:solidFill>
              </a:rPr>
              <a:t>, buffers / images, async worker</a:t>
            </a:r>
          </a:p>
          <a:p>
            <a:pPr lvl="1" marL="342900" indent="-228600">
              <a:spcBef>
                <a:spcPts val="100"/>
              </a:spcBef>
              <a:buFont typeface="Arial"/>
              <a:buChar char="•"/>
            </a:pPr>
            <a:r>
              <a:rPr sz="1050" b="0" i="0">
                <a:solidFill>
                  <a:srgbClr val="000000"/>
                </a:solidFill>
                <a:latin typeface="Consolas"/>
              </a:rPr>
              <a:t>vortex_utils.cc</a:t>
            </a:r>
            <a:r>
              <a:rPr sz="1050" b="0" i="0">
                <a:solidFill>
                  <a:srgbClr val="000000"/>
                </a:solidFill>
              </a:rPr>
              <a:t>: </a:t>
            </a:r>
            <a:r>
              <a:rPr sz="1050" b="0" i="0">
                <a:solidFill>
                  <a:srgbClr val="000000"/>
                </a:solidFill>
                <a:latin typeface="Consolas"/>
              </a:rPr>
              <a:t>processKernels</a:t>
            </a:r>
            <a:r>
              <a:rPr sz="1050" b="0" i="0">
                <a:solidFill>
                  <a:srgbClr val="000000"/>
                </a:solidFill>
              </a:rPr>
              <a:t> (argument-buffer wrapper, </a:t>
            </a:r>
            <a:r>
              <a:rPr sz="1050" b="0" i="0">
                <a:solidFill>
                  <a:srgbClr val="000000"/>
                </a:solidFill>
                <a:latin typeface="Consolas"/>
              </a:rPr>
              <a:t>vortex-kernel</a:t>
            </a:r>
            <a:r>
              <a:rPr sz="1050" b="0" i="0">
                <a:solidFill>
                  <a:srgbClr val="000000"/>
                </a:solidFill>
              </a:rPr>
              <a:t> attribute, verifyModule), </a:t>
            </a:r>
            <a:r>
              <a:rPr sz="1050" b="0" i="0">
                <a:solidFill>
                  <a:srgbClr val="000000"/>
                </a:solidFill>
                <a:latin typeface="Consolas"/>
              </a:rPr>
              <a:t>compile_vortex_program</a:t>
            </a:r>
          </a:p>
          <a:p>
            <a:pPr marL="0" indent="0">
              <a:spcBef>
                <a:spcPts val="500"/>
              </a:spcBef>
              <a:buNone/>
            </a:pPr>
            <a:r>
              <a:rPr sz="1200" b="1" i="0">
                <a:solidFill>
                  <a:srgbClr val="1F394D"/>
                </a:solidFill>
              </a:rPr>
              <a:t>Async model</a:t>
            </a:r>
          </a:p>
          <a:p>
            <a:pPr lvl="1" marL="342900" indent="-228600">
              <a:spcBef>
                <a:spcPts val="100"/>
              </a:spcBef>
              <a:buFont typeface="Arial"/>
              <a:buChar char="•"/>
            </a:pPr>
            <a:r>
              <a:rPr sz="1050" b="0" i="0">
                <a:solidFill>
                  <a:srgbClr val="000000"/>
                </a:solidFill>
              </a:rPr>
              <a:t>submit → ready_list / command_list; worker </a:t>
            </a:r>
            <a:r>
              <a:rPr sz="1050" b="0" i="0">
                <a:solidFill>
                  <a:srgbClr val="000000"/>
                </a:solidFill>
                <a:latin typeface="Consolas"/>
              </a:rPr>
              <a:t>pocl_vortex_driver_thread</a:t>
            </a:r>
            <a:r>
              <a:rPr sz="1050" b="0" i="0">
                <a:solidFill>
                  <a:srgbClr val="000000"/>
                </a:solidFill>
              </a:rPr>
              <a:t> runs </a:t>
            </a:r>
            <a:r>
              <a:rPr sz="1050" b="0" i="0">
                <a:solidFill>
                  <a:srgbClr val="000000"/>
                </a:solidFill>
                <a:latin typeface="Consolas"/>
              </a:rPr>
              <a:t>pocl_exec_command</a:t>
            </a:r>
            <a:r>
              <a:rPr sz="1050" b="0" i="0">
                <a:solidFill>
                  <a:srgbClr val="000000"/>
                </a:solidFill>
              </a:rPr>
              <a:t> off the caller's stack</a:t>
            </a:r>
          </a:p>
          <a:p>
            <a:pPr lvl="1" marL="342900" indent="-228600">
              <a:spcBef>
                <a:spcPts val="100"/>
              </a:spcBef>
              <a:buFont typeface="Arial"/>
              <a:buChar char="•"/>
            </a:pPr>
            <a:r>
              <a:rPr sz="1050" b="0" i="0">
                <a:solidFill>
                  <a:srgbClr val="000000"/>
                </a:solidFill>
              </a:rPr>
              <a:t>why: inline execution re-enters the buffer lock (pocl_free_event_memobjs) → self-deadlock</a:t>
            </a:r>
          </a:p>
          <a:p>
            <a:pPr marL="0" indent="0">
              <a:spcBef>
                <a:spcPts val="500"/>
              </a:spcBef>
              <a:buNone/>
            </a:pPr>
            <a:r>
              <a:rPr sz="1200" b="1" i="0">
                <a:solidFill>
                  <a:srgbClr val="1F394D"/>
                </a:solidFill>
              </a:rPr>
              <a:t>Config threading</a:t>
            </a:r>
          </a:p>
          <a:p>
            <a:pPr lvl="1" marL="342900" indent="-228600">
              <a:spcBef>
                <a:spcPts val="100"/>
              </a:spcBef>
              <a:buFont typeface="Arial"/>
              <a:buChar char="•"/>
            </a:pPr>
            <a:r>
              <a:rPr sz="1050" b="0" i="0">
                <a:solidFill>
                  <a:srgbClr val="000000"/>
                </a:solidFill>
              </a:rPr>
              <a:t>common.mk: POCL_VORTEX_XLEN / _CFLAGS / _LDFLAGS / _BINTOOL</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ounded Rectangle 4"/>
          <p:cNvSpPr/>
          <p:nvPr/>
        </p:nvSpPr>
        <p:spPr>
          <a:xfrm>
            <a:off x="731520" y="1371600"/>
            <a:ext cx="4023360" cy="822960"/>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OpenCL application (-lOpenCL)</a:t>
            </a:r>
          </a:p>
        </p:txBody>
      </p:sp>
      <p:cxnSp>
        <p:nvCxnSpPr>
          <p:cNvPr id="6" name="Connector 5"/>
          <p:cNvCxnSpPr/>
          <p:nvPr/>
        </p:nvCxnSpPr>
        <p:spPr>
          <a:xfrm>
            <a:off x="2743200" y="2194560"/>
            <a:ext cx="0" cy="1371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331720"/>
            <a:ext cx="4023360" cy="822960"/>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ocl-icd loader → Vortex .icd (OCL_ICD_VENDORS pinned)</a:t>
            </a:r>
          </a:p>
        </p:txBody>
      </p:sp>
      <p:cxnSp>
        <p:nvCxnSpPr>
          <p:cNvPr id="8" name="Connector 7"/>
          <p:cNvCxnSpPr/>
          <p:nvPr/>
        </p:nvCxnSpPr>
        <p:spPr>
          <a:xfrm>
            <a:off x="2743200" y="3154679"/>
            <a:ext cx="0" cy="13716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3291840"/>
            <a:ext cx="4023360" cy="822960"/>
          </a:xfrm>
          <a:prstGeom prst="roundRect">
            <a:avLst>
              <a:gd name="adj" fmla="val 12000"/>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libpocl.so (ICD-only): core + Vortex device driver</a:t>
            </a:r>
          </a:p>
          <a:p>
            <a:pPr algn="ctr"/>
            <a:r>
              <a:rPr sz="1000" b="0" i="0">
                <a:solidFill>
                  <a:srgbClr val="000000"/>
                </a:solidFill>
              </a:rPr>
              <a:t>pocl-vortex.c · vortex_utils.cc</a:t>
            </a:r>
          </a:p>
        </p:txBody>
      </p:sp>
      <p:cxnSp>
        <p:nvCxnSpPr>
          <p:cNvPr id="10" name="Connector 9"/>
          <p:cNvCxnSpPr/>
          <p:nvPr/>
        </p:nvCxnSpPr>
        <p:spPr>
          <a:xfrm>
            <a:off x="2743200" y="4114800"/>
            <a:ext cx="0" cy="1371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1520" y="4251960"/>
            <a:ext cx="4023360" cy="82296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libvortex.so stub → VORTEX_DRIVER</a:t>
            </a:r>
          </a:p>
        </p:txBody>
      </p:sp>
      <p:cxnSp>
        <p:nvCxnSpPr>
          <p:cNvPr id="12" name="Connector 11"/>
          <p:cNvCxnSpPr/>
          <p:nvPr/>
        </p:nvCxnSpPr>
        <p:spPr>
          <a:xfrm>
            <a:off x="2743200" y="5074920"/>
            <a:ext cx="0" cy="1371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5212080"/>
            <a:ext cx="4023360" cy="822960"/>
          </a:xfrm>
          <a:prstGeom prst="roundRect">
            <a:avLst>
              <a:gd name="adj" fmla="val 12000"/>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libvortex-{simx, rtlsim, xrt, opae}.so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OpenCL: JIT Pipeline, Launch and Memory Model</a:t>
            </a:r>
          </a:p>
        </p:txBody>
      </p:sp>
      <p:sp>
        <p:nvSpPr>
          <p:cNvPr id="3" name="Text Placeholder 2"/>
          <p:cNvSpPr>
            <a:spLocks noGrp="1"/>
          </p:cNvSpPr>
          <p:nvPr>
            <p:ph type="body" idx="1"/>
          </p:nvPr>
        </p:nvSpPr>
        <p:spPr>
          <a:xfrm>
            <a:off x="731520" y="5074920"/>
            <a:ext cx="10881360" cy="1097280"/>
          </a:xfrm>
        </p:spPr>
        <p:txBody>
          <a:bodyPr wrap="square"/>
          <a:lstStyle/>
          <a:p>
            <a:pPr marL="0" indent="0">
              <a:spcBef>
                <a:spcPts val="400"/>
              </a:spcBef>
              <a:buNone/>
            </a:pPr>
            <a:r>
              <a:rPr sz="1100" b="1" i="0">
                <a:solidFill>
                  <a:srgbClr val="1F394D"/>
                </a:solidFill>
              </a:rPr>
              <a:t>Launch</a:t>
            </a:r>
          </a:p>
          <a:p>
            <a:pPr lvl="1" marL="342900" indent="-228600">
              <a:spcBef>
                <a:spcPts val="0"/>
              </a:spcBef>
              <a:buFont typeface="Arial"/>
              <a:buChar char="•"/>
            </a:pPr>
            <a:r>
              <a:rPr sz="1000" b="0" i="0">
                <a:solidFill>
                  <a:srgbClr val="000000"/>
                </a:solidFill>
                <a:latin typeface="Consolas"/>
              </a:rPr>
              <a:t>__local</a:t>
            </a:r>
            <a:r>
              <a:rPr sz="1000" b="0" i="0">
                <a:solidFill>
                  <a:srgbClr val="000000"/>
                </a:solidFill>
              </a:rPr>
              <a:t> args aligned to VX_LOCAL_ALIGN = 128 B; </a:t>
            </a:r>
            <a:r>
              <a:rPr sz="1000" b="0" i="0">
                <a:solidFill>
                  <a:srgbClr val="000000"/>
                </a:solidFill>
                <a:latin typeface="Consolas"/>
              </a:rPr>
              <a:t>vx_enqueue_launch</a:t>
            </a:r>
            <a:r>
              <a:rPr sz="1000" b="0" i="0">
                <a:solidFill>
                  <a:srgbClr val="000000"/>
                </a:solidFill>
              </a:rPr>
              <a:t>; TEX DCR writes + launch in one </a:t>
            </a:r>
            <a:r>
              <a:rPr sz="1000" b="0" i="0">
                <a:solidFill>
                  <a:srgbClr val="000000"/>
                </a:solidFill>
                <a:latin typeface="Consolas"/>
              </a:rPr>
              <a:t>vx_enqueue_commands</a:t>
            </a:r>
            <a:r>
              <a:rPr sz="1000" b="0" i="0">
                <a:solidFill>
                  <a:srgbClr val="000000"/>
                </a:solidFill>
              </a:rPr>
              <a:t> batch</a:t>
            </a:r>
          </a:p>
          <a:p>
            <a:pPr marL="0" indent="0">
              <a:spcBef>
                <a:spcPts val="400"/>
              </a:spcBef>
              <a:buNone/>
            </a:pPr>
            <a:r>
              <a:rPr sz="1100" b="1" i="0">
                <a:solidFill>
                  <a:srgbClr val="1F394D"/>
                </a:solidFill>
              </a:rPr>
              <a:t>Rules</a:t>
            </a:r>
          </a:p>
          <a:p>
            <a:pPr lvl="1" marL="342900" indent="-228600">
              <a:spcBef>
                <a:spcPts val="0"/>
              </a:spcBef>
              <a:buFont typeface="Arial"/>
              <a:buChar char="•"/>
            </a:pPr>
            <a:r>
              <a:rPr sz="1000" b="0" i="0">
                <a:solidFill>
                  <a:srgbClr val="000000"/>
                </a:solidFill>
              </a:rPr>
              <a:t>"true-GPU rule": add a missing capability to Vortex, never emulate it in PoCL; </a:t>
            </a:r>
            <a:r>
              <a:rPr sz="1000" b="0" i="0">
                <a:solidFill>
                  <a:srgbClr val="000000"/>
                </a:solidFill>
                <a:latin typeface="Consolas"/>
              </a:rPr>
              <a:t>.bc</a:t>
            </a:r>
            <a:r>
              <a:rPr sz="1000" b="0" i="0">
                <a:solidFill>
                  <a:srgbClr val="000000"/>
                </a:solidFill>
              </a:rPr>
              <a:t> not self-contained so missing builtins fail at link; verifyModule on (PoCL disables it)</a:t>
            </a:r>
          </a:p>
          <a:p>
            <a:pPr lvl="1" marL="342900" indent="-228600">
              <a:spcBef>
                <a:spcPts val="0"/>
              </a:spcBef>
              <a:buFont typeface="Arial"/>
              <a:buChar char="•"/>
            </a:pPr>
            <a:r>
              <a:rPr sz="1000" b="0" i="0">
                <a:solidFill>
                  <a:srgbClr val="000000"/>
                </a:solidFill>
              </a:rPr>
              <a:t>CTS runs serially on SimX (functional MT kernel)</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ounded Rectangle 4"/>
          <p:cNvSpPr/>
          <p:nvPr/>
        </p:nvSpPr>
        <p:spPr>
          <a:xfrm>
            <a:off x="731520" y="1371600"/>
            <a:ext cx="5303520" cy="53340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front end: Clang (OpenCL C) or spirv_parser (SPIR-V) → LLVM IR; target riscv{32,64} +xvortex +zicond, no RVV</a:t>
            </a:r>
          </a:p>
        </p:txBody>
      </p:sp>
      <p:cxnSp>
        <p:nvCxnSpPr>
          <p:cNvPr id="6" name="Connector 5"/>
          <p:cNvCxnSpPr/>
          <p:nvPr/>
        </p:nvCxnSpPr>
        <p:spPr>
          <a:xfrm>
            <a:off x="3383280" y="1905000"/>
            <a:ext cx="0" cy="914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1996440"/>
            <a:ext cx="5303520" cy="53340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llvm-link with kernel-riscv{32,64}.bc (builtin library)</a:t>
            </a:r>
          </a:p>
        </p:txBody>
      </p:sp>
      <p:cxnSp>
        <p:nvCxnSpPr>
          <p:cNvPr id="8" name="Connector 7"/>
          <p:cNvCxnSpPr/>
          <p:nvPr/>
        </p:nvCxnSpPr>
        <p:spPr>
          <a:xfrm>
            <a:off x="3383280" y="2529840"/>
            <a:ext cx="0" cy="914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2621280"/>
            <a:ext cx="5303520" cy="53340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PoCL work-group passes</a:t>
            </a:r>
          </a:p>
        </p:txBody>
      </p:sp>
      <p:cxnSp>
        <p:nvCxnSpPr>
          <p:cNvPr id="10" name="Connector 9"/>
          <p:cNvCxnSpPr/>
          <p:nvPr/>
        </p:nvCxnSpPr>
        <p:spPr>
          <a:xfrm>
            <a:off x="3383280" y="3154680"/>
            <a:ext cx="0" cy="914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1520" y="3246120"/>
            <a:ext cx="5303520" cy="53340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processKernels: argument-buffer wrapper, vortex-kernel attribute, .callee clone, verifyModule</a:t>
            </a:r>
          </a:p>
        </p:txBody>
      </p:sp>
      <p:cxnSp>
        <p:nvCxnSpPr>
          <p:cNvPr id="12" name="Connector 11"/>
          <p:cNvCxnSpPr/>
          <p:nvPr/>
        </p:nvCxnSpPr>
        <p:spPr>
          <a:xfrm>
            <a:off x="3383280" y="3779519"/>
            <a:ext cx="0" cy="9144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3870960"/>
            <a:ext cx="5303520" cy="53340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codegen + ELF link (libvortex2.a, newlib libc.a, --gc-sections, 16 MB base) → vxbin.py</a:t>
            </a:r>
          </a:p>
        </p:txBody>
      </p:sp>
      <p:cxnSp>
        <p:nvCxnSpPr>
          <p:cNvPr id="14" name="Connector 13"/>
          <p:cNvCxnSpPr/>
          <p:nvPr/>
        </p:nvCxnSpPr>
        <p:spPr>
          <a:xfrm>
            <a:off x="3383280" y="4404360"/>
            <a:ext cx="0" cy="914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1520" y="4495800"/>
            <a:ext cx="5303520" cy="53340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vx_module_load_file → code slot (112 × 16 MB below 0xF0000000)</a:t>
            </a:r>
          </a:p>
        </p:txBody>
      </p:sp>
      <p:graphicFrame>
        <p:nvGraphicFramePr>
          <p:cNvPr id="16" name="Table 15"/>
          <p:cNvGraphicFramePr>
            <a:graphicFrameLocks noGrp="1"/>
          </p:cNvGraphicFramePr>
          <p:nvPr/>
        </p:nvGraphicFramePr>
        <p:xfrm>
          <a:off x="6309360" y="1280160"/>
          <a:ext cx="5303520" cy="2798064"/>
        </p:xfrm>
        <a:graphic>
          <a:graphicData uri="http://schemas.openxmlformats.org/drawingml/2006/table">
            <a:tbl>
              <a:tblPr firstRow="0" bandRow="0">
                <a:tableStyleId>{5940675A-B579-460E-94D1-54222C63F5DA}</a:tableStyleId>
              </a:tblPr>
              <a:tblGrid>
                <a:gridCol w="2194560"/>
                <a:gridCol w="3108960"/>
              </a:tblGrid>
              <a:tr h="310896">
                <a:tc>
                  <a:txBody>
                    <a:bodyPr wrap="square"/>
                    <a:lstStyle/>
                    <a:p>
                      <a:pPr algn="l"/>
                      <a:r>
                        <a:rPr sz="1000" b="1" i="0">
                          <a:solidFill>
                            <a:srgbClr val="FFFFFF"/>
                          </a:solidFill>
                        </a:rPr>
                        <a:t>Capability (CL_DEVICE_*)</a:t>
                      </a:r>
                    </a:p>
                  </a:txBody>
                  <a:tcPr marL="45720" marR="45720" marT="18288" marB="18288" anchor="ctr">
                    <a:solidFill>
                      <a:srgbClr val="1F394D"/>
                    </a:solidFill>
                  </a:tcPr>
                </a:tc>
                <a:tc>
                  <a:txBody>
                    <a:bodyPr wrap="square"/>
                    <a:lstStyle/>
                    <a:p>
                      <a:pPr algn="l"/>
                      <a:r>
                        <a:rPr sz="1000" b="1" i="0">
                          <a:solidFill>
                            <a:srgbClr val="FFFFFF"/>
                          </a:solidFill>
                        </a:rPr>
                        <a:t>Vortex 3.0</a:t>
                      </a:r>
                    </a:p>
                  </a:txBody>
                  <a:tcPr marL="45720" marR="45720" marT="18288" marB="18288" anchor="ctr">
                    <a:solidFill>
                      <a:srgbClr val="1F394D"/>
                    </a:solidFill>
                  </a:tcPr>
                </a:tc>
              </a:tr>
              <a:tr h="310896">
                <a:tc>
                  <a:txBody>
                    <a:bodyPr wrap="square"/>
                    <a:lstStyle/>
                    <a:p>
                      <a:pPr algn="l"/>
                      <a:r>
                        <a:rPr sz="1000" b="0" i="0">
                          <a:solidFill>
                            <a:srgbClr val="000000"/>
                          </a:solidFill>
                        </a:rPr>
                        <a:t>profile / version</a:t>
                      </a:r>
                    </a:p>
                  </a:txBody>
                  <a:tcPr marL="45720" marR="45720" marT="18288" marB="18288" anchor="ctr">
                    <a:solidFill>
                      <a:srgbClr val="FFFFFF"/>
                    </a:solidFill>
                  </a:tcPr>
                </a:tc>
                <a:tc>
                  <a:txBody>
                    <a:bodyPr wrap="square"/>
                    <a:lstStyle/>
                    <a:p>
                      <a:pPr algn="l"/>
                      <a:r>
                        <a:rPr sz="1000" b="0" i="0">
                          <a:solidFill>
                            <a:srgbClr val="000000"/>
                          </a:solidFill>
                        </a:rPr>
                        <a:t>FULL_PROFILE, OpenCL 1.2 (PoCL 7.0 core)</a:t>
                      </a:r>
                    </a:p>
                  </a:txBody>
                  <a:tcPr marL="45720" marR="45720" marT="18288" marB="18288" anchor="ctr">
                    <a:solidFill>
                      <a:srgbClr val="FFFFFF"/>
                    </a:solidFill>
                  </a:tcPr>
                </a:tc>
              </a:tr>
              <a:tr h="310896">
                <a:tc>
                  <a:txBody>
                    <a:bodyPr wrap="square"/>
                    <a:lstStyle/>
                    <a:p>
                      <a:pPr algn="l"/>
                      <a:r>
                        <a:rPr sz="1000" b="0" i="0">
                          <a:solidFill>
                            <a:srgbClr val="000000"/>
                          </a:solidFill>
                        </a:rPr>
                        <a:t>MAX_WORK_GROUP_SIZE</a:t>
                      </a:r>
                    </a:p>
                  </a:txBody>
                  <a:tcPr marL="45720" marR="45720" marT="18288" marB="18288" anchor="ctr">
                    <a:solidFill>
                      <a:srgbClr val="F2F6FA"/>
                    </a:solidFill>
                  </a:tcPr>
                </a:tc>
                <a:tc>
                  <a:txBody>
                    <a:bodyPr wrap="square"/>
                    <a:lstStyle/>
                    <a:p>
                      <a:pPr algn="l"/>
                      <a:r>
                        <a:rPr sz="1000" b="0" i="0">
                          <a:solidFill>
                            <a:srgbClr val="000000"/>
                          </a:solidFill>
                        </a:rPr>
                        <a:t>num_warps × num_threads (one CTA, one core)</a:t>
                      </a:r>
                    </a:p>
                  </a:txBody>
                  <a:tcPr marL="45720" marR="45720" marT="18288" marB="18288" anchor="ctr">
                    <a:solidFill>
                      <a:srgbClr val="F2F6FA"/>
                    </a:solidFill>
                  </a:tcPr>
                </a:tc>
              </a:tr>
              <a:tr h="310896">
                <a:tc>
                  <a:txBody>
                    <a:bodyPr wrap="square"/>
                    <a:lstStyle/>
                    <a:p>
                      <a:pPr algn="l"/>
                      <a:r>
                        <a:rPr sz="1000" b="0" i="0">
                          <a:solidFill>
                            <a:srgbClr val="000000"/>
                          </a:solidFill>
                        </a:rPr>
                        <a:t>int64</a:t>
                      </a:r>
                    </a:p>
                  </a:txBody>
                  <a:tcPr marL="45720" marR="45720" marT="18288" marB="18288" anchor="ctr">
                    <a:solidFill>
                      <a:srgbClr val="FFFFFF"/>
                    </a:solidFill>
                  </a:tcPr>
                </a:tc>
                <a:tc>
                  <a:txBody>
                    <a:bodyPr wrap="square"/>
                    <a:lstStyle/>
                    <a:p>
                      <a:pPr algn="l"/>
                      <a:r>
                        <a:rPr sz="1000" b="0" i="0">
                          <a:solidFill>
                            <a:srgbClr val="000000"/>
                          </a:solidFill>
                        </a:rPr>
                        <a:t>core (soft on rv32)</a:t>
                      </a:r>
                    </a:p>
                  </a:txBody>
                  <a:tcPr marL="45720" marR="45720" marT="18288" marB="18288" anchor="ctr">
                    <a:solidFill>
                      <a:srgbClr val="FFFFFF"/>
                    </a:solidFill>
                  </a:tcPr>
                </a:tc>
              </a:tr>
              <a:tr h="310896">
                <a:tc>
                  <a:txBody>
                    <a:bodyPr wrap="square"/>
                    <a:lstStyle/>
                    <a:p>
                      <a:pPr algn="l"/>
                      <a:r>
                        <a:rPr sz="1000" b="0" i="0">
                          <a:solidFill>
                            <a:srgbClr val="000000"/>
                          </a:solidFill>
                        </a:rPr>
                        <a:t>atomics (int32)</a:t>
                      </a:r>
                    </a:p>
                  </a:txBody>
                  <a:tcPr marL="45720" marR="45720" marT="18288" marB="18288" anchor="ctr">
                    <a:solidFill>
                      <a:srgbClr val="F2F6FA"/>
                    </a:solidFill>
                  </a:tcPr>
                </a:tc>
                <a:tc>
                  <a:txBody>
                    <a:bodyPr wrap="square"/>
                    <a:lstStyle/>
                    <a:p>
                      <a:pPr algn="l"/>
                      <a:r>
                        <a:rPr sz="1000" b="0" i="0">
                          <a:solidFill>
                            <a:srgbClr val="000000"/>
                          </a:solidFill>
                        </a:rPr>
                        <a:t>gated on A extension (VX_ISA_EXT_A)</a:t>
                      </a:r>
                    </a:p>
                  </a:txBody>
                  <a:tcPr marL="45720" marR="45720" marT="18288" marB="18288" anchor="ctr">
                    <a:solidFill>
                      <a:srgbClr val="F2F6FA"/>
                    </a:solidFill>
                  </a:tcPr>
                </a:tc>
              </a:tr>
              <a:tr h="310896">
                <a:tc>
                  <a:txBody>
                    <a:bodyPr wrap="square"/>
                    <a:lstStyle/>
                    <a:p>
                      <a:pPr algn="l"/>
                      <a:r>
                        <a:rPr sz="1000" b="0" i="0">
                          <a:solidFill>
                            <a:srgbClr val="000000"/>
                          </a:solidFill>
                        </a:rPr>
                        <a:t>images</a:t>
                      </a:r>
                    </a:p>
                  </a:txBody>
                  <a:tcPr marL="45720" marR="45720" marT="18288" marB="18288" anchor="ctr">
                    <a:solidFill>
                      <a:srgbClr val="FFFFFF"/>
                    </a:solidFill>
                  </a:tcPr>
                </a:tc>
                <a:tc>
                  <a:txBody>
                    <a:bodyPr wrap="square"/>
                    <a:lstStyle/>
                    <a:p>
                      <a:pPr algn="l"/>
                      <a:r>
                        <a:rPr sz="1000" b="0" i="0">
                          <a:solidFill>
                            <a:srgbClr val="000000"/>
                          </a:solidFill>
                        </a:rPr>
                        <a:t>software; FF 2D fast path via TEX (VX_ISA_EXT_TEX)</a:t>
                      </a:r>
                    </a:p>
                  </a:txBody>
                  <a:tcPr marL="45720" marR="45720" marT="18288" marB="18288" anchor="ctr">
                    <a:solidFill>
                      <a:srgbClr val="FFFFFF"/>
                    </a:solidFill>
                  </a:tcPr>
                </a:tc>
              </a:tr>
              <a:tr h="310896">
                <a:tc>
                  <a:txBody>
                    <a:bodyPr wrap="square"/>
                    <a:lstStyle/>
                    <a:p>
                      <a:pPr algn="l"/>
                      <a:r>
                        <a:rPr sz="1000" b="0" i="0">
                          <a:solidFill>
                            <a:srgbClr val="000000"/>
                          </a:solidFill>
                        </a:rPr>
                        <a:t>fp64 / fp16</a:t>
                      </a:r>
                    </a:p>
                  </a:txBody>
                  <a:tcPr marL="45720" marR="45720" marT="18288" marB="18288" anchor="ctr">
                    <a:solidFill>
                      <a:srgbClr val="F2F6FA"/>
                    </a:solidFill>
                  </a:tcPr>
                </a:tc>
                <a:tc>
                  <a:txBody>
                    <a:bodyPr wrap="square"/>
                    <a:lstStyle/>
                    <a:p>
                      <a:pPr algn="l"/>
                      <a:r>
                        <a:rPr sz="1000" b="0" i="0">
                          <a:solidFill>
                            <a:srgbClr val="000000"/>
                          </a:solidFill>
                        </a:rPr>
                        <a:t>not advertised</a:t>
                      </a:r>
                    </a:p>
                  </a:txBody>
                  <a:tcPr marL="45720" marR="45720" marT="18288" marB="18288" anchor="ctr">
                    <a:solidFill>
                      <a:srgbClr val="F2F6FA"/>
                    </a:solidFill>
                  </a:tcPr>
                </a:tc>
              </a:tr>
              <a:tr h="310896">
                <a:tc>
                  <a:txBody>
                    <a:bodyPr wrap="square"/>
                    <a:lstStyle/>
                    <a:p>
                      <a:pPr algn="l"/>
                      <a:r>
                        <a:rPr sz="1000" b="0" i="0">
                          <a:solidFill>
                            <a:srgbClr val="000000"/>
                          </a:solidFill>
                        </a:rPr>
                        <a:t>MAX_MEM_ALLOC_SIZE</a:t>
                      </a:r>
                    </a:p>
                  </a:txBody>
                  <a:tcPr marL="45720" marR="45720" marT="18288" marB="18288" anchor="ctr">
                    <a:solidFill>
                      <a:srgbClr val="FFFFFF"/>
                    </a:solidFill>
                  </a:tcPr>
                </a:tc>
                <a:tc>
                  <a:txBody>
                    <a:bodyPr wrap="square"/>
                    <a:lstStyle/>
                    <a:p>
                      <a:pPr algn="l"/>
                      <a:r>
                        <a:rPr sz="1000" b="0" i="0">
                          <a:solidFill>
                            <a:srgbClr val="000000"/>
                          </a:solidFill>
                        </a:rPr>
                        <a:t>max(global / 4, 128 MB)</a:t>
                      </a:r>
                    </a:p>
                  </a:txBody>
                  <a:tcPr marL="45720" marR="45720" marT="18288" marB="18288" anchor="ctr">
                    <a:solidFill>
                      <a:srgbClr val="FFFFFF"/>
                    </a:solidFill>
                  </a:tcPr>
                </a:tc>
              </a:tr>
              <a:tr h="310896">
                <a:tc>
                  <a:txBody>
                    <a:bodyPr wrap="square"/>
                    <a:lstStyle/>
                    <a:p>
                      <a:pPr algn="l"/>
                      <a:r>
                        <a:rPr sz="1000" b="0" i="0">
                          <a:solidFill>
                            <a:srgbClr val="000000"/>
                          </a:solidFill>
                        </a:rPr>
                        <a:t>MAX_CONSTANT_BUFFER_SIZE</a:t>
                      </a:r>
                    </a:p>
                  </a:txBody>
                  <a:tcPr marL="45720" marR="45720" marT="18288" marB="18288" anchor="ctr">
                    <a:solidFill>
                      <a:srgbClr val="F2F6FA"/>
                    </a:solidFill>
                  </a:tcPr>
                </a:tc>
                <a:tc>
                  <a:txBody>
                    <a:bodyPr wrap="square"/>
                    <a:lstStyle/>
                    <a:p>
                      <a:pPr algn="l"/>
                      <a:r>
                        <a:rPr sz="1000" b="0" i="0">
                          <a:solidFill>
                            <a:srgbClr val="000000"/>
                          </a:solidFill>
                        </a:rPr>
                        <a:t>64 KB</a:t>
                      </a:r>
                    </a:p>
                  </a:txBody>
                  <a:tcPr marL="45720" marR="45720" marT="18288" marB="18288" anchor="ctr">
                    <a:solidFill>
                      <a:srgbClr val="F2F6F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HIP on Vortex via chipStar (rv32 + rv64)</a:t>
            </a:r>
          </a:p>
        </p:txBody>
      </p:sp>
      <p:sp>
        <p:nvSpPr>
          <p:cNvPr id="3" name="Text Placeholder 2"/>
          <p:cNvSpPr>
            <a:spLocks noGrp="1"/>
          </p:cNvSpPr>
          <p:nvPr>
            <p:ph type="body" idx="1"/>
          </p:nvPr>
        </p:nvSpPr>
        <p:spPr>
          <a:xfrm>
            <a:off x="6309360" y="2240280"/>
            <a:ext cx="5394960" cy="3931920"/>
          </a:xfrm>
        </p:spPr>
        <p:txBody>
          <a:bodyPr wrap="square"/>
          <a:lstStyle/>
          <a:p>
            <a:pPr marL="0" indent="0">
              <a:spcBef>
                <a:spcPts val="400"/>
              </a:spcBef>
              <a:buNone/>
            </a:pPr>
            <a:r>
              <a:rPr sz="1100" b="1" i="0">
                <a:solidFill>
                  <a:srgbClr val="1F394D"/>
                </a:solidFill>
              </a:rPr>
              <a:t>In-tree vs external</a:t>
            </a:r>
          </a:p>
          <a:p>
            <a:pPr lvl="1" marL="342900" indent="-228600">
              <a:spcBef>
                <a:spcPts val="0"/>
              </a:spcBef>
              <a:buFont typeface="Arial"/>
              <a:buChar char="•"/>
            </a:pPr>
            <a:r>
              <a:rPr sz="1000" b="0" i="0">
                <a:solidFill>
                  <a:srgbClr val="000000"/>
                </a:solidFill>
              </a:rPr>
              <a:t>in-tree: tests/hip (vecadd, sgemm, histogram, atomicreduce), common.mk, ci/chipstar_install.sh.in, hip.yaml</a:t>
            </a:r>
          </a:p>
          <a:p>
            <a:pPr lvl="1" marL="342900" indent="-228600">
              <a:spcBef>
                <a:spcPts val="0"/>
              </a:spcBef>
              <a:buFont typeface="Arial"/>
              <a:buChar char="•"/>
            </a:pPr>
            <a:r>
              <a:rPr sz="1000" b="0" i="0">
                <a:solidFill>
                  <a:srgbClr val="000000"/>
                </a:solidFill>
              </a:rPr>
              <a:t>external in $TOOLDIR: chipStar @ vortex_3.x (hipcc, libCHIP.so, hipspv-spirv{32,64}.bc), llvm_vortex, pocl</a:t>
            </a:r>
          </a:p>
          <a:p>
            <a:pPr marL="0" indent="0">
              <a:spcBef>
                <a:spcPts val="400"/>
              </a:spcBef>
              <a:buNone/>
            </a:pPr>
            <a:r>
              <a:rPr sz="1100" b="1" i="0">
                <a:solidFill>
                  <a:srgbClr val="1F394D"/>
                </a:solidFill>
              </a:rPr>
              <a:t>rv32 enablement</a:t>
            </a:r>
          </a:p>
          <a:p>
            <a:pPr lvl="1" marL="342900" indent="-228600">
              <a:spcBef>
                <a:spcPts val="0"/>
              </a:spcBef>
              <a:buFont typeface="Arial"/>
              <a:buChar char="•"/>
            </a:pPr>
            <a:r>
              <a:rPr sz="1000" b="0" i="0">
                <a:solidFill>
                  <a:srgbClr val="000000"/>
                </a:solidFill>
              </a:rPr>
              <a:t>Clang HIPSPV accepts spirv32 (Driver.cpp, HIPSPV.cpp); multi-width device library (HIPCC + ROCm-Device-Libs patches)</a:t>
            </a:r>
          </a:p>
          <a:p>
            <a:pPr lvl="1" marL="342900" indent="-228600">
              <a:spcBef>
                <a:spcPts val="0"/>
              </a:spcBef>
              <a:buFont typeface="Arial"/>
              <a:buChar char="•"/>
            </a:pPr>
            <a:r>
              <a:rPr sz="1000" b="0" i="0">
                <a:solidFill>
                  <a:srgbClr val="000000"/>
                </a:solidFill>
              </a:rPr>
              <a:t>POCL on rv32 accepts Physical32 SPIR-V (address_bits = 32)</a:t>
            </a:r>
          </a:p>
          <a:p>
            <a:pPr marL="0" indent="0">
              <a:spcBef>
                <a:spcPts val="400"/>
              </a:spcBef>
              <a:buNone/>
            </a:pPr>
            <a:r>
              <a:rPr sz="1100" b="1" i="0">
                <a:solidFill>
                  <a:srgbClr val="1F394D"/>
                </a:solidFill>
              </a:rPr>
              <a:t>Status</a:t>
            </a:r>
          </a:p>
          <a:p>
            <a:pPr lvl="1" marL="342900" indent="-228600">
              <a:spcBef>
                <a:spcPts val="0"/>
              </a:spcBef>
              <a:buFont typeface="Arial"/>
              <a:buChar char="•"/>
            </a:pPr>
            <a:r>
              <a:rPr sz="1000" b="0" i="0">
                <a:solidFill>
                  <a:srgbClr val="000000"/>
                </a:solidFill>
              </a:rPr>
              <a:t>vecadd / sgemm pass on rv32 SimX; chipStar conformance smoke ~36% passing on rv32 (known-failures-vortex32.txt)</a:t>
            </a:r>
          </a:p>
          <a:p>
            <a:pPr lvl="1" marL="342900" indent="-228600">
              <a:spcBef>
                <a:spcPts val="0"/>
              </a:spcBef>
              <a:buFont typeface="Arial"/>
              <a:buChar char="•"/>
            </a:pPr>
            <a:r>
              <a:rPr sz="1000" b="0" i="0">
                <a:solidFill>
                  <a:srgbClr val="000000"/>
                </a:solidFill>
              </a:rPr>
              <a:t>atomics: </a:t>
            </a:r>
            <a:r>
              <a:rPr sz="1000" b="0" i="0">
                <a:solidFill>
                  <a:srgbClr val="000000"/>
                </a:solidFill>
                <a:latin typeface="Consolas"/>
              </a:rPr>
              <a:t>atomicAdd</a:t>
            </a:r>
            <a:r>
              <a:rPr sz="1000" b="0" i="0">
                <a:solidFill>
                  <a:srgbClr val="000000"/>
                </a:solidFill>
              </a:rPr>
              <a:t> → </a:t>
            </a:r>
            <a:r>
              <a:rPr sz="1000" b="0" i="0">
                <a:solidFill>
                  <a:srgbClr val="000000"/>
                </a:solidFill>
                <a:latin typeface="Consolas"/>
              </a:rPr>
              <a:t>amoadd.w</a:t>
            </a:r>
            <a:r>
              <a:rPr sz="1000" b="0" i="0">
                <a:solidFill>
                  <a:srgbClr val="000000"/>
                </a:solidFill>
              </a:rPr>
              <a:t>; histogram / atomicreduce need </a:t>
            </a:r>
            <a:r>
              <a:rPr sz="1000" b="0" i="0">
                <a:solidFill>
                  <a:srgbClr val="000000"/>
                </a:solidFill>
                <a:latin typeface="Consolas"/>
              </a:rPr>
              <a:t>-DVX_CFG_EXT_A_ENABLE</a:t>
            </a:r>
          </a:p>
          <a:p>
            <a:pPr marL="0" indent="0">
              <a:spcBef>
                <a:spcPts val="400"/>
              </a:spcBef>
              <a:buNone/>
            </a:pPr>
            <a:r>
              <a:rPr sz="1100" b="1" i="0">
                <a:solidFill>
                  <a:srgbClr val="1F394D"/>
                </a:solidFill>
              </a:rPr>
              <a:t>Not built (by design)</a:t>
            </a:r>
          </a:p>
          <a:p>
            <a:pPr lvl="1" marL="342900" indent="-228600">
              <a:spcBef>
                <a:spcPts val="0"/>
              </a:spcBef>
              <a:buFont typeface="Arial"/>
              <a:buChar char="•"/>
            </a:pPr>
            <a:r>
              <a:rPr sz="1000" b="0" i="0">
                <a:solidFill>
                  <a:srgbClr val="000000"/>
                </a:solidFill>
              </a:rPr>
              <a:t>native </a:t>
            </a:r>
            <a:r>
              <a:rPr sz="1000" b="0" i="0">
                <a:solidFill>
                  <a:srgbClr val="000000"/>
                </a:solidFill>
                <a:latin typeface="Consolas"/>
              </a:rPr>
              <a:t>HIPVortex</a:t>
            </a:r>
            <a:r>
              <a:rPr sz="1000" b="0" i="0">
                <a:solidFill>
                  <a:srgbClr val="000000"/>
                </a:solidFill>
              </a:rPr>
              <a:t> Clang driver, </a:t>
            </a:r>
            <a:r>
              <a:rPr sz="1000" b="0" i="0">
                <a:solidFill>
                  <a:srgbClr val="000000"/>
                </a:solidFill>
                <a:latin typeface="Consolas"/>
              </a:rPr>
              <a:t>libhip_vortex</a:t>
            </a:r>
            <a:r>
              <a:rPr sz="1000" b="0" i="0">
                <a:solidFill>
                  <a:srgbClr val="000000"/>
                </a:solidFill>
              </a:rPr>
              <a:t> (hipMalloc → vx_mem_alloc, no JIT), </a:t>
            </a:r>
            <a:r>
              <a:rPr sz="1000" b="0" i="0">
                <a:solidFill>
                  <a:srgbClr val="000000"/>
                </a:solidFill>
                <a:latin typeface="Consolas"/>
              </a:rPr>
              <a:t>vortex_mlir</a:t>
            </a:r>
            <a:r>
              <a:rPr sz="1000" b="0" i="0">
                <a:solidFill>
                  <a:srgbClr val="000000"/>
                </a:solidFill>
              </a:rPr>
              <a:t> — motivation: expose WMMA / WGMMA / DXA intrinsics the SPIR-V path cannot reach</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ounded Rectangle 4"/>
          <p:cNvSpPr/>
          <p:nvPr/>
        </p:nvSpPr>
        <p:spPr>
          <a:xfrm>
            <a:off x="731520" y="1371600"/>
            <a:ext cx="1737360" cy="731520"/>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HIP source</a:t>
            </a:r>
          </a:p>
          <a:p>
            <a:pPr algn="ctr"/>
            <a:r>
              <a:rPr sz="900" b="0" i="0">
                <a:solidFill>
                  <a:srgbClr val="000000"/>
                </a:solidFill>
              </a:rPr>
              <a:t>__global__, &lt;&lt;&lt;&gt;&gt;&gt;</a:t>
            </a:r>
          </a:p>
        </p:txBody>
      </p:sp>
      <p:cxnSp>
        <p:nvCxnSpPr>
          <p:cNvPr id="6" name="Connector 5"/>
          <p:cNvCxnSpPr/>
          <p:nvPr/>
        </p:nvCxnSpPr>
        <p:spPr>
          <a:xfrm>
            <a:off x="2468880" y="1737360"/>
            <a:ext cx="9144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60320" y="1371600"/>
            <a:ext cx="1737360" cy="731520"/>
          </a:xfrm>
          <a:prstGeom prst="roundRect">
            <a:avLst>
              <a:gd name="adj" fmla="val 12000"/>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hipcc (chipStar, CHIP_BE=opencl)</a:t>
            </a:r>
          </a:p>
          <a:p>
            <a:pPr algn="ctr"/>
            <a:r>
              <a:rPr sz="900" b="0" i="0">
                <a:solidFill>
                  <a:srgbClr val="000000"/>
                </a:solidFill>
              </a:rPr>
              <a:t>--offload-pointer-width={32,64}</a:t>
            </a:r>
          </a:p>
        </p:txBody>
      </p:sp>
      <p:cxnSp>
        <p:nvCxnSpPr>
          <p:cNvPr id="8" name="Connector 7"/>
          <p:cNvCxnSpPr/>
          <p:nvPr/>
        </p:nvCxnSpPr>
        <p:spPr>
          <a:xfrm>
            <a:off x="4297680" y="1737360"/>
            <a:ext cx="9144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89120" y="1371600"/>
            <a:ext cx="1737360" cy="731520"/>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SPIR-V</a:t>
            </a:r>
          </a:p>
          <a:p>
            <a:pPr algn="ctr"/>
            <a:r>
              <a:rPr sz="900" b="0" i="0">
                <a:solidFill>
                  <a:srgbClr val="000000"/>
                </a:solidFill>
              </a:rPr>
              <a:t>OpMemoryModel Physical32 / 64</a:t>
            </a:r>
          </a:p>
        </p:txBody>
      </p:sp>
      <p:cxnSp>
        <p:nvCxnSpPr>
          <p:cNvPr id="10" name="Connector 9"/>
          <p:cNvCxnSpPr/>
          <p:nvPr/>
        </p:nvCxnSpPr>
        <p:spPr>
          <a:xfrm>
            <a:off x="6126480" y="1737360"/>
            <a:ext cx="9144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20" y="1371600"/>
            <a:ext cx="1737360" cy="731520"/>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PoCL spirv_parser → LLVM IR</a:t>
            </a:r>
          </a:p>
          <a:p>
            <a:pPr algn="ctr"/>
            <a:r>
              <a:rPr sz="900" b="0" i="0">
                <a:solidFill>
                  <a:srgbClr val="000000"/>
                </a:solidFill>
              </a:rPr>
              <a:t>→ VOLT JIT → .vxbin</a:t>
            </a:r>
          </a:p>
        </p:txBody>
      </p:sp>
      <p:cxnSp>
        <p:nvCxnSpPr>
          <p:cNvPr id="12" name="Connector 11"/>
          <p:cNvCxnSpPr/>
          <p:nvPr/>
        </p:nvCxnSpPr>
        <p:spPr>
          <a:xfrm>
            <a:off x="7955279" y="1737360"/>
            <a:ext cx="91441"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46720" y="1371600"/>
            <a:ext cx="1737360" cy="731520"/>
          </a:xfrm>
          <a:prstGeom prst="roundRect">
            <a:avLst>
              <a:gd name="adj" fmla="val 12000"/>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libCHIP.so (both widths)</a:t>
            </a:r>
          </a:p>
          <a:p>
            <a:pPr algn="ctr"/>
            <a:r>
              <a:rPr sz="900" b="0" i="0">
                <a:solidFill>
                  <a:srgbClr val="000000"/>
                </a:solidFill>
              </a:rPr>
              <a:t>+ libvortex.so</a:t>
            </a:r>
          </a:p>
        </p:txBody>
      </p:sp>
      <p:cxnSp>
        <p:nvCxnSpPr>
          <p:cNvPr id="14" name="Connector 13"/>
          <p:cNvCxnSpPr/>
          <p:nvPr/>
        </p:nvCxnSpPr>
        <p:spPr>
          <a:xfrm>
            <a:off x="9784080" y="1737360"/>
            <a:ext cx="9144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875520" y="1371600"/>
            <a:ext cx="1737360" cy="731520"/>
          </a:xfrm>
          <a:prstGeom prst="roundRect">
            <a:avLst>
              <a:gd name="adj" fmla="val 12000"/>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simx · rtlsim · opae · xrt</a:t>
            </a:r>
          </a:p>
        </p:txBody>
      </p:sp>
      <p:sp>
        <p:nvSpPr>
          <p:cNvPr id="16" name="Rectangle 15"/>
          <p:cNvSpPr/>
          <p:nvPr/>
        </p:nvSpPr>
        <p:spPr>
          <a:xfrm>
            <a:off x="731520" y="2377440"/>
            <a:ext cx="5303520" cy="237744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950" b="0" i="0">
                <a:solidFill>
                  <a:srgbClr val="FFFFFF"/>
                </a:solidFill>
                <a:latin typeface="Consolas"/>
              </a:rPr>
              <a:t>__global__ void vecadd(const float *a, const float *b,</a:t>
            </a:r>
          </a:p>
          <a:p>
            <a:pPr algn="l"/>
            <a:r>
              <a:rPr sz="950" b="0" i="0">
                <a:solidFill>
                  <a:srgbClr val="FFFFFF"/>
                </a:solidFill>
                <a:latin typeface="Consolas"/>
              </a:rPr>
              <a:t>                       float *c, int n) {</a:t>
            </a:r>
          </a:p>
          <a:p>
            <a:pPr algn="l"/>
            <a:r>
              <a:rPr sz="950" b="0" i="0">
                <a:solidFill>
                  <a:srgbClr val="FFFFFF"/>
                </a:solidFill>
                <a:latin typeface="Consolas"/>
              </a:rPr>
              <a:t>  int i = blockIdx.x * blockDim.x + threadIdx.x;</a:t>
            </a:r>
          </a:p>
          <a:p>
            <a:pPr algn="l"/>
            <a:r>
              <a:rPr sz="950" b="0" i="0">
                <a:solidFill>
                  <a:srgbClr val="FFFFFF"/>
                </a:solidFill>
                <a:latin typeface="Consolas"/>
              </a:rPr>
              <a:t>  if (i &lt; n) c[i] = a[i] + b[i];</a:t>
            </a:r>
          </a:p>
          <a:p>
            <a:pPr algn="l"/>
            <a:r>
              <a:rPr sz="950" b="0" i="0">
                <a:solidFill>
                  <a:srgbClr val="FFFFFF"/>
                </a:solidFill>
                <a:latin typeface="Consolas"/>
              </a:rPr>
              <a:t>}</a:t>
            </a:r>
          </a:p>
          <a:p>
            <a:pPr algn="l"/>
          </a:p>
          <a:p>
            <a:pPr algn="l"/>
            <a:r>
              <a:rPr sz="950" b="0" i="0">
                <a:solidFill>
                  <a:srgbClr val="FFFFFF"/>
                </a:solidFill>
                <a:latin typeface="Consolas"/>
              </a:rPr>
              <a:t>hipMalloc(&amp;dA, n * 4); hipMemcpy(dA, hA, n * 4, hipMemcpyHostToDevice);</a:t>
            </a:r>
          </a:p>
          <a:p>
            <a:pPr algn="l"/>
            <a:r>
              <a:rPr sz="950" b="0" i="0">
                <a:solidFill>
                  <a:srgbClr val="FFFFFF"/>
                </a:solidFill>
                <a:latin typeface="Consolas"/>
              </a:rPr>
              <a:t>vecadd&lt;&lt;&lt;grid, block&gt;&gt;&gt;(dA, dB, dC, n);</a:t>
            </a:r>
          </a:p>
          <a:p>
            <a:pPr algn="l"/>
            <a:r>
              <a:rPr sz="950" b="0" i="0">
                <a:solidFill>
                  <a:srgbClr val="FFFFFF"/>
                </a:solidFill>
                <a:latin typeface="Consolas"/>
              </a:rPr>
              <a:t>hipDeviceSynchronize();</a:t>
            </a:r>
          </a:p>
        </p:txBody>
      </p:sp>
      <p:sp>
        <p:nvSpPr>
          <p:cNvPr id="17" name="TextBox 16"/>
          <p:cNvSpPr txBox="1"/>
          <p:nvPr/>
        </p:nvSpPr>
        <p:spPr>
          <a:xfrm>
            <a:off x="731520" y="4846320"/>
            <a:ext cx="5303520" cy="1280160"/>
          </a:xfrm>
          <a:prstGeom prst="rect">
            <a:avLst/>
          </a:prstGeom>
          <a:noFill/>
        </p:spPr>
        <p:txBody>
          <a:bodyPr wrap="square" lIns="27432" rIns="27432" tIns="27432" bIns="27432" anchor="t">
            <a:spAutoFit/>
          </a:bodyPr>
          <a:lstStyle/>
          <a:p>
            <a:pPr algn="l"/>
            <a:r>
              <a:rPr sz="1000" b="0" i="0">
                <a:solidFill>
                  <a:srgbClr val="333333"/>
                </a:solidFill>
              </a:rPr>
              <a:t>make -C tests/hip run-simx   (passes --offload-pointer-width=$(XLEN), POCL_VORTEX_XLEN=$(XLEN))</a:t>
            </a:r>
          </a:p>
          <a:p>
            <a:pPr algn="l"/>
            <a:r>
              <a:rPr sz="1000" b="0" i="0">
                <a:solidFill>
                  <a:srgbClr val="333333"/>
                </a:solidFill>
              </a:rPr>
              <a:t>pytest ci -m hip  ·  ./ci/regression.sh --test hip  (xlen: [32, 64], tier: smoke)</a:t>
            </a:r>
          </a:p>
          <a:p>
            <a:pPr algn="l"/>
            <a:r>
              <a:rPr sz="1000" b="0" i="0">
                <a:solidFill>
                  <a:srgbClr val="333333"/>
                </a:solidFill>
              </a:rPr>
              <a:t>Accepted risk: POD-argument width drift (host size_t = 8 vs device 4 on rv32)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Vulkan: the vortexpipe Gallium Driver</a:t>
            </a:r>
          </a:p>
        </p:txBody>
      </p:sp>
      <p:sp>
        <p:nvSpPr>
          <p:cNvPr id="3" name="Text Placeholder 2"/>
          <p:cNvSpPr>
            <a:spLocks noGrp="1"/>
          </p:cNvSpPr>
          <p:nvPr>
            <p:ph type="body" idx="1"/>
          </p:nvPr>
        </p:nvSpPr>
        <p:spPr>
          <a:xfrm>
            <a:off x="6400800" y="1188720"/>
            <a:ext cx="5303520" cy="4937760"/>
          </a:xfrm>
        </p:spPr>
        <p:txBody>
          <a:bodyPr wrap="square"/>
          <a:lstStyle/>
          <a:p>
            <a:pPr marL="0" indent="0">
              <a:spcBef>
                <a:spcPts val="400"/>
              </a:spcBef>
              <a:buNone/>
            </a:pPr>
            <a:r>
              <a:rPr sz="1100" b="1" i="0">
                <a:solidFill>
                  <a:srgbClr val="1F394D"/>
                </a:solidFill>
              </a:rPr>
              <a:t>Layering</a:t>
            </a:r>
          </a:p>
          <a:p>
            <a:pPr lvl="1" marL="342900" indent="-228600">
              <a:spcBef>
                <a:spcPts val="0"/>
              </a:spcBef>
              <a:buFont typeface="Arial"/>
              <a:buChar char="•"/>
            </a:pPr>
            <a:r>
              <a:rPr sz="1000" b="0" i="0">
                <a:solidFill>
                  <a:srgbClr val="000000"/>
                </a:solidFill>
              </a:rPr>
              <a:t>Vulkan app → lavapipe ICD → Gallium pipe_screen / pipe_context → vortexpipe (overridden slots) → llvmpipe fallback</a:t>
            </a:r>
          </a:p>
          <a:p>
            <a:pPr lvl="1" marL="342900" indent="-228600">
              <a:spcBef>
                <a:spcPts val="0"/>
              </a:spcBef>
              <a:buFont typeface="Arial"/>
              <a:buChar char="•"/>
            </a:pPr>
            <a:r>
              <a:rPr sz="1000" b="0" i="0">
                <a:solidFill>
                  <a:srgbClr val="000000"/>
                </a:solidFill>
              </a:rPr>
              <a:t>device via $VORTEX_PATH SDK: libvortex.so / vortex2.h; one-directional mesa → Vortex dependency</a:t>
            </a:r>
          </a:p>
          <a:p>
            <a:pPr marL="0" indent="0">
              <a:spcBef>
                <a:spcPts val="400"/>
              </a:spcBef>
              <a:buNone/>
            </a:pPr>
            <a:r>
              <a:rPr sz="1100" b="1" i="0">
                <a:solidFill>
                  <a:srgbClr val="1F394D"/>
                </a:solidFill>
              </a:rPr>
              <a:t>vp_screen / vp_context</a:t>
            </a:r>
          </a:p>
          <a:p>
            <a:pPr lvl="1" marL="342900" indent="-228600">
              <a:spcBef>
                <a:spcPts val="0"/>
              </a:spcBef>
              <a:buFont typeface="Arial"/>
              <a:buChar char="•"/>
            </a:pPr>
            <a:r>
              <a:rPr sz="1000" b="0" i="0">
                <a:solidFill>
                  <a:srgbClr val="000000"/>
                </a:solidFill>
                <a:latin typeface="Consolas"/>
              </a:rPr>
              <a:t>vx_device_open</a:t>
            </a:r>
            <a:r>
              <a:rPr sz="1000" b="0" i="0">
                <a:solidFill>
                  <a:srgbClr val="000000"/>
                </a:solidFill>
              </a:rPr>
              <a:t> once; caps hw_num_threads / warps / max_block_size / isa_flags, has_tex / raster / om / rtu</a:t>
            </a:r>
          </a:p>
          <a:p>
            <a:pPr lvl="1" marL="342900" indent="-228600">
              <a:spcBef>
                <a:spcPts val="0"/>
              </a:spcBef>
              <a:buFont typeface="Arial"/>
              <a:buChar char="•"/>
            </a:pPr>
            <a:r>
              <a:rPr sz="1000" b="0" i="0">
                <a:solidFill>
                  <a:srgbClr val="000000"/>
                </a:solidFill>
              </a:rPr>
              <a:t>residency table {host_base, size, buf, dev_addr, dirty} — dirty starts true so untaught paths re-upload</a:t>
            </a:r>
          </a:p>
          <a:p>
            <a:pPr lvl="1" marL="342900" indent="-228600">
              <a:spcBef>
                <a:spcPts val="0"/>
              </a:spcBef>
              <a:buFont typeface="Arial"/>
              <a:buChar char="•"/>
            </a:pPr>
            <a:r>
              <a:rPr sz="1000" b="0" i="0">
                <a:solidFill>
                  <a:srgbClr val="000000"/>
                </a:solidFill>
              </a:rPr>
              <a:t>per-CSO: llvmpipe CSO + .vxbin + resident vx_module / vx_kernel + FS variants; cbuf[8], pre-encoded OM state, pass-resident framebuffer, texture-handle table</a:t>
            </a:r>
          </a:p>
          <a:p>
            <a:pPr marL="0" indent="0">
              <a:spcBef>
                <a:spcPts val="400"/>
              </a:spcBef>
              <a:buNone/>
            </a:pPr>
            <a:r>
              <a:rPr sz="1100" b="1" i="0">
                <a:solidFill>
                  <a:srgbClr val="1F394D"/>
                </a:solidFill>
              </a:rPr>
              <a:t>Fallback contract</a:t>
            </a:r>
          </a:p>
          <a:p>
            <a:pPr lvl="1" marL="342900" indent="-228600">
              <a:spcBef>
                <a:spcPts val="0"/>
              </a:spcBef>
              <a:buFont typeface="Arial"/>
              <a:buChar char="•"/>
            </a:pPr>
            <a:r>
              <a:rPr sz="1000" b="0" i="0">
                <a:solidFill>
                  <a:srgbClr val="000000"/>
                </a:solidFill>
              </a:rPr>
              <a:t>gated (→ llvmpipe) · routed (→ on-device SW: sw_tex / sw_om / sw_raster) · silent collapse (known holes: anisotropy, mirror-clamp, alpha test, depth-bounds, dual-source)</a:t>
            </a:r>
          </a:p>
          <a:p>
            <a:pPr lvl="1" marL="342900" indent="-228600">
              <a:spcBef>
                <a:spcPts val="0"/>
              </a:spcBef>
              <a:buFont typeface="Arial"/>
              <a:buChar char="•"/>
            </a:pPr>
            <a:r>
              <a:rPr sz="1000" b="0" i="0">
                <a:solidFill>
                  <a:srgbClr val="000000"/>
                </a:solidFill>
                <a:latin typeface="Consolas"/>
              </a:rPr>
              <a:t>$MESA_VORTEX_STRICT</a:t>
            </a:r>
            <a:r>
              <a:rPr sz="1000" b="0" i="0">
                <a:solidFill>
                  <a:srgbClr val="000000"/>
                </a:solidFill>
              </a:rPr>
              <a:t> makes a missing path a logged no-op; </a:t>
            </a:r>
            <a:r>
              <a:rPr sz="1000" b="0" i="0">
                <a:solidFill>
                  <a:srgbClr val="000000"/>
                </a:solidFill>
                <a:latin typeface="Consolas"/>
              </a:rPr>
              <a:t>$VORTEXPIPE_FORCE_SW=tex|om|raster|all</a:t>
            </a:r>
          </a:p>
          <a:p>
            <a:pPr marL="0" indent="0">
              <a:spcBef>
                <a:spcPts val="400"/>
              </a:spcBef>
              <a:buNone/>
            </a:pPr>
            <a:r>
              <a:rPr sz="1100" b="1" i="0">
                <a:solidFill>
                  <a:srgbClr val="1F394D"/>
                </a:solidFill>
              </a:rPr>
              <a:t>Repos</a:t>
            </a:r>
          </a:p>
          <a:p>
            <a:pPr lvl="1" marL="342900" indent="-228600">
              <a:spcBef>
                <a:spcPts val="0"/>
              </a:spcBef>
              <a:buFont typeface="Arial"/>
              <a:buChar char="•"/>
            </a:pPr>
            <a:r>
              <a:rPr sz="1000" b="0" i="0">
                <a:solidFill>
                  <a:srgbClr val="000000"/>
                </a:solidFill>
              </a:rPr>
              <a:t>mesa_vortex (vortex_3.x) src/gallium/drivers/vortexpipe/: vp_screen.c · vp_context.c · vp_nir_to_llvm.c (~6,300 lines) · vp_compile.c · vp_launch.c · vp_raster.cpp · vp_gfx_frontend.c</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ounded Rectangle 4"/>
          <p:cNvSpPr/>
          <p:nvPr/>
        </p:nvSpPr>
        <p:spPr>
          <a:xfrm>
            <a:off x="731520" y="1371600"/>
            <a:ext cx="3291840" cy="731519"/>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Vulkan application</a:t>
            </a:r>
          </a:p>
        </p:txBody>
      </p:sp>
      <p:cxnSp>
        <p:nvCxnSpPr>
          <p:cNvPr id="6" name="Connector 5"/>
          <p:cNvCxnSpPr/>
          <p:nvPr/>
        </p:nvCxnSpPr>
        <p:spPr>
          <a:xfrm>
            <a:off x="2377440" y="2103120"/>
            <a:ext cx="0" cy="1371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240280"/>
            <a:ext cx="3291840" cy="731519"/>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lavapipe (Mesa Vulkan front end): Vulkan → Gallium, NIR shaders</a:t>
            </a:r>
          </a:p>
        </p:txBody>
      </p:sp>
      <p:cxnSp>
        <p:nvCxnSpPr>
          <p:cNvPr id="8" name="Connector 7"/>
          <p:cNvCxnSpPr/>
          <p:nvPr/>
        </p:nvCxnSpPr>
        <p:spPr>
          <a:xfrm>
            <a:off x="2377440" y="2971800"/>
            <a:ext cx="0" cy="1371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3108960"/>
            <a:ext cx="3291840" cy="731519"/>
          </a:xfrm>
          <a:prstGeom prst="roundRect">
            <a:avLst>
              <a:gd name="adj" fmla="val 12000"/>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Gallium pipe_screen / pipe_context</a:t>
            </a:r>
          </a:p>
        </p:txBody>
      </p:sp>
      <p:cxnSp>
        <p:nvCxnSpPr>
          <p:cNvPr id="10" name="Connector 9"/>
          <p:cNvCxnSpPr/>
          <p:nvPr/>
        </p:nvCxnSpPr>
        <p:spPr>
          <a:xfrm>
            <a:off x="2377440" y="3840480"/>
            <a:ext cx="0" cy="137159"/>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1520" y="3977639"/>
            <a:ext cx="3291840" cy="731519"/>
          </a:xfrm>
          <a:prstGeom prst="roundRect">
            <a:avLst>
              <a:gd name="adj" fmla="val 12000"/>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vortexpipe: overridden vtable slots (vp_screen, vp_context, vp_draw_vbo …)</a:t>
            </a:r>
          </a:p>
        </p:txBody>
      </p:sp>
      <p:cxnSp>
        <p:nvCxnSpPr>
          <p:cNvPr id="12" name="Connector 11"/>
          <p:cNvCxnSpPr/>
          <p:nvPr/>
        </p:nvCxnSpPr>
        <p:spPr>
          <a:xfrm>
            <a:off x="2377440" y="4709159"/>
            <a:ext cx="0" cy="13716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4846320"/>
            <a:ext cx="3291840" cy="731519"/>
          </a:xfrm>
          <a:prstGeom prst="roundRect">
            <a:avLst>
              <a:gd name="adj" fmla="val 12000"/>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llvmpipe: everything not overridden (fallback + oracle)</a:t>
            </a:r>
          </a:p>
        </p:txBody>
      </p:sp>
      <p:sp>
        <p:nvSpPr>
          <p:cNvPr id="14" name="Rectangle 13"/>
          <p:cNvSpPr/>
          <p:nvPr/>
        </p:nvSpPr>
        <p:spPr>
          <a:xfrm>
            <a:off x="4297680" y="3017520"/>
            <a:ext cx="1920240" cy="100584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Vortex SDK</a:t>
            </a:r>
          </a:p>
          <a:p>
            <a:pPr algn="ctr"/>
            <a:r>
              <a:rPr sz="900" b="0" i="0">
                <a:solidFill>
                  <a:srgbClr val="000000"/>
                </a:solidFill>
              </a:rPr>
              <a:t>libvortex.so · vortex2.h</a:t>
            </a:r>
          </a:p>
          <a:p>
            <a:pPr algn="ctr"/>
            <a:r>
              <a:rPr sz="900" b="0" i="0">
                <a:solidFill>
                  <a:srgbClr val="000000"/>
                </a:solidFill>
              </a:rPr>
              <a:t>$VORTEX_PATH</a:t>
            </a:r>
          </a:p>
        </p:txBody>
      </p:sp>
      <p:cxnSp>
        <p:nvCxnSpPr>
          <p:cNvPr id="15" name="Connector 14"/>
          <p:cNvCxnSpPr/>
          <p:nvPr/>
        </p:nvCxnSpPr>
        <p:spPr>
          <a:xfrm flipV="1">
            <a:off x="4023360" y="3520440"/>
            <a:ext cx="274320" cy="1371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97680" y="4206240"/>
            <a:ext cx="1920240" cy="1371600"/>
          </a:xfrm>
          <a:prstGeom prst="rect">
            <a:avLst/>
          </a:prstGeom>
          <a:noFill/>
        </p:spPr>
        <p:txBody>
          <a:bodyPr wrap="square" lIns="27432" rIns="27432" tIns="27432" bIns="27432" anchor="t">
            <a:spAutoFit/>
          </a:bodyPr>
          <a:lstStyle/>
          <a:p>
            <a:pPr algn="l"/>
            <a:r>
              <a:rPr sz="900" b="0" i="0">
                <a:solidFill>
                  <a:srgbClr val="333333"/>
                </a:solidFill>
              </a:rPr>
              <a:t>repos: mesa_vortex (vortex_3.x) → Vortex platform (sw/, sim/, hw/)</a:t>
            </a:r>
          </a:p>
          <a:p>
            <a:pPr algn="l"/>
            <a:r>
              <a:rPr sz="900" b="0" i="0">
                <a:solidFill>
                  <a:srgbClr val="333333"/>
                </a:solidFill>
              </a:rPr>
              <a:t>one-directional dependency via the install tree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Build Configuration: TOML Single Source of Truth</a:t>
            </a:r>
          </a:p>
        </p:txBody>
      </p:sp>
      <p:sp>
        <p:nvSpPr>
          <p:cNvPr id="3" name="Text Placeholder 2"/>
          <p:cNvSpPr>
            <a:spLocks noGrp="1"/>
          </p:cNvSpPr>
          <p:nvPr>
            <p:ph type="body" idx="1"/>
          </p:nvPr>
        </p:nvSpPr>
        <p:spPr>
          <a:xfrm>
            <a:off x="731520" y="1234440"/>
            <a:ext cx="5852160" cy="4937760"/>
          </a:xfrm>
        </p:spPr>
        <p:txBody>
          <a:bodyPr wrap="square"/>
          <a:lstStyle/>
          <a:p>
            <a:pPr marL="0" indent="0">
              <a:spcBef>
                <a:spcPts val="500"/>
              </a:spcBef>
              <a:buNone/>
            </a:pPr>
            <a:r>
              <a:rPr sz="1400" b="1" i="0">
                <a:solidFill>
                  <a:srgbClr val="1F394D"/>
                </a:solidFill>
              </a:rPr>
              <a:t>Two sources</a:t>
            </a:r>
          </a:p>
          <a:p>
            <a:pPr lvl="1" marL="342900" indent="-228600">
              <a:spcBef>
                <a:spcPts val="100"/>
              </a:spcBef>
              <a:buFont typeface="Arial"/>
              <a:buChar char="•"/>
            </a:pPr>
            <a:r>
              <a:rPr sz="1200" b="0" i="0">
                <a:solidFill>
                  <a:srgbClr val="000000"/>
                </a:solidFill>
                <a:latin typeface="Consolas"/>
              </a:rPr>
              <a:t>VX_config.toml</a:t>
            </a:r>
            <a:r>
              <a:rPr sz="1200" b="0" i="0">
                <a:solidFill>
                  <a:srgbClr val="000000"/>
                </a:solidFill>
              </a:rPr>
              <a:t>: ~230 VX_CFG_* knobs (RTL + sims)</a:t>
            </a:r>
          </a:p>
          <a:p>
            <a:pPr lvl="1" marL="342900" indent="-228600">
              <a:spcBef>
                <a:spcPts val="100"/>
              </a:spcBef>
              <a:buFont typeface="Arial"/>
              <a:buChar char="•"/>
            </a:pPr>
            <a:r>
              <a:rPr sz="1200" b="0" i="0">
                <a:solidFill>
                  <a:srgbClr val="000000"/>
                </a:solidFill>
                <a:latin typeface="Consolas"/>
              </a:rPr>
              <a:t>VX_types.toml</a:t>
            </a:r>
            <a:r>
              <a:rPr sz="1200" b="0" i="0">
                <a:solidFill>
                  <a:srgbClr val="000000"/>
                </a:solidFill>
              </a:rPr>
              <a:t>: VX_CSR_*, VX_DCR_*, VX_ISA_*, VX_MEM_* (HW + SW)</a:t>
            </a:r>
          </a:p>
          <a:p>
            <a:pPr marL="0" indent="0">
              <a:spcBef>
                <a:spcPts val="500"/>
              </a:spcBef>
              <a:buNone/>
            </a:pPr>
            <a:r>
              <a:rPr sz="1400" b="1" i="0">
                <a:solidFill>
                  <a:srgbClr val="1F394D"/>
                </a:solidFill>
              </a:rPr>
              <a:t>Generator: ci/gen_config.py</a:t>
            </a:r>
          </a:p>
          <a:p>
            <a:pPr lvl="1" marL="342900" indent="-228600">
              <a:spcBef>
                <a:spcPts val="100"/>
              </a:spcBef>
              <a:buFont typeface="Arial"/>
              <a:buChar char="•"/>
            </a:pPr>
            <a:r>
              <a:rPr sz="1200" b="0" i="0">
                <a:solidFill>
                  <a:srgbClr val="000000"/>
                </a:solidFill>
              </a:rPr>
              <a:t>unresolved header → build/hw/VX_config.vh, build/sw/VX_config.h</a:t>
            </a:r>
          </a:p>
          <a:p>
            <a:pPr lvl="1" marL="342900" indent="-228600">
              <a:spcBef>
                <a:spcPts val="100"/>
              </a:spcBef>
              <a:buFont typeface="Arial"/>
              <a:buChar char="•"/>
            </a:pPr>
            <a:r>
              <a:rPr sz="1200" b="0" i="0">
                <a:solidFill>
                  <a:srgbClr val="000000"/>
                </a:solidFill>
              </a:rPr>
              <a:t>resolved header → VX_types.vh / .h</a:t>
            </a:r>
          </a:p>
          <a:p>
            <a:pPr lvl="1" marL="342900" indent="-228600">
              <a:spcBef>
                <a:spcPts val="100"/>
              </a:spcBef>
              <a:buFont typeface="Arial"/>
              <a:buChar char="•"/>
            </a:pPr>
            <a:r>
              <a:rPr sz="1200" b="0" i="0">
                <a:solidFill>
                  <a:srgbClr val="000000"/>
                </a:solidFill>
              </a:rPr>
              <a:t>cflags mode → XCONFIGS (-D list for Makefiles)</a:t>
            </a:r>
          </a:p>
          <a:p>
            <a:pPr marL="0" indent="0">
              <a:spcBef>
                <a:spcPts val="500"/>
              </a:spcBef>
              <a:buNone/>
            </a:pPr>
            <a:r>
              <a:rPr sz="1400" b="1" i="0">
                <a:solidFill>
                  <a:srgbClr val="1F394D"/>
                </a:solidFill>
              </a:rPr>
              <a:t>Expressions &amp; types</a:t>
            </a:r>
          </a:p>
          <a:p>
            <a:pPr lvl="1" marL="342900" indent="-228600">
              <a:spcBef>
                <a:spcPts val="100"/>
              </a:spcBef>
              <a:buFont typeface="Arial"/>
              <a:buChar char="•"/>
            </a:pPr>
            <a:r>
              <a:rPr sz="1200" b="0" i="0">
                <a:solidFill>
                  <a:srgbClr val="000000"/>
                </a:solidFill>
                <a:latin typeface="Consolas"/>
              </a:rPr>
              <a:t>expr: pow(2, clog2(min($VX_CFG_DCACHE_NUM_REQS, 16)))</a:t>
            </a:r>
          </a:p>
          <a:p>
            <a:pPr lvl="1" marL="342900" indent="-228600">
              <a:spcBef>
                <a:spcPts val="100"/>
              </a:spcBef>
              <a:buFont typeface="Arial"/>
              <a:buChar char="•"/>
            </a:pPr>
            <a:r>
              <a:rPr sz="1200" b="0" i="0">
                <a:solidFill>
                  <a:srgbClr val="000000"/>
                </a:solidFill>
              </a:rPr>
              <a:t>[[enum]] → VX_CFG_FPU_TYPE + VX_CFG_FPU_TYPE_STD companion</a:t>
            </a:r>
          </a:p>
          <a:p>
            <a:pPr lvl="1" marL="342900" indent="-228600">
              <a:spcBef>
                <a:spcPts val="100"/>
              </a:spcBef>
              <a:buFont typeface="Arial"/>
              <a:buChar char="•"/>
            </a:pPr>
            <a:r>
              <a:rPr sz="1200" b="0" i="0">
                <a:solidFill>
                  <a:srgbClr val="000000"/>
                </a:solidFill>
              </a:rPr>
              <a:t>booleans: -DVX_CFG_X_ENABLE / -DVX_CFG_X_DISABLE</a:t>
            </a:r>
          </a:p>
          <a:p>
            <a:pPr marL="0" indent="0">
              <a:spcBef>
                <a:spcPts val="500"/>
              </a:spcBef>
              <a:buNone/>
            </a:pPr>
            <a:r>
              <a:rPr sz="1400" b="1" i="0">
                <a:solidFill>
                  <a:srgbClr val="1F394D"/>
                </a:solidFill>
              </a:rPr>
              <a:t>Why</a:t>
            </a:r>
          </a:p>
          <a:p>
            <a:pPr lvl="1" marL="342900" indent="-228600">
              <a:spcBef>
                <a:spcPts val="100"/>
              </a:spcBef>
              <a:buFont typeface="Arial"/>
              <a:buChar char="•"/>
            </a:pPr>
            <a:r>
              <a:rPr sz="1200" b="0" i="0">
                <a:solidFill>
                  <a:srgbClr val="000000"/>
                </a:solidFill>
              </a:rPr>
              <a:t>typed scalars, cross-key expressions, decoupled SimX/runtime from hw/</a:t>
            </a:r>
          </a:p>
          <a:p>
            <a:pPr lvl="1" marL="342900" indent="-228600">
              <a:spcBef>
                <a:spcPts val="100"/>
              </a:spcBef>
              <a:buFont typeface="Arial"/>
              <a:buChar char="•"/>
            </a:pPr>
            <a:r>
              <a:rPr sz="1200" b="0" i="0">
                <a:solidFill>
                  <a:srgbClr val="000000"/>
                </a:solidFill>
              </a:rPr>
              <a:t>VX_CFG_ prefix resolves LLVM / Verilator macro collisions</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6858000" y="1371600"/>
            <a:ext cx="2103120" cy="64008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VX_config.toml</a:t>
            </a:r>
          </a:p>
          <a:p>
            <a:pPr algn="ctr"/>
            <a:r>
              <a:rPr sz="1050" b="0" i="0">
                <a:solidFill>
                  <a:srgbClr val="000000"/>
                </a:solidFill>
              </a:rPr>
              <a:t>(hardware knobs)</a:t>
            </a:r>
          </a:p>
        </p:txBody>
      </p:sp>
      <p:sp>
        <p:nvSpPr>
          <p:cNvPr id="6" name="Rectangle 5"/>
          <p:cNvSpPr/>
          <p:nvPr/>
        </p:nvSpPr>
        <p:spPr>
          <a:xfrm>
            <a:off x="9509760" y="1371600"/>
            <a:ext cx="2103120" cy="64008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VX_types.toml</a:t>
            </a:r>
          </a:p>
          <a:p>
            <a:pPr algn="ctr"/>
            <a:r>
              <a:rPr sz="1050" b="0" i="0">
                <a:solidFill>
                  <a:srgbClr val="000000"/>
                </a:solidFill>
              </a:rPr>
              <a:t>(ISA / ABI contract)</a:t>
            </a:r>
          </a:p>
        </p:txBody>
      </p:sp>
      <p:sp>
        <p:nvSpPr>
          <p:cNvPr id="7" name="Rectangle 6"/>
          <p:cNvSpPr/>
          <p:nvPr/>
        </p:nvSpPr>
        <p:spPr>
          <a:xfrm>
            <a:off x="7772400" y="2377440"/>
            <a:ext cx="2926080" cy="50292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ci/gen_config.py   (+ CONFIGS, profiles/*.json)</a:t>
            </a:r>
          </a:p>
        </p:txBody>
      </p:sp>
      <p:cxnSp>
        <p:nvCxnSpPr>
          <p:cNvPr id="8" name="Connector 7"/>
          <p:cNvCxnSpPr/>
          <p:nvPr/>
        </p:nvCxnSpPr>
        <p:spPr>
          <a:xfrm>
            <a:off x="7909560" y="2011680"/>
            <a:ext cx="777240" cy="3657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784080" y="2011680"/>
            <a:ext cx="777240" cy="3657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858000" y="3200400"/>
            <a:ext cx="1463040" cy="73152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VX_config.vh</a:t>
            </a:r>
          </a:p>
          <a:p>
            <a:pPr algn="ctr"/>
            <a:r>
              <a:rPr sz="1000" b="0" i="0">
                <a:solidFill>
                  <a:srgbClr val="000000"/>
                </a:solidFill>
              </a:rPr>
              <a:t>VX_config.h</a:t>
            </a:r>
          </a:p>
        </p:txBody>
      </p:sp>
      <p:sp>
        <p:nvSpPr>
          <p:cNvPr id="11" name="Rectangle 10"/>
          <p:cNvSpPr/>
          <p:nvPr/>
        </p:nvSpPr>
        <p:spPr>
          <a:xfrm>
            <a:off x="8503920" y="3200400"/>
            <a:ext cx="1463040" cy="73152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VX_types.vh</a:t>
            </a:r>
          </a:p>
          <a:p>
            <a:pPr algn="ctr"/>
            <a:r>
              <a:rPr sz="1000" b="0" i="0">
                <a:solidFill>
                  <a:srgbClr val="000000"/>
                </a:solidFill>
              </a:rPr>
              <a:t>VX_types.h</a:t>
            </a:r>
          </a:p>
        </p:txBody>
      </p:sp>
      <p:sp>
        <p:nvSpPr>
          <p:cNvPr id="12" name="Rectangle 11"/>
          <p:cNvSpPr/>
          <p:nvPr/>
        </p:nvSpPr>
        <p:spPr>
          <a:xfrm>
            <a:off x="10149840" y="3200400"/>
            <a:ext cx="1463040" cy="73152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XCONFIGS</a:t>
            </a:r>
          </a:p>
          <a:p>
            <a:pPr algn="ctr"/>
            <a:r>
              <a:rPr sz="1000" b="0" i="0">
                <a:solidFill>
                  <a:srgbClr val="000000"/>
                </a:solidFill>
              </a:rPr>
              <a:t>-D list</a:t>
            </a:r>
          </a:p>
        </p:txBody>
      </p:sp>
      <p:cxnSp>
        <p:nvCxnSpPr>
          <p:cNvPr id="13" name="Connector 12"/>
          <p:cNvCxnSpPr/>
          <p:nvPr/>
        </p:nvCxnSpPr>
        <p:spPr>
          <a:xfrm flipH="1">
            <a:off x="7589520" y="2880360"/>
            <a:ext cx="1645920"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235440" y="2880360"/>
            <a:ext cx="0"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235440" y="2880360"/>
            <a:ext cx="1645920"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858000" y="4297680"/>
            <a:ext cx="1463040" cy="82296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RTL</a:t>
            </a:r>
          </a:p>
          <a:p>
            <a:pPr algn="ctr"/>
            <a:r>
              <a:rPr sz="950" b="0" i="0">
                <a:solidFill>
                  <a:srgbClr val="000000"/>
                </a:solidFill>
              </a:rPr>
              <a:t>Verilator / Vivado / Yosys</a:t>
            </a:r>
          </a:p>
        </p:txBody>
      </p:sp>
      <p:sp>
        <p:nvSpPr>
          <p:cNvPr id="17" name="Rectangle 16"/>
          <p:cNvSpPr/>
          <p:nvPr/>
        </p:nvSpPr>
        <p:spPr>
          <a:xfrm>
            <a:off x="8503920" y="4297680"/>
            <a:ext cx="1463040" cy="82296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SimX +</a:t>
            </a:r>
          </a:p>
          <a:p>
            <a:pPr algn="ctr"/>
            <a:r>
              <a:rPr sz="950" b="0" i="0">
                <a:solidFill>
                  <a:srgbClr val="000000"/>
                </a:solidFill>
              </a:rPr>
              <a:t>sim/common</a:t>
            </a:r>
          </a:p>
        </p:txBody>
      </p:sp>
      <p:sp>
        <p:nvSpPr>
          <p:cNvPr id="18" name="Rectangle 17"/>
          <p:cNvSpPr/>
          <p:nvPr/>
        </p:nvSpPr>
        <p:spPr>
          <a:xfrm>
            <a:off x="10149840" y="4297680"/>
            <a:ext cx="1463040" cy="82296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kernel lib, tests,</a:t>
            </a:r>
          </a:p>
          <a:p>
            <a:pPr algn="ctr"/>
            <a:r>
              <a:rPr sz="950" b="0" i="0">
                <a:solidFill>
                  <a:srgbClr val="000000"/>
                </a:solidFill>
              </a:rPr>
              <a:t>runtime (types only)</a:t>
            </a:r>
          </a:p>
        </p:txBody>
      </p:sp>
      <p:cxnSp>
        <p:nvCxnSpPr>
          <p:cNvPr id="19" name="Connector 18"/>
          <p:cNvCxnSpPr/>
          <p:nvPr/>
        </p:nvCxnSpPr>
        <p:spPr>
          <a:xfrm>
            <a:off x="7589520" y="3931920"/>
            <a:ext cx="0" cy="3657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235440" y="3931920"/>
            <a:ext cx="0" cy="3657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881360" y="3931920"/>
            <a:ext cx="0" cy="3657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858000" y="5349240"/>
            <a:ext cx="4754880" cy="731520"/>
          </a:xfrm>
          <a:prstGeom prst="rect">
            <a:avLst/>
          </a:prstGeom>
          <a:solidFill>
            <a:srgbClr val="FFFBE6"/>
          </a:solidFill>
          <a:ln w="12700">
            <a:solidFill>
              <a:srgbClr val="D4B106"/>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950" b="0" i="0">
                <a:solidFill>
                  <a:srgbClr val="333333"/>
                </a:solidFill>
              </a:rPr>
              <a:t>Boundary checks in CI: no sw/ or tests/ file may include VX_config.h; sw/{kernel,runtime} and sim/,hw/ never include each other (shared code → sw/common).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Simulation Vehicles</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graphicFrame>
        <p:nvGraphicFramePr>
          <p:cNvPr id="5" name="Table 4"/>
          <p:cNvGraphicFramePr>
            <a:graphicFrameLocks noGrp="1"/>
          </p:cNvGraphicFramePr>
          <p:nvPr/>
        </p:nvGraphicFramePr>
        <p:xfrm>
          <a:off x="731520" y="1280160"/>
          <a:ext cx="10881360" cy="3803904"/>
        </p:xfrm>
        <a:graphic>
          <a:graphicData uri="http://schemas.openxmlformats.org/drawingml/2006/table">
            <a:tbl>
              <a:tblPr firstRow="0" bandRow="0">
                <a:tableStyleId>{5940675A-B579-460E-94D1-54222C63F5DA}</a:tableStyleId>
              </a:tblPr>
              <a:tblGrid>
                <a:gridCol w="1554480"/>
                <a:gridCol w="2926080"/>
                <a:gridCol w="1645920"/>
                <a:gridCol w="1828800"/>
                <a:gridCol w="2926080"/>
              </a:tblGrid>
              <a:tr h="475488">
                <a:tc>
                  <a:txBody>
                    <a:bodyPr wrap="square"/>
                    <a:lstStyle/>
                    <a:p>
                      <a:pPr algn="l"/>
                      <a:r>
                        <a:rPr sz="1000" b="1" i="0">
                          <a:solidFill>
                            <a:srgbClr val="FFFFFF"/>
                          </a:solidFill>
                        </a:rPr>
                        <a:t>Driver</a:t>
                      </a:r>
                    </a:p>
                  </a:txBody>
                  <a:tcPr marL="45720" marR="45720" marT="18288" marB="18288" anchor="ctr">
                    <a:solidFill>
                      <a:srgbClr val="1F394D"/>
                    </a:solidFill>
                  </a:tcPr>
                </a:tc>
                <a:tc>
                  <a:txBody>
                    <a:bodyPr wrap="square"/>
                    <a:lstStyle/>
                    <a:p>
                      <a:pPr algn="l"/>
                      <a:r>
                        <a:rPr sz="1000" b="1" i="0">
                          <a:solidFill>
                            <a:srgbClr val="FFFFFF"/>
                          </a:solidFill>
                        </a:rPr>
                        <a:t>What runs</a:t>
                      </a:r>
                    </a:p>
                  </a:txBody>
                  <a:tcPr marL="45720" marR="45720" marT="18288" marB="18288" anchor="ctr">
                    <a:solidFill>
                      <a:srgbClr val="1F394D"/>
                    </a:solidFill>
                  </a:tcPr>
                </a:tc>
                <a:tc>
                  <a:txBody>
                    <a:bodyPr wrap="square"/>
                    <a:lstStyle/>
                    <a:p>
                      <a:pPr algn="l"/>
                      <a:r>
                        <a:rPr sz="1000" b="1" i="0">
                          <a:solidFill>
                            <a:srgbClr val="FFFFFF"/>
                          </a:solidFill>
                        </a:rPr>
                        <a:t>Timing</a:t>
                      </a:r>
                    </a:p>
                  </a:txBody>
                  <a:tcPr marL="45720" marR="45720" marT="18288" marB="18288" anchor="ctr">
                    <a:solidFill>
                      <a:srgbClr val="1F394D"/>
                    </a:solidFill>
                  </a:tcPr>
                </a:tc>
                <a:tc>
                  <a:txBody>
                    <a:bodyPr wrap="square"/>
                    <a:lstStyle/>
                    <a:p>
                      <a:pPr algn="l"/>
                      <a:r>
                        <a:rPr sz="1000" b="1" i="0">
                          <a:solidFill>
                            <a:srgbClr val="FFFFFF"/>
                          </a:solidFill>
                        </a:rPr>
                        <a:t>Speed</a:t>
                      </a:r>
                    </a:p>
                  </a:txBody>
                  <a:tcPr marL="45720" marR="45720" marT="18288" marB="18288" anchor="ctr">
                    <a:solidFill>
                      <a:srgbClr val="1F394D"/>
                    </a:solidFill>
                  </a:tcPr>
                </a:tc>
                <a:tc>
                  <a:txBody>
                    <a:bodyPr wrap="square"/>
                    <a:lstStyle/>
                    <a:p>
                      <a:pPr algn="l"/>
                      <a:r>
                        <a:rPr sz="1000" b="1" i="0">
                          <a:solidFill>
                            <a:srgbClr val="FFFFFF"/>
                          </a:solidFill>
                        </a:rPr>
                        <a:t>Use it for</a:t>
                      </a:r>
                    </a:p>
                  </a:txBody>
                  <a:tcPr marL="45720" marR="45720" marT="18288" marB="18288" anchor="ctr">
                    <a:solidFill>
                      <a:srgbClr val="1F394D"/>
                    </a:solidFill>
                  </a:tcPr>
                </a:tc>
              </a:tr>
              <a:tr h="475488">
                <a:tc>
                  <a:txBody>
                    <a:bodyPr wrap="square"/>
                    <a:lstStyle/>
                    <a:p>
                      <a:pPr algn="l"/>
                      <a:r>
                        <a:rPr sz="1000" b="0" i="0">
                          <a:solidFill>
                            <a:srgbClr val="000000"/>
                          </a:solidFill>
                        </a:rPr>
                        <a:t>simx</a:t>
                      </a:r>
                    </a:p>
                  </a:txBody>
                  <a:tcPr marL="45720" marR="45720" marT="18288" marB="18288" anchor="ctr">
                    <a:solidFill>
                      <a:srgbClr val="FFFFFF"/>
                    </a:solidFill>
                  </a:tcPr>
                </a:tc>
                <a:tc>
                  <a:txBody>
                    <a:bodyPr wrap="square"/>
                    <a:lstStyle/>
                    <a:p>
                      <a:pPr algn="l"/>
                      <a:r>
                        <a:rPr sz="1000" b="0" i="0">
                          <a:solidFill>
                            <a:srgbClr val="000000"/>
                          </a:solidFill>
                        </a:rPr>
                        <a:t>C++ TLM model (sim/simx), MT, functional mode</a:t>
                      </a:r>
                    </a:p>
                  </a:txBody>
                  <a:tcPr marL="45720" marR="45720" marT="18288" marB="18288" anchor="ctr">
                    <a:solidFill>
                      <a:srgbClr val="FFFFFF"/>
                    </a:solidFill>
                  </a:tcPr>
                </a:tc>
                <a:tc>
                  <a:txBody>
                    <a:bodyPr wrap="square"/>
                    <a:lstStyle/>
                    <a:p>
                      <a:pPr algn="l"/>
                      <a:r>
                        <a:rPr sz="1000" b="0" i="0">
                          <a:solidFill>
                            <a:srgbClr val="000000"/>
                          </a:solidFill>
                        </a:rPr>
                        <a:t>cycle-level, RTL twin</a:t>
                      </a:r>
                    </a:p>
                  </a:txBody>
                  <a:tcPr marL="45720" marR="45720" marT="18288" marB="18288" anchor="ctr">
                    <a:solidFill>
                      <a:srgbClr val="FFFFFF"/>
                    </a:solidFill>
                  </a:tcPr>
                </a:tc>
                <a:tc>
                  <a:txBody>
                    <a:bodyPr wrap="square"/>
                    <a:lstStyle/>
                    <a:p>
                      <a:pPr algn="l"/>
                      <a:r>
                        <a:rPr sz="1000" b="0" i="0">
                          <a:solidFill>
                            <a:srgbClr val="000000"/>
                          </a:solidFill>
                        </a:rPr>
                        <a:t>fastest; 132-core profiles</a:t>
                      </a:r>
                    </a:p>
                  </a:txBody>
                  <a:tcPr marL="45720" marR="45720" marT="18288" marB="18288" anchor="ctr">
                    <a:solidFill>
                      <a:srgbClr val="FFFFFF"/>
                    </a:solidFill>
                  </a:tcPr>
                </a:tc>
                <a:tc>
                  <a:txBody>
                    <a:bodyPr wrap="square"/>
                    <a:lstStyle/>
                    <a:p>
                      <a:pPr algn="l"/>
                      <a:r>
                        <a:rPr sz="1000" b="0" i="0">
                          <a:solidFill>
                            <a:srgbClr val="000000"/>
                          </a:solidFill>
                        </a:rPr>
                        <a:t>architecture studies, software bring-up, CTS, oracle for parity</a:t>
                      </a:r>
                    </a:p>
                  </a:txBody>
                  <a:tcPr marL="45720" marR="45720" marT="18288" marB="18288" anchor="ctr">
                    <a:solidFill>
                      <a:srgbClr val="FFFFFF"/>
                    </a:solidFill>
                  </a:tcPr>
                </a:tc>
              </a:tr>
              <a:tr h="475488">
                <a:tc>
                  <a:txBody>
                    <a:bodyPr wrap="square"/>
                    <a:lstStyle/>
                    <a:p>
                      <a:pPr algn="l"/>
                      <a:r>
                        <a:rPr sz="1000" b="0" i="0">
                          <a:solidFill>
                            <a:srgbClr val="000000"/>
                          </a:solidFill>
                        </a:rPr>
                        <a:t>rtlsim</a:t>
                      </a:r>
                    </a:p>
                  </a:txBody>
                  <a:tcPr marL="45720" marR="45720" marT="18288" marB="18288" anchor="ctr">
                    <a:solidFill>
                      <a:srgbClr val="F2F6FA"/>
                    </a:solidFill>
                  </a:tcPr>
                </a:tc>
                <a:tc>
                  <a:txBody>
                    <a:bodyPr wrap="square"/>
                    <a:lstStyle/>
                    <a:p>
                      <a:pPr algn="l"/>
                      <a:r>
                        <a:rPr sz="1000" b="0" i="0">
                          <a:solidFill>
                            <a:srgbClr val="000000"/>
                          </a:solidFill>
                        </a:rPr>
                        <a:t>Verilator 5.028 of hw/rtl (no AFU)</a:t>
                      </a:r>
                    </a:p>
                  </a:txBody>
                  <a:tcPr marL="45720" marR="45720" marT="18288" marB="18288" anchor="ctr">
                    <a:solidFill>
                      <a:srgbClr val="F2F6FA"/>
                    </a:solidFill>
                  </a:tcPr>
                </a:tc>
                <a:tc>
                  <a:txBody>
                    <a:bodyPr wrap="square"/>
                    <a:lstStyle/>
                    <a:p>
                      <a:pPr algn="l"/>
                      <a:r>
                        <a:rPr sz="1000" b="0" i="0">
                          <a:solidFill>
                            <a:srgbClr val="000000"/>
                          </a:solidFill>
                        </a:rPr>
                        <a:t>cycle-exact RTL</a:t>
                      </a:r>
                    </a:p>
                  </a:txBody>
                  <a:tcPr marL="45720" marR="45720" marT="18288" marB="18288" anchor="ctr">
                    <a:solidFill>
                      <a:srgbClr val="F2F6FA"/>
                    </a:solidFill>
                  </a:tcPr>
                </a:tc>
                <a:tc>
                  <a:txBody>
                    <a:bodyPr wrap="square"/>
                    <a:lstStyle/>
                    <a:p>
                      <a:pPr algn="l"/>
                      <a:r>
                        <a:rPr sz="1000" b="0" i="0">
                          <a:solidFill>
                            <a:srgbClr val="000000"/>
                          </a:solidFill>
                        </a:rPr>
                        <a:t>sgemm -n32 ≈ 1.2 s</a:t>
                      </a:r>
                    </a:p>
                  </a:txBody>
                  <a:tcPr marL="45720" marR="45720" marT="18288" marB="18288" anchor="ctr">
                    <a:solidFill>
                      <a:srgbClr val="F2F6FA"/>
                    </a:solidFill>
                  </a:tcPr>
                </a:tc>
                <a:tc>
                  <a:txBody>
                    <a:bodyPr wrap="square"/>
                    <a:lstStyle/>
                    <a:p>
                      <a:pPr algn="l"/>
                      <a:r>
                        <a:rPr sz="1000" b="0" i="0">
                          <a:solidFill>
                            <a:srgbClr val="000000"/>
                          </a:solidFill>
                        </a:rPr>
                        <a:t>RTL development, perf_gate goldens, VCD/SAIF</a:t>
                      </a:r>
                    </a:p>
                  </a:txBody>
                  <a:tcPr marL="45720" marR="45720" marT="18288" marB="18288" anchor="ctr">
                    <a:solidFill>
                      <a:srgbClr val="F2F6FA"/>
                    </a:solidFill>
                  </a:tcPr>
                </a:tc>
              </a:tr>
              <a:tr h="475488">
                <a:tc>
                  <a:txBody>
                    <a:bodyPr wrap="square"/>
                    <a:lstStyle/>
                    <a:p>
                      <a:pPr algn="l"/>
                      <a:r>
                        <a:rPr sz="1000" b="0" i="0">
                          <a:solidFill>
                            <a:srgbClr val="000000"/>
                          </a:solidFill>
                        </a:rPr>
                        <a:t>xrtsim / opaesim / avedsim</a:t>
                      </a:r>
                    </a:p>
                  </a:txBody>
                  <a:tcPr marL="45720" marR="45720" marT="18288" marB="18288" anchor="ctr">
                    <a:solidFill>
                      <a:srgbClr val="FFFFFF"/>
                    </a:solidFill>
                  </a:tcPr>
                </a:tc>
                <a:tc>
                  <a:txBody>
                    <a:bodyPr wrap="square"/>
                    <a:lstStyle/>
                    <a:p>
                      <a:pPr algn="l"/>
                      <a:r>
                        <a:rPr sz="1000" b="0" i="0">
                          <a:solidFill>
                            <a:srgbClr val="000000"/>
                          </a:solidFill>
                        </a:rPr>
                        <a:t>Verilator of RTL + AFU shell + CP</a:t>
                      </a:r>
                    </a:p>
                  </a:txBody>
                  <a:tcPr marL="45720" marR="45720" marT="18288" marB="18288" anchor="ctr">
                    <a:solidFill>
                      <a:srgbClr val="FFFFFF"/>
                    </a:solidFill>
                  </a:tcPr>
                </a:tc>
                <a:tc>
                  <a:txBody>
                    <a:bodyPr wrap="square"/>
                    <a:lstStyle/>
                    <a:p>
                      <a:pPr algn="l"/>
                      <a:r>
                        <a:rPr sz="1000" b="0" i="0">
                          <a:solidFill>
                            <a:srgbClr val="000000"/>
                          </a:solidFill>
                        </a:rPr>
                        <a:t>cycle-exact incl. AFU</a:t>
                      </a:r>
                    </a:p>
                  </a:txBody>
                  <a:tcPr marL="45720" marR="45720" marT="18288" marB="18288" anchor="ctr">
                    <a:solidFill>
                      <a:srgbClr val="FFFFFF"/>
                    </a:solidFill>
                  </a:tcPr>
                </a:tc>
                <a:tc>
                  <a:txBody>
                    <a:bodyPr wrap="square"/>
                    <a:lstStyle/>
                    <a:p>
                      <a:pPr algn="l"/>
                      <a:r>
                        <a:rPr sz="1000" b="0" i="0">
                          <a:solidFill>
                            <a:srgbClr val="000000"/>
                          </a:solidFill>
                        </a:rPr>
                        <a:t>slower</a:t>
                      </a:r>
                    </a:p>
                  </a:txBody>
                  <a:tcPr marL="45720" marR="45720" marT="18288" marB="18288" anchor="ctr">
                    <a:solidFill>
                      <a:srgbClr val="FFFFFF"/>
                    </a:solidFill>
                  </a:tcPr>
                </a:tc>
                <a:tc>
                  <a:txBody>
                    <a:bodyPr wrap="square"/>
                    <a:lstStyle/>
                    <a:p>
                      <a:pPr algn="l"/>
                      <a:r>
                        <a:rPr sz="1000" b="0" i="0">
                          <a:solidFill>
                            <a:srgbClr val="000000"/>
                          </a:solidFill>
                        </a:rPr>
                        <a:t>driver and shell integration, "RTL coverage path is xrt"</a:t>
                      </a:r>
                    </a:p>
                  </a:txBody>
                  <a:tcPr marL="45720" marR="45720" marT="18288" marB="18288" anchor="ctr">
                    <a:solidFill>
                      <a:srgbClr val="FFFFFF"/>
                    </a:solidFill>
                  </a:tcPr>
                </a:tc>
              </a:tr>
              <a:tr h="475488">
                <a:tc>
                  <a:txBody>
                    <a:bodyPr wrap="square"/>
                    <a:lstStyle/>
                    <a:p>
                      <a:pPr algn="l"/>
                      <a:r>
                        <a:rPr sz="1000" b="0" i="0">
                          <a:solidFill>
                            <a:srgbClr val="000000"/>
                          </a:solidFill>
                        </a:rPr>
                        <a:t>gem5</a:t>
                      </a:r>
                    </a:p>
                  </a:txBody>
                  <a:tcPr marL="45720" marR="45720" marT="18288" marB="18288" anchor="ctr">
                    <a:solidFill>
                      <a:srgbClr val="F2F6FA"/>
                    </a:solidFill>
                  </a:tcPr>
                </a:tc>
                <a:tc>
                  <a:txBody>
                    <a:bodyPr wrap="square"/>
                    <a:lstStyle/>
                    <a:p>
                      <a:pPr algn="l"/>
                      <a:r>
                        <a:rPr sz="1000" b="0" i="0">
                          <a:solidFill>
                            <a:srgbClr val="000000"/>
                          </a:solidFill>
                        </a:rPr>
                        <a:t>VortexGPGPU SimObject + x86-64 / AArch64 host, CP over PIO</a:t>
                      </a:r>
                    </a:p>
                  </a:txBody>
                  <a:tcPr marL="45720" marR="45720" marT="18288" marB="18288" anchor="ctr">
                    <a:solidFill>
                      <a:srgbClr val="F2F6FA"/>
                    </a:solidFill>
                  </a:tcPr>
                </a:tc>
                <a:tc>
                  <a:txBody>
                    <a:bodyPr wrap="square"/>
                    <a:lstStyle/>
                    <a:p>
                      <a:pPr algn="l"/>
                      <a:r>
                        <a:rPr sz="1000" b="0" i="0">
                          <a:solidFill>
                            <a:srgbClr val="000000"/>
                          </a:solidFill>
                        </a:rPr>
                        <a:t>host + device</a:t>
                      </a:r>
                    </a:p>
                  </a:txBody>
                  <a:tcPr marL="45720" marR="45720" marT="18288" marB="18288" anchor="ctr">
                    <a:solidFill>
                      <a:srgbClr val="F2F6FA"/>
                    </a:solidFill>
                  </a:tcPr>
                </a:tc>
                <a:tc>
                  <a:txBody>
                    <a:bodyPr wrap="square"/>
                    <a:lstStyle/>
                    <a:p>
                      <a:pPr algn="l"/>
                      <a:r>
                        <a:rPr sz="1000" b="0" i="0">
                          <a:solidFill>
                            <a:srgbClr val="000000"/>
                          </a:solidFill>
                        </a:rPr>
                        <a:t>nightly tier</a:t>
                      </a:r>
                    </a:p>
                  </a:txBody>
                  <a:tcPr marL="45720" marR="45720" marT="18288" marB="18288" anchor="ctr">
                    <a:solidFill>
                      <a:srgbClr val="F2F6FA"/>
                    </a:solidFill>
                  </a:tcPr>
                </a:tc>
                <a:tc>
                  <a:txBody>
                    <a:bodyPr wrap="square"/>
                    <a:lstStyle/>
                    <a:p>
                      <a:pPr algn="l"/>
                      <a:r>
                        <a:rPr sz="1000" b="0" i="0">
                          <a:solidFill>
                            <a:srgbClr val="000000"/>
                          </a:solidFill>
                        </a:rPr>
                        <a:t>host–device interaction, OS-level studies</a:t>
                      </a:r>
                    </a:p>
                  </a:txBody>
                  <a:tcPr marL="45720" marR="45720" marT="18288" marB="18288" anchor="ctr">
                    <a:solidFill>
                      <a:srgbClr val="F2F6FA"/>
                    </a:solidFill>
                  </a:tcPr>
                </a:tc>
              </a:tr>
              <a:tr h="475488">
                <a:tc>
                  <a:txBody>
                    <a:bodyPr wrap="square"/>
                    <a:lstStyle/>
                    <a:p>
                      <a:pPr algn="l"/>
                      <a:r>
                        <a:rPr sz="1000" b="0" i="0">
                          <a:solidFill>
                            <a:srgbClr val="000000"/>
                          </a:solidFill>
                        </a:rPr>
                        <a:t>sst</a:t>
                      </a:r>
                    </a:p>
                  </a:txBody>
                  <a:tcPr marL="45720" marR="45720" marT="18288" marB="18288" anchor="ctr">
                    <a:solidFill>
                      <a:srgbClr val="FFFFFF"/>
                    </a:solidFill>
                  </a:tcPr>
                </a:tc>
                <a:tc>
                  <a:txBody>
                    <a:bodyPr wrap="square"/>
                    <a:lstStyle/>
                    <a:p>
                      <a:pPr algn="l"/>
                      <a:r>
                        <a:rPr sz="1000" b="0" i="0">
                          <a:solidFill>
                            <a:srgbClr val="000000"/>
                          </a:solidFill>
                        </a:rPr>
                        <a:t>vortex.VortexGPGPU element, memory mirrored to memHierarchy</a:t>
                      </a:r>
                    </a:p>
                  </a:txBody>
                  <a:tcPr marL="45720" marR="45720" marT="18288" marB="18288" anchor="ctr">
                    <a:solidFill>
                      <a:srgbClr val="FFFFFF"/>
                    </a:solidFill>
                  </a:tcPr>
                </a:tc>
                <a:tc>
                  <a:txBody>
                    <a:bodyPr wrap="square"/>
                    <a:lstStyle/>
                    <a:p>
                      <a:pPr algn="l"/>
                      <a:r>
                        <a:rPr sz="1000" b="0" i="0">
                          <a:solidFill>
                            <a:srgbClr val="000000"/>
                          </a:solidFill>
                        </a:rPr>
                        <a:t>SimX clocked by SST</a:t>
                      </a:r>
                    </a:p>
                  </a:txBody>
                  <a:tcPr marL="45720" marR="45720" marT="18288" marB="18288" anchor="ctr">
                    <a:solidFill>
                      <a:srgbClr val="FFFFFF"/>
                    </a:solidFill>
                  </a:tcPr>
                </a:tc>
                <a:tc>
                  <a:txBody>
                    <a:bodyPr wrap="square"/>
                    <a:lstStyle/>
                    <a:p>
                      <a:pPr algn="l"/>
                      <a:r>
                        <a:rPr sz="1000" b="0" i="0">
                          <a:solidFill>
                            <a:srgbClr val="000000"/>
                          </a:solidFill>
                        </a:rPr>
                        <a:t>needs OpenMPI</a:t>
                      </a:r>
                    </a:p>
                  </a:txBody>
                  <a:tcPr marL="45720" marR="45720" marT="18288" marB="18288" anchor="ctr">
                    <a:solidFill>
                      <a:srgbClr val="FFFFFF"/>
                    </a:solidFill>
                  </a:tcPr>
                </a:tc>
                <a:tc>
                  <a:txBody>
                    <a:bodyPr wrap="square"/>
                    <a:lstStyle/>
                    <a:p>
                      <a:pPr algn="l"/>
                      <a:r>
                        <a:rPr sz="1000" b="0" i="0">
                          <a:solidFill>
                            <a:srgbClr val="000000"/>
                          </a:solidFill>
                        </a:rPr>
                        <a:t>system / memory-hierarchy studies</a:t>
                      </a:r>
                    </a:p>
                  </a:txBody>
                  <a:tcPr marL="45720" marR="45720" marT="18288" marB="18288" anchor="ctr">
                    <a:solidFill>
                      <a:srgbClr val="FFFFFF"/>
                    </a:solidFill>
                  </a:tcPr>
                </a:tc>
              </a:tr>
              <a:tr h="475488">
                <a:tc>
                  <a:txBody>
                    <a:bodyPr wrap="square"/>
                    <a:lstStyle/>
                    <a:p>
                      <a:pPr algn="l"/>
                      <a:r>
                        <a:rPr sz="1000" b="0" i="0">
                          <a:solidFill>
                            <a:srgbClr val="000000"/>
                          </a:solidFill>
                        </a:rPr>
                        <a:t>firesim</a:t>
                      </a:r>
                    </a:p>
                  </a:txBody>
                  <a:tcPr marL="45720" marR="45720" marT="18288" marB="18288" anchor="ctr">
                    <a:solidFill>
                      <a:srgbClr val="F2F6FA"/>
                    </a:solidFill>
                  </a:tcPr>
                </a:tc>
                <a:tc>
                  <a:txBody>
                    <a:bodyPr wrap="square"/>
                    <a:lstStyle/>
                    <a:p>
                      <a:pPr algn="l"/>
                      <a:r>
                        <a:rPr sz="1000" b="0" i="0">
                          <a:solidFill>
                            <a:srgbClr val="000000"/>
                          </a:solidFill>
                        </a:rPr>
                        <a:t>RTL on U55C, FASED DRAM, host-stepped</a:t>
                      </a:r>
                    </a:p>
                  </a:txBody>
                  <a:tcPr marL="45720" marR="45720" marT="18288" marB="18288" anchor="ctr">
                    <a:solidFill>
                      <a:srgbClr val="F2F6FA"/>
                    </a:solidFill>
                  </a:tcPr>
                </a:tc>
                <a:tc>
                  <a:txBody>
                    <a:bodyPr wrap="square"/>
                    <a:lstStyle/>
                    <a:p>
                      <a:pPr algn="l"/>
                      <a:r>
                        <a:rPr sz="1000" b="0" i="0">
                          <a:solidFill>
                            <a:srgbClr val="000000"/>
                          </a:solidFill>
                        </a:rPr>
                        <a:t>reproducible target cycles</a:t>
                      </a:r>
                    </a:p>
                  </a:txBody>
                  <a:tcPr marL="45720" marR="45720" marT="18288" marB="18288" anchor="ctr">
                    <a:solidFill>
                      <a:srgbClr val="F2F6FA"/>
                    </a:solidFill>
                  </a:tcPr>
                </a:tc>
                <a:tc>
                  <a:txBody>
                    <a:bodyPr wrap="square"/>
                    <a:lstStyle/>
                    <a:p>
                      <a:pPr algn="l"/>
                      <a:r>
                        <a:rPr sz="1000" b="0" i="0">
                          <a:solidFill>
                            <a:srgbClr val="000000"/>
                          </a:solidFill>
                        </a:rPr>
                        <a:t>sgemm -n32 ≈ 8 ms (~153× rtlsim)</a:t>
                      </a:r>
                    </a:p>
                  </a:txBody>
                  <a:tcPr marL="45720" marR="45720" marT="18288" marB="18288" anchor="ctr">
                    <a:solidFill>
                      <a:srgbClr val="F2F6FA"/>
                    </a:solidFill>
                  </a:tcPr>
                </a:tc>
                <a:tc>
                  <a:txBody>
                    <a:bodyPr wrap="square"/>
                    <a:lstStyle/>
                    <a:p>
                      <a:pPr algn="l"/>
                      <a:r>
                        <a:rPr sz="1000" b="0" i="0">
                          <a:solidFill>
                            <a:srgbClr val="000000"/>
                          </a:solidFill>
                        </a:rPr>
                        <a:t>long runs with RTL fidelity, memory-system sweeps</a:t>
                      </a:r>
                    </a:p>
                  </a:txBody>
                  <a:tcPr marL="45720" marR="45720" marT="18288" marB="18288" anchor="ctr">
                    <a:solidFill>
                      <a:srgbClr val="F2F6FA"/>
                    </a:solidFill>
                  </a:tcPr>
                </a:tc>
              </a:tr>
              <a:tr h="475488">
                <a:tc>
                  <a:txBody>
                    <a:bodyPr wrap="square"/>
                    <a:lstStyle/>
                    <a:p>
                      <a:pPr algn="l"/>
                      <a:r>
                        <a:rPr sz="1000" b="0" i="0">
                          <a:solidFill>
                            <a:srgbClr val="000000"/>
                          </a:solidFill>
                        </a:rPr>
                        <a:t>xrt / opae / aved</a:t>
                      </a:r>
                    </a:p>
                  </a:txBody>
                  <a:tcPr marL="45720" marR="45720" marT="18288" marB="18288" anchor="ctr">
                    <a:solidFill>
                      <a:srgbClr val="FFFFFF"/>
                    </a:solidFill>
                  </a:tcPr>
                </a:tc>
                <a:tc>
                  <a:txBody>
                    <a:bodyPr wrap="square"/>
                    <a:lstStyle/>
                    <a:p>
                      <a:pPr algn="l"/>
                      <a:r>
                        <a:rPr sz="1000" b="0" i="0">
                          <a:solidFill>
                            <a:srgbClr val="000000"/>
                          </a:solidFill>
                        </a:rPr>
                        <a:t>real AFU on Alveo / Arria-Stratix / V80</a:t>
                      </a:r>
                    </a:p>
                  </a:txBody>
                  <a:tcPr marL="45720" marR="45720" marT="18288" marB="18288" anchor="ctr">
                    <a:solidFill>
                      <a:srgbClr val="FFFFFF"/>
                    </a:solidFill>
                  </a:tcPr>
                </a:tc>
                <a:tc>
                  <a:txBody>
                    <a:bodyPr wrap="square"/>
                    <a:lstStyle/>
                    <a:p>
                      <a:pPr algn="l"/>
                      <a:r>
                        <a:rPr sz="1000" b="0" i="0">
                          <a:solidFill>
                            <a:srgbClr val="000000"/>
                          </a:solidFill>
                        </a:rPr>
                        <a:t>silicon</a:t>
                      </a:r>
                    </a:p>
                  </a:txBody>
                  <a:tcPr marL="45720" marR="45720" marT="18288" marB="18288" anchor="ctr">
                    <a:solidFill>
                      <a:srgbClr val="FFFFFF"/>
                    </a:solidFill>
                  </a:tcPr>
                </a:tc>
                <a:tc>
                  <a:txBody>
                    <a:bodyPr wrap="square"/>
                    <a:lstStyle/>
                    <a:p>
                      <a:pPr algn="l"/>
                      <a:r>
                        <a:rPr sz="1000" b="0" i="0">
                          <a:solidFill>
                            <a:srgbClr val="000000"/>
                          </a:solidFill>
                        </a:rPr>
                        <a:t>real time</a:t>
                      </a:r>
                    </a:p>
                  </a:txBody>
                  <a:tcPr marL="45720" marR="45720" marT="18288" marB="18288" anchor="ctr">
                    <a:solidFill>
                      <a:srgbClr val="FFFFFF"/>
                    </a:solidFill>
                  </a:tcPr>
                </a:tc>
                <a:tc>
                  <a:txBody>
                    <a:bodyPr wrap="square"/>
                    <a:lstStyle/>
                    <a:p>
                      <a:pPr algn="l"/>
                      <a:r>
                        <a:rPr sz="1000" b="0" i="0">
                          <a:solidFill>
                            <a:srgbClr val="000000"/>
                          </a:solidFill>
                        </a:rPr>
                        <a:t>demos, timing closure, power (SAIF)</a:t>
                      </a:r>
                    </a:p>
                  </a:txBody>
                  <a:tcPr marL="45720" marR="45720" marT="18288" marB="18288" anchor="ctr">
                    <a:solidFill>
                      <a:srgbClr val="FFFFFF"/>
                    </a:solidFill>
                  </a:tcPr>
                </a:tc>
              </a:tr>
            </a:tbl>
          </a:graphicData>
        </a:graphic>
      </p:graphicFrame>
      <p:sp>
        <p:nvSpPr>
          <p:cNvPr id="6" name="Rectangle 5"/>
          <p:cNvSpPr/>
          <p:nvPr/>
        </p:nvSpPr>
        <p:spPr>
          <a:xfrm>
            <a:off x="731520" y="5212080"/>
            <a:ext cx="10881360" cy="82296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050" b="0" i="0">
                <a:solidFill>
                  <a:srgbClr val="FFFFFF"/>
                </a:solidFill>
                <a:latin typeface="Consolas"/>
              </a:rPr>
              <a:t>./ci/blackbox.sh --driver=simx --app=sgemm --args="-n128" --cores=4 --l2cache --perf=7</a:t>
            </a:r>
          </a:p>
          <a:p>
            <a:pPr algn="l"/>
            <a:r>
              <a:rPr sz="1050" b="0" i="0">
                <a:solidFill>
                  <a:srgbClr val="FFFFFF"/>
                </a:solidFill>
                <a:latin typeface="Consolas"/>
              </a:rPr>
              <a:t>VORTEX_DRIVER=rtlsim ./tests/regression/vecadd/vecadd -n1024      # same binary, any backend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SimX as the RTL Oracle: model_parity</a:t>
            </a:r>
          </a:p>
        </p:txBody>
      </p:sp>
      <p:sp>
        <p:nvSpPr>
          <p:cNvPr id="3" name="Text Placeholder 2"/>
          <p:cNvSpPr>
            <a:spLocks noGrp="1"/>
          </p:cNvSpPr>
          <p:nvPr>
            <p:ph type="body" idx="1"/>
          </p:nvPr>
        </p:nvSpPr>
        <p:spPr>
          <a:xfrm>
            <a:off x="731520" y="2651760"/>
            <a:ext cx="10881360" cy="3474720"/>
          </a:xfrm>
        </p:spPr>
        <p:txBody>
          <a:bodyPr wrap="square"/>
          <a:lstStyle/>
          <a:p>
            <a:pPr marL="0" indent="0">
              <a:spcBef>
                <a:spcPts val="500"/>
              </a:spcBef>
              <a:buNone/>
            </a:pPr>
            <a:r>
              <a:rPr sz="1200" b="1" i="0">
                <a:solidFill>
                  <a:srgbClr val="1F394D"/>
                </a:solidFill>
              </a:rPr>
              <a:t>What parity means</a:t>
            </a:r>
          </a:p>
          <a:p>
            <a:pPr lvl="1" marL="342900" indent="-228600">
              <a:spcBef>
                <a:spcPts val="100"/>
              </a:spcBef>
              <a:buFont typeface="Arial"/>
              <a:buChar char="•"/>
            </a:pPr>
            <a:r>
              <a:rPr sz="1100" b="0" i="0">
                <a:solidFill>
                  <a:srgbClr val="000000"/>
                </a:solidFill>
              </a:rPr>
              <a:t>SimX is the RTL's timing model, not a second ISA simulator: same pipeline modules, same cache banks, same CP model</a:t>
            </a:r>
          </a:p>
          <a:p>
            <a:pPr marL="0" indent="0">
              <a:spcBef>
                <a:spcPts val="500"/>
              </a:spcBef>
              <a:buNone/>
            </a:pPr>
            <a:r>
              <a:rPr sz="1200" b="1" i="0">
                <a:solidFill>
                  <a:srgbClr val="1F394D"/>
                </a:solidFill>
              </a:rPr>
              <a:t>Cases</a:t>
            </a:r>
          </a:p>
          <a:p>
            <a:pPr lvl="1" marL="342900" indent="-228600">
              <a:spcBef>
                <a:spcPts val="100"/>
              </a:spcBef>
              <a:buFont typeface="Arial"/>
              <a:buChar char="•"/>
            </a:pPr>
            <a:r>
              <a:rPr sz="1100" b="0" i="0">
                <a:solidFill>
                  <a:srgbClr val="000000"/>
                </a:solidFill>
              </a:rPr>
              <a:t>ci/testcases/core.yaml + per-extension catalogs (dxa, tensor_*, graphics_parity, amo…); tier </a:t>
            </a:r>
            <a:r>
              <a:rPr sz="1100" b="0" i="0">
                <a:solidFill>
                  <a:srgbClr val="000000"/>
                </a:solidFill>
                <a:latin typeface="Consolas"/>
              </a:rPr>
              <a:t>full</a:t>
            </a:r>
          </a:p>
          <a:p>
            <a:pPr lvl="1" marL="342900" indent="-228600">
              <a:spcBef>
                <a:spcPts val="100"/>
              </a:spcBef>
              <a:buFont typeface="Arial"/>
              <a:buChar char="•"/>
            </a:pPr>
            <a:r>
              <a:rPr sz="1100" b="0" i="0">
                <a:solidFill>
                  <a:srgbClr val="000000"/>
                </a:solidFill>
              </a:rPr>
              <a:t>LR/SC apps cannot be parity cases (SimX reservations are per hart, RTL uses bounded stations)</a:t>
            </a:r>
          </a:p>
          <a:p>
            <a:pPr marL="0" indent="0">
              <a:spcBef>
                <a:spcPts val="500"/>
              </a:spcBef>
              <a:buNone/>
            </a:pPr>
            <a:r>
              <a:rPr sz="1200" b="1" i="0">
                <a:solidFill>
                  <a:srgbClr val="1F394D"/>
                </a:solidFill>
              </a:rPr>
              <a:t>v3 parity fixes</a:t>
            </a:r>
          </a:p>
          <a:p>
            <a:pPr lvl="1" marL="342900" indent="-228600">
              <a:spcBef>
                <a:spcPts val="100"/>
              </a:spcBef>
              <a:buFont typeface="Arial"/>
              <a:buChar char="•"/>
            </a:pPr>
            <a:r>
              <a:rPr sz="1100" b="0" i="0">
                <a:solidFill>
                  <a:srgbClr val="000000"/>
                </a:solidFill>
              </a:rPr>
              <a:t>cache flush fans out to i/d/t/r/o caches like </a:t>
            </a:r>
            <a:r>
              <a:rPr sz="1100" b="0" i="0">
                <a:solidFill>
                  <a:srgbClr val="000000"/>
                </a:solidFill>
                <a:latin typeface="Consolas"/>
              </a:rPr>
              <a:t>VX_dcr_flush</a:t>
            </a:r>
            <a:r>
              <a:rPr sz="1100" b="0" i="0">
                <a:solidFill>
                  <a:srgbClr val="000000"/>
                </a:solidFill>
              </a:rPr>
              <a:t> (was dcache-only)</a:t>
            </a:r>
          </a:p>
          <a:p>
            <a:pPr lvl="1" marL="342900" indent="-228600">
              <a:spcBef>
                <a:spcPts val="100"/>
              </a:spcBef>
              <a:buFont typeface="Arial"/>
              <a:buChar char="•"/>
            </a:pPr>
            <a:r>
              <a:rPr sz="1100" b="0" i="0">
                <a:solidFill>
                  <a:srgbClr val="000000"/>
                </a:solidFill>
              </a:rPr>
              <a:t>DXA LMEM writes counted per banked row beat — </a:t>
            </a:r>
            <a:r>
              <a:rPr sz="1100" b="0" i="0">
                <a:solidFill>
                  <a:srgbClr val="000000"/>
                </a:solidFill>
                <a:latin typeface="Consolas"/>
              </a:rPr>
              <a:t>lmem_writes</a:t>
            </a:r>
            <a:r>
              <a:rPr sz="1100" b="0" i="0">
                <a:solidFill>
                  <a:srgbClr val="000000"/>
                </a:solidFill>
              </a:rPr>
              <a:t> matches rtlsim exactly</a:t>
            </a:r>
          </a:p>
          <a:p>
            <a:pPr lvl="1" marL="342900" indent="-228600">
              <a:spcBef>
                <a:spcPts val="100"/>
              </a:spcBef>
              <a:buFont typeface="Arial"/>
              <a:buChar char="•"/>
            </a:pPr>
            <a:r>
              <a:rPr sz="1100" b="0" i="0">
                <a:solidFill>
                  <a:srgbClr val="000000"/>
                </a:solidFill>
              </a:rPr>
              <a:t>SimX L1 per core vs RTL per socket noted as a known gap for VM</a:t>
            </a:r>
          </a:p>
          <a:p>
            <a:pPr marL="0" indent="0">
              <a:spcBef>
                <a:spcPts val="500"/>
              </a:spcBef>
              <a:buNone/>
            </a:pPr>
            <a:r>
              <a:rPr sz="1200" b="1" i="0">
                <a:solidFill>
                  <a:srgbClr val="1F394D"/>
                </a:solidFill>
              </a:rPr>
              <a:t>Oracle debugging recipe</a:t>
            </a:r>
          </a:p>
          <a:p>
            <a:pPr lvl="1" marL="342900" indent="-228600">
              <a:spcBef>
                <a:spcPts val="100"/>
              </a:spcBef>
              <a:buFont typeface="Arial"/>
              <a:buChar char="•"/>
            </a:pPr>
            <a:r>
              <a:rPr sz="1100" b="0" i="0">
                <a:solidFill>
                  <a:srgbClr val="000000"/>
                </a:solidFill>
              </a:rPr>
              <a:t>mirror the RTL block in SimX → matching CSV trace dumps → </a:t>
            </a:r>
            <a:r>
              <a:rPr sz="1100" b="0" i="0">
                <a:solidFill>
                  <a:srgbClr val="000000"/>
                </a:solidFill>
                <a:latin typeface="Consolas"/>
              </a:rPr>
              <a:t>diff</a:t>
            </a:r>
            <a:r>
              <a:rPr sz="1100" b="0" i="0">
                <a:solidFill>
                  <a:srgbClr val="000000"/>
                </a:solidFill>
              </a:rPr>
              <a:t> → first divergence is the bug</a:t>
            </a:r>
          </a:p>
          <a:p>
            <a:pPr lvl="1" marL="342900" indent="-228600">
              <a:spcBef>
                <a:spcPts val="100"/>
              </a:spcBef>
              <a:buFont typeface="Arial"/>
              <a:buChar char="•"/>
            </a:pPr>
            <a:r>
              <a:rPr sz="1100" b="0" i="0">
                <a:solidFill>
                  <a:srgbClr val="000000"/>
                </a:solidFill>
              </a:rPr>
              <a:t>never widen a tolerance; fix the model or file a </a:t>
            </a:r>
            <a:r>
              <a:rPr sz="1100" b="0" i="0">
                <a:solidFill>
                  <a:srgbClr val="000000"/>
                </a:solidFill>
                <a:latin typeface="Consolas"/>
              </a:rPr>
              <a:t>known_issue:</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71600"/>
            <a:ext cx="2377440" cy="109728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catalog case</a:t>
            </a:r>
          </a:p>
          <a:p>
            <a:pPr algn="ctr"/>
            <a:r>
              <a:rPr sz="1000" b="0" i="0">
                <a:solidFill>
                  <a:srgbClr val="000000"/>
                </a:solidFill>
              </a:rPr>
              <a:t>check: model_parity</a:t>
            </a:r>
          </a:p>
          <a:p>
            <a:pPr algn="ctr"/>
            <a:r>
              <a:rPr sz="1000" b="0" i="0">
                <a:solidFill>
                  <a:srgbClr val="000000"/>
                </a:solidFill>
              </a:rPr>
              <a:t>app · args · configs</a:t>
            </a:r>
          </a:p>
        </p:txBody>
      </p:sp>
      <p:cxnSp>
        <p:nvCxnSpPr>
          <p:cNvPr id="6" name="Connector 5"/>
          <p:cNvCxnSpPr/>
          <p:nvPr/>
        </p:nvCxnSpPr>
        <p:spPr>
          <a:xfrm flipV="1">
            <a:off x="3108960" y="1463040"/>
            <a:ext cx="36576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108960" y="2103120"/>
            <a:ext cx="36576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474720" y="1188720"/>
            <a:ext cx="2194560" cy="54864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simx run → PERF: instrs, cycles</a:t>
            </a:r>
          </a:p>
        </p:txBody>
      </p:sp>
      <p:sp>
        <p:nvSpPr>
          <p:cNvPr id="9" name="Rectangle 8"/>
          <p:cNvSpPr/>
          <p:nvPr/>
        </p:nvSpPr>
        <p:spPr>
          <a:xfrm>
            <a:off x="3474720" y="2103120"/>
            <a:ext cx="2194560" cy="54864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rtlsim run → PERF: instrs, cycles</a:t>
            </a:r>
          </a:p>
        </p:txBody>
      </p:sp>
      <p:cxnSp>
        <p:nvCxnSpPr>
          <p:cNvPr id="10" name="Connector 9"/>
          <p:cNvCxnSpPr/>
          <p:nvPr/>
        </p:nvCxnSpPr>
        <p:spPr>
          <a:xfrm>
            <a:off x="5669280" y="1463040"/>
            <a:ext cx="365760"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5669280" y="2057400"/>
            <a:ext cx="365760"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035040" y="1508760"/>
            <a:ext cx="2377440" cy="73152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instrs equal?</a:t>
            </a:r>
          </a:p>
          <a:p>
            <a:pPr algn="ctr"/>
            <a:r>
              <a:rPr sz="950" b="0" i="0">
                <a:solidFill>
                  <a:srgbClr val="000000"/>
                </a:solidFill>
              </a:rPr>
              <a:t>|Δcycles| ≤ tolerance (5%)?</a:t>
            </a:r>
          </a:p>
        </p:txBody>
      </p:sp>
      <p:cxnSp>
        <p:nvCxnSpPr>
          <p:cNvPr id="13" name="Connector 12"/>
          <p:cNvCxnSpPr/>
          <p:nvPr/>
        </p:nvCxnSpPr>
        <p:spPr>
          <a:xfrm>
            <a:off x="8412480" y="1874519"/>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778240" y="1508760"/>
            <a:ext cx="2834640" cy="73152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PARITY: line → PASS / FAIL</a:t>
            </a:r>
          </a:p>
          <a:p>
            <a:pPr algn="ctr"/>
            <a:r>
              <a:rPr sz="950" b="0" i="0">
                <a:solidFill>
                  <a:srgbClr val="000000"/>
                </a:solidFill>
              </a:rPr>
              <a:t>known_issue → xfail / XPASS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Perfetto: Timeline Analysis of Traces</a:t>
            </a:r>
          </a:p>
        </p:txBody>
      </p:sp>
      <p:sp>
        <p:nvSpPr>
          <p:cNvPr id="3" name="Text Placeholder 2"/>
          <p:cNvSpPr>
            <a:spLocks noGrp="1"/>
          </p:cNvSpPr>
          <p:nvPr>
            <p:ph type="body" idx="1"/>
          </p:nvPr>
        </p:nvSpPr>
        <p:spPr>
          <a:xfrm>
            <a:off x="7680960" y="1188720"/>
            <a:ext cx="4023360" cy="4937760"/>
          </a:xfrm>
        </p:spPr>
        <p:txBody>
          <a:bodyPr wrap="square"/>
          <a:lstStyle/>
          <a:p>
            <a:pPr marL="0" indent="0">
              <a:spcBef>
                <a:spcPts val="400"/>
              </a:spcBef>
              <a:buNone/>
            </a:pPr>
            <a:r>
              <a:rPr sz="1050" b="1" i="0">
                <a:solidFill>
                  <a:srgbClr val="1F394D"/>
                </a:solidFill>
              </a:rPr>
              <a:t>What the exporter emits</a:t>
            </a:r>
          </a:p>
          <a:p>
            <a:pPr lvl="1" marL="342900" indent="-228600">
              <a:spcBef>
                <a:spcPts val="0"/>
              </a:spcBef>
              <a:buFont typeface="Arial"/>
              <a:buChar char="•"/>
            </a:pPr>
            <a:r>
              <a:rPr sz="950" b="0" i="0">
                <a:solidFill>
                  <a:srgbClr val="000000"/>
                </a:solidFill>
              </a:rPr>
              <a:t>async slice per instruction (UUID-keyed, first stage → commit) on </a:t>
            </a:r>
            <a:r>
              <a:rPr sz="950" b="0" i="0">
                <a:solidFill>
                  <a:srgbClr val="000000"/>
                </a:solidFill>
                <a:latin typeface="Consolas"/>
              </a:rPr>
              <a:t>…: warpN</a:t>
            </a:r>
          </a:p>
          <a:p>
            <a:pPr lvl="1" marL="342900" indent="-228600">
              <a:spcBef>
                <a:spcPts val="0"/>
              </a:spcBef>
              <a:buFont typeface="Arial"/>
              <a:buChar char="•"/>
            </a:pPr>
            <a:r>
              <a:rPr sz="950" b="0" i="0">
                <a:solidFill>
                  <a:srgbClr val="000000"/>
                </a:solidFill>
              </a:rPr>
              <a:t>instant stage markers schedule · decode · dispatch · execute · commit with uuid, wid, PC, tmask, ex, op, rd / rs1 / rs2 / rs3, sop / eop</a:t>
            </a:r>
          </a:p>
          <a:p>
            <a:pPr lvl="1" marL="342900" indent="-228600">
              <a:spcBef>
                <a:spcPts val="0"/>
              </a:spcBef>
              <a:buFont typeface="Arial"/>
              <a:buChar char="•"/>
            </a:pPr>
            <a:r>
              <a:rPr sz="950" b="0" i="0">
                <a:solidFill>
                  <a:srgbClr val="000000"/>
                </a:solidFill>
              </a:rPr>
              <a:t>warp-state counters active · stalled · active_threads on </a:t>
            </a:r>
            <a:r>
              <a:rPr sz="950" b="0" i="0">
                <a:solidFill>
                  <a:srgbClr val="000000"/>
                </a:solidFill>
                <a:latin typeface="Consolas"/>
              </a:rPr>
              <a:t>…: warpN state</a:t>
            </a:r>
          </a:p>
          <a:p>
            <a:pPr lvl="1" marL="342900" indent="-228600">
              <a:spcBef>
                <a:spcPts val="0"/>
              </a:spcBef>
              <a:buFont typeface="Arial"/>
              <a:buChar char="•"/>
            </a:pPr>
            <a:r>
              <a:rPr sz="950" b="0" i="0">
                <a:solidFill>
                  <a:srgbClr val="000000"/>
                </a:solidFill>
              </a:rPr>
              <a:t>cache / memory instants </a:t>
            </a:r>
            <a:r>
              <a:rPr sz="950" b="0" i="0">
                <a:solidFill>
                  <a:srgbClr val="000000"/>
                </a:solidFill>
                <a:latin typeface="Consolas"/>
              </a:rPr>
              <a:t>dcache:miss</a:t>
            </a:r>
            <a:r>
              <a:rPr sz="950" b="0" i="0">
                <a:solidFill>
                  <a:srgbClr val="000000"/>
                </a:solidFill>
              </a:rPr>
              <a:t>, </a:t>
            </a:r>
            <a:r>
              <a:rPr sz="950" b="0" i="0">
                <a:solidFill>
                  <a:srgbClr val="000000"/>
                </a:solidFill>
                <a:latin typeface="Consolas"/>
              </a:rPr>
              <a:t>l2:hit</a:t>
            </a:r>
            <a:r>
              <a:rPr sz="950" b="0" i="0">
                <a:solidFill>
                  <a:srgbClr val="000000"/>
                </a:solidFill>
              </a:rPr>
              <a:t>, </a:t>
            </a:r>
            <a:r>
              <a:rPr sz="950" b="0" i="0">
                <a:solidFill>
                  <a:srgbClr val="000000"/>
                </a:solidFill>
                <a:latin typeface="Consolas"/>
              </a:rPr>
              <a:t>mem:req</a:t>
            </a:r>
            <a:r>
              <a:rPr sz="950" b="0" i="0">
                <a:solidFill>
                  <a:srgbClr val="000000"/>
                </a:solidFill>
              </a:rPr>
              <a:t> with addr, tag; raw unmapped instants</a:t>
            </a:r>
          </a:p>
          <a:p>
            <a:pPr marL="0" indent="0">
              <a:spcBef>
                <a:spcPts val="400"/>
              </a:spcBef>
              <a:buNone/>
            </a:pPr>
            <a:r>
              <a:rPr sz="1050" b="1" i="0">
                <a:solidFill>
                  <a:srgbClr val="1F394D"/>
                </a:solidFill>
              </a:rPr>
              <a:t>Workflows</a:t>
            </a:r>
          </a:p>
          <a:p>
            <a:pPr lvl="1" marL="342900" indent="-228600">
              <a:spcBef>
                <a:spcPts val="0"/>
              </a:spcBef>
              <a:buFont typeface="Arial"/>
              <a:buChar char="•"/>
            </a:pPr>
            <a:r>
              <a:rPr sz="950" b="0" i="0">
                <a:solidFill>
                  <a:srgbClr val="000000"/>
                </a:solidFill>
              </a:rPr>
              <a:t>long slice → copy uuid → search cache events (UUID correlation, best effort)</a:t>
            </a:r>
          </a:p>
          <a:p>
            <a:pPr lvl="1" marL="342900" indent="-228600">
              <a:spcBef>
                <a:spcPts val="0"/>
              </a:spcBef>
              <a:buFont typeface="Arial"/>
              <a:buChar char="•"/>
            </a:pPr>
            <a:r>
              <a:rPr sz="950" b="0" i="0">
                <a:solidFill>
                  <a:srgbClr val="000000"/>
                </a:solidFill>
                <a:latin typeface="Consolas"/>
              </a:rPr>
              <a:t>active</a:t>
            </a:r>
            <a:r>
              <a:rPr sz="950" b="0" i="0">
                <a:solidFill>
                  <a:srgbClr val="000000"/>
                </a:solidFill>
              </a:rPr>
              <a:t> low = underutilized · </a:t>
            </a:r>
            <a:r>
              <a:rPr sz="950" b="0" i="0">
                <a:solidFill>
                  <a:srgbClr val="000000"/>
                </a:solidFill>
                <a:latin typeface="Consolas"/>
              </a:rPr>
              <a:t>stalled</a:t>
            </a:r>
            <a:r>
              <a:rPr sz="950" b="0" i="0">
                <a:solidFill>
                  <a:srgbClr val="000000"/>
                </a:solidFill>
              </a:rPr>
              <a:t> high = latency-bound · </a:t>
            </a:r>
            <a:r>
              <a:rPr sz="950" b="0" i="0">
                <a:solidFill>
                  <a:srgbClr val="000000"/>
                </a:solidFill>
                <a:latin typeface="Consolas"/>
              </a:rPr>
              <a:t>active_threads</a:t>
            </a:r>
            <a:r>
              <a:rPr sz="950" b="0" i="0">
                <a:solidFill>
                  <a:srgbClr val="000000"/>
                </a:solidFill>
              </a:rPr>
              <a:t> low = divergence</a:t>
            </a:r>
          </a:p>
          <a:p>
            <a:pPr lvl="1" marL="342900" indent="-228600">
              <a:spcBef>
                <a:spcPts val="0"/>
              </a:spcBef>
              <a:buFont typeface="Arial"/>
              <a:buChar char="•"/>
            </a:pPr>
            <a:r>
              <a:rPr sz="950" b="0" i="0">
                <a:solidFill>
                  <a:srgbClr val="000000"/>
                </a:solidFill>
              </a:rPr>
              <a:t>RTL tmask normalized to SimX convention (bit 0 = thread 0)</a:t>
            </a:r>
          </a:p>
          <a:p>
            <a:pPr marL="0" indent="0">
              <a:spcBef>
                <a:spcPts val="400"/>
              </a:spcBef>
              <a:buNone/>
            </a:pPr>
            <a:r>
              <a:rPr sz="1050" b="1" i="0">
                <a:solidFill>
                  <a:srgbClr val="1F394D"/>
                </a:solidFill>
              </a:rPr>
              <a:t>Tips</a:t>
            </a:r>
          </a:p>
          <a:p>
            <a:pPr lvl="1" marL="342900" indent="-228600">
              <a:spcBef>
                <a:spcPts val="0"/>
              </a:spcBef>
              <a:buFont typeface="Arial"/>
              <a:buChar char="•"/>
            </a:pPr>
            <a:r>
              <a:rPr sz="950" b="0" i="0">
                <a:solidFill>
                  <a:srgbClr val="000000"/>
                </a:solidFill>
              </a:rPr>
              <a:t>export a cycle window for huge logs; </a:t>
            </a:r>
            <a:r>
              <a:rPr sz="950" b="0" i="0">
                <a:solidFill>
                  <a:srgbClr val="000000"/>
                </a:solidFill>
                <a:latin typeface="Consolas"/>
              </a:rPr>
              <a:t>.json.gz</a:t>
            </a:r>
            <a:r>
              <a:rPr sz="950" b="0" i="0">
                <a:solidFill>
                  <a:srgbClr val="000000"/>
                </a:solidFill>
              </a:rPr>
              <a:t> recommended; </a:t>
            </a:r>
            <a:r>
              <a:rPr sz="950" b="0" i="0">
                <a:solidFill>
                  <a:srgbClr val="000000"/>
                </a:solidFill>
                <a:latin typeface="Consolas"/>
              </a:rPr>
              <a:t>--parent-flow</a:t>
            </a:r>
            <a:r>
              <a:rPr sz="950" b="0" i="0">
                <a:solidFill>
                  <a:srgbClr val="000000"/>
                </a:solidFill>
              </a:rPr>
              <a:t> draws parent → uop arrows when </a:t>
            </a:r>
            <a:r>
              <a:rPr sz="950" b="0" i="0">
                <a:solidFill>
                  <a:srgbClr val="000000"/>
                </a:solidFill>
                <a:latin typeface="Consolas"/>
              </a:rPr>
              <a:t>parent=#&lt;uuid&gt;</a:t>
            </a:r>
            <a:r>
              <a:rPr sz="950" b="0" i="0">
                <a:solidFill>
                  <a:srgbClr val="000000"/>
                </a:solidFill>
              </a:rPr>
              <a:t> is present</a:t>
            </a:r>
          </a:p>
          <a:p>
            <a:pPr lvl="1" marL="342900" indent="-228600">
              <a:spcBef>
                <a:spcPts val="0"/>
              </a:spcBef>
              <a:buFont typeface="Arial"/>
              <a:buChar char="•"/>
            </a:pPr>
            <a:r>
              <a:rPr sz="950" b="0" i="0">
                <a:solidFill>
                  <a:srgbClr val="000000"/>
                </a:solidFill>
              </a:rPr>
              <a:t>trace at </a:t>
            </a:r>
            <a:r>
              <a:rPr sz="950" b="0" i="0">
                <a:solidFill>
                  <a:srgbClr val="000000"/>
                </a:solidFill>
                <a:latin typeface="Consolas"/>
              </a:rPr>
              <a:t>--debug=3</a:t>
            </a:r>
            <a:r>
              <a:rPr sz="950" b="0" i="0">
                <a:solidFill>
                  <a:srgbClr val="000000"/>
                </a:solidFill>
              </a:rPr>
              <a:t> on either driver; v3 trace export lives in ci/perfetto.py, guide in docs/perfetto_analysis.md</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25880"/>
            <a:ext cx="6766560" cy="3291840"/>
          </a:xfrm>
          <a:prstGeom prst="rect">
            <a:avLst/>
          </a:prstGeom>
          <a:solidFill>
            <a:srgbClr val="FFFFFF"/>
          </a:solidFill>
          <a:ln w="9525">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6" name="TextBox 5"/>
          <p:cNvSpPr txBox="1"/>
          <p:nvPr/>
        </p:nvSpPr>
        <p:spPr>
          <a:xfrm>
            <a:off x="777240" y="1344168"/>
            <a:ext cx="6675120" cy="228600"/>
          </a:xfrm>
          <a:prstGeom prst="rect">
            <a:avLst/>
          </a:prstGeom>
          <a:noFill/>
        </p:spPr>
        <p:txBody>
          <a:bodyPr wrap="square" lIns="27432" rIns="27432" tIns="27432" bIns="27432" anchor="t">
            <a:spAutoFit/>
          </a:bodyPr>
          <a:lstStyle/>
          <a:p>
            <a:pPr algn="l"/>
            <a:r>
              <a:rPr sz="1000" b="1" i="0">
                <a:solidFill>
                  <a:srgbClr val="404040"/>
                </a:solidFill>
              </a:rPr>
              <a:t>Perfetto UI — Vortex GPU 1 (mock-up)</a:t>
            </a:r>
          </a:p>
        </p:txBody>
      </p:sp>
      <p:sp>
        <p:nvSpPr>
          <p:cNvPr id="7" name="TextBox 6"/>
          <p:cNvSpPr txBox="1"/>
          <p:nvPr/>
        </p:nvSpPr>
        <p:spPr>
          <a:xfrm>
            <a:off x="822960" y="1691640"/>
            <a:ext cx="1737360" cy="365760"/>
          </a:xfrm>
          <a:prstGeom prst="rect">
            <a:avLst/>
          </a:prstGeom>
          <a:noFill/>
        </p:spPr>
        <p:txBody>
          <a:bodyPr wrap="square" lIns="27432" rIns="27432" tIns="27432" bIns="27432" anchor="ctr">
            <a:spAutoFit/>
          </a:bodyPr>
          <a:lstStyle/>
          <a:p>
            <a:pPr algn="l"/>
            <a:r>
              <a:rPr sz="800" b="0" i="0">
                <a:solidFill>
                  <a:srgbClr val="333333"/>
                </a:solidFill>
              </a:rPr>
              <a:t>cluster0-socket0-core0: warp0</a:t>
            </a:r>
          </a:p>
        </p:txBody>
      </p:sp>
      <p:cxnSp>
        <p:nvCxnSpPr>
          <p:cNvPr id="8" name="Connector 7"/>
          <p:cNvCxnSpPr/>
          <p:nvPr/>
        </p:nvCxnSpPr>
        <p:spPr>
          <a:xfrm>
            <a:off x="2560320" y="2075688"/>
            <a:ext cx="4846320" cy="0"/>
          </a:xfrm>
          <a:prstGeom prst="line">
            <a:avLst/>
          </a:prstGeom>
          <a:ln w="6350">
            <a:solidFill>
              <a:srgbClr val="E0E0E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423160"/>
            <a:ext cx="1737360" cy="365760"/>
          </a:xfrm>
          <a:prstGeom prst="rect">
            <a:avLst/>
          </a:prstGeom>
          <a:noFill/>
        </p:spPr>
        <p:txBody>
          <a:bodyPr wrap="square" lIns="27432" rIns="27432" tIns="27432" bIns="27432" anchor="ctr">
            <a:spAutoFit/>
          </a:bodyPr>
          <a:lstStyle/>
          <a:p>
            <a:pPr algn="l"/>
            <a:r>
              <a:rPr sz="800" b="0" i="0">
                <a:solidFill>
                  <a:srgbClr val="333333"/>
                </a:solidFill>
              </a:rPr>
              <a:t>warp0 state</a:t>
            </a:r>
          </a:p>
        </p:txBody>
      </p:sp>
      <p:cxnSp>
        <p:nvCxnSpPr>
          <p:cNvPr id="10" name="Connector 9"/>
          <p:cNvCxnSpPr/>
          <p:nvPr/>
        </p:nvCxnSpPr>
        <p:spPr>
          <a:xfrm>
            <a:off x="2560320" y="2807208"/>
            <a:ext cx="4846320" cy="0"/>
          </a:xfrm>
          <a:prstGeom prst="line">
            <a:avLst/>
          </a:prstGeom>
          <a:ln w="6350">
            <a:solidFill>
              <a:srgbClr val="E0E0E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3063239"/>
            <a:ext cx="1737360" cy="365760"/>
          </a:xfrm>
          <a:prstGeom prst="rect">
            <a:avLst/>
          </a:prstGeom>
          <a:noFill/>
        </p:spPr>
        <p:txBody>
          <a:bodyPr wrap="square" lIns="27432" rIns="27432" tIns="27432" bIns="27432" anchor="ctr">
            <a:spAutoFit/>
          </a:bodyPr>
          <a:lstStyle/>
          <a:p>
            <a:pPr algn="l"/>
            <a:r>
              <a:rPr sz="800" b="0" i="0">
                <a:solidFill>
                  <a:srgbClr val="333333"/>
                </a:solidFill>
              </a:rPr>
              <a:t>warp1</a:t>
            </a:r>
          </a:p>
        </p:txBody>
      </p:sp>
      <p:cxnSp>
        <p:nvCxnSpPr>
          <p:cNvPr id="12" name="Connector 11"/>
          <p:cNvCxnSpPr/>
          <p:nvPr/>
        </p:nvCxnSpPr>
        <p:spPr>
          <a:xfrm>
            <a:off x="2560320" y="3447287"/>
            <a:ext cx="4846320" cy="0"/>
          </a:xfrm>
          <a:prstGeom prst="line">
            <a:avLst/>
          </a:prstGeom>
          <a:ln w="6350">
            <a:solidFill>
              <a:srgbClr val="E0E0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3520439"/>
            <a:ext cx="1737360" cy="365760"/>
          </a:xfrm>
          <a:prstGeom prst="rect">
            <a:avLst/>
          </a:prstGeom>
          <a:noFill/>
        </p:spPr>
        <p:txBody>
          <a:bodyPr wrap="square" lIns="27432" rIns="27432" tIns="27432" bIns="27432" anchor="ctr">
            <a:spAutoFit/>
          </a:bodyPr>
          <a:lstStyle/>
          <a:p>
            <a:pPr algn="l"/>
            <a:r>
              <a:rPr sz="800" b="0" i="0">
                <a:solidFill>
                  <a:srgbClr val="333333"/>
                </a:solidFill>
              </a:rPr>
              <a:t>dcache</a:t>
            </a:r>
          </a:p>
        </p:txBody>
      </p:sp>
      <p:cxnSp>
        <p:nvCxnSpPr>
          <p:cNvPr id="14" name="Connector 13"/>
          <p:cNvCxnSpPr/>
          <p:nvPr/>
        </p:nvCxnSpPr>
        <p:spPr>
          <a:xfrm>
            <a:off x="2560320" y="3904487"/>
            <a:ext cx="4846320" cy="0"/>
          </a:xfrm>
          <a:prstGeom prst="line">
            <a:avLst/>
          </a:prstGeom>
          <a:ln w="6350">
            <a:solidFill>
              <a:srgbClr val="E0E0E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3977639"/>
            <a:ext cx="1737360" cy="365760"/>
          </a:xfrm>
          <a:prstGeom prst="rect">
            <a:avLst/>
          </a:prstGeom>
          <a:noFill/>
        </p:spPr>
        <p:txBody>
          <a:bodyPr wrap="square" lIns="27432" rIns="27432" tIns="27432" bIns="27432" anchor="ctr">
            <a:spAutoFit/>
          </a:bodyPr>
          <a:lstStyle/>
          <a:p>
            <a:pPr algn="l"/>
            <a:r>
              <a:rPr sz="800" b="0" i="0">
                <a:solidFill>
                  <a:srgbClr val="333333"/>
                </a:solidFill>
              </a:rPr>
              <a:t>l2</a:t>
            </a:r>
          </a:p>
        </p:txBody>
      </p:sp>
      <p:cxnSp>
        <p:nvCxnSpPr>
          <p:cNvPr id="16" name="Connector 15"/>
          <p:cNvCxnSpPr/>
          <p:nvPr/>
        </p:nvCxnSpPr>
        <p:spPr>
          <a:xfrm>
            <a:off x="2560320" y="4361688"/>
            <a:ext cx="4846320" cy="0"/>
          </a:xfrm>
          <a:prstGeom prst="line">
            <a:avLst/>
          </a:prstGeom>
          <a:ln w="6350">
            <a:solidFill>
              <a:srgbClr val="E0E0E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4251960"/>
            <a:ext cx="1737360" cy="365760"/>
          </a:xfrm>
          <a:prstGeom prst="rect">
            <a:avLst/>
          </a:prstGeom>
          <a:noFill/>
        </p:spPr>
        <p:txBody>
          <a:bodyPr wrap="square" lIns="27432" rIns="27432" tIns="27432" bIns="27432" anchor="ctr">
            <a:spAutoFit/>
          </a:bodyPr>
          <a:lstStyle/>
          <a:p>
            <a:pPr algn="l"/>
            <a:r>
              <a:rPr sz="800" b="0" i="0">
                <a:solidFill>
                  <a:srgbClr val="333333"/>
                </a:solidFill>
              </a:rPr>
              <a:t>mem</a:t>
            </a:r>
          </a:p>
        </p:txBody>
      </p:sp>
      <p:cxnSp>
        <p:nvCxnSpPr>
          <p:cNvPr id="18" name="Connector 17"/>
          <p:cNvCxnSpPr/>
          <p:nvPr/>
        </p:nvCxnSpPr>
        <p:spPr>
          <a:xfrm>
            <a:off x="2560320" y="4636008"/>
            <a:ext cx="4846320" cy="0"/>
          </a:xfrm>
          <a:prstGeom prst="line">
            <a:avLst/>
          </a:prstGeom>
          <a:ln w="6350">
            <a:solidFill>
              <a:srgbClr val="E0E0E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651760" y="1737360"/>
            <a:ext cx="1097280" cy="27432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00" b="0" i="0">
                <a:solidFill>
                  <a:srgbClr val="000000"/>
                </a:solidFill>
              </a:rPr>
              <a:t>lw  #a1</a:t>
            </a:r>
          </a:p>
        </p:txBody>
      </p:sp>
      <p:sp>
        <p:nvSpPr>
          <p:cNvPr id="20" name="Rectangle 19"/>
          <p:cNvSpPr/>
          <p:nvPr/>
        </p:nvSpPr>
        <p:spPr>
          <a:xfrm>
            <a:off x="3474720" y="1737360"/>
            <a:ext cx="457200" cy="27432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00" b="0" i="0">
                <a:solidFill>
                  <a:srgbClr val="000000"/>
                </a:solidFill>
              </a:rPr>
              <a:t>add</a:t>
            </a:r>
          </a:p>
        </p:txBody>
      </p:sp>
      <p:sp>
        <p:nvSpPr>
          <p:cNvPr id="21" name="Rectangle 20"/>
          <p:cNvSpPr/>
          <p:nvPr/>
        </p:nvSpPr>
        <p:spPr>
          <a:xfrm>
            <a:off x="3840480" y="1737360"/>
            <a:ext cx="1645920" cy="27432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00" b="0" i="0">
                <a:solidFill>
                  <a:srgbClr val="000000"/>
                </a:solidFill>
              </a:rPr>
              <a:t>fmadd</a:t>
            </a:r>
          </a:p>
        </p:txBody>
      </p:sp>
      <p:sp>
        <p:nvSpPr>
          <p:cNvPr id="22" name="Rectangle 21"/>
          <p:cNvSpPr/>
          <p:nvPr/>
        </p:nvSpPr>
        <p:spPr>
          <a:xfrm>
            <a:off x="5212080" y="1737360"/>
            <a:ext cx="1737360" cy="27432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00" b="0" i="0">
                <a:solidFill>
                  <a:srgbClr val="000000"/>
                </a:solidFill>
              </a:rPr>
              <a:t>lw  #b7</a:t>
            </a:r>
          </a:p>
        </p:txBody>
      </p:sp>
      <p:sp>
        <p:nvSpPr>
          <p:cNvPr id="23" name="Rectangle 22"/>
          <p:cNvSpPr/>
          <p:nvPr/>
        </p:nvSpPr>
        <p:spPr>
          <a:xfrm>
            <a:off x="6675120" y="1737360"/>
            <a:ext cx="548640" cy="27432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00" b="0" i="0">
                <a:solidFill>
                  <a:srgbClr val="000000"/>
                </a:solidFill>
              </a:rPr>
              <a:t>bar</a:t>
            </a:r>
          </a:p>
        </p:txBody>
      </p:sp>
      <p:sp>
        <p:nvSpPr>
          <p:cNvPr id="24" name="Rectangle 23"/>
          <p:cNvSpPr/>
          <p:nvPr/>
        </p:nvSpPr>
        <p:spPr>
          <a:xfrm>
            <a:off x="2651760" y="2039112"/>
            <a:ext cx="45720" cy="9144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25" name="Rectangle 24"/>
          <p:cNvSpPr/>
          <p:nvPr/>
        </p:nvSpPr>
        <p:spPr>
          <a:xfrm>
            <a:off x="2926080" y="2039112"/>
            <a:ext cx="45720" cy="9144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26" name="Rectangle 25"/>
          <p:cNvSpPr/>
          <p:nvPr/>
        </p:nvSpPr>
        <p:spPr>
          <a:xfrm>
            <a:off x="3200400" y="2039112"/>
            <a:ext cx="45720" cy="9144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27" name="Rectangle 26"/>
          <p:cNvSpPr/>
          <p:nvPr/>
        </p:nvSpPr>
        <p:spPr>
          <a:xfrm>
            <a:off x="3749039" y="2039112"/>
            <a:ext cx="45720" cy="9144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28" name="TextBox 27"/>
          <p:cNvSpPr txBox="1"/>
          <p:nvPr/>
        </p:nvSpPr>
        <p:spPr>
          <a:xfrm>
            <a:off x="2651760" y="2130552"/>
            <a:ext cx="2286000" cy="182880"/>
          </a:xfrm>
          <a:prstGeom prst="rect">
            <a:avLst/>
          </a:prstGeom>
          <a:noFill/>
        </p:spPr>
        <p:txBody>
          <a:bodyPr wrap="square" lIns="27432" rIns="27432" tIns="27432" bIns="27432" anchor="t">
            <a:spAutoFit/>
          </a:bodyPr>
          <a:lstStyle/>
          <a:p>
            <a:pPr algn="l"/>
            <a:r>
              <a:rPr sz="650" b="0" i="0">
                <a:solidFill>
                  <a:srgbClr val="555555"/>
                </a:solidFill>
              </a:rPr>
              <a:t>schedule · decode · dispatch · execute · commit (uuid, wid, PC, tmask, ex, op, rd/rs)</a:t>
            </a:r>
          </a:p>
        </p:txBody>
      </p:sp>
      <p:sp>
        <p:nvSpPr>
          <p:cNvPr id="29" name="Rectangle 28"/>
          <p:cNvSpPr/>
          <p:nvPr/>
        </p:nvSpPr>
        <p:spPr>
          <a:xfrm>
            <a:off x="2651760" y="2514600"/>
            <a:ext cx="1097280" cy="228600"/>
          </a:xfrm>
          <a:prstGeom prst="rect">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30" name="Rectangle 29"/>
          <p:cNvSpPr/>
          <p:nvPr/>
        </p:nvSpPr>
        <p:spPr>
          <a:xfrm>
            <a:off x="3749039" y="2633472"/>
            <a:ext cx="457200" cy="109728"/>
          </a:xfrm>
          <a:prstGeom prst="rect">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31" name="Rectangle 30"/>
          <p:cNvSpPr/>
          <p:nvPr/>
        </p:nvSpPr>
        <p:spPr>
          <a:xfrm>
            <a:off x="4206240" y="2468880"/>
            <a:ext cx="1371600" cy="274320"/>
          </a:xfrm>
          <a:prstGeom prst="rect">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32" name="Rectangle 31"/>
          <p:cNvSpPr/>
          <p:nvPr/>
        </p:nvSpPr>
        <p:spPr>
          <a:xfrm>
            <a:off x="5577840" y="2670048"/>
            <a:ext cx="1280160" cy="73152"/>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33" name="Rectangle 32"/>
          <p:cNvSpPr/>
          <p:nvPr/>
        </p:nvSpPr>
        <p:spPr>
          <a:xfrm>
            <a:off x="6858000" y="2487168"/>
            <a:ext cx="457200" cy="256032"/>
          </a:xfrm>
          <a:prstGeom prst="rect">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34" name="TextBox 33"/>
          <p:cNvSpPr txBox="1"/>
          <p:nvPr/>
        </p:nvSpPr>
        <p:spPr>
          <a:xfrm>
            <a:off x="2651760" y="2752344"/>
            <a:ext cx="4572000" cy="182880"/>
          </a:xfrm>
          <a:prstGeom prst="rect">
            <a:avLst/>
          </a:prstGeom>
          <a:noFill/>
        </p:spPr>
        <p:txBody>
          <a:bodyPr wrap="square" lIns="27432" rIns="27432" tIns="27432" bIns="27432" anchor="t">
            <a:spAutoFit/>
          </a:bodyPr>
          <a:lstStyle/>
          <a:p>
            <a:pPr algn="l"/>
            <a:r>
              <a:rPr sz="650" b="0" i="0">
                <a:solidFill>
                  <a:srgbClr val="555555"/>
                </a:solidFill>
              </a:rPr>
              <a:t>active / stalled / active_threads counters</a:t>
            </a:r>
          </a:p>
        </p:txBody>
      </p:sp>
      <p:sp>
        <p:nvSpPr>
          <p:cNvPr id="35" name="Rectangle 34"/>
          <p:cNvSpPr/>
          <p:nvPr/>
        </p:nvSpPr>
        <p:spPr>
          <a:xfrm>
            <a:off x="2834639" y="3108960"/>
            <a:ext cx="914400" cy="27432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00" b="0" i="0">
                <a:solidFill>
                  <a:srgbClr val="000000"/>
                </a:solidFill>
              </a:rPr>
              <a:t>lw</a:t>
            </a:r>
          </a:p>
        </p:txBody>
      </p:sp>
      <p:sp>
        <p:nvSpPr>
          <p:cNvPr id="36" name="Rectangle 35"/>
          <p:cNvSpPr/>
          <p:nvPr/>
        </p:nvSpPr>
        <p:spPr>
          <a:xfrm>
            <a:off x="4023360" y="3108960"/>
            <a:ext cx="914400" cy="27432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00" b="0" i="0">
                <a:solidFill>
                  <a:srgbClr val="000000"/>
                </a:solidFill>
              </a:rPr>
              <a:t>mul</a:t>
            </a:r>
          </a:p>
        </p:txBody>
      </p:sp>
      <p:sp>
        <p:nvSpPr>
          <p:cNvPr id="37" name="Rectangle 36"/>
          <p:cNvSpPr/>
          <p:nvPr/>
        </p:nvSpPr>
        <p:spPr>
          <a:xfrm>
            <a:off x="5029200" y="3108960"/>
            <a:ext cx="822960" cy="27432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00" b="0" i="0">
                <a:solidFill>
                  <a:srgbClr val="000000"/>
                </a:solidFill>
              </a:rPr>
              <a:t>sw</a:t>
            </a:r>
          </a:p>
        </p:txBody>
      </p:sp>
      <p:sp>
        <p:nvSpPr>
          <p:cNvPr id="38" name="Rectangle 37"/>
          <p:cNvSpPr/>
          <p:nvPr/>
        </p:nvSpPr>
        <p:spPr>
          <a:xfrm>
            <a:off x="6217920" y="3108960"/>
            <a:ext cx="914400" cy="27432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00" b="0" i="0">
                <a:solidFill>
                  <a:srgbClr val="000000"/>
                </a:solidFill>
              </a:rPr>
              <a:t>lw  #c2</a:t>
            </a:r>
          </a:p>
        </p:txBody>
      </p:sp>
      <p:sp>
        <p:nvSpPr>
          <p:cNvPr id="39" name="Rectangle 38"/>
          <p:cNvSpPr/>
          <p:nvPr/>
        </p:nvSpPr>
        <p:spPr>
          <a:xfrm>
            <a:off x="3017520" y="3566160"/>
            <a:ext cx="54864" cy="274320"/>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40" name="TextBox 39"/>
          <p:cNvSpPr txBox="1"/>
          <p:nvPr/>
        </p:nvSpPr>
        <p:spPr>
          <a:xfrm>
            <a:off x="3090672" y="3566160"/>
            <a:ext cx="1371600" cy="274320"/>
          </a:xfrm>
          <a:prstGeom prst="rect">
            <a:avLst/>
          </a:prstGeom>
          <a:noFill/>
        </p:spPr>
        <p:txBody>
          <a:bodyPr wrap="square" lIns="27432" rIns="27432" tIns="27432" bIns="27432" anchor="ctr">
            <a:spAutoFit/>
          </a:bodyPr>
          <a:lstStyle/>
          <a:p>
            <a:pPr algn="l"/>
            <a:r>
              <a:rPr sz="650" b="0" i="0">
                <a:solidFill>
                  <a:srgbClr val="555555"/>
                </a:solidFill>
              </a:rPr>
              <a:t>dcache:miss #a1</a:t>
            </a:r>
          </a:p>
        </p:txBody>
      </p:sp>
      <p:sp>
        <p:nvSpPr>
          <p:cNvPr id="41" name="Rectangle 40"/>
          <p:cNvSpPr/>
          <p:nvPr/>
        </p:nvSpPr>
        <p:spPr>
          <a:xfrm>
            <a:off x="5394959" y="3566160"/>
            <a:ext cx="54864" cy="274320"/>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42" name="TextBox 41"/>
          <p:cNvSpPr txBox="1"/>
          <p:nvPr/>
        </p:nvSpPr>
        <p:spPr>
          <a:xfrm>
            <a:off x="5468112" y="3566160"/>
            <a:ext cx="1371600" cy="274320"/>
          </a:xfrm>
          <a:prstGeom prst="rect">
            <a:avLst/>
          </a:prstGeom>
          <a:noFill/>
        </p:spPr>
        <p:txBody>
          <a:bodyPr wrap="square" lIns="27432" rIns="27432" tIns="27432" bIns="27432" anchor="ctr">
            <a:spAutoFit/>
          </a:bodyPr>
          <a:lstStyle/>
          <a:p>
            <a:pPr algn="l"/>
            <a:r>
              <a:rPr sz="650" b="0" i="0">
                <a:solidFill>
                  <a:srgbClr val="555555"/>
                </a:solidFill>
              </a:rPr>
              <a:t>dcache:miss #b7</a:t>
            </a:r>
          </a:p>
        </p:txBody>
      </p:sp>
      <p:sp>
        <p:nvSpPr>
          <p:cNvPr id="43" name="Rectangle 42"/>
          <p:cNvSpPr/>
          <p:nvPr/>
        </p:nvSpPr>
        <p:spPr>
          <a:xfrm>
            <a:off x="6400800" y="3566160"/>
            <a:ext cx="54864" cy="274320"/>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44" name="TextBox 43"/>
          <p:cNvSpPr txBox="1"/>
          <p:nvPr/>
        </p:nvSpPr>
        <p:spPr>
          <a:xfrm>
            <a:off x="6473952" y="3566160"/>
            <a:ext cx="1371600" cy="274320"/>
          </a:xfrm>
          <a:prstGeom prst="rect">
            <a:avLst/>
          </a:prstGeom>
          <a:noFill/>
        </p:spPr>
        <p:txBody>
          <a:bodyPr wrap="square" lIns="27432" rIns="27432" tIns="27432" bIns="27432" anchor="ctr">
            <a:spAutoFit/>
          </a:bodyPr>
          <a:lstStyle/>
          <a:p>
            <a:pPr algn="l"/>
            <a:r>
              <a:rPr sz="650" b="0" i="0">
                <a:solidFill>
                  <a:srgbClr val="555555"/>
                </a:solidFill>
              </a:rPr>
              <a:t>hit</a:t>
            </a:r>
          </a:p>
        </p:txBody>
      </p:sp>
      <p:sp>
        <p:nvSpPr>
          <p:cNvPr id="45" name="Rectangle 44"/>
          <p:cNvSpPr/>
          <p:nvPr/>
        </p:nvSpPr>
        <p:spPr>
          <a:xfrm>
            <a:off x="3200400" y="4023360"/>
            <a:ext cx="54864" cy="274320"/>
          </a:xfrm>
          <a:prstGeom prst="rect">
            <a:avLst/>
          </a:prstGeom>
          <a:solidFill>
            <a:srgbClr val="FFE0B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46" name="TextBox 45"/>
          <p:cNvSpPr txBox="1"/>
          <p:nvPr/>
        </p:nvSpPr>
        <p:spPr>
          <a:xfrm>
            <a:off x="3273552" y="4023360"/>
            <a:ext cx="1463040" cy="274320"/>
          </a:xfrm>
          <a:prstGeom prst="rect">
            <a:avLst/>
          </a:prstGeom>
          <a:noFill/>
        </p:spPr>
        <p:txBody>
          <a:bodyPr wrap="square" lIns="27432" rIns="27432" tIns="27432" bIns="27432" anchor="ctr">
            <a:spAutoFit/>
          </a:bodyPr>
          <a:lstStyle/>
          <a:p>
            <a:pPr algn="l"/>
            <a:r>
              <a:rPr sz="650" b="0" i="0">
                <a:solidFill>
                  <a:srgbClr val="555555"/>
                </a:solidFill>
              </a:rPr>
              <a:t>l2:hit addr=0x8001…</a:t>
            </a:r>
          </a:p>
        </p:txBody>
      </p:sp>
      <p:sp>
        <p:nvSpPr>
          <p:cNvPr id="47" name="Rectangle 46"/>
          <p:cNvSpPr/>
          <p:nvPr/>
        </p:nvSpPr>
        <p:spPr>
          <a:xfrm>
            <a:off x="5577840" y="4023360"/>
            <a:ext cx="54864" cy="274320"/>
          </a:xfrm>
          <a:prstGeom prst="rect">
            <a:avLst/>
          </a:prstGeom>
          <a:solidFill>
            <a:srgbClr val="FFE0B3"/>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48" name="TextBox 47"/>
          <p:cNvSpPr txBox="1"/>
          <p:nvPr/>
        </p:nvSpPr>
        <p:spPr>
          <a:xfrm>
            <a:off x="5650992" y="4023360"/>
            <a:ext cx="1463040" cy="274320"/>
          </a:xfrm>
          <a:prstGeom prst="rect">
            <a:avLst/>
          </a:prstGeom>
          <a:noFill/>
        </p:spPr>
        <p:txBody>
          <a:bodyPr wrap="square" lIns="27432" rIns="27432" tIns="27432" bIns="27432" anchor="ctr">
            <a:spAutoFit/>
          </a:bodyPr>
          <a:lstStyle/>
          <a:p>
            <a:pPr algn="l"/>
            <a:r>
              <a:rPr sz="650" b="0" i="0">
                <a:solidFill>
                  <a:srgbClr val="555555"/>
                </a:solidFill>
              </a:rPr>
              <a:t>l2:miss</a:t>
            </a:r>
          </a:p>
        </p:txBody>
      </p:sp>
      <p:sp>
        <p:nvSpPr>
          <p:cNvPr id="49" name="Rectangle 48"/>
          <p:cNvSpPr/>
          <p:nvPr/>
        </p:nvSpPr>
        <p:spPr>
          <a:xfrm>
            <a:off x="5760720" y="4251960"/>
            <a:ext cx="54864" cy="27432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50" name="TextBox 49"/>
          <p:cNvSpPr txBox="1"/>
          <p:nvPr/>
        </p:nvSpPr>
        <p:spPr>
          <a:xfrm>
            <a:off x="5833872" y="4251960"/>
            <a:ext cx="1371600" cy="274320"/>
          </a:xfrm>
          <a:prstGeom prst="rect">
            <a:avLst/>
          </a:prstGeom>
          <a:noFill/>
        </p:spPr>
        <p:txBody>
          <a:bodyPr wrap="square" lIns="27432" rIns="27432" tIns="27432" bIns="27432" anchor="ctr">
            <a:spAutoFit/>
          </a:bodyPr>
          <a:lstStyle/>
          <a:p>
            <a:pPr algn="l"/>
            <a:r>
              <a:rPr sz="650" b="0" i="0">
                <a:solidFill>
                  <a:srgbClr val="555555"/>
                </a:solidFill>
              </a:rPr>
              <a:t>mem:req tag=0x2a</a:t>
            </a:r>
          </a:p>
        </p:txBody>
      </p:sp>
      <p:sp>
        <p:nvSpPr>
          <p:cNvPr id="51" name="Rectangle 50"/>
          <p:cNvSpPr/>
          <p:nvPr/>
        </p:nvSpPr>
        <p:spPr>
          <a:xfrm>
            <a:off x="731520" y="4754880"/>
            <a:ext cx="6766560" cy="132588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950" b="0" i="0">
                <a:solidFill>
                  <a:srgbClr val="FFFFFF"/>
                </a:solidFill>
                <a:latin typeface="Consolas"/>
              </a:rPr>
              <a:t>python3 ci/perfetto.py run_simx.log   -t simx   -c -o vortex.perfetto.json.gz</a:t>
            </a:r>
          </a:p>
          <a:p>
            <a:pPr algn="l"/>
            <a:r>
              <a:rPr sz="950" b="0" i="0">
                <a:solidFill>
                  <a:srgbClr val="FFFFFF"/>
                </a:solidFill>
                <a:latin typeface="Consolas"/>
              </a:rPr>
              <a:t>python3 ci/perfetto.py run_rtlsim.log -t rtlsim -c --cycle-min 10000 --cycle-max 20000 -o window.json.gz</a:t>
            </a:r>
          </a:p>
          <a:p>
            <a:pPr algn="l"/>
            <a:r>
              <a:rPr sz="950" b="0" i="0">
                <a:solidFill>
                  <a:srgbClr val="FFFFFF"/>
                </a:solidFill>
                <a:latin typeface="Consolas"/>
              </a:rPr>
              <a:t>  --freq-mhz 300 | --cycle-ns 3.3   --values none|dest|all   --parent-flow   --no-vxdrv-start</a:t>
            </a:r>
          </a:p>
          <a:p>
            <a:pPr algn="l"/>
            <a:r>
              <a:rPr sz="950" b="0" i="0">
                <a:solidFill>
                  <a:srgbClr val="FFFFFF"/>
                </a:solidFill>
                <a:latin typeface="Consolas"/>
              </a:rPr>
              <a:t>→ open ui.perfetto.dev (or the VS Code extension) and drag the .json.gz 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CI: Tests as Data</a:t>
            </a:r>
          </a:p>
        </p:txBody>
      </p:sp>
      <p:sp>
        <p:nvSpPr>
          <p:cNvPr id="3" name="Text Placeholder 2"/>
          <p:cNvSpPr>
            <a:spLocks noGrp="1"/>
          </p:cNvSpPr>
          <p:nvPr>
            <p:ph type="body" idx="1"/>
          </p:nvPr>
        </p:nvSpPr>
        <p:spPr>
          <a:xfrm>
            <a:off x="731520" y="4206240"/>
            <a:ext cx="5486400" cy="1920240"/>
          </a:xfrm>
        </p:spPr>
        <p:txBody>
          <a:bodyPr wrap="square"/>
          <a:lstStyle/>
          <a:p>
            <a:pPr marL="0" indent="0">
              <a:spcBef>
                <a:spcPts val="400"/>
              </a:spcBef>
              <a:buNone/>
            </a:pPr>
            <a:r>
              <a:rPr sz="1050" b="1" i="0">
                <a:solidFill>
                  <a:srgbClr val="1F394D"/>
                </a:solidFill>
              </a:rPr>
              <a:t>Categories (35)</a:t>
            </a:r>
          </a:p>
          <a:p>
            <a:pPr lvl="1" marL="342900" indent="-228600">
              <a:spcBef>
                <a:spcPts val="0"/>
              </a:spcBef>
              <a:buFont typeface="Arial"/>
              <a:buChar char="•"/>
            </a:pPr>
            <a:r>
              <a:rPr sz="950" b="0" i="0">
                <a:solidFill>
                  <a:srgbClr val="000000"/>
                </a:solidFill>
              </a:rPr>
              <a:t>core · cache · amo · rvc · vm · tensor{,_sp,_wg,_mx} · dxa · graphics{,_parity} · raytracing · mufu · opencl · hip · vulkan · gem5 · sst · mpi · dtm · cupbop · riscv · runtime · kernel · unittest · synthesis · fpga_gate · asic_gate · stress · scope · debug · config1/2 · zfhmin</a:t>
            </a:r>
          </a:p>
          <a:p>
            <a:pPr marL="0" indent="0">
              <a:spcBef>
                <a:spcPts val="400"/>
              </a:spcBef>
              <a:buNone/>
            </a:pPr>
            <a:r>
              <a:rPr sz="1050" b="1" i="0">
                <a:solidFill>
                  <a:srgbClr val="1F394D"/>
                </a:solidFill>
              </a:rPr>
              <a:t>Rules</a:t>
            </a:r>
          </a:p>
          <a:p>
            <a:pPr lvl="1" marL="342900" indent="-228600">
              <a:spcBef>
                <a:spcPts val="0"/>
              </a:spcBef>
              <a:buFont typeface="Arial"/>
              <a:buChar char="•"/>
            </a:pPr>
            <a:r>
              <a:rPr sz="950" b="0" i="0">
                <a:solidFill>
                  <a:srgbClr val="000000"/>
                </a:solidFill>
              </a:rPr>
              <a:t>serial within a cell (Verilator builds raced under -n auto) · </a:t>
            </a:r>
            <a:r>
              <a:rPr sz="950" b="0" i="0">
                <a:solidFill>
                  <a:srgbClr val="000000"/>
                </a:solidFill>
                <a:latin typeface="Consolas"/>
              </a:rPr>
              <a:t>known_issue:</a:t>
            </a:r>
            <a:r>
              <a:rPr sz="950" b="0" i="0">
                <a:solidFill>
                  <a:srgbClr val="000000"/>
                </a:solidFill>
              </a:rPr>
              <a:t> → xfail / XPASS · every knob carries </a:t>
            </a:r>
            <a:r>
              <a:rPr sz="950" b="0" i="0">
                <a:solidFill>
                  <a:srgbClr val="000000"/>
                </a:solidFill>
                <a:latin typeface="Consolas"/>
              </a:rPr>
              <a:t>VX_CFG_</a:t>
            </a:r>
          </a:p>
          <a:p>
            <a:pPr lvl="1" marL="342900" indent="-228600">
              <a:spcBef>
                <a:spcPts val="0"/>
              </a:spcBef>
              <a:buFont typeface="Arial"/>
              <a:buChar char="•"/>
            </a:pPr>
            <a:r>
              <a:rPr sz="950" b="0" i="0">
                <a:solidFill>
                  <a:srgbClr val="000000"/>
                </a:solidFill>
              </a:rPr>
              <a:t>xlen is the outer dimension (build32/ vs build64/); </a:t>
            </a:r>
            <a:r>
              <a:rPr sz="950" b="0" i="0">
                <a:solidFill>
                  <a:srgbClr val="000000"/>
                </a:solidFill>
                <a:latin typeface="Consolas"/>
              </a:rPr>
              <a:t>needs: mpi | sst | gem5</a:t>
            </a:r>
            <a:r>
              <a:rPr sz="950" b="0" i="0">
                <a:solidFill>
                  <a:srgbClr val="000000"/>
                </a:solidFill>
              </a:rPr>
              <a:t> → </a:t>
            </a:r>
            <a:r>
              <a:rPr sz="950" b="0" i="0">
                <a:solidFill>
                  <a:srgbClr val="000000"/>
                </a:solidFill>
                <a:latin typeface="Consolas"/>
              </a:rPr>
              <a:t>full</a:t>
            </a:r>
            <a:r>
              <a:rPr sz="950" b="0" i="0">
                <a:solidFill>
                  <a:srgbClr val="000000"/>
                </a:solidFill>
              </a:rPr>
              <a:t> setup profile</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71600"/>
            <a:ext cx="2743200" cy="128016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ci/testcases/&lt;category&gt;.yaml</a:t>
            </a:r>
          </a:p>
          <a:p>
            <a:pPr algn="ctr"/>
            <a:r>
              <a:rPr sz="950" b="0" i="0">
                <a:solidFill>
                  <a:srgbClr val="000000"/>
                </a:solidFill>
              </a:rPr>
              <a:t>648 cases · 35 categories</a:t>
            </a:r>
          </a:p>
          <a:p>
            <a:pPr algn="ctr"/>
            <a:r>
              <a:rPr sz="950" b="0" i="0">
                <a:solidFill>
                  <a:srgbClr val="000000"/>
                </a:solidFill>
              </a:rPr>
              <a:t>axes: category · driver · xlen · configs · shape · tier · needs · touches</a:t>
            </a:r>
          </a:p>
        </p:txBody>
      </p:sp>
      <p:cxnSp>
        <p:nvCxnSpPr>
          <p:cNvPr id="6" name="Connector 5"/>
          <p:cNvCxnSpPr/>
          <p:nvPr/>
        </p:nvCxnSpPr>
        <p:spPr>
          <a:xfrm>
            <a:off x="3474720" y="182880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474720" y="219456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840480" y="1371600"/>
            <a:ext cx="2560320" cy="54864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ci/testcase.py planner</a:t>
            </a:r>
          </a:p>
          <a:p>
            <a:pPr algn="ctr"/>
            <a:r>
              <a:rPr sz="900" b="0" i="0">
                <a:solidFill>
                  <a:srgbClr val="000000"/>
                </a:solidFill>
              </a:rPr>
              <a:t>lint · matrix · drivers · select</a:t>
            </a:r>
          </a:p>
        </p:txBody>
      </p:sp>
      <p:sp>
        <p:nvSpPr>
          <p:cNvPr id="9" name="Rectangle 8"/>
          <p:cNvSpPr/>
          <p:nvPr/>
        </p:nvSpPr>
        <p:spPr>
          <a:xfrm>
            <a:off x="3840480" y="2103120"/>
            <a:ext cx="2560320" cy="54864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ci/conftest.py + test_runner.py</a:t>
            </a:r>
          </a:p>
          <a:p>
            <a:pPr algn="ctr"/>
            <a:r>
              <a:rPr sz="900" b="0" i="0">
                <a:solidFill>
                  <a:srgbClr val="000000"/>
                </a:solidFill>
              </a:rPr>
              <a:t>(pytest, --strict-markers)</a:t>
            </a:r>
          </a:p>
        </p:txBody>
      </p:sp>
      <p:cxnSp>
        <p:nvCxnSpPr>
          <p:cNvPr id="10" name="Connector 9"/>
          <p:cNvCxnSpPr/>
          <p:nvPr/>
        </p:nvCxnSpPr>
        <p:spPr>
          <a:xfrm>
            <a:off x="6400800" y="164592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400800" y="237744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766560" y="1371600"/>
            <a:ext cx="2377440"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GitHub matrix JSON</a:t>
            </a:r>
          </a:p>
          <a:p>
            <a:pPr algn="ctr"/>
            <a:r>
              <a:rPr sz="900" b="0" i="0">
                <a:solidFill>
                  <a:srgbClr val="000000"/>
                </a:solidFill>
              </a:rPr>
              <a:t>→ one job per cell</a:t>
            </a:r>
          </a:p>
        </p:txBody>
      </p:sp>
      <p:sp>
        <p:nvSpPr>
          <p:cNvPr id="13" name="Rectangle 12"/>
          <p:cNvSpPr/>
          <p:nvPr/>
        </p:nvSpPr>
        <p:spPr>
          <a:xfrm>
            <a:off x="6766560" y="2103120"/>
            <a:ext cx="2377440"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local: pytest ci -m "…"</a:t>
            </a:r>
          </a:p>
          <a:p>
            <a:pPr algn="ctr"/>
            <a:r>
              <a:rPr sz="900" b="0" i="0">
                <a:solidFill>
                  <a:srgbClr val="000000"/>
                </a:solidFill>
              </a:rPr>
              <a:t>./ci/regression.sh --test …</a:t>
            </a:r>
          </a:p>
        </p:txBody>
      </p:sp>
      <p:sp>
        <p:nvSpPr>
          <p:cNvPr id="14" name="Rectangle 13"/>
          <p:cNvSpPr/>
          <p:nvPr/>
        </p:nvSpPr>
        <p:spPr>
          <a:xfrm>
            <a:off x="9418320" y="1371600"/>
            <a:ext cx="2194560" cy="128016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via:</a:t>
            </a:r>
          </a:p>
          <a:p>
            <a:pPr algn="ctr"/>
            <a:r>
              <a:rPr sz="950" b="0" i="0">
                <a:solidFill>
                  <a:srgbClr val="000000"/>
                </a:solidFill>
              </a:rPr>
              <a:t>blackbox (default)</a:t>
            </a:r>
          </a:p>
          <a:p>
            <a:pPr algn="ctr"/>
            <a:r>
              <a:rPr sz="950" b="0" i="0">
                <a:solidFill>
                  <a:srgbClr val="000000"/>
                </a:solidFill>
              </a:rPr>
              <a:t>make-run</a:t>
            </a:r>
          </a:p>
          <a:p>
            <a:pPr algn="ctr"/>
            <a:r>
              <a:rPr sz="950" b="0" i="0">
                <a:solidFill>
                  <a:srgbClr val="000000"/>
                </a:solidFill>
              </a:rPr>
              <a:t>script</a:t>
            </a:r>
          </a:p>
        </p:txBody>
      </p:sp>
      <p:sp>
        <p:nvSpPr>
          <p:cNvPr id="15" name="Rectangle 14"/>
          <p:cNvSpPr/>
          <p:nvPr/>
        </p:nvSpPr>
        <p:spPr>
          <a:xfrm>
            <a:off x="731520" y="2834640"/>
            <a:ext cx="5486400" cy="118872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000" b="0" i="0">
                <a:solidFill>
                  <a:srgbClr val="FFFFFF"/>
                </a:solidFill>
                <a:latin typeface="Consolas"/>
              </a:rPr>
              <a:t>VX_XLEN=32 pytest ci -m "cache and simx and smoke" --strict-markers</a:t>
            </a:r>
          </a:p>
          <a:p>
            <a:pPr algn="l"/>
            <a:r>
              <a:rPr sz="1000" b="0" i="0">
                <a:solidFill>
                  <a:srgbClr val="FFFFFF"/>
                </a:solidFill>
                <a:latin typeface="Consolas"/>
              </a:rPr>
              <a:t>pytest ci --collect-only          # what would run</a:t>
            </a:r>
          </a:p>
          <a:p>
            <a:pPr algn="l"/>
            <a:r>
              <a:rPr sz="1000" b="0" i="0">
                <a:solidFill>
                  <a:srgbClr val="FFFFFF"/>
                </a:solidFill>
                <a:latin typeface="Consolas"/>
              </a:rPr>
              <a:t>./ci/regression.sh --all | --test tensor | --test "tensor and simx"</a:t>
            </a:r>
          </a:p>
          <a:p>
            <a:pPr algn="l"/>
            <a:r>
              <a:rPr sz="1000" b="0" i="0">
                <a:solidFill>
                  <a:srgbClr val="FFFFFF"/>
                </a:solidFill>
                <a:latin typeface="Consolas"/>
              </a:rPr>
              <a:t>./ci/regression.sh --run dtm|sst|gem5|cupbop   # host flows</a:t>
            </a:r>
          </a:p>
        </p:txBody>
      </p:sp>
      <p:graphicFrame>
        <p:nvGraphicFramePr>
          <p:cNvPr id="16" name="Table 15"/>
          <p:cNvGraphicFramePr>
            <a:graphicFrameLocks noGrp="1"/>
          </p:cNvGraphicFramePr>
          <p:nvPr/>
        </p:nvGraphicFramePr>
        <p:xfrm>
          <a:off x="6400800" y="2834640"/>
          <a:ext cx="5212079" cy="2084832"/>
        </p:xfrm>
        <a:graphic>
          <a:graphicData uri="http://schemas.openxmlformats.org/drawingml/2006/table">
            <a:tbl>
              <a:tblPr firstRow="0" bandRow="0">
                <a:tableStyleId>{5940675A-B579-460E-94D1-54222C63F5DA}</a:tableStyleId>
              </a:tblPr>
              <a:tblGrid>
                <a:gridCol w="1463040"/>
                <a:gridCol w="3749039"/>
              </a:tblGrid>
              <a:tr h="347472">
                <a:tc>
                  <a:txBody>
                    <a:bodyPr wrap="square"/>
                    <a:lstStyle/>
                    <a:p>
                      <a:pPr algn="l"/>
                      <a:r>
                        <a:rPr sz="950" b="1" i="0">
                          <a:solidFill>
                            <a:srgbClr val="FFFFFF"/>
                          </a:solidFill>
                        </a:rPr>
                        <a:t>ci.yml event</a:t>
                      </a:r>
                    </a:p>
                  </a:txBody>
                  <a:tcPr marL="45720" marR="45720" marT="18288" marB="18288" anchor="ctr">
                    <a:solidFill>
                      <a:srgbClr val="1F394D"/>
                    </a:solidFill>
                  </a:tcPr>
                </a:tc>
                <a:tc>
                  <a:txBody>
                    <a:bodyPr wrap="square"/>
                    <a:lstStyle/>
                    <a:p>
                      <a:pPr algn="l"/>
                      <a:r>
                        <a:rPr sz="950" b="1" i="0">
                          <a:solidFill>
                            <a:srgbClr val="FFFFFF"/>
                          </a:solidFill>
                        </a:rPr>
                        <a:t>drivers × tiers</a:t>
                      </a:r>
                    </a:p>
                  </a:txBody>
                  <a:tcPr marL="45720" marR="45720" marT="18288" marB="18288" anchor="ctr">
                    <a:solidFill>
                      <a:srgbClr val="1F394D"/>
                    </a:solidFill>
                  </a:tcPr>
                </a:tc>
              </a:tr>
              <a:tr h="347472">
                <a:tc>
                  <a:txBody>
                    <a:bodyPr wrap="square"/>
                    <a:lstStyle/>
                    <a:p>
                      <a:pPr algn="l"/>
                      <a:r>
                        <a:rPr sz="950" b="0" i="0">
                          <a:solidFill>
                            <a:srgbClr val="000000"/>
                          </a:solidFill>
                        </a:rPr>
                        <a:t>push</a:t>
                      </a:r>
                    </a:p>
                  </a:txBody>
                  <a:tcPr marL="45720" marR="45720" marT="18288" marB="18288" anchor="ctr">
                    <a:solidFill>
                      <a:srgbClr val="FFFFFF"/>
                    </a:solidFill>
                  </a:tcPr>
                </a:tc>
                <a:tc>
                  <a:txBody>
                    <a:bodyPr wrap="square"/>
                    <a:lstStyle/>
                    <a:p>
                      <a:pPr algn="l"/>
                      <a:r>
                        <a:rPr sz="950" b="0" i="0">
                          <a:solidFill>
                            <a:srgbClr val="000000"/>
                          </a:solidFill>
                        </a:rPr>
                        <a:t>simx · smoke</a:t>
                      </a:r>
                    </a:p>
                  </a:txBody>
                  <a:tcPr marL="45720" marR="45720" marT="18288" marB="18288" anchor="ctr">
                    <a:solidFill>
                      <a:srgbClr val="FFFFFF"/>
                    </a:solidFill>
                  </a:tcPr>
                </a:tc>
              </a:tr>
              <a:tr h="347472">
                <a:tc>
                  <a:txBody>
                    <a:bodyPr wrap="square"/>
                    <a:lstStyle/>
                    <a:p>
                      <a:pPr algn="l"/>
                      <a:r>
                        <a:rPr sz="950" b="0" i="0">
                          <a:solidFill>
                            <a:srgbClr val="000000"/>
                          </a:solidFill>
                        </a:rPr>
                        <a:t>pull_request</a:t>
                      </a:r>
                    </a:p>
                  </a:txBody>
                  <a:tcPr marL="45720" marR="45720" marT="18288" marB="18288" anchor="ctr">
                    <a:solidFill>
                      <a:srgbClr val="F2F6FA"/>
                    </a:solidFill>
                  </a:tcPr>
                </a:tc>
                <a:tc>
                  <a:txBody>
                    <a:bodyPr wrap="square"/>
                    <a:lstStyle/>
                    <a:p>
                      <a:pPr algn="l"/>
                      <a:r>
                        <a:rPr sz="950" b="0" i="0">
                          <a:solidFill>
                            <a:srgbClr val="000000"/>
                          </a:solidFill>
                        </a:rPr>
                        <a:t>simx + rtlsim · smoke + full</a:t>
                      </a:r>
                    </a:p>
                  </a:txBody>
                  <a:tcPr marL="45720" marR="45720" marT="18288" marB="18288" anchor="ctr">
                    <a:solidFill>
                      <a:srgbClr val="F2F6FA"/>
                    </a:solidFill>
                  </a:tcPr>
                </a:tc>
              </a:tr>
              <a:tr h="347472">
                <a:tc>
                  <a:txBody>
                    <a:bodyPr wrap="square"/>
                    <a:lstStyle/>
                    <a:p>
                      <a:pPr algn="l"/>
                      <a:r>
                        <a:rPr sz="950" b="0" i="0">
                          <a:solidFill>
                            <a:srgbClr val="000000"/>
                          </a:solidFill>
                        </a:rPr>
                        <a:t>Monday schedule</a:t>
                      </a:r>
                    </a:p>
                  </a:txBody>
                  <a:tcPr marL="45720" marR="45720" marT="18288" marB="18288" anchor="ctr">
                    <a:solidFill>
                      <a:srgbClr val="FFFFFF"/>
                    </a:solidFill>
                  </a:tcPr>
                </a:tc>
                <a:tc>
                  <a:txBody>
                    <a:bodyPr wrap="square"/>
                    <a:lstStyle/>
                    <a:p>
                      <a:pPr algn="l"/>
                      <a:r>
                        <a:rPr sz="950" b="0" i="0">
                          <a:solidFill>
                            <a:srgbClr val="000000"/>
                          </a:solidFill>
                        </a:rPr>
                        <a:t>all</a:t>
                      </a:r>
                    </a:p>
                  </a:txBody>
                  <a:tcPr marL="45720" marR="45720" marT="18288" marB="18288" anchor="ctr">
                    <a:solidFill>
                      <a:srgbClr val="FFFFFF"/>
                    </a:solidFill>
                  </a:tcPr>
                </a:tc>
              </a:tr>
              <a:tr h="347472">
                <a:tc>
                  <a:txBody>
                    <a:bodyPr wrap="square"/>
                    <a:lstStyle/>
                    <a:p>
                      <a:pPr algn="l"/>
                      <a:r>
                        <a:rPr sz="950" b="0" i="0">
                          <a:solidFill>
                            <a:srgbClr val="000000"/>
                          </a:solidFill>
                        </a:rPr>
                        <a:t>escalations</a:t>
                      </a:r>
                    </a:p>
                  </a:txBody>
                  <a:tcPr marL="45720" marR="45720" marT="18288" marB="18288" anchor="ctr">
                    <a:solidFill>
                      <a:srgbClr val="F2F6FA"/>
                    </a:solidFill>
                  </a:tcPr>
                </a:tc>
                <a:tc>
                  <a:txBody>
                    <a:bodyPr wrap="square"/>
                    <a:lstStyle/>
                    <a:p>
                      <a:pPr algn="l"/>
                      <a:r>
                        <a:rPr sz="950" b="0" i="0">
                          <a:solidFill>
                            <a:srgbClr val="000000"/>
                          </a:solidFill>
                        </a:rPr>
                        <a:t>RTL/DPI/sim/TOML diff adds rtlsim; indeterminate diff → all drivers; AFU paths force xrt + opae</a:t>
                      </a:r>
                    </a:p>
                  </a:txBody>
                  <a:tcPr marL="45720" marR="45720" marT="18288" marB="18288" anchor="ctr">
                    <a:solidFill>
                      <a:srgbClr val="F2F6FA"/>
                    </a:solidFill>
                  </a:tcPr>
                </a:tc>
              </a:tr>
              <a:tr h="347472">
                <a:tc>
                  <a:txBody>
                    <a:bodyPr wrap="square"/>
                    <a:lstStyle/>
                    <a:p>
                      <a:pPr algn="l"/>
                      <a:r>
                        <a:rPr sz="950" b="0" i="0">
                          <a:solidFill>
                            <a:srgbClr val="000000"/>
                          </a:solidFill>
                        </a:rPr>
                        <a:t>jobs</a:t>
                      </a:r>
                    </a:p>
                  </a:txBody>
                  <a:tcPr marL="45720" marR="45720" marT="18288" marB="18288" anchor="ctr">
                    <a:solidFill>
                      <a:srgbClr val="FFFFFF"/>
                    </a:solidFill>
                  </a:tcPr>
                </a:tc>
                <a:tc>
                  <a:txBody>
                    <a:bodyPr wrap="square"/>
                    <a:lstStyle/>
                    <a:p>
                      <a:pPr algn="l"/>
                      <a:r>
                        <a:rPr sz="950" b="0" i="0">
                          <a:solidFill>
                            <a:srgbClr val="000000"/>
                          </a:solidFill>
                        </a:rPr>
                        <a:t>plan → setup → build (per XLEN) → tests (1 per cell) → complete</a:t>
                      </a:r>
                    </a:p>
                  </a:txBody>
                  <a:tcPr marL="45720" marR="45720" marT="18288" marB="18288"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Four Regression Gates</a:t>
            </a:r>
          </a:p>
        </p:txBody>
      </p:sp>
      <p:sp>
        <p:nvSpPr>
          <p:cNvPr id="3" name="Text Placeholder 2"/>
          <p:cNvSpPr>
            <a:spLocks noGrp="1"/>
          </p:cNvSpPr>
          <p:nvPr>
            <p:ph type="body" idx="1"/>
          </p:nvPr>
        </p:nvSpPr>
        <p:spPr>
          <a:xfrm>
            <a:off x="731520" y="3931920"/>
            <a:ext cx="10881360" cy="2286000"/>
          </a:xfrm>
        </p:spPr>
        <p:txBody>
          <a:bodyPr wrap="square"/>
          <a:lstStyle/>
          <a:p>
            <a:pPr marL="0" indent="0">
              <a:spcBef>
                <a:spcPts val="400"/>
              </a:spcBef>
              <a:buNone/>
            </a:pPr>
            <a:r>
              <a:rPr sz="1050" b="1" i="0">
                <a:solidFill>
                  <a:srgbClr val="1F394D"/>
                </a:solidFill>
              </a:rPr>
              <a:t>Shared machinery (ci/synth_gate.py)</a:t>
            </a:r>
          </a:p>
          <a:p>
            <a:pPr lvl="1" marL="342900" indent="-228600">
              <a:spcBef>
                <a:spcPts val="0"/>
              </a:spcBef>
              <a:buFont typeface="Arial"/>
              <a:buChar char="•"/>
            </a:pPr>
            <a:r>
              <a:rPr sz="950" b="0" i="0">
                <a:solidFill>
                  <a:srgbClr val="000000"/>
                </a:solidFill>
              </a:rPr>
              <a:t>catalog, config_hash, thresholds, known_issue, resumable sessions (--resume), longest-first 2-up scheduling, RTL-elaboration watch (fails a config typo in minutes)</a:t>
            </a:r>
          </a:p>
          <a:p>
            <a:pPr lvl="1" marL="342900" indent="-228600">
              <a:spcBef>
                <a:spcPts val="0"/>
              </a:spcBef>
              <a:buFont typeface="Arial"/>
              <a:buChar char="•"/>
            </a:pPr>
            <a:r>
              <a:rPr sz="950" b="0" i="0">
                <a:solidFill>
                  <a:srgbClr val="000000"/>
                </a:solidFill>
              </a:rPr>
              <a:t>DUTs declared once per flow in hw/syn/{xilinx,yosys}/dut/catalog.mk; </a:t>
            </a:r>
            <a:r>
              <a:rPr sz="950" b="0" i="0">
                <a:solidFill>
                  <a:srgbClr val="000000"/>
                </a:solidFill>
                <a:latin typeface="Consolas"/>
              </a:rPr>
              <a:t>make -C hw/syn/yosys/dut om</a:t>
            </a:r>
            <a:r>
              <a:rPr sz="950" b="0" i="0">
                <a:solidFill>
                  <a:srgbClr val="000000"/>
                </a:solidFill>
              </a:rPr>
              <a:t> and the gate run the same thing</a:t>
            </a:r>
          </a:p>
          <a:p>
            <a:pPr lvl="1" marL="342900" indent="-228600">
              <a:spcBef>
                <a:spcPts val="0"/>
              </a:spcBef>
              <a:buFont typeface="Arial"/>
              <a:buChar char="•"/>
            </a:pPr>
            <a:r>
              <a:rPr sz="950" b="0" i="0">
                <a:solidFill>
                  <a:srgbClr val="000000"/>
                </a:solidFill>
              </a:rPr>
              <a:t>verdicts PASS · REGRESSION · IMPROVED · STALE · FAIL · KNOWN-ISSUE · XPASS · RECORDED</a:t>
            </a:r>
          </a:p>
          <a:p>
            <a:pPr marL="0" indent="0">
              <a:spcBef>
                <a:spcPts val="400"/>
              </a:spcBef>
              <a:buNone/>
            </a:pPr>
            <a:r>
              <a:rPr sz="1050" b="1" i="0">
                <a:solidFill>
                  <a:srgbClr val="1F394D"/>
                </a:solidFill>
              </a:rPr>
              <a:t>Baseline groups</a:t>
            </a:r>
          </a:p>
          <a:p>
            <a:pPr lvl="1" marL="342900" indent="-228600">
              <a:spcBef>
                <a:spcPts val="0"/>
              </a:spcBef>
              <a:buFont typeface="Arial"/>
              <a:buChar char="•"/>
            </a:pPr>
            <a:r>
              <a:rPr sz="950" b="0" i="0">
                <a:solidFill>
                  <a:srgbClr val="000000"/>
                </a:solidFill>
              </a:rPr>
              <a:t>perf: core, dxa, graphics, raytracing, tensor, tensor_sp, tensor_wg, tensor_mx · synthesis: core (cache, core, top), tensor (tcu, tensor), graphics (raster, tex, om, rtu, gfx), dxa, mufu, vm</a:t>
            </a:r>
          </a:p>
          <a:p>
            <a:pPr marL="0" indent="0">
              <a:spcBef>
                <a:spcPts val="400"/>
              </a:spcBef>
              <a:buNone/>
            </a:pPr>
            <a:r>
              <a:rPr sz="1050" b="1" i="0">
                <a:solidFill>
                  <a:srgbClr val="1F394D"/>
                </a:solidFill>
              </a:rPr>
              <a:t>Why</a:t>
            </a:r>
          </a:p>
          <a:p>
            <a:pPr lvl="1" marL="342900" indent="-228600">
              <a:spcBef>
                <a:spcPts val="0"/>
              </a:spcBef>
              <a:buFont typeface="Arial"/>
              <a:buChar char="•"/>
            </a:pPr>
            <a:r>
              <a:rPr sz="950" b="0" i="0">
                <a:solidFill>
                  <a:srgbClr val="000000"/>
                </a:solidFill>
              </a:rPr>
              <a:t>cycle regressions surface at the change that caused them; improvements fail too so gains are locked in; never widen a tolerance</a:t>
            </a:r>
          </a:p>
          <a:p>
            <a:pPr lvl="1" marL="342900" indent="-228600">
              <a:spcBef>
                <a:spcPts val="0"/>
              </a:spcBef>
              <a:buFont typeface="Arial"/>
              <a:buChar char="•"/>
            </a:pPr>
            <a:r>
              <a:rPr sz="950" b="0" i="0">
                <a:solidFill>
                  <a:srgbClr val="000000"/>
                </a:solidFill>
              </a:rPr>
              <a:t>hosted 16 GB runner bounds asic_gate: top, gfx, tensor, vm are FPGA-only; core and tex at reduced width</a:t>
            </a:r>
          </a:p>
          <a:p>
            <a:pPr marL="0" indent="0">
              <a:spcBef>
                <a:spcPts val="400"/>
              </a:spcBef>
              <a:buNone/>
            </a:pPr>
            <a:r>
              <a:rPr sz="1050" b="1" i="0">
                <a:solidFill>
                  <a:srgbClr val="1F394D"/>
                </a:solidFill>
              </a:rPr>
              <a:t>Three flow bugs the ASIC gate caught</a:t>
            </a:r>
          </a:p>
          <a:p>
            <a:pPr lvl="1" marL="342900" indent="-228600">
              <a:spcBef>
                <a:spcPts val="0"/>
              </a:spcBef>
              <a:buFont typeface="Arial"/>
              <a:buChar char="•"/>
            </a:pPr>
            <a:r>
              <a:rPr sz="950" b="0" i="0">
                <a:solidFill>
                  <a:srgbClr val="000000"/>
                </a:solidFill>
              </a:rPr>
              <a:t>report_worst_slack (signed) instead of clamped report_wns · configure copies every *.mk · </a:t>
            </a:r>
            <a:r>
              <a:rPr sz="950" b="0" i="0">
                <a:solidFill>
                  <a:srgbClr val="000000"/>
                </a:solidFill>
                <a:latin typeface="Consolas"/>
              </a:rPr>
              <a:t>override CONFIGS +=</a:t>
            </a:r>
            <a:r>
              <a:rPr sz="950" b="0" i="0">
                <a:solidFill>
                  <a:srgbClr val="000000"/>
                </a:solidFill>
              </a:rPr>
              <a:t> (a command-line CONFIGS silently dropped -DSYNTHESIS -DASIC -DYOSYS → 1.08 M cells of FF-inferred RAM)</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25880"/>
            <a:ext cx="2606040" cy="4114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FFFFFF"/>
                </a:solidFill>
              </a:rPr>
              <a:t>model_parity</a:t>
            </a:r>
          </a:p>
        </p:txBody>
      </p:sp>
      <p:sp>
        <p:nvSpPr>
          <p:cNvPr id="6" name="Rectangle 5"/>
          <p:cNvSpPr/>
          <p:nvPr/>
        </p:nvSpPr>
        <p:spPr>
          <a:xfrm>
            <a:off x="731520" y="1783080"/>
            <a:ext cx="2606040"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simx ↔ rtlsim, same case</a:t>
            </a:r>
          </a:p>
        </p:txBody>
      </p:sp>
      <p:sp>
        <p:nvSpPr>
          <p:cNvPr id="7" name="Rectangle 6"/>
          <p:cNvSpPr/>
          <p:nvPr/>
        </p:nvSpPr>
        <p:spPr>
          <a:xfrm>
            <a:off x="731520" y="2377440"/>
            <a:ext cx="2606040" cy="82296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instrs exact · cycles ≤ 5% (per-case)</a:t>
            </a:r>
          </a:p>
        </p:txBody>
      </p:sp>
      <p:sp>
        <p:nvSpPr>
          <p:cNvPr id="8" name="Rectangle 7"/>
          <p:cNvSpPr/>
          <p:nvPr/>
        </p:nvSpPr>
        <p:spPr>
          <a:xfrm>
            <a:off x="731520" y="3246120"/>
            <a:ext cx="2606040" cy="54864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tier full · PARITY: line</a:t>
            </a:r>
          </a:p>
        </p:txBody>
      </p:sp>
      <p:sp>
        <p:nvSpPr>
          <p:cNvPr id="9" name="Rectangle 8"/>
          <p:cNvSpPr/>
          <p:nvPr/>
        </p:nvSpPr>
        <p:spPr>
          <a:xfrm>
            <a:off x="3474720" y="1325880"/>
            <a:ext cx="2606040" cy="4114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FFFFFF"/>
                </a:solidFill>
              </a:rPr>
              <a:t>perf_gate</a:t>
            </a:r>
          </a:p>
        </p:txBody>
      </p:sp>
      <p:sp>
        <p:nvSpPr>
          <p:cNvPr id="10" name="Rectangle 9"/>
          <p:cNvSpPr/>
          <p:nvPr/>
        </p:nvSpPr>
        <p:spPr>
          <a:xfrm>
            <a:off x="3474720" y="1783080"/>
            <a:ext cx="2606040"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rtlsim ↔ ci/baselines/perf/*.json</a:t>
            </a:r>
          </a:p>
        </p:txBody>
      </p:sp>
      <p:sp>
        <p:nvSpPr>
          <p:cNvPr id="11" name="Rectangle 10"/>
          <p:cNvSpPr/>
          <p:nvPr/>
        </p:nvSpPr>
        <p:spPr>
          <a:xfrm>
            <a:off x="3474720" y="2377440"/>
            <a:ext cx="2606040" cy="82296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instrs exact · cycles ±2% two-sided · config_hash</a:t>
            </a:r>
          </a:p>
        </p:txBody>
      </p:sp>
      <p:sp>
        <p:nvSpPr>
          <p:cNvPr id="12" name="Rectangle 11"/>
          <p:cNvSpPr/>
          <p:nvPr/>
        </p:nvSpPr>
        <p:spPr>
          <a:xfrm>
            <a:off x="3474720" y="3246120"/>
            <a:ext cx="2606040" cy="54864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update: pytest ci -m perf_gate --update-baselines</a:t>
            </a:r>
          </a:p>
        </p:txBody>
      </p:sp>
      <p:sp>
        <p:nvSpPr>
          <p:cNvPr id="13" name="Rectangle 12"/>
          <p:cNvSpPr/>
          <p:nvPr/>
        </p:nvSpPr>
        <p:spPr>
          <a:xfrm>
            <a:off x="6217920" y="1325880"/>
            <a:ext cx="2606040" cy="4114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FFFFFF"/>
                </a:solidFill>
              </a:rPr>
              <a:t>fpga_gate</a:t>
            </a:r>
          </a:p>
        </p:txBody>
      </p:sp>
      <p:sp>
        <p:nvSpPr>
          <p:cNvPr id="14" name="Rectangle 13"/>
          <p:cNvSpPr/>
          <p:nvPr/>
        </p:nvSpPr>
        <p:spPr>
          <a:xfrm>
            <a:off x="6217920" y="1783080"/>
            <a:ext cx="2606040" cy="54864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Vivado synth + P&amp;R, 9 DUTs @ target clock</a:t>
            </a:r>
          </a:p>
        </p:txBody>
      </p:sp>
      <p:sp>
        <p:nvSpPr>
          <p:cNvPr id="15" name="Rectangle 14"/>
          <p:cNvSpPr/>
          <p:nvPr/>
        </p:nvSpPr>
        <p:spPr>
          <a:xfrm>
            <a:off x="6217920" y="2377440"/>
            <a:ext cx="2606040" cy="82296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Fmax, LUT ±5%; records WNS, FF, LUTRAM, BRAM, URAM, DSP, 10 worst paths</a:t>
            </a:r>
          </a:p>
        </p:txBody>
      </p:sp>
      <p:sp>
        <p:nvSpPr>
          <p:cNvPr id="16" name="Rectangle 15"/>
          <p:cNvSpPr/>
          <p:nvPr/>
        </p:nvSpPr>
        <p:spPr>
          <a:xfrm>
            <a:off x="6217920" y="3246120"/>
            <a:ext cx="2606040" cy="54864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self-hosted runner · fpga_gate.yml via host cron</a:t>
            </a:r>
          </a:p>
        </p:txBody>
      </p:sp>
      <p:sp>
        <p:nvSpPr>
          <p:cNvPr id="17" name="Rectangle 16"/>
          <p:cNvSpPr/>
          <p:nvPr/>
        </p:nvSpPr>
        <p:spPr>
          <a:xfrm>
            <a:off x="8961120" y="1325880"/>
            <a:ext cx="2606040" cy="4114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FFFFFF"/>
                </a:solidFill>
              </a:rPr>
              <a:t>asic_gate</a:t>
            </a:r>
          </a:p>
        </p:txBody>
      </p:sp>
      <p:sp>
        <p:nvSpPr>
          <p:cNvPr id="18" name="Rectangle 17"/>
          <p:cNvSpPr/>
          <p:nvPr/>
        </p:nvSpPr>
        <p:spPr>
          <a:xfrm>
            <a:off x="8961120" y="1783080"/>
            <a:ext cx="2606040" cy="54864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sv2v → Yosys → ABC → OpenSTA, ASAP7 RVT TT</a:t>
            </a:r>
          </a:p>
        </p:txBody>
      </p:sp>
      <p:sp>
        <p:nvSpPr>
          <p:cNvPr id="19" name="Rectangle 18"/>
          <p:cNvSpPr/>
          <p:nvPr/>
        </p:nvSpPr>
        <p:spPr>
          <a:xfrm>
            <a:off x="8961120" y="2377440"/>
            <a:ext cx="2606040" cy="82296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Fmax vs target, cell area ±5%; records WNS/TNS, seq + SRAM area, cells, power</a:t>
            </a:r>
          </a:p>
        </p:txBody>
      </p:sp>
      <p:sp>
        <p:nvSpPr>
          <p:cNvPr id="20" name="Rectangle 19"/>
          <p:cNvSpPr/>
          <p:nvPr/>
        </p:nvSpPr>
        <p:spPr>
          <a:xfrm>
            <a:off x="8961120" y="3246120"/>
            <a:ext cx="2606040" cy="54864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hosted, nightly, one job per DUT (1–2 h each)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Writing a Native Vortex Program</a:t>
            </a:r>
          </a:p>
        </p:txBody>
      </p:sp>
      <p:sp>
        <p:nvSpPr>
          <p:cNvPr id="3" name="Text Placeholder 2"/>
          <p:cNvSpPr>
            <a:spLocks noGrp="1"/>
          </p:cNvSpPr>
          <p:nvPr>
            <p:ph type="body" idx="1"/>
          </p:nvPr>
        </p:nvSpPr>
        <p:spPr>
          <a:xfrm>
            <a:off x="6309360" y="1188720"/>
            <a:ext cx="5394960" cy="4937760"/>
          </a:xfrm>
        </p:spPr>
        <p:txBody>
          <a:bodyPr wrap="square"/>
          <a:lstStyle/>
          <a:p>
            <a:pPr marL="0" indent="0">
              <a:spcBef>
                <a:spcPts val="500"/>
              </a:spcBef>
              <a:buNone/>
            </a:pPr>
            <a:r>
              <a:rPr sz="1200" b="1" i="0">
                <a:solidFill>
                  <a:srgbClr val="1F394D"/>
                </a:solidFill>
              </a:rPr>
              <a:t>Layout</a:t>
            </a:r>
          </a:p>
          <a:p>
            <a:pPr lvl="1" marL="342900" indent="-228600">
              <a:spcBef>
                <a:spcPts val="100"/>
              </a:spcBef>
              <a:buFont typeface="Arial"/>
              <a:buChar char="•"/>
            </a:pPr>
            <a:r>
              <a:rPr sz="1050" b="0" i="0">
                <a:solidFill>
                  <a:srgbClr val="000000"/>
                </a:solidFill>
              </a:rPr>
              <a:t>tests/regression/&lt;name&gt;/{kernel.cpp, main.cpp, common.h, Makefile}; Makefile includes ../common.mk</a:t>
            </a:r>
          </a:p>
          <a:p>
            <a:pPr lvl="1" marL="342900" indent="-228600">
              <a:spcBef>
                <a:spcPts val="100"/>
              </a:spcBef>
              <a:buFont typeface="Arial"/>
              <a:buChar char="•"/>
            </a:pPr>
            <a:r>
              <a:rPr sz="1050" b="0" i="0">
                <a:solidFill>
                  <a:srgbClr val="000000"/>
                </a:solidFill>
                <a:latin typeface="Consolas"/>
              </a:rPr>
              <a:t>../configure</a:t>
            </a:r>
            <a:r>
              <a:rPr sz="1050" b="0" i="0">
                <a:solidFill>
                  <a:srgbClr val="000000"/>
                </a:solidFill>
              </a:rPr>
              <a:t> after adding the folder; </a:t>
            </a:r>
            <a:r>
              <a:rPr sz="1050" b="0" i="0">
                <a:solidFill>
                  <a:srgbClr val="000000"/>
                </a:solidFill>
                <a:latin typeface="Consolas"/>
              </a:rPr>
              <a:t>make -C tests/regression/&lt;name&gt;</a:t>
            </a:r>
          </a:p>
          <a:p>
            <a:pPr marL="0" indent="0">
              <a:spcBef>
                <a:spcPts val="500"/>
              </a:spcBef>
              <a:buNone/>
            </a:pPr>
            <a:r>
              <a:rPr sz="1200" b="1" i="0">
                <a:solidFill>
                  <a:srgbClr val="1F394D"/>
                </a:solidFill>
              </a:rPr>
              <a:t>Run</a:t>
            </a:r>
          </a:p>
          <a:p>
            <a:pPr lvl="1" marL="342900" indent="-228600">
              <a:spcBef>
                <a:spcPts val="100"/>
              </a:spcBef>
              <a:buFont typeface="Arial"/>
              <a:buChar char="•"/>
            </a:pPr>
            <a:r>
              <a:rPr sz="1050" b="0" i="0">
                <a:solidFill>
                  <a:srgbClr val="000000"/>
                </a:solidFill>
                <a:latin typeface="Consolas"/>
              </a:rPr>
              <a:t>./ci/blackbox.sh --driver=simx --app=&lt;name&gt; --args="-n1024"</a:t>
            </a:r>
          </a:p>
          <a:p>
            <a:pPr lvl="1" marL="342900" indent="-228600">
              <a:spcBef>
                <a:spcPts val="100"/>
              </a:spcBef>
              <a:buFont typeface="Arial"/>
              <a:buChar char="•"/>
            </a:pPr>
            <a:r>
              <a:rPr sz="1050" b="0" i="0">
                <a:solidFill>
                  <a:srgbClr val="000000"/>
                </a:solidFill>
                <a:latin typeface="Consolas"/>
              </a:rPr>
              <a:t>--driver=rtlsim --debug=3 --vcd</a:t>
            </a:r>
            <a:r>
              <a:rPr sz="1050" b="0" i="0">
                <a:solidFill>
                  <a:srgbClr val="000000"/>
                </a:solidFill>
              </a:rPr>
              <a:t> for traces and waveforms; </a:t>
            </a:r>
            <a:r>
              <a:rPr sz="1050" b="0" i="0">
                <a:solidFill>
                  <a:srgbClr val="000000"/>
                </a:solidFill>
                <a:latin typeface="Consolas"/>
              </a:rPr>
              <a:t>--perf=&lt;class&gt;</a:t>
            </a:r>
            <a:r>
              <a:rPr sz="1050" b="0" i="0">
                <a:solidFill>
                  <a:srgbClr val="000000"/>
                </a:solidFill>
              </a:rPr>
              <a:t> for counters</a:t>
            </a:r>
          </a:p>
          <a:p>
            <a:pPr marL="0" indent="0">
              <a:spcBef>
                <a:spcPts val="500"/>
              </a:spcBef>
              <a:buNone/>
            </a:pPr>
            <a:r>
              <a:rPr sz="1200" b="1" i="0">
                <a:solidFill>
                  <a:srgbClr val="1F394D"/>
                </a:solidFill>
              </a:rPr>
              <a:t>CONFIGS discipline</a:t>
            </a:r>
          </a:p>
          <a:p>
            <a:pPr lvl="1" marL="342900" indent="-228600">
              <a:spcBef>
                <a:spcPts val="100"/>
              </a:spcBef>
              <a:buFont typeface="Arial"/>
              <a:buChar char="•"/>
            </a:pPr>
            <a:r>
              <a:rPr sz="1050" b="0" i="0">
                <a:solidFill>
                  <a:srgbClr val="000000"/>
                </a:solidFill>
              </a:rPr>
              <a:t>app and driver must agree: </a:t>
            </a:r>
            <a:r>
              <a:rPr sz="1050" b="0" i="0">
                <a:solidFill>
                  <a:srgbClr val="000000"/>
                </a:solidFill>
                <a:latin typeface="Consolas"/>
              </a:rPr>
              <a:t>CONFIGS="-DVX_CFG_NUM_THREADS=8 -DVX_CFG_EXT_TCU_ENABLE" make -C tests/regression/sgemm_tcu</a:t>
            </a:r>
          </a:p>
          <a:p>
            <a:pPr lvl="1" marL="342900" indent="-228600">
              <a:spcBef>
                <a:spcPts val="100"/>
              </a:spcBef>
              <a:buFont typeface="Arial"/>
              <a:buChar char="•"/>
            </a:pPr>
            <a:r>
              <a:rPr sz="1050" b="0" i="0">
                <a:solidFill>
                  <a:srgbClr val="000000"/>
                </a:solidFill>
              </a:rPr>
              <a:t>never hard-code </a:t>
            </a:r>
            <a:r>
              <a:rPr sz="1050" b="0" i="0">
                <a:solidFill>
                  <a:srgbClr val="000000"/>
                </a:solidFill>
                <a:latin typeface="Consolas"/>
              </a:rPr>
              <a:t>-DVX_CFG_*</a:t>
            </a:r>
            <a:r>
              <a:rPr sz="1050" b="0" i="0">
                <a:solidFill>
                  <a:srgbClr val="000000"/>
                </a:solidFill>
              </a:rPr>
              <a:t> in a Makefile — VX_config.toml is the single source of truth</a:t>
            </a:r>
          </a:p>
          <a:p>
            <a:pPr marL="0" indent="0">
              <a:spcBef>
                <a:spcPts val="500"/>
              </a:spcBef>
              <a:buNone/>
            </a:pPr>
            <a:r>
              <a:rPr sz="1200" b="1" i="0">
                <a:solidFill>
                  <a:srgbClr val="1F394D"/>
                </a:solidFill>
              </a:rPr>
              <a:t>Examples to copy</a:t>
            </a:r>
          </a:p>
          <a:p>
            <a:pPr lvl="1" marL="342900" indent="-228600">
              <a:spcBef>
                <a:spcPts val="100"/>
              </a:spcBef>
              <a:buFont typeface="Arial"/>
              <a:buChar char="•"/>
            </a:pPr>
            <a:r>
              <a:rPr sz="1050" b="0" i="0">
                <a:solidFill>
                  <a:srgbClr val="000000"/>
                </a:solidFill>
              </a:rPr>
              <a:t>vecadd · sgemm · sgemm_tcu · sgemm2_dxa_mcast · cta_cluster · multikernel · amo · raycast · gfx_draw3d</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280160"/>
            <a:ext cx="5394960" cy="475488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950" b="0" i="0">
                <a:solidFill>
                  <a:srgbClr val="FFFFFF"/>
                </a:solidFill>
                <a:latin typeface="Consolas"/>
              </a:rPr>
              <a:t>// kernel.cpp</a:t>
            </a:r>
          </a:p>
          <a:p>
            <a:pPr algn="l"/>
            <a:r>
              <a:rPr sz="950" b="0" i="0">
                <a:solidFill>
                  <a:srgbClr val="FFFFFF"/>
                </a:solidFill>
                <a:latin typeface="Consolas"/>
              </a:rPr>
              <a:t>#include &lt;vx_spawn2.h&gt;</a:t>
            </a:r>
          </a:p>
          <a:p>
            <a:pPr algn="l"/>
            <a:r>
              <a:rPr sz="950" b="0" i="0">
                <a:solidFill>
                  <a:srgbClr val="FFFFFF"/>
                </a:solidFill>
                <a:latin typeface="Consolas"/>
              </a:rPr>
              <a:t>#include "common.h"   // kernel_arg_t</a:t>
            </a:r>
          </a:p>
          <a:p>
            <a:pPr algn="l"/>
            <a:r>
              <a:rPr sz="950" b="0" i="0">
                <a:solidFill>
                  <a:srgbClr val="FFFFFF"/>
                </a:solidFill>
                <a:latin typeface="Consolas"/>
              </a:rPr>
              <a:t>__kernel void kernel_body(kernel_arg_t *arg) {</a:t>
            </a:r>
          </a:p>
          <a:p>
            <a:pPr algn="l"/>
            <a:r>
              <a:rPr sz="950" b="0" i="0">
                <a:solidFill>
                  <a:srgbClr val="FFFFFF"/>
                </a:solidFill>
                <a:latin typeface="Consolas"/>
              </a:rPr>
              <a:t>  uint32_t i = blockIdx.x * blockDim.x + threadIdx.x;</a:t>
            </a:r>
          </a:p>
          <a:p>
            <a:pPr algn="l"/>
            <a:r>
              <a:rPr sz="950" b="0" i="0">
                <a:solidFill>
                  <a:srgbClr val="FFFFFF"/>
                </a:solidFill>
                <a:latin typeface="Consolas"/>
              </a:rPr>
              <a:t>  auto a = (float*)arg-&gt;a_addr, b = (float*)arg-&gt;b_addr;</a:t>
            </a:r>
          </a:p>
          <a:p>
            <a:pPr algn="l"/>
            <a:r>
              <a:rPr sz="950" b="0" i="0">
                <a:solidFill>
                  <a:srgbClr val="FFFFFF"/>
                </a:solidFill>
                <a:latin typeface="Consolas"/>
              </a:rPr>
              <a:t>  auto c = (float*)arg-&gt;c_addr;</a:t>
            </a:r>
          </a:p>
          <a:p>
            <a:pPr algn="l"/>
            <a:r>
              <a:rPr sz="950" b="0" i="0">
                <a:solidFill>
                  <a:srgbClr val="FFFFFF"/>
                </a:solidFill>
                <a:latin typeface="Consolas"/>
              </a:rPr>
              <a:t>  if (i &lt; arg-&gt;n) c[i] = a[i] * b[i];</a:t>
            </a:r>
          </a:p>
          <a:p>
            <a:pPr algn="l"/>
            <a:r>
              <a:rPr sz="950" b="0" i="0">
                <a:solidFill>
                  <a:srgbClr val="FFFFFF"/>
                </a:solidFill>
                <a:latin typeface="Consolas"/>
              </a:rPr>
              <a:t>}</a:t>
            </a:r>
          </a:p>
          <a:p>
            <a:pPr algn="l"/>
          </a:p>
          <a:p>
            <a:pPr algn="l"/>
            <a:r>
              <a:rPr sz="950" b="0" i="0">
                <a:solidFill>
                  <a:srgbClr val="FFFFFF"/>
                </a:solidFill>
                <a:latin typeface="Consolas"/>
              </a:rPr>
              <a:t>// main.cpp</a:t>
            </a:r>
          </a:p>
          <a:p>
            <a:pPr algn="l"/>
            <a:r>
              <a:rPr sz="950" b="0" i="0">
                <a:solidFill>
                  <a:srgbClr val="FFFFFF"/>
                </a:solidFill>
                <a:latin typeface="Consolas"/>
              </a:rPr>
              <a:t>vx_dev_open(0, &amp;dev); vx_queue_create(dev, &amp;q);</a:t>
            </a:r>
          </a:p>
          <a:p>
            <a:pPr algn="l"/>
            <a:r>
              <a:rPr sz="950" b="0" i="0">
                <a:solidFill>
                  <a:srgbClr val="FFFFFF"/>
                </a:solidFill>
                <a:latin typeface="Consolas"/>
              </a:rPr>
              <a:t>vx_mem_alloc(dev, bytes, VX_MEM_READ, &amp;bufA); …</a:t>
            </a:r>
          </a:p>
          <a:p>
            <a:pPr algn="l"/>
            <a:r>
              <a:rPr sz="950" b="0" i="0">
                <a:solidFill>
                  <a:srgbClr val="FFFFFF"/>
                </a:solidFill>
                <a:latin typeface="Consolas"/>
              </a:rPr>
              <a:t>vx_module_load_file(dev, "kernel.vxbin", &amp;mod);</a:t>
            </a:r>
          </a:p>
          <a:p>
            <a:pPr algn="l"/>
            <a:r>
              <a:rPr sz="950" b="0" i="0">
                <a:solidFill>
                  <a:srgbClr val="FFFFFF"/>
                </a:solidFill>
                <a:latin typeface="Consolas"/>
              </a:rPr>
              <a:t>vx_module_get_kernel(mod, "kernel_body", &amp;kern);</a:t>
            </a:r>
          </a:p>
          <a:p>
            <a:pPr algn="l"/>
            <a:r>
              <a:rPr sz="950" b="0" i="0">
                <a:solidFill>
                  <a:srgbClr val="FFFFFF"/>
                </a:solidFill>
                <a:latin typeface="Consolas"/>
              </a:rPr>
              <a:t>vx_launch_info_t li{kern, &amp;args, sizeof(args), 1, {n/B}, {B}};</a:t>
            </a:r>
          </a:p>
          <a:p>
            <a:pPr algn="l"/>
            <a:r>
              <a:rPr sz="950" b="0" i="0">
                <a:solidFill>
                  <a:srgbClr val="FFFFFF"/>
                </a:solidFill>
                <a:latin typeface="Consolas"/>
              </a:rPr>
              <a:t>vx_enqueue_memcpy_htod(q, bufA, hA, bytes, 0, nullptr);</a:t>
            </a:r>
          </a:p>
          <a:p>
            <a:pPr algn="l"/>
            <a:r>
              <a:rPr sz="950" b="0" i="0">
                <a:solidFill>
                  <a:srgbClr val="FFFFFF"/>
                </a:solidFill>
                <a:latin typeface="Consolas"/>
              </a:rPr>
              <a:t>vx_enqueue_launch(q, &amp;li, &amp;ev); vx_event_wait_value(ev, 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Debugging and Tooling</a:t>
            </a:r>
          </a:p>
        </p:txBody>
      </p:sp>
      <p:sp>
        <p:nvSpPr>
          <p:cNvPr id="3" name="Text Placeholder 2"/>
          <p:cNvSpPr>
            <a:spLocks noGrp="1"/>
          </p:cNvSpPr>
          <p:nvPr>
            <p:ph type="body" idx="1"/>
          </p:nvPr>
        </p:nvSpPr>
        <p:spPr>
          <a:xfrm>
            <a:off x="7863840" y="1188720"/>
            <a:ext cx="3840480" cy="4937760"/>
          </a:xfrm>
        </p:spPr>
        <p:txBody>
          <a:bodyPr wrap="square"/>
          <a:lstStyle/>
          <a:p>
            <a:pPr marL="0" indent="0">
              <a:spcBef>
                <a:spcPts val="500"/>
              </a:spcBef>
              <a:buNone/>
            </a:pPr>
            <a:r>
              <a:rPr sz="1150" b="1" i="0">
                <a:solidFill>
                  <a:srgbClr val="1F394D"/>
                </a:solidFill>
              </a:rPr>
              <a:t>AGENTS.md rules that matter here</a:t>
            </a:r>
          </a:p>
          <a:p>
            <a:pPr lvl="1" marL="342900" indent="-228600">
              <a:spcBef>
                <a:spcPts val="100"/>
              </a:spcBef>
              <a:buFont typeface="Arial"/>
              <a:buChar char="•"/>
            </a:pPr>
            <a:r>
              <a:rPr sz="1000" b="0" i="0">
                <a:solidFill>
                  <a:srgbClr val="000000"/>
                </a:solidFill>
              </a:rPr>
              <a:t>run tests from build/; CONFIGS must match app and driver; no --rebuild</a:t>
            </a:r>
          </a:p>
          <a:p>
            <a:pPr lvl="1" marL="342900" indent="-228600">
              <a:spcBef>
                <a:spcPts val="100"/>
              </a:spcBef>
              <a:buFont typeface="Arial"/>
              <a:buChar char="•"/>
            </a:pPr>
            <a:r>
              <a:rPr sz="1000" b="0" i="0">
                <a:solidFill>
                  <a:srgbClr val="000000"/>
                </a:solidFill>
              </a:rPr>
              <a:t>RTL verification path is </a:t>
            </a:r>
            <a:r>
              <a:rPr sz="1000" b="0" i="0">
                <a:solidFill>
                  <a:srgbClr val="000000"/>
                </a:solidFill>
                <a:latin typeface="Consolas"/>
              </a:rPr>
              <a:t>xrt</a:t>
            </a:r>
            <a:r>
              <a:rPr sz="1000" b="0" i="0">
                <a:solidFill>
                  <a:srgbClr val="000000"/>
                </a:solidFill>
              </a:rPr>
              <a:t>, not </a:t>
            </a:r>
            <a:r>
              <a:rPr sz="1000" b="0" i="0">
                <a:solidFill>
                  <a:srgbClr val="000000"/>
                </a:solidFill>
                <a:latin typeface="Consolas"/>
              </a:rPr>
              <a:t>rtlsim</a:t>
            </a:r>
            <a:r>
              <a:rPr sz="1000" b="0" i="0">
                <a:solidFill>
                  <a:srgbClr val="000000"/>
                </a:solidFill>
              </a:rPr>
              <a:t> (rtlsim bypasses the AFU)</a:t>
            </a:r>
          </a:p>
          <a:p>
            <a:pPr lvl="1" marL="342900" indent="-228600">
              <a:spcBef>
                <a:spcPts val="100"/>
              </a:spcBef>
              <a:buFont typeface="Arial"/>
              <a:buChar char="•"/>
            </a:pPr>
            <a:r>
              <a:rPr sz="1000" b="0" i="0">
                <a:solidFill>
                  <a:srgbClr val="000000"/>
                </a:solidFill>
              </a:rPr>
              <a:t>root-cause bugs; no legacy fallbacks; label unavoidable patches</a:t>
            </a:r>
          </a:p>
          <a:p>
            <a:pPr marL="0" indent="0">
              <a:spcBef>
                <a:spcPts val="500"/>
              </a:spcBef>
              <a:buNone/>
            </a:pPr>
            <a:r>
              <a:rPr sz="1150" b="1" i="0">
                <a:solidFill>
                  <a:srgbClr val="1F394D"/>
                </a:solidFill>
              </a:rPr>
              <a:t>Where things log</a:t>
            </a:r>
          </a:p>
          <a:p>
            <a:pPr lvl="1" marL="342900" indent="-228600">
              <a:spcBef>
                <a:spcPts val="100"/>
              </a:spcBef>
              <a:buFont typeface="Arial"/>
              <a:buChar char="•"/>
            </a:pPr>
            <a:r>
              <a:rPr sz="1000" b="0" i="0">
                <a:solidFill>
                  <a:srgbClr val="000000"/>
                </a:solidFill>
              </a:rPr>
              <a:t>tests/regression/logs/ (run_parallel.sh) · blackbox.&lt;driver&gt;.cache remembers the last config</a:t>
            </a:r>
          </a:p>
          <a:p>
            <a:pPr marL="0" indent="0">
              <a:spcBef>
                <a:spcPts val="500"/>
              </a:spcBef>
              <a:buNone/>
            </a:pPr>
            <a:r>
              <a:rPr sz="1150" b="1" i="0">
                <a:solidFill>
                  <a:srgbClr val="1F394D"/>
                </a:solidFill>
              </a:rPr>
              <a:t>Roofline</a:t>
            </a:r>
          </a:p>
          <a:p>
            <a:pPr lvl="1" marL="342900" indent="-228600">
              <a:spcBef>
                <a:spcPts val="100"/>
              </a:spcBef>
              <a:buFont typeface="Arial"/>
              <a:buChar char="•"/>
            </a:pPr>
            <a:r>
              <a:rPr sz="1000" b="0" i="0">
                <a:solidFill>
                  <a:srgbClr val="000000"/>
                </a:solidFill>
                <a:latin typeface="Consolas"/>
              </a:rPr>
              <a:t>ci/roofline.py --app=… --flops=… --plot</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graphicFrame>
        <p:nvGraphicFramePr>
          <p:cNvPr id="5" name="Table 4"/>
          <p:cNvGraphicFramePr>
            <a:graphicFrameLocks noGrp="1"/>
          </p:cNvGraphicFramePr>
          <p:nvPr/>
        </p:nvGraphicFramePr>
        <p:xfrm>
          <a:off x="731520" y="1280160"/>
          <a:ext cx="6949439" cy="3840480"/>
        </p:xfrm>
        <a:graphic>
          <a:graphicData uri="http://schemas.openxmlformats.org/drawingml/2006/table">
            <a:tbl>
              <a:tblPr firstRow="0" bandRow="0">
                <a:tableStyleId>{5940675A-B579-460E-94D1-54222C63F5DA}</a:tableStyleId>
              </a:tblPr>
              <a:tblGrid>
                <a:gridCol w="1463040"/>
                <a:gridCol w="5486399"/>
              </a:tblGrid>
              <a:tr h="384048">
                <a:tc>
                  <a:txBody>
                    <a:bodyPr wrap="square"/>
                    <a:lstStyle/>
                    <a:p>
                      <a:pPr algn="l"/>
                      <a:r>
                        <a:rPr sz="1000" b="1" i="0">
                          <a:solidFill>
                            <a:srgbClr val="FFFFFF"/>
                          </a:solidFill>
                        </a:rPr>
                        <a:t>Need</a:t>
                      </a:r>
                    </a:p>
                  </a:txBody>
                  <a:tcPr marL="45720" marR="45720" marT="18288" marB="18288" anchor="ctr">
                    <a:solidFill>
                      <a:srgbClr val="1F394D"/>
                    </a:solidFill>
                  </a:tcPr>
                </a:tc>
                <a:tc>
                  <a:txBody>
                    <a:bodyPr wrap="square"/>
                    <a:lstStyle/>
                    <a:p>
                      <a:pPr algn="l"/>
                      <a:r>
                        <a:rPr sz="1000" b="1" i="0">
                          <a:solidFill>
                            <a:srgbClr val="FFFFFF"/>
                          </a:solidFill>
                        </a:rPr>
                        <a:t>Tool</a:t>
                      </a:r>
                    </a:p>
                  </a:txBody>
                  <a:tcPr marL="45720" marR="45720" marT="18288" marB="18288" anchor="ctr">
                    <a:solidFill>
                      <a:srgbClr val="1F394D"/>
                    </a:solidFill>
                  </a:tcPr>
                </a:tc>
              </a:tr>
              <a:tr h="384048">
                <a:tc>
                  <a:txBody>
                    <a:bodyPr wrap="square"/>
                    <a:lstStyle/>
                    <a:p>
                      <a:pPr algn="l"/>
                      <a:r>
                        <a:rPr sz="1000" b="0" i="0">
                          <a:solidFill>
                            <a:srgbClr val="000000"/>
                          </a:solidFill>
                        </a:rPr>
                        <a:t>instruction trace</a:t>
                      </a:r>
                    </a:p>
                  </a:txBody>
                  <a:tcPr marL="45720" marR="45720" marT="18288" marB="18288" anchor="ctr">
                    <a:solidFill>
                      <a:srgbClr val="FFFFFF"/>
                    </a:solidFill>
                  </a:tcPr>
                </a:tc>
                <a:tc>
                  <a:txBody>
                    <a:bodyPr wrap="square"/>
                    <a:lstStyle/>
                    <a:p>
                      <a:pPr algn="l"/>
                      <a:r>
                        <a:rPr sz="1000" b="0" i="0">
                          <a:solidFill>
                            <a:srgbClr val="000000"/>
                          </a:solidFill>
                          <a:latin typeface="Consolas"/>
                        </a:rPr>
                        <a:t>--debug=1..3</a:t>
                      </a:r>
                      <a:r>
                        <a:rPr sz="1000" b="0" i="0">
                          <a:solidFill>
                            <a:srgbClr val="000000"/>
                          </a:solidFill>
                        </a:rPr>
                        <a:t> (rtlsim / simx) → run.log; </a:t>
                      </a:r>
                      <a:r>
                        <a:rPr sz="1000" b="0" i="0">
                          <a:solidFill>
                            <a:srgbClr val="000000"/>
                          </a:solidFill>
                          <a:latin typeface="Consolas"/>
                        </a:rPr>
                        <a:t>--no-vxdrv-start</a:t>
                      </a:r>
                      <a:r>
                        <a:rPr sz="1000" b="0" i="0">
                          <a:solidFill>
                            <a:srgbClr val="000000"/>
                          </a:solidFill>
                        </a:rPr>
                        <a:t> for RTL logs without the driver marker</a:t>
                      </a:r>
                    </a:p>
                  </a:txBody>
                  <a:tcPr marL="45720" marR="45720" marT="18288" marB="18288" anchor="ctr">
                    <a:solidFill>
                      <a:srgbClr val="FFFFFF"/>
                    </a:solidFill>
                  </a:tcPr>
                </a:tc>
              </a:tr>
              <a:tr h="384048">
                <a:tc>
                  <a:txBody>
                    <a:bodyPr wrap="square"/>
                    <a:lstStyle/>
                    <a:p>
                      <a:pPr algn="l"/>
                      <a:r>
                        <a:rPr sz="1000" b="0" i="0">
                          <a:solidFill>
                            <a:srgbClr val="000000"/>
                          </a:solidFill>
                        </a:rPr>
                        <a:t>waveforms</a:t>
                      </a:r>
                    </a:p>
                  </a:txBody>
                  <a:tcPr marL="45720" marR="45720" marT="18288" marB="18288" anchor="ctr">
                    <a:solidFill>
                      <a:srgbClr val="F2F6FA"/>
                    </a:solidFill>
                  </a:tcPr>
                </a:tc>
                <a:tc>
                  <a:txBody>
                    <a:bodyPr wrap="square"/>
                    <a:lstStyle/>
                    <a:p>
                      <a:pPr algn="l"/>
                      <a:r>
                        <a:rPr sz="1000" b="0" i="0">
                          <a:solidFill>
                            <a:srgbClr val="000000"/>
                          </a:solidFill>
                          <a:latin typeface="Consolas"/>
                        </a:rPr>
                        <a:t>--vcd [--vcd_file=…]</a:t>
                      </a:r>
                      <a:r>
                        <a:rPr sz="1000" b="0" i="0">
                          <a:solidFill>
                            <a:srgbClr val="000000"/>
                          </a:solidFill>
                        </a:rPr>
                        <a:t> independent of --debug</a:t>
                      </a:r>
                    </a:p>
                  </a:txBody>
                  <a:tcPr marL="45720" marR="45720" marT="18288" marB="18288" anchor="ctr">
                    <a:solidFill>
                      <a:srgbClr val="F2F6FA"/>
                    </a:solidFill>
                  </a:tcPr>
                </a:tc>
              </a:tr>
              <a:tr h="384048">
                <a:tc>
                  <a:txBody>
                    <a:bodyPr wrap="square"/>
                    <a:lstStyle/>
                    <a:p>
                      <a:pPr algn="l"/>
                      <a:r>
                        <a:rPr sz="1000" b="0" i="0">
                          <a:solidFill>
                            <a:srgbClr val="000000"/>
                          </a:solidFill>
                        </a:rPr>
                        <a:t>activity / power</a:t>
                      </a:r>
                    </a:p>
                  </a:txBody>
                  <a:tcPr marL="45720" marR="45720" marT="18288" marB="18288" anchor="ctr">
                    <a:solidFill>
                      <a:srgbClr val="FFFFFF"/>
                    </a:solidFill>
                  </a:tcPr>
                </a:tc>
                <a:tc>
                  <a:txBody>
                    <a:bodyPr wrap="square"/>
                    <a:lstStyle/>
                    <a:p>
                      <a:pPr algn="l"/>
                      <a:r>
                        <a:rPr sz="1000" b="0" i="0">
                          <a:solidFill>
                            <a:srgbClr val="000000"/>
                          </a:solidFill>
                          <a:latin typeface="Consolas"/>
                        </a:rPr>
                        <a:t>--saif [--saif_file=…]</a:t>
                      </a:r>
                      <a:r>
                        <a:rPr sz="1000" b="0" i="0">
                          <a:solidFill>
                            <a:srgbClr val="000000"/>
                          </a:solidFill>
                        </a:rPr>
                        <a:t> → Synopsys / Vivado power (SAIF_INST = DUT path)</a:t>
                      </a:r>
                    </a:p>
                  </a:txBody>
                  <a:tcPr marL="45720" marR="45720" marT="18288" marB="18288" anchor="ctr">
                    <a:solidFill>
                      <a:srgbClr val="FFFFFF"/>
                    </a:solidFill>
                  </a:tcPr>
                </a:tc>
              </a:tr>
              <a:tr h="384048">
                <a:tc>
                  <a:txBody>
                    <a:bodyPr wrap="square"/>
                    <a:lstStyle/>
                    <a:p>
                      <a:pPr algn="l"/>
                      <a:r>
                        <a:rPr sz="1000" b="0" i="0">
                          <a:solidFill>
                            <a:srgbClr val="000000"/>
                          </a:solidFill>
                        </a:rPr>
                        <a:t>counters</a:t>
                      </a:r>
                    </a:p>
                  </a:txBody>
                  <a:tcPr marL="45720" marR="45720" marT="18288" marB="18288" anchor="ctr">
                    <a:solidFill>
                      <a:srgbClr val="F2F6FA"/>
                    </a:solidFill>
                  </a:tcPr>
                </a:tc>
                <a:tc>
                  <a:txBody>
                    <a:bodyPr wrap="square"/>
                    <a:lstStyle/>
                    <a:p>
                      <a:pPr algn="l"/>
                      <a:r>
                        <a:rPr sz="1000" b="0" i="0">
                          <a:solidFill>
                            <a:srgbClr val="000000"/>
                          </a:solidFill>
                          <a:latin typeface="Consolas"/>
                        </a:rPr>
                        <a:t>--perf=&lt;class&gt;</a:t>
                      </a:r>
                      <a:r>
                        <a:rPr sz="1000" b="0" i="0">
                          <a:solidFill>
                            <a:srgbClr val="000000"/>
                          </a:solidFill>
                        </a:rPr>
                        <a:t> (MEM 7, RASTER 12, TEX 13, OM 14, RTU 15, DXA 16, …)</a:t>
                      </a:r>
                    </a:p>
                  </a:txBody>
                  <a:tcPr marL="45720" marR="45720" marT="18288" marB="18288" anchor="ctr">
                    <a:solidFill>
                      <a:srgbClr val="F2F6FA"/>
                    </a:solidFill>
                  </a:tcPr>
                </a:tc>
              </a:tr>
              <a:tr h="384048">
                <a:tc>
                  <a:txBody>
                    <a:bodyPr wrap="square"/>
                    <a:lstStyle/>
                    <a:p>
                      <a:pPr algn="l"/>
                      <a:r>
                        <a:rPr sz="1000" b="0" i="0">
                          <a:solidFill>
                            <a:srgbClr val="000000"/>
                          </a:solidFill>
                        </a:rPr>
                        <a:t>timeline</a:t>
                      </a:r>
                    </a:p>
                  </a:txBody>
                  <a:tcPr marL="45720" marR="45720" marT="18288" marB="18288" anchor="ctr">
                    <a:solidFill>
                      <a:srgbClr val="FFFFFF"/>
                    </a:solidFill>
                  </a:tcPr>
                </a:tc>
                <a:tc>
                  <a:txBody>
                    <a:bodyPr wrap="square"/>
                    <a:lstStyle/>
                    <a:p>
                      <a:pPr algn="l"/>
                      <a:r>
                        <a:rPr sz="1000" b="0" i="0">
                          <a:solidFill>
                            <a:srgbClr val="000000"/>
                          </a:solidFill>
                          <a:latin typeface="Consolas"/>
                        </a:rPr>
                        <a:t>ci/perfetto.py run.log -t simx|rtlsim -c -o trace.json.gz</a:t>
                      </a:r>
                      <a:r>
                        <a:rPr sz="1000" b="0" i="0">
                          <a:solidFill>
                            <a:srgbClr val="000000"/>
                          </a:solidFill>
                        </a:rPr>
                        <a:t> → Perfetto UI</a:t>
                      </a:r>
                    </a:p>
                  </a:txBody>
                  <a:tcPr marL="45720" marR="45720" marT="18288" marB="18288" anchor="ctr">
                    <a:solidFill>
                      <a:srgbClr val="FFFFFF"/>
                    </a:solidFill>
                  </a:tcPr>
                </a:tc>
              </a:tr>
              <a:tr h="384048">
                <a:tc>
                  <a:txBody>
                    <a:bodyPr wrap="square"/>
                    <a:lstStyle/>
                    <a:p>
                      <a:pPr algn="l"/>
                      <a:r>
                        <a:rPr sz="1000" b="0" i="0">
                          <a:solidFill>
                            <a:srgbClr val="000000"/>
                          </a:solidFill>
                        </a:rPr>
                        <a:t>printf</a:t>
                      </a:r>
                    </a:p>
                  </a:txBody>
                  <a:tcPr marL="45720" marR="45720" marT="18288" marB="18288" anchor="ctr">
                    <a:solidFill>
                      <a:srgbClr val="F2F6FA"/>
                    </a:solidFill>
                  </a:tcPr>
                </a:tc>
                <a:tc>
                  <a:txBody>
                    <a:bodyPr wrap="square"/>
                    <a:lstStyle/>
                    <a:p>
                      <a:pPr algn="l"/>
                      <a:r>
                        <a:rPr sz="1000" b="0" i="0">
                          <a:solidFill>
                            <a:srgbClr val="000000"/>
                          </a:solidFill>
                          <a:latin typeface="Consolas"/>
                        </a:rPr>
                        <a:t>vx_printf</a:t>
                      </a:r>
                      <a:r>
                        <a:rPr sz="1000" b="0" i="0">
                          <a:solidFill>
                            <a:srgbClr val="000000"/>
                          </a:solidFill>
                        </a:rPr>
                        <a:t> in kernels → host console via the runtime</a:t>
                      </a:r>
                    </a:p>
                  </a:txBody>
                  <a:tcPr marL="45720" marR="45720" marT="18288" marB="18288" anchor="ctr">
                    <a:solidFill>
                      <a:srgbClr val="F2F6FA"/>
                    </a:solidFill>
                  </a:tcPr>
                </a:tc>
              </a:tr>
              <a:tr h="384048">
                <a:tc>
                  <a:txBody>
                    <a:bodyPr wrap="square"/>
                    <a:lstStyle/>
                    <a:p>
                      <a:pPr algn="l"/>
                      <a:r>
                        <a:rPr sz="1000" b="0" i="0">
                          <a:solidFill>
                            <a:srgbClr val="000000"/>
                          </a:solidFill>
                        </a:rPr>
                        <a:t>ISA tests</a:t>
                      </a:r>
                    </a:p>
                  </a:txBody>
                  <a:tcPr marL="45720" marR="45720" marT="18288" marB="18288" anchor="ctr">
                    <a:solidFill>
                      <a:srgbClr val="FFFFFF"/>
                    </a:solidFill>
                  </a:tcPr>
                </a:tc>
                <a:tc>
                  <a:txBody>
                    <a:bodyPr wrap="square"/>
                    <a:lstStyle/>
                    <a:p>
                      <a:pPr algn="l"/>
                      <a:r>
                        <a:rPr sz="1000" b="0" i="0">
                          <a:solidFill>
                            <a:srgbClr val="000000"/>
                          </a:solidFill>
                        </a:rPr>
                        <a:t>riscv-tests built per XLEN on demand; ELF loader + HTIF tohost monitor (</a:t>
                      </a:r>
                      <a:r>
                        <a:rPr sz="1000" b="0" i="0">
                          <a:solidFill>
                            <a:srgbClr val="000000"/>
                          </a:solidFill>
                          <a:latin typeface="Consolas"/>
                        </a:rPr>
                        <a:t>run-{simx,rtlsim}-{32,64}[c]</a:t>
                      </a:r>
                      <a:r>
                        <a:rPr sz="1000" b="0" i="0">
                          <a:solidFill>
                            <a:srgbClr val="000000"/>
                          </a:solidFill>
                        </a:rPr>
                        <a:t>)</a:t>
                      </a:r>
                    </a:p>
                  </a:txBody>
                  <a:tcPr marL="45720" marR="45720" marT="18288" marB="18288" anchor="ctr">
                    <a:solidFill>
                      <a:srgbClr val="FFFFFF"/>
                    </a:solidFill>
                  </a:tcPr>
                </a:tc>
              </a:tr>
              <a:tr h="384048">
                <a:tc>
                  <a:txBody>
                    <a:bodyPr wrap="square"/>
                    <a:lstStyle/>
                    <a:p>
                      <a:pPr algn="l"/>
                      <a:r>
                        <a:rPr sz="1000" b="0" i="0">
                          <a:solidFill>
                            <a:srgbClr val="000000"/>
                          </a:solidFill>
                        </a:rPr>
                        <a:t>model diff</a:t>
                      </a:r>
                    </a:p>
                  </a:txBody>
                  <a:tcPr marL="45720" marR="45720" marT="18288" marB="18288" anchor="ctr">
                    <a:solidFill>
                      <a:srgbClr val="F2F6FA"/>
                    </a:solidFill>
                  </a:tcPr>
                </a:tc>
                <a:tc>
                  <a:txBody>
                    <a:bodyPr wrap="square"/>
                    <a:lstStyle/>
                    <a:p>
                      <a:pPr algn="l"/>
                      <a:r>
                        <a:rPr sz="1000" b="0" i="0">
                          <a:solidFill>
                            <a:srgbClr val="000000"/>
                          </a:solidFill>
                        </a:rPr>
                        <a:t>SimX-as-oracle: matching CSV trace dumps from SimX and RTL, diff → first divergence</a:t>
                      </a:r>
                    </a:p>
                  </a:txBody>
                  <a:tcPr marL="45720" marR="45720" marT="18288" marB="18288" anchor="ctr">
                    <a:solidFill>
                      <a:srgbClr val="F2F6FA"/>
                    </a:solidFill>
                  </a:tcPr>
                </a:tc>
              </a:tr>
              <a:tr h="384048">
                <a:tc>
                  <a:txBody>
                    <a:bodyPr wrap="square"/>
                    <a:lstStyle/>
                    <a:p>
                      <a:pPr algn="l"/>
                      <a:r>
                        <a:rPr sz="1000" b="0" i="0">
                          <a:solidFill>
                            <a:srgbClr val="000000"/>
                          </a:solidFill>
                        </a:rPr>
                        <a:t>bisection</a:t>
                      </a:r>
                    </a:p>
                  </a:txBody>
                  <a:tcPr marL="45720" marR="45720" marT="18288" marB="18288" anchor="ctr">
                    <a:solidFill>
                      <a:srgbClr val="FFFFFF"/>
                    </a:solidFill>
                  </a:tcPr>
                </a:tc>
                <a:tc>
                  <a:txBody>
                    <a:bodyPr wrap="square"/>
                    <a:lstStyle/>
                    <a:p>
                      <a:pPr algn="l"/>
                      <a:r>
                        <a:rPr sz="1000" b="0" i="0">
                          <a:solidFill>
                            <a:srgbClr val="000000"/>
                          </a:solidFill>
                          <a:latin typeface="Consolas"/>
                        </a:rPr>
                        <a:t>tinygpu</a:t>
                      </a:r>
                      <a:r>
                        <a:rPr sz="1000" b="0" i="0">
                          <a:solidFill>
                            <a:srgbClr val="000000"/>
                          </a:solidFill>
                        </a:rPr>
                        <a:t> profile (1 core, 2×2, no caches/LMEM) + sgemm to separate infra from core bugs</a:t>
                      </a:r>
                    </a:p>
                  </a:txBody>
                  <a:tcPr marL="45720" marR="45720" marT="18288" marB="18288"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Takeaways</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25880"/>
            <a:ext cx="1463040" cy="6400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300" b="1" i="0">
                <a:solidFill>
                  <a:srgbClr val="FFFFFF"/>
                </a:solidFill>
              </a:rPr>
              <a:t>Compiler</a:t>
            </a:r>
          </a:p>
        </p:txBody>
      </p:sp>
      <p:sp>
        <p:nvSpPr>
          <p:cNvPr id="6" name="TextBox 5"/>
          <p:cNvSpPr txBox="1"/>
          <p:nvPr/>
        </p:nvSpPr>
        <p:spPr>
          <a:xfrm>
            <a:off x="2377440" y="1325880"/>
            <a:ext cx="9144000" cy="640080"/>
          </a:xfrm>
          <a:prstGeom prst="rect">
            <a:avLst/>
          </a:prstGeom>
          <a:noFill/>
        </p:spPr>
        <p:txBody>
          <a:bodyPr wrap="square" lIns="27432" rIns="27432" tIns="27432" bIns="27432" anchor="ctr">
            <a:spAutoFit/>
          </a:bodyPr>
          <a:lstStyle/>
          <a:p>
            <a:pPr algn="l"/>
            <a:r>
              <a:rPr sz="1250" b="0" i="0">
                <a:solidFill>
                  <a:srgbClr val="000000"/>
                </a:solidFill>
              </a:rPr>
              <a:t>VOLT (LLVM 20 + Vortex RISC-V backend) sits under OpenCL, HIP, CUDA and Vulkan — covered in detail in the next talk</a:t>
            </a:r>
          </a:p>
        </p:txBody>
      </p:sp>
      <p:sp>
        <p:nvSpPr>
          <p:cNvPr id="7" name="Rectangle 6"/>
          <p:cNvSpPr/>
          <p:nvPr/>
        </p:nvSpPr>
        <p:spPr>
          <a:xfrm>
            <a:off x="731520" y="2103120"/>
            <a:ext cx="1463040" cy="6400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300" b="1" i="0">
                <a:solidFill>
                  <a:srgbClr val="FFFFFF"/>
                </a:solidFill>
              </a:rPr>
              <a:t>Kernel ABI</a:t>
            </a:r>
          </a:p>
        </p:txBody>
      </p:sp>
      <p:sp>
        <p:nvSpPr>
          <p:cNvPr id="8" name="TextBox 7"/>
          <p:cNvSpPr txBox="1"/>
          <p:nvPr/>
        </p:nvSpPr>
        <p:spPr>
          <a:xfrm>
            <a:off x="2377440" y="2103120"/>
            <a:ext cx="9144000" cy="640080"/>
          </a:xfrm>
          <a:prstGeom prst="rect">
            <a:avLst/>
          </a:prstGeom>
          <a:noFill/>
        </p:spPr>
        <p:txBody>
          <a:bodyPr wrap="square" lIns="27432" rIns="27432" tIns="27432" bIns="27432" anchor="ctr">
            <a:spAutoFit/>
          </a:bodyPr>
          <a:lstStyle/>
          <a:p>
            <a:pPr algn="l"/>
            <a:r>
              <a:rPr sz="1250" b="0" i="0">
                <a:solidFill>
                  <a:srgbClr val="000000"/>
                </a:solidFill>
              </a:rPr>
              <a:t>vx_spawn2.h __kernel (no callee-saved spills), CTA CSRs, split barriers, vx_tensor.h / vx_dxa.h; VXSYMTAB multi-kernel .vxbin</a:t>
            </a:r>
          </a:p>
        </p:txBody>
      </p:sp>
      <p:sp>
        <p:nvSpPr>
          <p:cNvPr id="9" name="Rectangle 8"/>
          <p:cNvSpPr/>
          <p:nvPr/>
        </p:nvSpPr>
        <p:spPr>
          <a:xfrm>
            <a:off x="731520" y="2880360"/>
            <a:ext cx="1463040" cy="6400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300" b="1" i="0">
                <a:solidFill>
                  <a:srgbClr val="FFFFFF"/>
                </a:solidFill>
              </a:rPr>
              <a:t>Runtime</a:t>
            </a:r>
          </a:p>
        </p:txBody>
      </p:sp>
      <p:sp>
        <p:nvSpPr>
          <p:cNvPr id="10" name="TextBox 9"/>
          <p:cNvSpPr txBox="1"/>
          <p:nvPr/>
        </p:nvSpPr>
        <p:spPr>
          <a:xfrm>
            <a:off x="2377440" y="2880360"/>
            <a:ext cx="9144000" cy="640080"/>
          </a:xfrm>
          <a:prstGeom prst="rect">
            <a:avLst/>
          </a:prstGeom>
          <a:noFill/>
        </p:spPr>
        <p:txBody>
          <a:bodyPr wrap="square" lIns="27432" rIns="27432" tIns="27432" bIns="27432" anchor="ctr">
            <a:spAutoFit/>
          </a:bodyPr>
          <a:lstStyle/>
          <a:p>
            <a:pPr algn="l"/>
            <a:r>
              <a:rPr sz="1250" b="0" i="0">
                <a:solidFill>
                  <a:srgbClr val="000000"/>
                </a:solidFill>
              </a:rPr>
              <a:t>vortex2.h: 6 handles, queues + timeline events, modules/kernels, UVA args over a host-resident CP ring; stub + VORTEX_DRIVER; SDK + pkg-config</a:t>
            </a:r>
          </a:p>
        </p:txBody>
      </p:sp>
      <p:sp>
        <p:nvSpPr>
          <p:cNvPr id="11" name="Rectangle 10"/>
          <p:cNvSpPr/>
          <p:nvPr/>
        </p:nvSpPr>
        <p:spPr>
          <a:xfrm>
            <a:off x="731520" y="3657600"/>
            <a:ext cx="1463040" cy="6400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300" b="1" i="0">
                <a:solidFill>
                  <a:srgbClr val="FFFFFF"/>
                </a:solidFill>
              </a:rPr>
              <a:t>Front ends</a:t>
            </a:r>
          </a:p>
        </p:txBody>
      </p:sp>
      <p:sp>
        <p:nvSpPr>
          <p:cNvPr id="12" name="TextBox 11"/>
          <p:cNvSpPr txBox="1"/>
          <p:nvPr/>
        </p:nvSpPr>
        <p:spPr>
          <a:xfrm>
            <a:off x="2377440" y="3657600"/>
            <a:ext cx="9144000" cy="640080"/>
          </a:xfrm>
          <a:prstGeom prst="rect">
            <a:avLst/>
          </a:prstGeom>
          <a:noFill/>
        </p:spPr>
        <p:txBody>
          <a:bodyPr wrap="square" lIns="27432" rIns="27432" tIns="27432" bIns="27432" anchor="ctr">
            <a:spAutoFit/>
          </a:bodyPr>
          <a:lstStyle/>
          <a:p>
            <a:pPr algn="l"/>
            <a:r>
              <a:rPr sz="1250" b="0" i="0">
                <a:solidFill>
                  <a:srgbClr val="000000"/>
                </a:solidFill>
              </a:rPr>
              <a:t>PoCL 7.0 (ICD-only, async worker, images on TEX, Rodinia), chipStar HIP on rv32 + rv64, vortexpipe Vulkan from NIR</a:t>
            </a:r>
          </a:p>
        </p:txBody>
      </p:sp>
      <p:sp>
        <p:nvSpPr>
          <p:cNvPr id="13" name="Rectangle 12"/>
          <p:cNvSpPr/>
          <p:nvPr/>
        </p:nvSpPr>
        <p:spPr>
          <a:xfrm>
            <a:off x="731520" y="4434840"/>
            <a:ext cx="1463040" cy="6400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300" b="1" i="0">
                <a:solidFill>
                  <a:srgbClr val="FFFFFF"/>
                </a:solidFill>
              </a:rPr>
              <a:t>Config / sim</a:t>
            </a:r>
          </a:p>
        </p:txBody>
      </p:sp>
      <p:sp>
        <p:nvSpPr>
          <p:cNvPr id="14" name="TextBox 13"/>
          <p:cNvSpPr txBox="1"/>
          <p:nvPr/>
        </p:nvSpPr>
        <p:spPr>
          <a:xfrm>
            <a:off x="2377440" y="4434840"/>
            <a:ext cx="9144000" cy="640080"/>
          </a:xfrm>
          <a:prstGeom prst="rect">
            <a:avLst/>
          </a:prstGeom>
          <a:noFill/>
        </p:spPr>
        <p:txBody>
          <a:bodyPr wrap="square" lIns="27432" rIns="27432" tIns="27432" bIns="27432" anchor="ctr">
            <a:spAutoFit/>
          </a:bodyPr>
          <a:lstStyle/>
          <a:p>
            <a:pPr algn="l"/>
            <a:r>
              <a:rPr sz="1250" b="0" i="0">
                <a:solidFill>
                  <a:srgbClr val="000000"/>
                </a:solidFill>
              </a:rPr>
              <a:t>VX_config.toml + VX_types.toml single source; simx (RTL twin), rtlsim, gem5, SST, FireSim selected by VORTEX_DRIVER</a:t>
            </a:r>
          </a:p>
        </p:txBody>
      </p:sp>
      <p:sp>
        <p:nvSpPr>
          <p:cNvPr id="15" name="Rectangle 14"/>
          <p:cNvSpPr/>
          <p:nvPr/>
        </p:nvSpPr>
        <p:spPr>
          <a:xfrm>
            <a:off x="731520" y="5212080"/>
            <a:ext cx="1463040" cy="640080"/>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300" b="1" i="0">
                <a:solidFill>
                  <a:srgbClr val="FFFFFF"/>
                </a:solidFill>
              </a:rPr>
              <a:t>CI</a:t>
            </a:r>
          </a:p>
        </p:txBody>
      </p:sp>
      <p:sp>
        <p:nvSpPr>
          <p:cNvPr id="16" name="TextBox 15"/>
          <p:cNvSpPr txBox="1"/>
          <p:nvPr/>
        </p:nvSpPr>
        <p:spPr>
          <a:xfrm>
            <a:off x="2377440" y="5212080"/>
            <a:ext cx="9144000" cy="640080"/>
          </a:xfrm>
          <a:prstGeom prst="rect">
            <a:avLst/>
          </a:prstGeom>
          <a:noFill/>
        </p:spPr>
        <p:txBody>
          <a:bodyPr wrap="square" lIns="27432" rIns="27432" tIns="27432" bIns="27432" anchor="ctr">
            <a:spAutoFit/>
          </a:bodyPr>
          <a:lstStyle/>
          <a:p>
            <a:pPr algn="l"/>
            <a:r>
              <a:rPr sz="1250" b="0" i="0">
                <a:solidFill>
                  <a:srgbClr val="000000"/>
                </a:solidFill>
              </a:rPr>
              <a:t>648 catalogued cases, pytest + GitHub matrix; model_parity, perf_gate ±2%, fpga_gate / asic_gate ±5%; Perfetto timelines from any log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TextBox 4"/>
          <p:cNvSpPr txBox="1"/>
          <p:nvPr/>
        </p:nvSpPr>
        <p:spPr>
          <a:xfrm>
            <a:off x="3200400" y="2377440"/>
            <a:ext cx="5760720" cy="914400"/>
          </a:xfrm>
          <a:prstGeom prst="rect">
            <a:avLst/>
          </a:prstGeom>
          <a:noFill/>
        </p:spPr>
        <p:txBody>
          <a:bodyPr wrap="square" lIns="27432" rIns="27432" tIns="27432" bIns="27432" anchor="t">
            <a:spAutoFit/>
          </a:bodyPr>
          <a:lstStyle/>
          <a:p>
            <a:pPr algn="ctr"/>
            <a:r>
              <a:rPr sz="4800" b="1" i="0">
                <a:solidFill>
                  <a:srgbClr val="000000"/>
                </a:solidFill>
              </a:rPr>
              <a:t>Thank You!</a:t>
            </a:r>
          </a:p>
        </p:txBody>
      </p:sp>
      <p:sp>
        <p:nvSpPr>
          <p:cNvPr id="6" name="TextBox 5"/>
          <p:cNvSpPr txBox="1"/>
          <p:nvPr/>
        </p:nvSpPr>
        <p:spPr>
          <a:xfrm>
            <a:off x="1828800" y="3657600"/>
            <a:ext cx="8503920" cy="1828800"/>
          </a:xfrm>
          <a:prstGeom prst="rect">
            <a:avLst/>
          </a:prstGeom>
          <a:noFill/>
        </p:spPr>
        <p:txBody>
          <a:bodyPr wrap="square" lIns="27432" rIns="27432" tIns="27432" bIns="27432" anchor="t">
            <a:spAutoFit/>
          </a:bodyPr>
          <a:lstStyle/>
          <a:p>
            <a:pPr algn="ctr"/>
            <a:r>
              <a:rPr sz="1600" b="0" i="0">
                <a:solidFill>
                  <a:srgbClr val="2774AE"/>
                </a:solidFill>
              </a:rPr>
              <a:t>https://github.com/vortexgpgpu/vortex · pocl · chipStar · mesa</a:t>
            </a:r>
          </a:p>
          <a:p>
            <a:pPr algn="ctr"/>
            <a:r>
              <a:rPr sz="1600" b="0" i="0">
                <a:solidFill>
                  <a:srgbClr val="2774AE"/>
                </a:solidFill>
              </a:rPr>
              <a:t>docs/designs: opencl_on_vortex · hip_on_vortex_chipstar · vortex_runtime_api · simx_simulator_architecture · continuous_integration</a:t>
            </a:r>
          </a:p>
          <a:p>
            <a:pPr algn="ctr"/>
            <a:r>
              <a:rPr sz="1600" b="0" i="0">
                <a:solidFill>
                  <a:srgbClr val="2774AE"/>
                </a:solidFill>
              </a:rPr>
              <a:t>docs: perfetto_analysis.md · simulation.md · testing.md · AGENTS.md</a:t>
            </a:r>
          </a:p>
        </p:txBody>
      </p:sp>
    </p:spTree>
  </p:cSld>
  <p:clrMapOvr>
    <a:masterClrMapping/>
  </p:clrMapOvr>
</p:sld>
</file>

<file path=ppt/theme/theme1.xml><?xml version="1.0" encoding="utf-8"?>
<a:theme xmlns:a="http://schemas.openxmlformats.org/drawingml/2006/main" name="UCLA_Vortex">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UCLA_Vortex" id="{9375EB92-862B-4916-93E0-C0B37A2663F6}" vid="{6B966FCB-53A6-490C-8810-DF8FB9A37D9B}"/>
    </a:ext>
  </a:extLst>
</a:theme>
</file>

<file path=ppt/theme/theme2.xml><?xml version="1.0" encoding="utf-8"?>
<a:theme xmlns:a="http://schemas.openxmlformats.org/drawingml/2006/main" name="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29398D0B-90C9-544C-A6FC-AE19BFCCC692}" vid="{F69EEA45-44B6-3944-BC30-5A6DA2629FF5}"/>
    </a:ext>
  </a:extLst>
</a:theme>
</file>

<file path=ppt/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1_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29398D0B-90C9-544C-A6FC-AE19BFCCC692}" vid="{F69EEA45-44B6-3944-BC30-5A6DA2629FF5}"/>
    </a:ext>
  </a:extLst>
</a:theme>
</file>

<file path=ppt/theme/theme5.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6.xml><?xml version="1.0" encoding="utf-8"?>
<a:theme xmlns:a="http://schemas.openxmlformats.org/drawingml/2006/main" name="2_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29398D0B-90C9-544C-A6FC-AE19BFCCC692}" vid="{F69EEA45-44B6-3944-BC30-5A6DA2629FF5}"/>
    </a:ext>
  </a:extLst>
</a:theme>
</file>

<file path=ppt/theme/theme7.xml><?xml version="1.0" encoding="utf-8"?>
<a:theme xmlns:a="http://schemas.openxmlformats.org/drawingml/2006/main" name="2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8.xml><?xml version="1.0" encoding="utf-8"?>
<a:theme xmlns:a="http://schemas.openxmlformats.org/drawingml/2006/main" name="3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FB5C5C43C8E84ABE433E05E59A4B5B" ma:contentTypeVersion="18" ma:contentTypeDescription="Create a new document." ma:contentTypeScope="" ma:versionID="63a7a3aebf17c7c9242822f200b38eb6">
  <xsd:schema xmlns:xsd="http://www.w3.org/2001/XMLSchema" xmlns:xs="http://www.w3.org/2001/XMLSchema" xmlns:p="http://schemas.microsoft.com/office/2006/metadata/properties" xmlns:ns2="f01fee57-14a4-4fb3-a7a7-17af854556b0" xmlns:ns3="703aaed8-5f35-4ebd-8684-7d64e521d80b" targetNamespace="http://schemas.microsoft.com/office/2006/metadata/properties" ma:root="true" ma:fieldsID="b7aad06b7d8759478fbf08495ee7c7bd" ns2:_="" ns3:_="">
    <xsd:import namespace="f01fee57-14a4-4fb3-a7a7-17af854556b0"/>
    <xsd:import namespace="703aaed8-5f35-4ebd-8684-7d64e521d80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1fee57-14a4-4fb3-a7a7-17af854556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c2506c3-735d-4e70-aa79-204d06275b9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3aaed8-5f35-4ebd-8684-7d64e521d80b"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d8e6f15-7c59-437e-bc44-2b236e666d5f}" ma:internalName="TaxCatchAll" ma:showField="CatchAllData" ma:web="703aaed8-5f35-4ebd-8684-7d64e521d8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3aaed8-5f35-4ebd-8684-7d64e521d80b" xsi:nil="true"/>
    <lcf76f155ced4ddcb4097134ff3c332f xmlns="f01fee57-14a4-4fb3-a7a7-17af854556b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EE536E-B3DF-406A-8F80-1335CE8182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1fee57-14a4-4fb3-a7a7-17af854556b0"/>
    <ds:schemaRef ds:uri="703aaed8-5f35-4ebd-8684-7d64e521d8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4D5221C-16B5-484F-810B-94003F3E1D80}">
  <ds:schemaRefs>
    <ds:schemaRef ds:uri="http://schemas.microsoft.com/office/2006/metadata/properties"/>
    <ds:schemaRef ds:uri="http://schemas.microsoft.com/office/infopath/2007/PartnerControls"/>
    <ds:schemaRef ds:uri="703aaed8-5f35-4ebd-8684-7d64e521d80b"/>
    <ds:schemaRef ds:uri="f01fee57-14a4-4fb3-a7a7-17af854556b0"/>
  </ds:schemaRefs>
</ds:datastoreItem>
</file>

<file path=customXml/itemProps3.xml><?xml version="1.0" encoding="utf-8"?>
<ds:datastoreItem xmlns:ds="http://schemas.openxmlformats.org/officeDocument/2006/customXml" ds:itemID="{C242DC33-4890-45EF-929E-C505358E6A8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6584</TotalTime>
  <Words>1217</Words>
  <Application>Microsoft Office PowerPoint</Application>
  <PresentationFormat>Widescreen</PresentationFormat>
  <Paragraphs>330</Paragraphs>
  <Slides>23</Slides>
  <Notes>19</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23</vt:i4>
      </vt:variant>
    </vt:vector>
  </HeadingPairs>
  <TitlesOfParts>
    <vt:vector size="39" baseType="lpstr">
      <vt:lpstr>Helvetica Regular</vt:lpstr>
      <vt:lpstr>Calibri</vt:lpstr>
      <vt:lpstr>Wingdings 3</vt:lpstr>
      <vt:lpstr>Tahoma</vt:lpstr>
      <vt:lpstr>Arial</vt:lpstr>
      <vt:lpstr>Trebuchet MS</vt:lpstr>
      <vt:lpstr>Helvetica</vt:lpstr>
      <vt:lpstr>Times New Roman</vt:lpstr>
      <vt:lpstr>UCLA_Vortex</vt:lpstr>
      <vt:lpstr>presentation-01-dark</vt:lpstr>
      <vt:lpstr>Facet</vt:lpstr>
      <vt:lpstr>1_presentation-01-dark</vt:lpstr>
      <vt:lpstr>1_Facet</vt:lpstr>
      <vt:lpstr>2_presentation-01-dark</vt:lpstr>
      <vt:lpstr>2_Facet</vt:lpstr>
      <vt:lpstr>3_Facet</vt:lpstr>
      <vt:lpstr>Vortex Microarchitecture</vt:lpstr>
      <vt:lpstr>Agenda</vt:lpstr>
      <vt:lpstr>Vortex GPGPU Platform</vt:lpstr>
      <vt:lpstr>Vortex GPGPU Platform (Skybox)</vt:lpstr>
      <vt:lpstr>RISC-V ISA Extension for Vortex</vt:lpstr>
      <vt:lpstr>Vortex GPU Microarchitecture</vt:lpstr>
      <vt:lpstr>Vortex GPU Microarchitecture (2)</vt:lpstr>
      <vt:lpstr>Vortex GPU Microarchitecture (3)</vt:lpstr>
      <vt:lpstr>Vortex GPU Microarchitecture (4)</vt:lpstr>
      <vt:lpstr>Vortex GPU Microarchitecture (5)</vt:lpstr>
      <vt:lpstr>Vortex GPU Microarchitecture (6)</vt:lpstr>
      <vt:lpstr>Vortex GPU Microarchitecture (7)</vt:lpstr>
      <vt:lpstr>GPU Hierarchical Clustering</vt:lpstr>
      <vt:lpstr>Execute Stage</vt:lpstr>
      <vt:lpstr>Compute Scaling</vt:lpstr>
      <vt:lpstr>Memory Scaling</vt:lpstr>
      <vt:lpstr>Vortex High-bandwidth Caches</vt:lpstr>
      <vt:lpstr>Tensor Cores</vt:lpstr>
      <vt:lpstr>Vortex Tensor API</vt:lpstr>
      <vt:lpstr>Pipeline Extension for Tensor Cores</vt:lpstr>
      <vt:lpstr>Tensor Core Microarchitecture</vt:lpstr>
      <vt:lpstr>Tensor Core Performance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Vortex 2.0: A Scalable  Reconfigurable RISC-V GPU Accelerator for Architecture Research</dc:title>
  <dc:creator>Microsoft Office User</dc:creator>
  <cp:lastModifiedBy>Blaise Tine</cp:lastModifiedBy>
  <cp:revision>206</cp:revision>
  <dcterms:created xsi:type="dcterms:W3CDTF">2017-09-19T22:16:54Z</dcterms:created>
  <dcterms:modified xsi:type="dcterms:W3CDTF">2025-10-17T22:23:58Z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0x010100AAFB5C5C43C8E84ABE433E05E59A4B5B</vt:lpwstr>
  </property>
  <property fmtid="{D5CDD505-2E9C-101B-9397-08002B2CF9AE}" pid="3" name="MediaServiceImageTags">
    <vt:lpwstr/>
  </property>
</Properties>
</file>