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  <p:sldMasterId id="2147483685" r:id="rId5"/>
  </p:sldMasterIdLst>
  <p:notesMasterIdLst>
    <p:notesMasterId r:id="rId12"/>
  </p:notesMasterIdLst>
  <p:handoutMasterIdLst>
    <p:handoutMasterId r:id="rId13"/>
  </p:handoutMasterIdLst>
  <p:sldIdLst>
    <p:sldId id="407" r:id="rId6"/>
    <p:sldId id="426" r:id="rId7"/>
    <p:sldId id="427" r:id="rId8"/>
    <p:sldId id="430" r:id="rId9"/>
    <p:sldId id="428" r:id="rId10"/>
    <p:sldId id="42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9FCA95-D3CF-4335-9E23-4737194FAEA4}" v="293" dt="2021-10-18T00:49:45.243"/>
    <p1510:client id="{2C2F6A3D-6348-4618-A450-8279D753B902}" v="161" dt="2021-10-18T10:50:51.0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900"/>
    <p:restoredTop sz="91644"/>
  </p:normalViewPr>
  <p:slideViewPr>
    <p:cSldViewPr snapToGrid="0" snapToObjects="1">
      <p:cViewPr>
        <p:scale>
          <a:sx n="116" d="100"/>
          <a:sy n="116" d="100"/>
        </p:scale>
        <p:origin x="808" y="184"/>
      </p:cViewPr>
      <p:guideLst>
        <p:guide orient="horz" pos="218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932E0-F164-2746-ADA5-4F45859D8893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A0549-2593-E740-81BC-90E21FA17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208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372BE-B13D-B048-A865-72B4BC4A8D17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14CFA2-CD22-B144-B67C-1C6D7FE7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29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latin typeface="AUdimat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D1E68D3-4850-4A37-928D-311967714178}" type="slidenum">
              <a:rPr lang="en-US">
                <a:solidFill>
                  <a:srgbClr val="808080"/>
                </a:solidFill>
                <a:latin typeface="AUdimat"/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  <a:latin typeface="AUdimat"/>
            </a:endParaRPr>
          </a:p>
        </p:txBody>
      </p:sp>
    </p:spTree>
    <p:extLst>
      <p:ext uri="{BB962C8B-B14F-4D97-AF65-F5344CB8AC3E}">
        <p14:creationId xmlns:p14="http://schemas.microsoft.com/office/powerpoint/2010/main" val="186617222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latin typeface="AUdimat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2C425F6-CA7B-4977-8DCE-0B0DAF9AC9E5}" type="slidenum">
              <a:rPr lang="en-US">
                <a:solidFill>
                  <a:srgbClr val="808080"/>
                </a:solidFill>
                <a:latin typeface="AUdimat"/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  <a:latin typeface="AUdimat"/>
            </a:endParaRPr>
          </a:p>
        </p:txBody>
      </p:sp>
    </p:spTree>
    <p:extLst>
      <p:ext uri="{BB962C8B-B14F-4D97-AF65-F5344CB8AC3E}">
        <p14:creationId xmlns:p14="http://schemas.microsoft.com/office/powerpoint/2010/main" val="146713017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latin typeface="AUdimat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350E68E-62F3-417D-AA9C-E2C977939157}" type="slidenum">
              <a:rPr lang="en-US">
                <a:solidFill>
                  <a:srgbClr val="808080"/>
                </a:solidFill>
                <a:latin typeface="AUdimat"/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  <a:latin typeface="AUdimat"/>
            </a:endParaRPr>
          </a:p>
        </p:txBody>
      </p:sp>
    </p:spTree>
    <p:extLst>
      <p:ext uri="{BB962C8B-B14F-4D97-AF65-F5344CB8AC3E}">
        <p14:creationId xmlns:p14="http://schemas.microsoft.com/office/powerpoint/2010/main" val="90854889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8463" y="1303338"/>
            <a:ext cx="4097337" cy="5010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03338"/>
            <a:ext cx="4097338" cy="5010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latin typeface="AUdimat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D07F053-8107-46B7-A652-BFA4BD89CBB0}" type="slidenum">
              <a:rPr lang="en-US">
                <a:solidFill>
                  <a:srgbClr val="808080"/>
                </a:solidFill>
                <a:latin typeface="AUdimat"/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  <a:latin typeface="AUdimat"/>
            </a:endParaRPr>
          </a:p>
        </p:txBody>
      </p:sp>
    </p:spTree>
    <p:extLst>
      <p:ext uri="{BB962C8B-B14F-4D97-AF65-F5344CB8AC3E}">
        <p14:creationId xmlns:p14="http://schemas.microsoft.com/office/powerpoint/2010/main" val="277136562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latin typeface="AUdimat"/>
              </a:rPr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09F3E17-C077-44AB-ADB4-BEDAC0AAB746}" type="slidenum">
              <a:rPr lang="en-US">
                <a:solidFill>
                  <a:srgbClr val="808080"/>
                </a:solidFill>
                <a:latin typeface="AUdimat"/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  <a:latin typeface="AUdimat"/>
            </a:endParaRPr>
          </a:p>
        </p:txBody>
      </p:sp>
    </p:spTree>
    <p:extLst>
      <p:ext uri="{BB962C8B-B14F-4D97-AF65-F5344CB8AC3E}">
        <p14:creationId xmlns:p14="http://schemas.microsoft.com/office/powerpoint/2010/main" val="283299075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latin typeface="AUdimat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4C99C5E-06A2-42B6-8ED0-480CEB160FE6}" type="slidenum">
              <a:rPr lang="en-US">
                <a:solidFill>
                  <a:srgbClr val="808080"/>
                </a:solidFill>
                <a:latin typeface="AUdimat"/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  <a:latin typeface="AUdimat"/>
            </a:endParaRPr>
          </a:p>
        </p:txBody>
      </p:sp>
    </p:spTree>
    <p:extLst>
      <p:ext uri="{BB962C8B-B14F-4D97-AF65-F5344CB8AC3E}">
        <p14:creationId xmlns:p14="http://schemas.microsoft.com/office/powerpoint/2010/main" val="366266451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latin typeface="AUdimat"/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935EF8E-4697-4D3A-A2CC-907320EFDC7C}" type="slidenum">
              <a:rPr lang="en-US">
                <a:solidFill>
                  <a:srgbClr val="808080"/>
                </a:solidFill>
                <a:latin typeface="AUdimat"/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  <a:latin typeface="AUdimat"/>
            </a:endParaRPr>
          </a:p>
        </p:txBody>
      </p:sp>
    </p:spTree>
    <p:extLst>
      <p:ext uri="{BB962C8B-B14F-4D97-AF65-F5344CB8AC3E}">
        <p14:creationId xmlns:p14="http://schemas.microsoft.com/office/powerpoint/2010/main" val="393172798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latin typeface="AUdimat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4BE3028-DE42-4D30-A215-8BC2FBE4C680}" type="slidenum">
              <a:rPr lang="en-US">
                <a:solidFill>
                  <a:srgbClr val="808080"/>
                </a:solidFill>
                <a:latin typeface="AUdimat"/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  <a:latin typeface="AUdimat"/>
            </a:endParaRPr>
          </a:p>
        </p:txBody>
      </p:sp>
    </p:spTree>
    <p:extLst>
      <p:ext uri="{BB962C8B-B14F-4D97-AF65-F5344CB8AC3E}">
        <p14:creationId xmlns:p14="http://schemas.microsoft.com/office/powerpoint/2010/main" val="82982254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latin typeface="AUdimat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C1CDC6B-383D-4907-803F-9B0CF9772B4D}" type="slidenum">
              <a:rPr lang="en-US">
                <a:solidFill>
                  <a:srgbClr val="808080"/>
                </a:solidFill>
                <a:latin typeface="AUdimat"/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  <a:latin typeface="AUdimat"/>
            </a:endParaRPr>
          </a:p>
        </p:txBody>
      </p:sp>
    </p:spTree>
    <p:extLst>
      <p:ext uri="{BB962C8B-B14F-4D97-AF65-F5344CB8AC3E}">
        <p14:creationId xmlns:p14="http://schemas.microsoft.com/office/powerpoint/2010/main" val="289798791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latin typeface="AUdimat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EF170F5-5B3A-46D3-A9EF-01506258B58C}" type="slidenum">
              <a:rPr lang="en-US">
                <a:solidFill>
                  <a:srgbClr val="808080"/>
                </a:solidFill>
                <a:latin typeface="AUdimat"/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  <a:latin typeface="AUdimat"/>
            </a:endParaRPr>
          </a:p>
        </p:txBody>
      </p:sp>
    </p:spTree>
    <p:extLst>
      <p:ext uri="{BB962C8B-B14F-4D97-AF65-F5344CB8AC3E}">
        <p14:creationId xmlns:p14="http://schemas.microsoft.com/office/powerpoint/2010/main" val="199347110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0513" y="317500"/>
            <a:ext cx="2105025" cy="59959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2263" y="317500"/>
            <a:ext cx="6165850" cy="59959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  <a:latin typeface="AUdimat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48CC6DC-B4BA-4983-A231-FA2D153B122B}" type="slidenum">
              <a:rPr lang="en-US">
                <a:solidFill>
                  <a:srgbClr val="808080"/>
                </a:solidFill>
                <a:latin typeface="AUdimat"/>
              </a:rPr>
              <a:pPr>
                <a:defRPr/>
              </a:pPr>
              <a:t>‹#›</a:t>
            </a:fld>
            <a:endParaRPr lang="en-US">
              <a:solidFill>
                <a:srgbClr val="808080"/>
              </a:solidFill>
              <a:latin typeface="AUdimat"/>
            </a:endParaRPr>
          </a:p>
        </p:txBody>
      </p:sp>
    </p:spTree>
    <p:extLst>
      <p:ext uri="{BB962C8B-B14F-4D97-AF65-F5344CB8AC3E}">
        <p14:creationId xmlns:p14="http://schemas.microsoft.com/office/powerpoint/2010/main" val="421221105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263" y="317500"/>
            <a:ext cx="8229600" cy="758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98463" y="1303338"/>
            <a:ext cx="8347075" cy="501015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687513" y="6616700"/>
            <a:ext cx="4024312" cy="165100"/>
          </a:xfrm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  <a:latin typeface="AUdimat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291513" y="6616700"/>
            <a:ext cx="606425" cy="152400"/>
          </a:xfrm>
        </p:spPr>
        <p:txBody>
          <a:bodyPr/>
          <a:lstStyle>
            <a:lvl1pPr>
              <a:defRPr/>
            </a:lvl1pPr>
          </a:lstStyle>
          <a:p>
            <a:fld id="{56C072D9-B0D5-4508-8C5B-0B0D14CCF1DD}" type="slidenum">
              <a:rPr lang="en-US">
                <a:solidFill>
                  <a:srgbClr val="808080"/>
                </a:solidFill>
                <a:latin typeface="AUdimat"/>
              </a:rPr>
              <a:pPr/>
              <a:t>‹#›</a:t>
            </a:fld>
            <a:endParaRPr lang="en-US">
              <a:solidFill>
                <a:srgbClr val="808080"/>
              </a:solidFill>
              <a:latin typeface="AUdimat"/>
            </a:endParaRPr>
          </a:p>
        </p:txBody>
      </p:sp>
    </p:spTree>
    <p:extLst>
      <p:ext uri="{BB962C8B-B14F-4D97-AF65-F5344CB8AC3E}">
        <p14:creationId xmlns:p14="http://schemas.microsoft.com/office/powerpoint/2010/main" val="412972623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7620000" cy="1219200"/>
          </a:xfrm>
        </p:spPr>
        <p:txBody>
          <a:bodyPr anchor="ctr" anchorCtr="0">
            <a:normAutofit/>
          </a:bodyPr>
          <a:lstStyle>
            <a:lvl1pPr algn="ctr">
              <a:defRPr sz="4000">
                <a:ln w="9000" cmpd="sng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  <a:effectLst/>
                <a:latin typeface="Corbel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8000" y="4648200"/>
            <a:ext cx="6096000" cy="914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dirty="0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>
              <a:solidFill>
                <a:srgbClr val="465E9C"/>
              </a:solidFill>
              <a:latin typeface="Tahoma"/>
              <a:ea typeface="맑은 고딕"/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36F63085-4905-477F-9B03-95852450F900}" type="slidenum">
              <a:rPr lang="en-US" smtClean="0">
                <a:solidFill>
                  <a:prstClr val="black"/>
                </a:solidFill>
                <a:latin typeface="Tahoma"/>
                <a:ea typeface="맑은 고딕"/>
              </a:rPr>
              <a:pPr/>
              <a:t>‹#›</a:t>
            </a:fld>
            <a:endParaRPr lang="en-US">
              <a:solidFill>
                <a:prstClr val="black"/>
              </a:solidFill>
              <a:latin typeface="Tahoma"/>
              <a:ea typeface="맑은 고딕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40AC8EF6-C910-42DE-47A5-0FA13EBCF5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84673" y="5043586"/>
            <a:ext cx="1563327" cy="131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43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n w="9000" cmpd="sng">
                  <a:solidFill>
                    <a:schemeClr val="bg2">
                      <a:lumMod val="2500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2000" y="767567"/>
            <a:ext cx="762000" cy="228600"/>
          </a:xfrm>
        </p:spPr>
        <p:txBody>
          <a:bodyPr/>
          <a:lstStyle>
            <a:lvl1pPr algn="ctr">
              <a:defRPr sz="1050" b="1" cap="none" spc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36F63085-4905-477F-9B03-95852450F900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r>
              <a:rPr lang="en-US" dirty="0">
                <a:solidFill>
                  <a:prstClr val="black"/>
                </a:solidFill>
              </a:rPr>
              <a:t>/75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228600" y="1143000"/>
            <a:ext cx="8686800" cy="5181600"/>
          </a:xfrm>
        </p:spPr>
        <p:txBody>
          <a:bodyPr>
            <a:normAutofit/>
          </a:bodyPr>
          <a:lstStyle>
            <a:lvl1pPr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defRPr sz="18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defRPr sz="16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4F685048-7305-6F47-2C25-33F55F68AD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341040"/>
            <a:ext cx="616226" cy="51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5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19200" y="2971800"/>
            <a:ext cx="6858000" cy="1066800"/>
          </a:xfrm>
        </p:spPr>
        <p:txBody>
          <a:bodyPr anchor="ctr" anchorCtr="0"/>
          <a:lstStyle>
            <a:lvl1pPr algn="r">
              <a:buNone/>
              <a:defRPr sz="3200" b="1" cap="none" spc="0" baseline="0">
                <a:ln w="9000" cmpd="sng">
                  <a:solidFill>
                    <a:schemeClr val="bg2">
                      <a:lumMod val="2500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>
              <a:solidFill>
                <a:srgbClr val="CCDDEA"/>
              </a:solidFill>
              <a:latin typeface="Tahoma"/>
              <a:ea typeface="맑은 고딕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36F63085-4905-477F-9B03-95852450F900}" type="slidenum">
              <a:rPr lang="en-US" smtClean="0">
                <a:solidFill>
                  <a:prstClr val="white"/>
                </a:solidFill>
                <a:latin typeface="Tahoma"/>
                <a:ea typeface="맑은 고딕"/>
              </a:rPr>
              <a:pPr/>
              <a:t>‹#›</a:t>
            </a:fld>
            <a:endParaRPr lang="en-US">
              <a:solidFill>
                <a:prstClr val="white"/>
              </a:solidFill>
              <a:latin typeface="Tahoma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>
              <a:solidFill>
                <a:prstClr val="white"/>
              </a:solidFill>
              <a:latin typeface="Tahoma"/>
              <a:ea typeface="맑은 고딕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bg2">
              <a:lumMod val="50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>
              <a:ln>
                <a:solidFill>
                  <a:srgbClr val="465E9C">
                    <a:lumMod val="25000"/>
                  </a:srgbClr>
                </a:solidFill>
              </a:ln>
              <a:solidFill>
                <a:srgbClr val="465E9C">
                  <a:lumMod val="25000"/>
                </a:srgbClr>
              </a:solidFill>
              <a:latin typeface="Tahoma"/>
              <a:ea typeface="맑은 고딕"/>
            </a:endParaRP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833B3BEF-D2BC-0610-992E-E1B726A43D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341040"/>
            <a:ext cx="616226" cy="51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973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srgbClr val="465E9C"/>
              </a:solidFill>
              <a:latin typeface="Tahoma"/>
              <a:ea typeface="맑은 고딕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28600" y="1143000"/>
            <a:ext cx="4270248" cy="501396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143000"/>
            <a:ext cx="4283202" cy="50109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458200" cy="838200"/>
          </a:xfrm>
        </p:spPr>
        <p:txBody>
          <a:bodyPr/>
          <a:lstStyle>
            <a:lvl1pPr>
              <a:defRPr>
                <a:ln w="9000" cmpd="sng">
                  <a:solidFill>
                    <a:schemeClr val="bg2">
                      <a:lumMod val="2500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2000" y="767567"/>
            <a:ext cx="762000" cy="228600"/>
          </a:xfrm>
        </p:spPr>
        <p:txBody>
          <a:bodyPr/>
          <a:lstStyle>
            <a:lvl1pPr algn="ctr">
              <a:defRPr sz="1050" b="1" cap="none" spc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36F63085-4905-477F-9B03-95852450F900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r>
              <a:rPr lang="en-US" dirty="0">
                <a:solidFill>
                  <a:prstClr val="black"/>
                </a:solidFill>
              </a:rPr>
              <a:t>/75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4F6F5AF-CD47-BA20-A5F5-B46A470052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341040"/>
            <a:ext cx="616226" cy="51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853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srgbClr val="465E9C"/>
              </a:solidFill>
              <a:latin typeface="Tahoma"/>
              <a:ea typeface="맑은 고딕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3085-4905-477F-9B03-95852450F900}" type="slidenum">
              <a:rPr lang="en-US" smtClean="0">
                <a:solidFill>
                  <a:prstClr val="black"/>
                </a:solidFill>
                <a:latin typeface="Tahoma"/>
                <a:ea typeface="맑은 고딕"/>
              </a:rPr>
              <a:pPr/>
              <a:t>‹#›</a:t>
            </a:fld>
            <a:endParaRPr lang="en-US">
              <a:solidFill>
                <a:prstClr val="black"/>
              </a:solidFill>
              <a:latin typeface="Tahoma"/>
              <a:ea typeface="맑은 고딕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A7CB9FA7-56B7-F606-6C21-13705CFC06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341040"/>
            <a:ext cx="616226" cy="51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360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srgbClr val="465E9C"/>
              </a:solidFill>
              <a:latin typeface="Tahoma"/>
              <a:ea typeface="맑은 고딕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3085-4905-477F-9B03-95852450F900}" type="slidenum">
              <a:rPr lang="en-US" smtClean="0">
                <a:solidFill>
                  <a:prstClr val="black"/>
                </a:solidFill>
                <a:latin typeface="Tahoma"/>
                <a:ea typeface="맑은 고딕"/>
              </a:rPr>
              <a:pPr/>
              <a:t>‹#›</a:t>
            </a:fld>
            <a:endParaRPr lang="en-US">
              <a:solidFill>
                <a:prstClr val="black"/>
              </a:solidFill>
              <a:latin typeface="Tahoma"/>
              <a:ea typeface="맑은 고딕"/>
            </a:endParaRPr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>
              <a:solidFill>
                <a:prstClr val="white"/>
              </a:solidFill>
              <a:latin typeface="Tahoma"/>
              <a:ea typeface="맑은 고딕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51B12F4-FFC1-CCF0-A036-DACB9A0F29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341040"/>
            <a:ext cx="616226" cy="51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5854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srgbClr val="465E9C"/>
              </a:solidFill>
              <a:latin typeface="Tahoma"/>
              <a:ea typeface="맑은 고딕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3085-4905-477F-9B03-95852450F900}" type="slidenum">
              <a:rPr lang="en-US" smtClean="0">
                <a:solidFill>
                  <a:prstClr val="black"/>
                </a:solidFill>
                <a:latin typeface="Tahoma"/>
                <a:ea typeface="맑은 고딕"/>
              </a:rPr>
              <a:pPr/>
              <a:t>‹#›</a:t>
            </a:fld>
            <a:endParaRPr lang="en-US">
              <a:solidFill>
                <a:prstClr val="black"/>
              </a:solidFill>
              <a:latin typeface="Tahoma"/>
              <a:ea typeface="맑은 고딕"/>
            </a:endParaRPr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defTabSz="914400"/>
            <a:endParaRPr lang="en-US">
              <a:solidFill>
                <a:prstClr val="black"/>
              </a:solidFill>
              <a:latin typeface="Tahoma"/>
              <a:ea typeface="맑은 고딕"/>
            </a:endParaRPr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>
              <a:solidFill>
                <a:prstClr val="white"/>
              </a:solidFill>
              <a:latin typeface="Tahoma"/>
              <a:ea typeface="맑은 고딕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5EBB65DC-4A18-37E3-F5B4-ACED371BCC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341040"/>
            <a:ext cx="616226" cy="51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6063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srgbClr val="465E9C"/>
              </a:solidFill>
              <a:latin typeface="Tahoma"/>
              <a:ea typeface="맑은 고딕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3085-4905-477F-9B03-95852450F900}" type="slidenum">
              <a:rPr lang="en-US" smtClean="0">
                <a:solidFill>
                  <a:prstClr val="black"/>
                </a:solidFill>
                <a:latin typeface="Tahoma"/>
                <a:ea typeface="맑은 고딕"/>
              </a:rPr>
              <a:pPr/>
              <a:t>‹#›</a:t>
            </a:fld>
            <a:endParaRPr lang="en-US">
              <a:solidFill>
                <a:prstClr val="black"/>
              </a:solidFill>
              <a:latin typeface="Tahoma"/>
              <a:ea typeface="맑은 고딕"/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defTabSz="914400"/>
            <a:endParaRPr lang="en-US">
              <a:solidFill>
                <a:prstClr val="black"/>
              </a:solidFill>
              <a:latin typeface="Tahoma"/>
              <a:ea typeface="맑은 고딕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defTabSz="914400"/>
            <a:endParaRPr lang="en-US" dirty="0">
              <a:solidFill>
                <a:prstClr val="black"/>
              </a:solidFill>
              <a:latin typeface="Tahoma"/>
              <a:ea typeface="맑은 고딕"/>
            </a:endParaRPr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>
              <a:solidFill>
                <a:prstClr val="white"/>
              </a:solidFill>
              <a:latin typeface="Tahoma"/>
              <a:ea typeface="맑은 고딕"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B979F24-5B34-F1D9-F88A-BA9A78218D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341040"/>
            <a:ext cx="616226" cy="51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2837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srgbClr val="CCDDEA"/>
              </a:solidFill>
              <a:latin typeface="Tahoma"/>
              <a:ea typeface="맑은 고딕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3085-4905-477F-9B03-95852450F900}" type="slidenum">
              <a:rPr lang="en-US" smtClean="0">
                <a:solidFill>
                  <a:prstClr val="white"/>
                </a:solidFill>
                <a:latin typeface="Tahoma"/>
                <a:ea typeface="맑은 고딕"/>
              </a:rPr>
              <a:pPr/>
              <a:t>‹#›</a:t>
            </a:fld>
            <a:endParaRPr lang="en-US">
              <a:solidFill>
                <a:prstClr val="white"/>
              </a:solidFill>
              <a:latin typeface="Tahoma"/>
              <a:ea typeface="맑은 고딕"/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defTabSz="914400"/>
            <a:endParaRPr lang="en-US">
              <a:solidFill>
                <a:prstClr val="white"/>
              </a:solidFill>
              <a:latin typeface="Tahoma"/>
              <a:ea typeface="맑은 고딕"/>
            </a:endParaRPr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>
              <a:solidFill>
                <a:prstClr val="white"/>
              </a:solidFill>
              <a:latin typeface="Tahoma"/>
              <a:ea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>
              <a:solidFill>
                <a:prstClr val="white"/>
              </a:solidFill>
              <a:latin typeface="Tahoma"/>
              <a:ea typeface="맑은 고딕"/>
            </a:endParaRP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EDEE881-9A86-0A58-B84F-1359560ECC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341040"/>
            <a:ext cx="616226" cy="51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250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srgbClr val="465E9C"/>
              </a:solidFill>
              <a:latin typeface="Tahoma"/>
              <a:ea typeface="맑은 고딕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3085-4905-477F-9B03-95852450F900}" type="slidenum">
              <a:rPr lang="en-US" smtClean="0">
                <a:solidFill>
                  <a:prstClr val="black"/>
                </a:solidFill>
                <a:latin typeface="Tahoma"/>
                <a:ea typeface="맑은 고딕"/>
              </a:rPr>
              <a:pPr/>
              <a:t>‹#›</a:t>
            </a:fld>
            <a:endParaRPr lang="en-US">
              <a:solidFill>
                <a:prstClr val="black"/>
              </a:solidFill>
              <a:latin typeface="Tahoma"/>
              <a:ea typeface="맑은 고딕"/>
            </a:endParaRP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373C56C0-8212-6B37-FA70-DC26414E5F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341040"/>
            <a:ext cx="616226" cy="51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75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srgbClr val="465E9C"/>
              </a:solidFill>
              <a:latin typeface="Tahoma"/>
              <a:ea typeface="맑은 고딕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63085-4905-477F-9B03-95852450F900}" type="slidenum">
              <a:rPr lang="en-US" smtClean="0">
                <a:solidFill>
                  <a:prstClr val="black"/>
                </a:solidFill>
                <a:latin typeface="Tahoma"/>
                <a:ea typeface="맑은 고딕"/>
              </a:rPr>
              <a:pPr/>
              <a:t>‹#›</a:t>
            </a:fld>
            <a:endParaRPr lang="en-US">
              <a:solidFill>
                <a:prstClr val="black"/>
              </a:solidFill>
              <a:latin typeface="Tahoma"/>
              <a:ea typeface="맑은 고딕"/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defTabSz="914400"/>
            <a:endParaRPr lang="en-US">
              <a:solidFill>
                <a:prstClr val="black"/>
              </a:solidFill>
              <a:latin typeface="Tahoma"/>
              <a:ea typeface="맑은 고딕"/>
            </a:endParaRPr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/>
            <a:endParaRPr lang="en-US">
              <a:solidFill>
                <a:prstClr val="white"/>
              </a:solidFill>
              <a:latin typeface="Tahoma"/>
              <a:ea typeface="맑은 고딕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defTabSz="914400"/>
            <a:endParaRPr lang="en-US">
              <a:solidFill>
                <a:prstClr val="black"/>
              </a:solidFill>
              <a:latin typeface="Tahoma"/>
              <a:ea typeface="맑은 고딕"/>
            </a:endParaRP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AB6A0BE3-D7F2-B2AE-558E-21E1A4BA36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341040"/>
            <a:ext cx="616226" cy="51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8300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62200"/>
            <a:ext cx="8229600" cy="1066800"/>
          </a:xfrm>
        </p:spPr>
        <p:txBody>
          <a:bodyPr anchor="ctr" anchorCtr="0">
            <a:normAutofit/>
          </a:bodyPr>
          <a:lstStyle>
            <a:lvl1pPr algn="l">
              <a:buNone/>
              <a:defRPr sz="3300" b="0" cap="all" baseline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 pitchFamily="18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2362200"/>
            <a:ext cx="8321040" cy="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457200" y="3429000"/>
            <a:ext cx="8321040" cy="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56898" y="6356350"/>
            <a:ext cx="2162703" cy="365760"/>
          </a:xfrm>
        </p:spPr>
        <p:txBody>
          <a:bodyPr anchor="ctr"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algn="l"/>
            <a:endParaRPr lang="en-US" dirty="0">
              <a:solidFill>
                <a:srgbClr val="3891A7">
                  <a:lumMod val="50000"/>
                </a:srgbClr>
              </a:solidFill>
            </a:endParaRPr>
          </a:p>
        </p:txBody>
      </p:sp>
      <p:sp>
        <p:nvSpPr>
          <p:cNvPr id="14" name="Content Placeholder 10"/>
          <p:cNvSpPr>
            <a:spLocks noGrp="1"/>
          </p:cNvSpPr>
          <p:nvPr>
            <p:ph sz="quarter" idx="13"/>
          </p:nvPr>
        </p:nvSpPr>
        <p:spPr>
          <a:xfrm>
            <a:off x="4191000" y="6356350"/>
            <a:ext cx="1676400" cy="365760"/>
          </a:xfrm>
        </p:spPr>
        <p:txBody>
          <a:bodyPr anchor="ctr">
            <a:noAutofit/>
          </a:bodyPr>
          <a:lstStyle>
            <a:lvl1pPr marL="0" indent="0">
              <a:buNone/>
              <a:defRPr sz="1050" b="1">
                <a:solidFill>
                  <a:schemeClr val="accent6">
                    <a:lumMod val="75000"/>
                  </a:schemeClr>
                </a:solidFill>
              </a:defRPr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2C8FD438-1A49-A00D-D0B1-7154DA474C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341040"/>
            <a:ext cx="616226" cy="51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099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5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Times New Roman" pitchFamily="18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43415" y="777240"/>
            <a:ext cx="892738" cy="365760"/>
          </a:xfrm>
          <a:prstGeom prst="rect">
            <a:avLst/>
          </a:prstGeom>
        </p:spPr>
        <p:txBody>
          <a:bodyPr anchor="b"/>
          <a:lstStyle>
            <a:lvl1pPr>
              <a:defRPr sz="900" b="1">
                <a:solidFill>
                  <a:schemeClr val="tx1"/>
                </a:solidFill>
              </a:defRPr>
            </a:lvl1pPr>
          </a:lstStyle>
          <a:p>
            <a:pPr algn="r"/>
            <a:fld id="{E3675E7C-E001-4C09-8E84-733255A177E9}" type="slidenum">
              <a:rPr lang="en-US" smtClean="0">
                <a:solidFill>
                  <a:prstClr val="black"/>
                </a:solidFill>
              </a:rPr>
              <a:pPr algn="r"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03809" y="1371600"/>
            <a:ext cx="8359192" cy="4785360"/>
          </a:xfrm>
        </p:spPr>
        <p:txBody>
          <a:bodyPr>
            <a:normAutofit/>
          </a:bodyPr>
          <a:lstStyle>
            <a:lvl1pPr marL="137160" indent="-137160">
              <a:buClr>
                <a:schemeClr val="accent6"/>
              </a:buClr>
              <a:buSzPct val="100000"/>
              <a:buFont typeface="Symbol" charset="2"/>
              <a:buChar char="⎮"/>
              <a:defRPr sz="1800">
                <a:latin typeface="+mn-lt"/>
                <a:ea typeface="Verdana" pitchFamily="34" charset="0"/>
                <a:cs typeface="Verdana" pitchFamily="34" charset="0"/>
              </a:defRPr>
            </a:lvl1pPr>
            <a:lvl2pPr>
              <a:buClr>
                <a:schemeClr val="accent3">
                  <a:lumMod val="75000"/>
                </a:schemeClr>
              </a:buClr>
              <a:buSzPct val="100000"/>
              <a:defRPr sz="1500">
                <a:solidFill>
                  <a:schemeClr val="accent6">
                    <a:lumMod val="50000"/>
                  </a:schemeClr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>
              <a:buSzPct val="100000"/>
              <a:defRPr sz="1350">
                <a:latin typeface="+mn-lt"/>
                <a:ea typeface="Verdana" pitchFamily="34" charset="0"/>
                <a:cs typeface="Verdana" pitchFamily="34" charset="0"/>
              </a:defRPr>
            </a:lvl3pPr>
            <a:lvl4pPr>
              <a:buSzPct val="100000"/>
              <a:defRPr sz="1200">
                <a:latin typeface="+mn-lt"/>
                <a:ea typeface="Verdana" pitchFamily="34" charset="0"/>
                <a:cs typeface="Verdana" pitchFamily="34" charset="0"/>
              </a:defRPr>
            </a:lvl4pPr>
            <a:lvl5pPr>
              <a:defRPr sz="1050">
                <a:latin typeface="+mn-lt"/>
                <a:ea typeface="Verdana" pitchFamily="34" charset="0"/>
                <a:cs typeface="Verdana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7200" y="1143000"/>
            <a:ext cx="8321040" cy="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457200" y="6248400"/>
            <a:ext cx="8321040" cy="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752B97B9-6ADE-CE07-85D5-7A94797687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341040"/>
            <a:ext cx="616226" cy="51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4346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5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Times New Roman" pitchFamily="18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43415" y="777240"/>
            <a:ext cx="892738" cy="365760"/>
          </a:xfrm>
          <a:prstGeom prst="rect">
            <a:avLst/>
          </a:prstGeom>
        </p:spPr>
        <p:txBody>
          <a:bodyPr anchor="b"/>
          <a:lstStyle>
            <a:lvl1pPr>
              <a:defRPr sz="900" b="1">
                <a:solidFill>
                  <a:schemeClr val="tx1"/>
                </a:solidFill>
              </a:defRPr>
            </a:lvl1pPr>
          </a:lstStyle>
          <a:p>
            <a:pPr algn="r"/>
            <a:fld id="{E3675E7C-E001-4C09-8E84-733255A177E9}" type="slidenum">
              <a:rPr lang="en-US" smtClean="0">
                <a:solidFill>
                  <a:prstClr val="black"/>
                </a:solidFill>
              </a:rPr>
              <a:pPr algn="r"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03809" y="1371600"/>
            <a:ext cx="8359192" cy="4785360"/>
          </a:xfrm>
        </p:spPr>
        <p:txBody>
          <a:bodyPr>
            <a:normAutofit/>
          </a:bodyPr>
          <a:lstStyle>
            <a:lvl1pPr marL="137160" indent="-137160">
              <a:buClr>
                <a:schemeClr val="accent6"/>
              </a:buClr>
              <a:buSzPct val="100000"/>
              <a:buFont typeface="Symbol" charset="2"/>
              <a:buChar char="⎮"/>
              <a:defRPr sz="1800">
                <a:latin typeface="+mn-lt"/>
                <a:ea typeface="Verdana" pitchFamily="34" charset="0"/>
                <a:cs typeface="Verdana" pitchFamily="34" charset="0"/>
              </a:defRPr>
            </a:lvl1pPr>
            <a:lvl2pPr>
              <a:buClr>
                <a:schemeClr val="accent3">
                  <a:lumMod val="75000"/>
                </a:schemeClr>
              </a:buClr>
              <a:buSzPct val="100000"/>
              <a:defRPr sz="1500">
                <a:solidFill>
                  <a:schemeClr val="accent6">
                    <a:lumMod val="50000"/>
                  </a:schemeClr>
                </a:solidFill>
                <a:latin typeface="+mn-lt"/>
                <a:ea typeface="Verdana" pitchFamily="34" charset="0"/>
                <a:cs typeface="Verdana" pitchFamily="34" charset="0"/>
              </a:defRPr>
            </a:lvl2pPr>
            <a:lvl3pPr>
              <a:buSzPct val="100000"/>
              <a:defRPr sz="1350">
                <a:latin typeface="+mn-lt"/>
                <a:ea typeface="Verdana" pitchFamily="34" charset="0"/>
                <a:cs typeface="Verdana" pitchFamily="34" charset="0"/>
              </a:defRPr>
            </a:lvl3pPr>
            <a:lvl4pPr>
              <a:buSzPct val="100000"/>
              <a:defRPr sz="1200">
                <a:latin typeface="+mn-lt"/>
                <a:ea typeface="Verdana" pitchFamily="34" charset="0"/>
                <a:cs typeface="Verdana" pitchFamily="34" charset="0"/>
              </a:defRPr>
            </a:lvl4pPr>
            <a:lvl5pPr>
              <a:defRPr sz="1050">
                <a:latin typeface="+mn-lt"/>
                <a:ea typeface="Verdana" pitchFamily="34" charset="0"/>
                <a:cs typeface="Verdana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7200" y="1143000"/>
            <a:ext cx="8321040" cy="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457200" y="6248400"/>
            <a:ext cx="8321040" cy="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5F8FA209-8743-F510-B197-E4FAC8B427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341040"/>
            <a:ext cx="616226" cy="51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09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2263" y="317500"/>
            <a:ext cx="8229600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8463" y="1303338"/>
            <a:ext cx="8347075" cy="501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7044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687513" y="6616700"/>
            <a:ext cx="4024312" cy="16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400">
                <a:latin typeface="+mj-lt"/>
                <a:cs typeface="+mn-cs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  <a:latin typeface="AUdimat"/>
              </a:rPr>
              <a:t> </a:t>
            </a:r>
          </a:p>
        </p:txBody>
      </p:sp>
      <p:sp>
        <p:nvSpPr>
          <p:cNvPr id="8704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91513" y="6616700"/>
            <a:ext cx="60642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bg2"/>
                </a:solidFill>
                <a:latin typeface="+mn-lt"/>
                <a:cs typeface="+mn-cs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8661F247-7560-4126-8D1F-0B36169BB3F8}" type="slidenum">
              <a:rPr lang="en-US">
                <a:solidFill>
                  <a:srgbClr val="808080"/>
                </a:solidFill>
                <a:latin typeface="AUdimat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808080"/>
              </a:solidFill>
              <a:latin typeface="AUdimat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8C6829E-C71A-2668-8D15-4696A2244A88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6876" y="6313488"/>
            <a:ext cx="649069" cy="54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180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ransition>
    <p:fade/>
  </p:transition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Udimat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Udimat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Udimat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Udimat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Udimat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Udimat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Udimat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Udimat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458200" cy="8382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defTabSz="914400"/>
            <a:endParaRPr lang="en-US">
              <a:solidFill>
                <a:srgbClr val="465E9C"/>
              </a:solidFill>
              <a:latin typeface="Tahoma"/>
              <a:ea typeface="맑은 고딕"/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229600" y="685800"/>
            <a:ext cx="914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 b="0" cap="none" spc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defTabSz="914400"/>
            <a:r>
              <a:rPr lang="en-US" dirty="0">
                <a:solidFill>
                  <a:prstClr val="black"/>
                </a:solidFill>
                <a:latin typeface="Tahoma"/>
                <a:ea typeface="맑은 고딕"/>
              </a:rPr>
              <a:t>a</a:t>
            </a:r>
            <a:fld id="{36F63085-4905-477F-9B03-95852450F900}" type="slidenum">
              <a:rPr lang="en-US" smtClean="0">
                <a:solidFill>
                  <a:prstClr val="black"/>
                </a:solidFill>
                <a:latin typeface="Tahoma"/>
                <a:ea typeface="맑은 고딕"/>
              </a:rPr>
              <a:pPr defTabSz="914400"/>
              <a:t>‹#›</a:t>
            </a:fld>
            <a:r>
              <a:rPr lang="en-US" dirty="0">
                <a:solidFill>
                  <a:prstClr val="black"/>
                </a:solidFill>
                <a:latin typeface="Tahoma"/>
                <a:ea typeface="맑은 고딕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24579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3200" b="1" kern="1200" cap="none" spc="0">
          <a:ln w="9000" cmpd="sng">
            <a:solidFill>
              <a:schemeClr val="bg2">
                <a:lumMod val="25000"/>
              </a:schemeClr>
            </a:solidFill>
            <a:prstDash val="solid"/>
          </a:ln>
          <a:solidFill>
            <a:schemeClr val="bg2">
              <a:lumMod val="25000"/>
            </a:schemeClr>
          </a:solidFill>
          <a:effectLst>
            <a:reflection blurRad="12700" stA="28000" endPos="45000" dist="1000" dir="5400000" sy="-100000" algn="bl" rotWithShape="0"/>
          </a:effectLst>
          <a:latin typeface="Tahoma" pitchFamily="34" charset="0"/>
          <a:ea typeface="Tahoma" pitchFamily="34" charset="0"/>
          <a:cs typeface="Tahoma" pitchFamily="34" charset="0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100000"/>
        <a:buFont typeface="Tahoma" pitchFamily="34" charset="0"/>
        <a:buChar char="|"/>
        <a:defRPr kumimoji="0" sz="2800" kern="1200">
          <a:solidFill>
            <a:schemeClr val="tx1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548640" indent="-274320" algn="l" rtl="0" eaLnBrk="1" latinLnBrk="0" hangingPunct="1">
        <a:spcBef>
          <a:spcPts val="500"/>
        </a:spcBef>
        <a:buClr>
          <a:schemeClr val="accent4"/>
        </a:buClr>
        <a:buSzPct val="76000"/>
        <a:buFont typeface="Wingdings 3" pitchFamily="18" charset="2"/>
        <a:buChar char=""/>
        <a:defRPr kumimoji="0" sz="2400" kern="1200">
          <a:solidFill>
            <a:schemeClr val="tx2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ortexgpgpu/vortex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ortexgpgpu/vortex_tutorial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ortexgpgpu/vortex_tutorials" TargetMode="External"/><Relationship Id="rId2" Type="http://schemas.openxmlformats.org/officeDocument/2006/relationships/hyperlink" Target="https://github.com/vortexgpgpu/vortex_tutorials/blob/main/REMOTE_ACCESS.md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vortexgpgpu.github.io/tutorials.html" TargetMode="External"/><Relationship Id="rId2" Type="http://schemas.openxmlformats.org/officeDocument/2006/relationships/hyperlink" Target="https://docs.google.com/forms/d/1r8E-Yo5NwA45Hi3-kEwte4AxK0mBsYDwgjM6Bul4so0/viewfor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72FB-D658-F842-9FD0-4799EAC7D4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45720" anchor="ctr" anchorCtr="0">
            <a:normAutofit/>
          </a:bodyPr>
          <a:lstStyle/>
          <a:p>
            <a:r>
              <a:rPr lang="en-US" dirty="0">
                <a:ln w="11430"/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j-lt"/>
                <a:ea typeface="Tahoma"/>
                <a:cs typeface="Tahoma"/>
              </a:rPr>
              <a:t>Vortex Tutorial and Workshop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2600C-824A-1D4E-920A-B23DC6BBA7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Hyesoon Kim</a:t>
            </a:r>
          </a:p>
          <a:p>
            <a:r>
              <a:rPr lang="en-US" sz="1400" dirty="0"/>
              <a:t>MICRO-59 · Athens, Greece · November 1, 2026</a:t>
            </a:r>
          </a:p>
        </p:txBody>
      </p:sp>
    </p:spTree>
    <p:extLst>
      <p:ext uri="{BB962C8B-B14F-4D97-AF65-F5344CB8AC3E}">
        <p14:creationId xmlns:p14="http://schemas.microsoft.com/office/powerpoint/2010/main" val="4057379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656D8-6232-4F70-A686-A6253ED50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Vortex?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FC2DC-16E3-4DE5-90A4-045AEDBD49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  <a:latin typeface="AUdimat"/>
              </a:rPr>
              <a:t> </a:t>
            </a:r>
          </a:p>
        </p:txBody>
      </p:sp>
      <p:sp>
        <p:nvSpPr>
          <p:cNvPr id="101" name="Card 101"/>
          <p:cNvSpPr txBox="1"/>
          <p:nvPr/>
        </p:nvSpPr>
        <p:spPr>
          <a:xfrm>
            <a:off x="411480" y="1325880"/>
            <a:ext cx="3657600" cy="1874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3057"/>
                </a:solidFill>
              </a:rPr>
              <a:t>ISA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1F2A37"/>
                </a:solidFill>
              </a:rPr>
              <a:t>RISC-V RV32 / RV64 plus Vortex extensions: SIMT warp control, tensor (WMMA / WGMMA), DXA async copy, texture, raster and ray tracing</a:t>
            </a:r>
          </a:p>
        </p:txBody>
      </p:sp>
      <p:sp>
        <p:nvSpPr>
          <p:cNvPr id="102" name="Card 102"/>
          <p:cNvSpPr txBox="1"/>
          <p:nvPr/>
        </p:nvSpPr>
        <p:spPr>
          <a:xfrm>
            <a:off x="4251960" y="1325880"/>
            <a:ext cx="3657600" cy="1874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3057"/>
                </a:solidFill>
              </a:rPr>
              <a:t>Hardware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1F2A37"/>
                </a:solidFill>
              </a:rPr>
              <a:t>Full RTL: SIMT cores, caches and MMU, command processor and kernel scheduler, tensor cores, graphics and ray-tracing units</a:t>
            </a:r>
          </a:p>
        </p:txBody>
      </p:sp>
      <p:sp>
        <p:nvSpPr>
          <p:cNvPr id="103" name="Card 103"/>
          <p:cNvSpPr txBox="1"/>
          <p:nvPr/>
        </p:nvSpPr>
        <p:spPr>
          <a:xfrm>
            <a:off x="411480" y="3383280"/>
            <a:ext cx="3657600" cy="1874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3057"/>
                </a:solidFill>
              </a:rPr>
              <a:t>Software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1F2A37"/>
                </a:solidFill>
              </a:rPr>
              <a:t>VOLT compiler (LLVM 20) under OpenCL (PoCL 7.0), CUDA (CuPBoP), HIP (chipStar) and Vulkan (vortexpipe)</a:t>
            </a:r>
          </a:p>
        </p:txBody>
      </p:sp>
      <p:sp>
        <p:nvSpPr>
          <p:cNvPr id="104" name="Card 104"/>
          <p:cNvSpPr txBox="1"/>
          <p:nvPr/>
        </p:nvSpPr>
        <p:spPr>
          <a:xfrm>
            <a:off x="4251960" y="3383280"/>
            <a:ext cx="3657600" cy="1874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3057"/>
                </a:solidFill>
              </a:rPr>
              <a:t>Platforms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1F2A37"/>
                </a:solidFill>
              </a:rPr>
              <a:t>SimX and rtlsim, gem5, SST, FireSim · FPGA: Intel, AMD Alveo U55C / V80 · ASIC flows: Yosys + OpenSTA (ASAP7)</a:t>
            </a:r>
          </a:p>
        </p:txBody>
      </p:sp>
      <p:sp>
        <p:nvSpPr>
          <p:cNvPr id="105" name="Note 105"/>
          <p:cNvSpPr txBox="1"/>
          <p:nvPr/>
        </p:nvSpPr>
        <p:spPr>
          <a:xfrm>
            <a:off x="411480" y="5349240"/>
            <a:ext cx="749808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03057"/>
                </a:solidFill>
              </a:rPr>
              <a:t>Vortex 3.0 released: </a:t>
            </a:r>
            <a:r>
              <a:rPr lang="en-US" sz="1300" b="0" dirty="0">
                <a:solidFill>
                  <a:srgbClr val="1F2A37"/>
                </a:solidFill>
                <a:hlinkClick r:id="rId2"/>
              </a:rPr>
              <a:t>github.com/vortexgpgpu/vortex</a:t>
            </a:r>
            <a:r>
              <a:rPr lang="en-US" sz="1300" b="0" dirty="0">
                <a:solidFill>
                  <a:srgbClr val="5B6675"/>
                </a:solidFill>
              </a:rPr>
              <a:t>  ·  built on open tools: LLVM, PoCL, Mesa, Verilator, Yosys</a:t>
            </a:r>
          </a:p>
        </p:txBody>
      </p:sp>
    </p:spTree>
    <p:extLst>
      <p:ext uri="{BB962C8B-B14F-4D97-AF65-F5344CB8AC3E}">
        <p14:creationId xmlns:p14="http://schemas.microsoft.com/office/powerpoint/2010/main" val="27459592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7A89-24E0-4398-809F-BC198088A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· November 1,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338F6B-0F28-4658-97EE-E1D64E1F27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  <a:latin typeface="AUdimat"/>
              </a:rPr>
              <a:t>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476CF71-D3C9-5D23-C9CC-901063E32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303338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1F2328"/>
                </a:solidFill>
                <a:effectLst/>
                <a:latin typeface="Arial" panose="020B0604020202020204" pitchFamily="34" charset="0"/>
                <a:ea typeface="-apple-system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6" name="Table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561657"/>
              </p:ext>
            </p:extLst>
          </p:nvPr>
        </p:nvGraphicFramePr>
        <p:xfrm>
          <a:off x="384048" y="1188720"/>
          <a:ext cx="7589520" cy="3801600"/>
        </p:xfrm>
        <a:graphic>
          <a:graphicData uri="http://schemas.openxmlformats.org/drawingml/2006/table">
            <a:tbl>
              <a:tblPr firstRow="1"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3057"/>
                          </a:solidFill>
                        </a:rPr>
                        <a:t>Time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3057"/>
                          </a:solidFill>
                        </a:rPr>
                        <a:t>Session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3057"/>
                          </a:solidFill>
                        </a:rPr>
                        <a:t>Presenter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 gridSpan="3"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Part 1 · Vortex GPU Tutorial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00305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00305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F2A37"/>
                          </a:solidFill>
                        </a:rPr>
                        <a:t>8:00–8:10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F2A37"/>
                          </a:solidFill>
                        </a:rPr>
                        <a:t>Intro and GPU background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F2A37"/>
                          </a:solidFill>
                        </a:rPr>
                        <a:t>Hyesoon Kim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F2A37"/>
                          </a:solidFill>
                        </a:rPr>
                        <a:t>8:10–9:30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F2A37"/>
                          </a:solidFill>
                        </a:rPr>
                        <a:t>Vortex Microarchitecture and Software Stack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F2A37"/>
                          </a:solidFill>
                        </a:rPr>
                        <a:t>Blaise Tine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F2A37"/>
                          </a:solidFill>
                        </a:rPr>
                        <a:t>9:30–9:50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F2A37"/>
                          </a:solidFill>
                        </a:rPr>
                        <a:t>VOLT Compiler Pipeline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F2A37"/>
                          </a:solidFill>
                        </a:rPr>
                        <a:t>Shinnung Jeong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F2A37"/>
                          </a:solidFill>
                        </a:rPr>
                        <a:t>9:50–10:10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F2A37"/>
                          </a:solidFill>
                        </a:rPr>
                        <a:t>Vortex GPU with Agent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F2A37"/>
                          </a:solidFill>
                        </a:rPr>
                        <a:t>Hyesoon Kim</a:t>
                      </a:r>
                    </a:p>
                  </a:txBody>
                  <a:tcPr marT="36000" marB="3600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1D9E0"/>
                      </a:solidFill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5B6675"/>
                          </a:solidFill>
                        </a:rPr>
                        <a:t>10:10–10:40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5B6675"/>
                          </a:solidFill>
                        </a:rPr>
                        <a:t>Q&amp;A, coffee break and poster session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 gridSpan="3"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Part 2 · Vortex Workshop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00305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00305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F2A37"/>
                          </a:solidFill>
                        </a:rPr>
                        <a:t>10:40–11:00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F2A37"/>
                          </a:solidFill>
                        </a:rPr>
                        <a:t>TinyGPT on Vortex: End-to-End Transformer Inference on an FPGA-Based Open-Source GPGPU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2A37"/>
                          </a:solidFill>
                        </a:rPr>
                        <a:t>A. Papadopoulos, A. Chrysafopoulos, N. Bellas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F2A37"/>
                          </a:solidFill>
                        </a:rPr>
                        <a:t>11:00–11:20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F2A37"/>
                          </a:solidFill>
                        </a:rPr>
                        <a:t>A Safety-Critical Ecosystem Around the Vortex GPU Infrastructure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2A37"/>
                          </a:solidFill>
                        </a:rPr>
                        <a:t>M. Solé i Bonet, …, L. Kosmidis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F2A37"/>
                          </a:solidFill>
                        </a:rPr>
                        <a:t>11:20–11:40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F2A37"/>
                          </a:solidFill>
                        </a:rPr>
                        <a:t>SIMT Cores near Memory: Caching Outlives Proximity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1F2A37"/>
                          </a:solidFill>
                        </a:rPr>
                        <a:t>Y. He, Y. Kuragaki, M. Kondo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F2A37"/>
                          </a:solidFill>
                        </a:rPr>
                        <a:t>11:40–12:00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F2A37"/>
                          </a:solidFill>
                        </a:rPr>
                        <a:t>Review of Tutorial Assignments and Closing Remarks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rgbClr val="1F2A37"/>
                          </a:solidFill>
                        </a:rPr>
                        <a:t>Hyesoon Kim</a:t>
                      </a:r>
                    </a:p>
                  </a:txBody>
                  <a:tcPr marT="36000" marB="36000" anchor="ctr">
                    <a:lnL w="9525">
                      <a:solidFill>
                        <a:srgbClr val="D1D9E0"/>
                      </a:solidFill>
                    </a:lnL>
                    <a:lnR w="9525">
                      <a:solidFill>
                        <a:srgbClr val="D1D9E0"/>
                      </a:solidFill>
                    </a:lnR>
                    <a:lnT w="9525">
                      <a:solidFill>
                        <a:srgbClr val="D1D9E0"/>
                      </a:solidFill>
                    </a:lnT>
                    <a:lnB w="9525">
                      <a:solidFill>
                        <a:srgbClr val="D1D9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7" name="Note 107"/>
          <p:cNvSpPr txBox="1"/>
          <p:nvPr/>
        </p:nvSpPr>
        <p:spPr>
          <a:xfrm>
            <a:off x="384048" y="566928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rgbClr val="5B6675"/>
                </a:solidFill>
              </a:rPr>
              <a:t>Co-located with MICRO-59, Athens · Materials: </a:t>
            </a:r>
            <a:r>
              <a:rPr lang="en-US" sz="1100" b="0" dirty="0">
                <a:solidFill>
                  <a:srgbClr val="1F2A37"/>
                </a:solidFill>
                <a:hlinkClick r:id="rId2"/>
              </a:rPr>
              <a:t>github.com/vortexgpgpu/vortex_tutorials</a:t>
            </a:r>
          </a:p>
        </p:txBody>
      </p:sp>
    </p:spTree>
    <p:extLst>
      <p:ext uri="{BB962C8B-B14F-4D97-AF65-F5344CB8AC3E}">
        <p14:creationId xmlns:p14="http://schemas.microsoft.com/office/powerpoint/2010/main" val="417956290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D415F-39F7-43A1-9D17-30AAE2157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 Talks and Posters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3F7C3-8FD6-4D5A-AEEF-B86797D562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  <a:latin typeface="AUdimat"/>
              </a:rPr>
              <a:t>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411480" y="118872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A8520F"/>
                </a:solidFill>
              </a:rPr>
              <a:t>TALKS · 10:40–11:40</a:t>
            </a:r>
          </a:p>
        </p:txBody>
      </p:sp>
      <p:sp>
        <p:nvSpPr>
          <p:cNvPr id="109" name="Talk 109"/>
          <p:cNvSpPr txBox="1"/>
          <p:nvPr/>
        </p:nvSpPr>
        <p:spPr>
          <a:xfrm>
            <a:off x="411480" y="1536192"/>
            <a:ext cx="7498080" cy="65836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</a:rPr>
              <a:t>TinyGPT on Vortex: End-to-End Transformer Inference on an FPGA-Based Open-Source GPGPU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rgbClr val="5B6675"/>
                </a:solidFill>
              </a:rPr>
              <a:t>Anastasios Papadopoulos, Andreas Chrysafopoulos, Nikolaos Bellas</a:t>
            </a:r>
          </a:p>
        </p:txBody>
      </p:sp>
      <p:sp>
        <p:nvSpPr>
          <p:cNvPr id="110" name="Talk 110"/>
          <p:cNvSpPr txBox="1"/>
          <p:nvPr/>
        </p:nvSpPr>
        <p:spPr>
          <a:xfrm>
            <a:off x="411480" y="2286000"/>
            <a:ext cx="7498080" cy="84124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</a:rPr>
              <a:t>A Safety-Critical Ecosystem Around the Vortex GPU Infrastructure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rgbClr val="5B6675"/>
                </a:solidFill>
              </a:rPr>
              <a:t>Marc Solé i Bonet, Jannis Wolf, Eric Rufart, Josue Pedrajas, Xavier Carrichio Hernández, Pau Adell Raventos, Pau Lopez Castillon, Guillermo Vidal, Matina Maria Trompouki, Leonidas Kosmidis</a:t>
            </a:r>
          </a:p>
        </p:txBody>
      </p:sp>
      <p:sp>
        <p:nvSpPr>
          <p:cNvPr id="111" name="Talk 111"/>
          <p:cNvSpPr txBox="1"/>
          <p:nvPr/>
        </p:nvSpPr>
        <p:spPr>
          <a:xfrm>
            <a:off x="411480" y="3218688"/>
            <a:ext cx="7498080" cy="65836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</a:rPr>
              <a:t>SIMT Cores near Memory: Caching Outlives Proximity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rgbClr val="5B6675"/>
                </a:solidFill>
              </a:rPr>
              <a:t>Yuan He, Yusuke Kuragaki, Masaaki Kondo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411480" y="4014216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A8520F"/>
                </a:solidFill>
              </a:rPr>
              <a:t>POSTERS · 10:10–10:40, DURING THE BREAK</a:t>
            </a:r>
          </a:p>
        </p:txBody>
      </p:sp>
      <p:sp>
        <p:nvSpPr>
          <p:cNvPr id="113" name="Poster 113"/>
          <p:cNvSpPr txBox="1"/>
          <p:nvPr/>
        </p:nvSpPr>
        <p:spPr>
          <a:xfrm>
            <a:off x="411480" y="4352544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2A37"/>
                </a:solidFill>
              </a:rPr>
              <a:t>OuterWeaver: Co-Design of Tensor Core and Microarchitectural Adaptations for Unstructured Sparsity in RISC-V GPUs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5B6675"/>
                </a:solidFill>
              </a:rPr>
              <a:t>Giorgos Triantafyllou, Panagiotis-Eleftherios Eleftherakis, Alexis Maras, Konstantinos Iliakis, Yanggon Kim, Chengxuan Wang, Nikhil Rout, Blaise Tine, Sotirios Xydis</a:t>
            </a:r>
          </a:p>
        </p:txBody>
      </p:sp>
      <p:sp>
        <p:nvSpPr>
          <p:cNvPr id="114" name="Poster 114"/>
          <p:cNvSpPr txBox="1"/>
          <p:nvPr/>
        </p:nvSpPr>
        <p:spPr>
          <a:xfrm>
            <a:off x="4251960" y="4352544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2A37"/>
                </a:solidFill>
              </a:rPr>
              <a:t>DTCU: A Cluster-Level Disaggregated Tensor Unit on Vortex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5B6675"/>
                </a:solidFill>
              </a:rPr>
              <a:t>Chulhyung Park, Shinnung Jeong, Hyesoon Kim</a:t>
            </a:r>
          </a:p>
        </p:txBody>
      </p:sp>
    </p:spTree>
    <p:extLst>
      <p:ext uri="{BB962C8B-B14F-4D97-AF65-F5344CB8AC3E}">
        <p14:creationId xmlns:p14="http://schemas.microsoft.com/office/powerpoint/2010/main" val="23779055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D415F-39F7-43A1-9D17-30AAE2157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Exercise Preparation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3F7C3-8FD6-4D5A-AEEF-B86797D562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  <a:latin typeface="AUdimat"/>
              </a:rPr>
              <a:t> </a:t>
            </a:r>
          </a:p>
        </p:txBody>
      </p:sp>
      <p:sp>
        <p:nvSpPr>
          <p:cNvPr id="115" name="Card 115"/>
          <p:cNvSpPr txBox="1"/>
          <p:nvPr/>
        </p:nvSpPr>
        <p:spPr>
          <a:xfrm>
            <a:off x="411480" y="132588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A8520F"/>
                </a:solidFill>
              </a:rPr>
              <a:t>Option 1</a:t>
            </a:r>
          </a:p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3057"/>
                </a:solidFill>
              </a:rPr>
              <a:t>Docker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1F2A37"/>
                </a:solidFill>
              </a:rPr>
              <a:t>Run the Vortex toolchain and simulators in a container on your own laptop. Setup steps are in the tutorial repository.</a:t>
            </a:r>
          </a:p>
        </p:txBody>
      </p:sp>
      <p:sp>
        <p:nvSpPr>
          <p:cNvPr id="116" name="Card 116"/>
          <p:cNvSpPr txBox="1"/>
          <p:nvPr/>
        </p:nvSpPr>
        <p:spPr>
          <a:xfrm>
            <a:off x="4251960" y="132588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A8520F"/>
                </a:solidFill>
              </a:rPr>
              <a:t>Option 2</a:t>
            </a:r>
          </a:p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3057"/>
                </a:solidFill>
              </a:rPr>
              <a:t>Temporary accounts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1F2A37"/>
                </a:solidFill>
              </a:rPr>
              <a:t>Remote machines for the duration of MICRO. Submit your GitHub ID with the form to reserve a slot.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1F2A37"/>
                </a:solidFill>
                <a:hlinkClick r:id="rId2"/>
              </a:rPr>
              <a:t>REMOTE_ACCESS.md</a:t>
            </a:r>
          </a:p>
        </p:txBody>
      </p:sp>
      <p:sp>
        <p:nvSpPr>
          <p:cNvPr id="117" name="Callout 117"/>
          <p:cNvSpPr txBox="1"/>
          <p:nvPr/>
        </p:nvSpPr>
        <p:spPr>
          <a:xfrm>
            <a:off x="411480" y="3931920"/>
            <a:ext cx="7498080" cy="1371600"/>
          </a:xfrm>
          <a:prstGeom prst="roundRect">
            <a:avLst>
              <a:gd name="adj" fmla="val 8000"/>
            </a:avLst>
          </a:prstGeom>
          <a:solidFill>
            <a:srgbClr val="003057"/>
          </a:solidFill>
          <a:ln>
            <a:noFill/>
          </a:ln>
        </p:spPr>
        <p:txBody>
          <a:bodyPr wrap="square" lIns="164592" tIns="164592" rIns="164592" bIns="164592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Everything in one place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0" dirty="0">
                <a:solidFill>
                  <a:srgbClr val="E6ECF2"/>
                </a:solidFill>
              </a:rPr>
              <a:t>Slides, assignments and setup: </a:t>
            </a:r>
            <a:r>
              <a:rPr lang="en-US" sz="1400" b="1" dirty="0">
                <a:solidFill>
                  <a:srgbClr val="FFFFFF"/>
                </a:solidFill>
                <a:hlinkClick r:id="rId3"/>
              </a:rPr>
              <a:t>github.com/vortexgpgpu/vortex_tutorials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E6ECF2"/>
                </a:solidFill>
              </a:rPr>
              <a:t>Assignment: 9:50–10:10 · Review: 11:40–12:00</a:t>
            </a:r>
          </a:p>
        </p:txBody>
      </p:sp>
    </p:spTree>
    <p:extLst>
      <p:ext uri="{BB962C8B-B14F-4D97-AF65-F5344CB8AC3E}">
        <p14:creationId xmlns:p14="http://schemas.microsoft.com/office/powerpoint/2010/main" val="23779055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0293F-27B2-2BD3-8936-86CE1EE10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Stay Connected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13C538-277F-C4B2-9C3A-D0F2C0E99E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  <a:latin typeface="AUdimat"/>
              </a:rPr>
              <a:t> </a:t>
            </a:r>
          </a:p>
        </p:txBody>
      </p:sp>
      <p:sp>
        <p:nvSpPr>
          <p:cNvPr id="118" name="Card 118"/>
          <p:cNvSpPr txBox="1"/>
          <p:nvPr/>
        </p:nvSpPr>
        <p:spPr>
          <a:xfrm>
            <a:off x="411480" y="132588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3057"/>
                </a:solidFill>
              </a:rPr>
              <a:t>Mailing list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1F2A37"/>
                </a:solidFill>
              </a:rPr>
              <a:t>Join through the Google Form: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hlinkClick r:id="rId2"/>
              </a:rPr>
              <a:t>sign up here</a:t>
            </a:r>
          </a:p>
        </p:txBody>
      </p:sp>
      <p:sp>
        <p:nvSpPr>
          <p:cNvPr id="119" name="Card 119"/>
          <p:cNvSpPr txBox="1"/>
          <p:nvPr/>
        </p:nvSpPr>
        <p:spPr>
          <a:xfrm>
            <a:off x="4251960" y="132588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3057"/>
                </a:solidFill>
              </a:rPr>
              <a:t>Developers’ meeting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1F2A37"/>
                </a:solidFill>
              </a:rPr>
              <a:t>Usually the first Wednesday of the month, 5 pm PT / 8 pm ET / 9 am KST. Zoom link is posted in the Vortex discussions.</a:t>
            </a:r>
          </a:p>
        </p:txBody>
      </p:sp>
      <p:sp>
        <p:nvSpPr>
          <p:cNvPr id="120" name="Card 120"/>
          <p:cNvSpPr txBox="1"/>
          <p:nvPr/>
        </p:nvSpPr>
        <p:spPr>
          <a:xfrm>
            <a:off x="411480" y="342900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3057"/>
                </a:solidFill>
              </a:rPr>
              <a:t>Contact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F2A37"/>
                </a:solidFill>
              </a:rPr>
              <a:t>Tutorial and project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0" dirty="0">
                <a:solidFill>
                  <a:srgbClr val="1F2A37"/>
                </a:solidFill>
              </a:rPr>
              <a:t>vortexgpu@cc.gatech.edu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F2A37"/>
                </a:solidFill>
              </a:rPr>
              <a:t>Workshop submissions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1F2A37"/>
                </a:solidFill>
              </a:rPr>
              <a:t>vortex_submission@groups.gatech.edu</a:t>
            </a:r>
          </a:p>
        </p:txBody>
      </p:sp>
      <p:sp>
        <p:nvSpPr>
          <p:cNvPr id="121" name="Card 121"/>
          <p:cNvSpPr txBox="1"/>
          <p:nvPr/>
        </p:nvSpPr>
        <p:spPr>
          <a:xfrm>
            <a:off x="4251960" y="342900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3057"/>
                </a:solidFill>
              </a:rPr>
              <a:t>Organizers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0" dirty="0">
                <a:solidFill>
                  <a:srgbClr val="1F2A37"/>
                </a:solidFill>
              </a:rPr>
              <a:t>Hyesoon Kim, Jeff Young (Georgia Tech) · Blaise Tine (UCLA) · Web chair: Shinnung Jeong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1F2A37"/>
                </a:solidFill>
              </a:rPr>
              <a:t>Past editions: </a:t>
            </a:r>
            <a:r>
              <a:rPr lang="en-US" sz="1400" b="0" dirty="0">
                <a:solidFill>
                  <a:srgbClr val="1F2A37"/>
                </a:solidFill>
                <a:hlinkClick r:id="rId3"/>
              </a:rPr>
              <a:t>vortexgpgpu.github.io</a:t>
            </a:r>
          </a:p>
        </p:txBody>
      </p:sp>
    </p:spTree>
    <p:extLst>
      <p:ext uri="{BB962C8B-B14F-4D97-AF65-F5344CB8AC3E}">
        <p14:creationId xmlns:p14="http://schemas.microsoft.com/office/powerpoint/2010/main" val="3894884894"/>
      </p:ext>
    </p:extLst>
  </p:cSld>
  <p:clrMapOvr>
    <a:masterClrMapping/>
  </p:clrMapOvr>
  <p:transition>
    <p:fade/>
  </p:transition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2_Powerpoint_FINAL">
  <a:themeElements>
    <a:clrScheme name="2_Powerpoint_FIN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Powerpoint_FINAL">
      <a:majorFont>
        <a:latin typeface="AUdimat"/>
        <a:ea typeface=""/>
        <a:cs typeface=""/>
      </a:majorFont>
      <a:minorFont>
        <a:latin typeface="AUdim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Powerpoint_FIN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owerpoint_FINA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owerpoint_FINA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owerpoint_FINA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owerpoint_FINA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owerpoint_FINA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owerpoint_FINA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owerpoint_FINA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owerpoint_FINA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owerpoint_FINA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owerpoint_FINA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owerpoint_FINA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rigi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Custom 3">
      <a:majorFont>
        <a:latin typeface="Tahoma"/>
        <a:ea typeface="돋움"/>
        <a:cs typeface=""/>
      </a:majorFont>
      <a:minorFont>
        <a:latin typeface="Tahoma"/>
        <a:ea typeface="맑은 고딕"/>
        <a:cs typeface="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3aaed8-5f35-4ebd-8684-7d64e521d80b" xsi:nil="true"/>
    <lcf76f155ced4ddcb4097134ff3c332f xmlns="f01fee57-14a4-4fb3-a7a7-17af854556b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FB5C5C43C8E84ABE433E05E59A4B5B" ma:contentTypeVersion="16" ma:contentTypeDescription="Create a new document." ma:contentTypeScope="" ma:versionID="6b8a0fa360fb8d3f571bc110c37013b7">
  <xsd:schema xmlns:xsd="http://www.w3.org/2001/XMLSchema" xmlns:xs="http://www.w3.org/2001/XMLSchema" xmlns:p="http://schemas.microsoft.com/office/2006/metadata/properties" xmlns:ns2="f01fee57-14a4-4fb3-a7a7-17af854556b0" xmlns:ns3="703aaed8-5f35-4ebd-8684-7d64e521d80b" targetNamespace="http://schemas.microsoft.com/office/2006/metadata/properties" ma:root="true" ma:fieldsID="5b022065d69465c928b5cf201fd4a313" ns2:_="" ns3:_="">
    <xsd:import namespace="f01fee57-14a4-4fb3-a7a7-17af854556b0"/>
    <xsd:import namespace="703aaed8-5f35-4ebd-8684-7d64e521d8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1fee57-14a4-4fb3-a7a7-17af854556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c2506c3-735d-4e70-aa79-204d06275b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3aaed8-5f35-4ebd-8684-7d64e521d80b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d8e6f15-7c59-437e-bc44-2b236e666d5f}" ma:internalName="TaxCatchAll" ma:showField="CatchAllData" ma:web="703aaed8-5f35-4ebd-8684-7d64e521d8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D8BB32-E885-4B8F-AC31-D499590731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9D0140C-BF33-476E-9327-09381A5C2EEE}">
  <ds:schemaRefs>
    <ds:schemaRef ds:uri="http://schemas.microsoft.com/office/2006/metadata/properties"/>
    <ds:schemaRef ds:uri="http://schemas.microsoft.com/office/infopath/2007/PartnerControls"/>
    <ds:schemaRef ds:uri="703aaed8-5f35-4ebd-8684-7d64e521d80b"/>
    <ds:schemaRef ds:uri="f01fee57-14a4-4fb3-a7a7-17af854556b0"/>
  </ds:schemaRefs>
</ds:datastoreItem>
</file>

<file path=customXml/itemProps3.xml><?xml version="1.0" encoding="utf-8"?>
<ds:datastoreItem xmlns:ds="http://schemas.openxmlformats.org/officeDocument/2006/customXml" ds:itemID="{8273A88A-683A-4123-B80C-E147B02EE6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1fee57-14a4-4fb3-a7a7-17af854556b0"/>
    <ds:schemaRef ds:uri="703aaed8-5f35-4ebd-8684-7d64e521d8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52645</TotalTime>
  <Words>640</Words>
  <Application>Microsoft Macintosh PowerPoint</Application>
  <PresentationFormat>On-screen Show (4:3)</PresentationFormat>
  <Paragraphs>90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AUdimat</vt:lpstr>
      <vt:lpstr>Arial</vt:lpstr>
      <vt:lpstr>Calibri</vt:lpstr>
      <vt:lpstr>Corbel</vt:lpstr>
      <vt:lpstr>Symbol</vt:lpstr>
      <vt:lpstr>Tahoma</vt:lpstr>
      <vt:lpstr>Wingdings</vt:lpstr>
      <vt:lpstr>Wingdings 3</vt:lpstr>
      <vt:lpstr>2_Powerpoint_FINAL</vt:lpstr>
      <vt:lpstr>Origin</vt:lpstr>
      <vt:lpstr>Vortex Tutorial and Workshop</vt:lpstr>
      <vt:lpstr>What Is Vortex?</vt:lpstr>
      <vt:lpstr>Program · November 1, 2026</vt:lpstr>
      <vt:lpstr>Workshop Talks and Posters</vt:lpstr>
      <vt:lpstr>Hands-on Exercise Preparation</vt:lpstr>
      <vt:lpstr>Stay Connected</vt:lpstr>
    </vt:vector>
  </TitlesOfParts>
  <Company>Georgia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Hyesoon Kim</dc:creator>
  <cp:lastModifiedBy>Kim, Hyesoon</cp:lastModifiedBy>
  <cp:revision>277</cp:revision>
  <cp:lastPrinted>2013-01-11T16:38:21Z</cp:lastPrinted>
  <dcterms:created xsi:type="dcterms:W3CDTF">2013-01-10T23:30:37Z</dcterms:created>
  <dcterms:modified xsi:type="dcterms:W3CDTF">2026-10-31T12:10:15Z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0x010100AAFB5C5C43C8E84ABE433E05E59A4B5B</vt:lpwstr>
  </property>
</Properties>
</file>