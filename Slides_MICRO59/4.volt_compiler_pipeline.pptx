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5"/>
  </p:notesMasterIdLst>
  <p:sldIdLst>
    <p:sldId id="491" r:id="rId2"/>
    <p:sldId id="511" r:id="rId3"/>
    <p:sldId id="512" r:id="rId4"/>
    <p:sldId id="513" r:id="rId5"/>
    <p:sldId id="516" r:id="rId6"/>
    <p:sldId id="493" r:id="rId7"/>
    <p:sldId id="517" r:id="rId8"/>
    <p:sldId id="536" r:id="rId9"/>
    <p:sldId id="521" r:id="rId10"/>
    <p:sldId id="520" r:id="rId11"/>
    <p:sldId id="538" r:id="rId12"/>
    <p:sldId id="537" r:id="rId13"/>
    <p:sldId id="519" r:id="rId14"/>
    <p:sldId id="523" r:id="rId15"/>
    <p:sldId id="541" r:id="rId16"/>
    <p:sldId id="535" r:id="rId17"/>
    <p:sldId id="544" r:id="rId18"/>
    <p:sldId id="545" r:id="rId19"/>
    <p:sldId id="546" r:id="rId20"/>
    <p:sldId id="547" r:id="rId21"/>
    <p:sldId id="542" r:id="rId22"/>
    <p:sldId id="543" r:id="rId23"/>
    <p:sldId id="532" r:id="rId2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Daytona" panose="020B0604030500040204" pitchFamily="34" charset="0"/>
      <p:regular r:id="rId30"/>
      <p:bold r:id="rId31"/>
      <p:italic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  <p:embeddedFont>
      <p:font typeface="Tahoma" panose="020B0604030504040204" pitchFamily="3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A3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FBF429-92E0-4C12-9A2D-3048B78325C8}">
  <a:tblStyle styleId="{86FBF429-92E0-4C12-9A2D-3048B78325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94"/>
    <p:restoredTop sz="64264"/>
  </p:normalViewPr>
  <p:slideViewPr>
    <p:cSldViewPr snapToGrid="0">
      <p:cViewPr varScale="1">
        <p:scale>
          <a:sx n="94" d="100"/>
          <a:sy n="94" d="100"/>
        </p:scale>
        <p:origin x="1960" y="184"/>
      </p:cViewPr>
      <p:guideLst>
        <p:guide orient="horz" pos="1620"/>
        <p:guide pos="2880"/>
      </p:guideLst>
    </p:cSldViewPr>
  </p:slideViewPr>
  <p:outlineViewPr>
    <p:cViewPr>
      <p:scale>
        <a:sx n="100" d="100"/>
        <a:sy n="100" d="100"/>
      </p:scale>
      <p:origin x="0" y="-118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" altLang="ko-Kore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9795-3C8E-6606-0213-DE92D1FC6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849263-2800-71A8-6D7A-BCDEC9AF7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D03BA0-780E-8C1D-9DE2-AF3DC6108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3145737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39FCB-39CF-7D42-0AD0-57FD3926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36E42B-7476-0DEB-F121-2A3914AD2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B9FAE4-0393-83A2-367F-9E919D0D4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1140571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B871-DB65-7BB8-498C-6EC15060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A2350E-BAB7-21F2-AE43-D42822143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99F426-7481-4E59-E164-43050167E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36565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1804669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666207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42407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28BCE-FC7D-96CB-1543-7A120E46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7CB89E-9FF4-26D3-6C92-A5874A0E2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27A1E9-C5D1-0960-05BD-209F6C0D5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2527375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AC8D-F041-6BAA-53C9-8860DD35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57ACB9-3022-60E2-1F6D-FF6A59C5E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2D0152-BA57-1283-253E-F12B231FF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1776969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2EDB-48C9-42A1-27D2-2A46682B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B9C7A0-13CA-0A6D-6083-D7817927B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C5428C-B58F-618C-6267-5B0E92D6C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3076441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CF91F-6FF3-421A-5827-770F0644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4C7DC4-036B-CC35-15DB-AAB4F9FCD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CA596A-B5E2-B8D8-FD75-6F0C4D728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413790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A913F-E6B3-49D0-ADB2-47F453B1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657D9D-9792-DF01-F66B-D730ED142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BD8684-49F7-3D31-D4D4-752594D4B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4290177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b="1" dirty="0"/>
          </a:p>
        </p:txBody>
      </p:sp>
    </p:spTree>
    <p:extLst>
      <p:ext uri="{BB962C8B-B14F-4D97-AF65-F5344CB8AC3E}">
        <p14:creationId xmlns:p14="http://schemas.microsoft.com/office/powerpoint/2010/main" val="2122813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9565677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42950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dirty="0"/>
          </a:p>
        </p:txBody>
      </p:sp>
    </p:spTree>
    <p:extLst>
      <p:ext uri="{BB962C8B-B14F-4D97-AF65-F5344CB8AC3E}">
        <p14:creationId xmlns:p14="http://schemas.microsoft.com/office/powerpoint/2010/main" val="40561609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ore-KR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067176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7760965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052508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82A3-3F89-60FD-247B-5F15F875C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9CF28-FBB6-3E36-7CA1-B4EAEE04C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DE30B-FB1D-0CE6-44A2-5006A3F4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5ACB-58BF-614E-BE8D-2914A418BC4C}" type="datetime1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1A925-3512-780E-49ED-2C3F00462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013FA4-38F1-ED14-214E-D1A0A6D8FEEF}"/>
              </a:ext>
            </a:extLst>
          </p:cNvPr>
          <p:cNvSpPr/>
          <p:nvPr userDrawn="1"/>
        </p:nvSpPr>
        <p:spPr>
          <a:xfrm rot="5400000">
            <a:off x="7391522" y="-92932"/>
            <a:ext cx="102395" cy="276731"/>
          </a:xfrm>
          <a:prstGeom prst="rect">
            <a:avLst/>
          </a:prstGeom>
          <a:solidFill>
            <a:srgbClr val="F993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D8DBD5-58F0-4040-02EF-6D2DD38A9F2E}"/>
              </a:ext>
            </a:extLst>
          </p:cNvPr>
          <p:cNvSpPr/>
          <p:nvPr userDrawn="1"/>
        </p:nvSpPr>
        <p:spPr>
          <a:xfrm rot="5400000">
            <a:off x="8498023" y="-92932"/>
            <a:ext cx="102395" cy="276731"/>
          </a:xfrm>
          <a:prstGeom prst="rect">
            <a:avLst/>
          </a:prstGeom>
          <a:solidFill>
            <a:srgbClr val="52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12E0F3-AB9A-D546-A68C-EA98CE44C289}"/>
              </a:ext>
            </a:extLst>
          </p:cNvPr>
          <p:cNvSpPr/>
          <p:nvPr userDrawn="1"/>
        </p:nvSpPr>
        <p:spPr>
          <a:xfrm rot="5400000">
            <a:off x="7944772" y="-92932"/>
            <a:ext cx="102395" cy="276731"/>
          </a:xfrm>
          <a:prstGeom prst="rect">
            <a:avLst/>
          </a:prstGeom>
          <a:solidFill>
            <a:srgbClr val="016D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3247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0CF96-1989-099F-2B7E-F2571341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32D60D-313A-A91E-3928-2F514430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2DAF-15F4-314E-A047-A06D5E0FAD10}" type="datetime1">
              <a:rPr lang="en-US" smtClean="0"/>
              <a:t>11/1/26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859F2B-D282-EF4A-D08C-F207CB82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B3837E-6E34-5E73-F0D3-DFE0FDD3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29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0EB4-66AB-38DB-B478-BBEBA16A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Daytona" panose="020B0604030500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19715-CBC0-609E-8586-26B3F3ABF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1C8A5-CDD5-9854-62CF-EBBF9881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C00F-D222-CF4C-B2FA-8159BF4D9A31}" type="datetime1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560D2-EF97-F60D-FD36-B705C6DB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41E3DF9-93F1-13E9-EA8C-59609EC52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20260" y="46999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74F64-7780-9C4F-983D-3F814FF801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03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3A563-7F4F-E9C4-456D-6ADB4EC1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BD1D2-D714-D731-20A8-C133F1544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DABD7-DFA5-1585-81CA-DBAFBAAB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355CB-9A2D-3146-8AD7-B06EF0D3044F}" type="datetime1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A0D31-7952-AD36-5684-9825EF7C4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326C-F7D6-E55A-97F3-51AE10E4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4213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28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A7D98-D976-8119-95E2-5C5CDBDB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B80AB-6833-E63A-8421-E23B46012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8B8F3-6E51-BC61-D165-1ECC0A2AB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4276A-4C15-953B-8415-AD3174547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AA1E-1FC9-FF4F-B2EE-58F45298DDE2}" type="datetime1">
              <a:rPr lang="en-US" smtClean="0"/>
              <a:t>11/1/26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3ECF5-8000-A522-03F9-9ABC1E6E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169A0-7516-204C-23C0-18495535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4213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9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5910-C3ED-ACCB-3113-BC7428CBA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C57F8-9473-112B-E575-611FAFB3C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EE47A-B18A-0B90-8993-C71EED842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100F8-1020-7D29-0747-84D029A97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6F840-A8CD-BCFB-CFA6-1B29021F6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D1361-8E37-64BE-8A8A-C54353160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6DC0F-A1F7-B641-9492-BBAB09575E98}" type="datetime1">
              <a:rPr lang="en-US" smtClean="0"/>
              <a:t>11/1/26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70DB1-BD84-B804-3A0F-6BEFFE05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7B804-03B8-1F00-2CAF-DF1FB7F0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4213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1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E0AC-B847-5420-90DD-E1C723D6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B7D6E-1831-73CB-34D4-3F499AA1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9F09-0423-5C49-9531-2BCB1FBB7911}" type="datetime1">
              <a:rPr lang="en-US" smtClean="0"/>
              <a:t>11/1/26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0EDA0-A44D-F72E-5026-E2866F1B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BE4A4-2273-ABBB-504B-C9717EB3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4213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6FDD4-80D3-6ED4-1E9A-33249DAF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8EBF-149B-964A-A133-799895995CC2}" type="datetime1">
              <a:rPr lang="en-US" smtClean="0"/>
              <a:t>11/1/26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A43AB-A410-D340-1668-AAB1829E9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3CFDF-600E-17DB-9120-7FFA1C98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4213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6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D992-0870-DB25-AABB-A7F63E49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BEF19-D3E3-4345-EB9E-8980A56E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AA71C-0518-4F37-FBA6-AC0C6DD70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B1319-6C59-AD9A-8B59-249BE74E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6314B-600B-5848-AEC7-50BDBB80A495}" type="datetime1">
              <a:rPr lang="en-US" smtClean="0"/>
              <a:t>11/1/26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980E6-1B4A-604A-59F5-28ED0A06C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FE50D-FFD7-7B18-FAEE-7B11BC2B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4213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4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5D70-CB40-BBA8-075D-3102CD14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7B777-B714-A281-E615-2B2A60D95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723C6-9671-83C9-04B4-DAEE9733F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67FC8-110E-825B-039E-8E22AC3D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05B7-1AA5-A349-B18C-476A719B5B18}" type="datetime1">
              <a:rPr lang="en-US" smtClean="0"/>
              <a:t>11/1/26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50E8C-BE0E-A993-65D4-CF526921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3D564-C340-1E81-C505-60AF3791E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4213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2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4A4C-FC7C-12A7-6BF2-CA4CA4D8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FCD1C-EF82-FB3C-6240-136863DB9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EF12D-B11E-3C20-A365-8B95DA7D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081B-4726-814D-9CB6-D8D432F3BAA7}" type="datetime1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43900-4521-19FE-B90C-DB668B508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D93E-AE6A-2C03-0524-55FBC48C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4213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20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A53A0-5180-FC07-3653-F8C63A80D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98401-FF76-429D-1C7E-938621E6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AD9D0-55FD-B5DA-948C-ED696F89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6B51B-A645-D249-8F78-550ADFD8950E}" type="datetime1">
              <a:rPr lang="en-US" smtClean="0"/>
              <a:t>11/1/26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63D87-F9FA-BC3A-96C2-50C475E9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7F044-16B8-812F-014D-227B13A5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34213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5E74F64-7780-9C4F-983D-3F814FF80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4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C721AB-8D05-C117-4F34-C9F6948F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789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A1A67-576A-CCB9-C61A-4582F3C54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0004"/>
            <a:ext cx="7886700" cy="3432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8975E-C97E-A58C-E3CD-FDD39A0E7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22DAF-15F4-314E-A047-A06D5E0FAD10}" type="datetime1">
              <a:rPr lang="en-US" smtClean="0"/>
              <a:t>11/1/26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0BB96-31C5-7CFB-12A8-9FC123603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C7FE4-1033-F286-CE6D-7F60E3D4F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20260" y="46999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74F64-7780-9C4F-983D-3F814FF801C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CB449-3F5F-16AF-AFE3-AF9F65090952}"/>
              </a:ext>
            </a:extLst>
          </p:cNvPr>
          <p:cNvSpPr/>
          <p:nvPr userDrawn="1"/>
        </p:nvSpPr>
        <p:spPr>
          <a:xfrm>
            <a:off x="9049616" y="-6284"/>
            <a:ext cx="104775" cy="3358634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C29E13-4BE9-36DE-A425-89E87267D06B}"/>
              </a:ext>
            </a:extLst>
          </p:cNvPr>
          <p:cNvSpPr/>
          <p:nvPr userDrawn="1"/>
        </p:nvSpPr>
        <p:spPr>
          <a:xfrm>
            <a:off x="9049616" y="3568043"/>
            <a:ext cx="104775" cy="1581742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F3118C-3BDD-F4B3-7A14-936A68E21914}"/>
              </a:ext>
            </a:extLst>
          </p:cNvPr>
          <p:cNvSpPr/>
          <p:nvPr userDrawn="1"/>
        </p:nvSpPr>
        <p:spPr>
          <a:xfrm>
            <a:off x="0" y="0"/>
            <a:ext cx="104775" cy="3358634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EB7799-6B72-9257-9319-40D9AB3744E6}"/>
              </a:ext>
            </a:extLst>
          </p:cNvPr>
          <p:cNvSpPr/>
          <p:nvPr userDrawn="1"/>
        </p:nvSpPr>
        <p:spPr>
          <a:xfrm>
            <a:off x="0" y="3568043"/>
            <a:ext cx="104775" cy="1581742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BEC5F3-40D8-2649-4709-A02A3369F74C}"/>
              </a:ext>
            </a:extLst>
          </p:cNvPr>
          <p:cNvSpPr/>
          <p:nvPr userDrawn="1"/>
        </p:nvSpPr>
        <p:spPr>
          <a:xfrm rot="5400000">
            <a:off x="4519573" y="-4525336"/>
            <a:ext cx="104854" cy="91440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219A9E-3712-5166-0975-886DE24516BC}"/>
              </a:ext>
            </a:extLst>
          </p:cNvPr>
          <p:cNvSpPr/>
          <p:nvPr userDrawn="1"/>
        </p:nvSpPr>
        <p:spPr>
          <a:xfrm rot="5400000">
            <a:off x="3372703" y="1720791"/>
            <a:ext cx="113114" cy="6753746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778A15-E39E-F829-5865-11D09513C06D}"/>
              </a:ext>
            </a:extLst>
          </p:cNvPr>
          <p:cNvSpPr/>
          <p:nvPr userDrawn="1"/>
        </p:nvSpPr>
        <p:spPr>
          <a:xfrm rot="5400000">
            <a:off x="8964828" y="4959702"/>
            <a:ext cx="102395" cy="276731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5297A9-60B6-50F1-CA7C-A22D0DCF8605}"/>
              </a:ext>
            </a:extLst>
          </p:cNvPr>
          <p:cNvSpPr/>
          <p:nvPr userDrawn="1"/>
        </p:nvSpPr>
        <p:spPr>
          <a:xfrm>
            <a:off x="5665371" y="5041107"/>
            <a:ext cx="3489020" cy="102393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8199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3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Daytona" panose="020B060403050004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e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rtexgpgpu/Vol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rtexgpgpu/Volt/blob/v1.1/docs/7.1.tutorial_kernel_extension.md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rtexgpgpu/Volt/blob/v1.1/docs/7.2.tutorial_host_extension.md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rtexgpgpu/Volt/blob/v1.1/docs/7.3.tutorial_shared_memory.md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rtexgpgpu/Volt/blob/v1.1/docs/7.4.tutorial_tensor_core.md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07169" y="781050"/>
            <a:ext cx="7929664" cy="1790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altLang="ko-Kore-KR" sz="3600" dirty="0"/>
              <a:t>Volt Compiler Pipeline</a:t>
            </a:r>
            <a:endParaRPr lang="en" sz="3600" dirty="0">
              <a:latin typeface="+mn-lt"/>
              <a:sym typeface="Roboto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43000" y="2746311"/>
            <a:ext cx="6858000" cy="104317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altLang="ko-Kore-KR" dirty="0" err="1"/>
              <a:t>Shinnung</a:t>
            </a:r>
            <a:r>
              <a:rPr lang="en" altLang="ko-Kore-KR" dirty="0"/>
              <a:t> Jeong </a:t>
            </a:r>
          </a:p>
          <a:p>
            <a:pPr>
              <a:spcBef>
                <a:spcPts val="0"/>
              </a:spcBef>
            </a:pPr>
            <a:r>
              <a:rPr lang="en" altLang="ko-Kore-KR" dirty="0">
                <a:sym typeface="Roboto"/>
              </a:rPr>
              <a:t>Georgia Tech</a:t>
            </a:r>
          </a:p>
          <a:p>
            <a:pPr>
              <a:spcBef>
                <a:spcPts val="0"/>
              </a:spcBef>
            </a:pPr>
            <a:r>
              <a:rPr lang="en" altLang="ko-Kore-KR" dirty="0">
                <a:sym typeface="Roboto"/>
              </a:rPr>
              <a:t>MICRO Vortex Tutorial 2026</a:t>
            </a:r>
          </a:p>
        </p:txBody>
      </p:sp>
      <p:pic>
        <p:nvPicPr>
          <p:cNvPr id="4098" name="Picture 2" descr="Georgia Institute of Technology - Georgia ONmyLINE">
            <a:extLst>
              <a:ext uri="{FF2B5EF4-FFF2-40B4-BE49-F238E27FC236}">
                <a16:creationId xmlns:a16="http://schemas.microsoft.com/office/drawing/2014/main" id="{F378F6CB-D775-F389-8362-901CD53EA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371" y="4489059"/>
            <a:ext cx="1545590" cy="39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rand Guidelines | Identity | Logos and Marks">
            <a:extLst>
              <a:ext uri="{FF2B5EF4-FFF2-40B4-BE49-F238E27FC236}">
                <a16:creationId xmlns:a16="http://schemas.microsoft.com/office/drawing/2014/main" id="{9F7260D8-E903-E1DD-CB6A-78291238E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2" t="23579" r="16500" b="24987"/>
          <a:stretch/>
        </p:blipFill>
        <p:spPr bwMode="auto">
          <a:xfrm>
            <a:off x="7835706" y="4363915"/>
            <a:ext cx="1114772" cy="58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47DC-48E3-D065-97D3-5495E69C7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2CBC9-97EE-068E-815F-397DC6177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ore-KR" dirty="0"/>
              <a:t>Program Execution on the Vortex GPU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5A3DB2-0298-7B15-2BB3-6424CC48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Image of Vortex Microarchitecture">
            <a:extLst>
              <a:ext uri="{FF2B5EF4-FFF2-40B4-BE49-F238E27FC236}">
                <a16:creationId xmlns:a16="http://schemas.microsoft.com/office/drawing/2014/main" id="{8D2269CE-DFD6-591C-8408-A75AAEDD6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60" y="959225"/>
            <a:ext cx="3483110" cy="263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5928274-F508-54C1-BA91-68DBBB48A1B4}"/>
              </a:ext>
            </a:extLst>
          </p:cNvPr>
          <p:cNvSpPr txBox="1">
            <a:spLocks/>
          </p:cNvSpPr>
          <p:nvPr/>
        </p:nvSpPr>
        <p:spPr>
          <a:xfrm>
            <a:off x="4617706" y="3712210"/>
            <a:ext cx="4033346" cy="1559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Vortex GPU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binary using the Vortex GPU ISA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 executable using the Vortex driver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A2419E26-9C7F-2395-B59F-314992A9BD99}"/>
              </a:ext>
            </a:extLst>
          </p:cNvPr>
          <p:cNvSpPr txBox="1">
            <a:spLocks/>
          </p:cNvSpPr>
          <p:nvPr/>
        </p:nvSpPr>
        <p:spPr>
          <a:xfrm>
            <a:off x="24384" y="3712210"/>
            <a:ext cx="4593322" cy="1559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code with control flow &amp; special </a:t>
            </a:r>
            <a:r>
              <a:rPr lang="en-US" altLang="ko-Kore-KR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 code with device communication</a:t>
            </a: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F63470F6-7BB2-84A6-DF8C-51918CBE23B5}"/>
              </a:ext>
            </a:extLst>
          </p:cNvPr>
          <p:cNvSpPr/>
          <p:nvPr/>
        </p:nvSpPr>
        <p:spPr>
          <a:xfrm>
            <a:off x="548812" y="1373082"/>
            <a:ext cx="3503650" cy="9465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 dirty="0"/>
              <a:t>__kernel</a:t>
            </a:r>
            <a:r>
              <a:rPr lang="en-KR" sz="1100" b="1" dirty="0"/>
              <a:t> </a:t>
            </a:r>
            <a:r>
              <a:rPr lang="en-KR" sz="1100" dirty="0"/>
              <a:t>void foo(){</a:t>
            </a:r>
          </a:p>
          <a:p>
            <a:r>
              <a:rPr lang="en-US" sz="1100" dirty="0"/>
              <a:t>    t</a:t>
            </a:r>
            <a:r>
              <a:rPr lang="en-KR" sz="1100" dirty="0"/>
              <a:t>id = </a:t>
            </a:r>
            <a:r>
              <a:rPr lang="en-KR" sz="1100" b="1" dirty="0"/>
              <a:t>get_global_id</a:t>
            </a:r>
            <a:r>
              <a:rPr lang="en-KR" sz="1100" dirty="0"/>
              <a:t>(0);</a:t>
            </a:r>
          </a:p>
          <a:p>
            <a:r>
              <a:rPr lang="en-KR" sz="1100" dirty="0"/>
              <a:t>    …</a:t>
            </a:r>
          </a:p>
          <a:p>
            <a:r>
              <a:rPr lang="en-KR" sz="1100" dirty="0"/>
              <a:t>    </a:t>
            </a:r>
            <a:r>
              <a:rPr lang="en-US" sz="1100" b="1" dirty="0"/>
              <a:t>barrier</a:t>
            </a:r>
            <a:r>
              <a:rPr lang="en-KR" sz="1100" dirty="0"/>
              <a:t>(…);</a:t>
            </a:r>
          </a:p>
          <a:p>
            <a:r>
              <a:rPr lang="en-KR" sz="1100"/>
              <a:t>}</a:t>
            </a:r>
            <a:endParaRPr lang="en-KR" sz="1100" dirty="0"/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E3CE5473-3EDC-A11C-60B7-C476A3A7B881}"/>
              </a:ext>
            </a:extLst>
          </p:cNvPr>
          <p:cNvSpPr/>
          <p:nvPr/>
        </p:nvSpPr>
        <p:spPr>
          <a:xfrm>
            <a:off x="548812" y="2440814"/>
            <a:ext cx="3503650" cy="11552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 dirty="0"/>
              <a:t>__host </a:t>
            </a:r>
            <a:r>
              <a:rPr lang="en-US" sz="1100" dirty="0" err="1"/>
              <a:t>i</a:t>
            </a:r>
            <a:r>
              <a:rPr lang="en-KR" sz="1100" dirty="0"/>
              <a:t>nt main(){</a:t>
            </a:r>
          </a:p>
          <a:p>
            <a:r>
              <a:rPr lang="en-KR" sz="1100" dirty="0"/>
              <a:t>    …</a:t>
            </a:r>
          </a:p>
          <a:p>
            <a:r>
              <a:rPr lang="en-KR" sz="1100" dirty="0"/>
              <a:t>    </a:t>
            </a:r>
            <a:r>
              <a:rPr lang="en-US" sz="1100" dirty="0" err="1"/>
              <a:t>cl_mem</a:t>
            </a:r>
            <a:r>
              <a:rPr lang="en-US" sz="1100" dirty="0"/>
              <a:t> </a:t>
            </a:r>
            <a:r>
              <a:rPr lang="en-US" sz="1100" dirty="0" err="1"/>
              <a:t>A_clmem</a:t>
            </a:r>
            <a:r>
              <a:rPr lang="en-US" sz="1100" dirty="0"/>
              <a:t> = </a:t>
            </a:r>
            <a:r>
              <a:rPr lang="en-US" sz="1100" b="1" dirty="0" err="1"/>
              <a:t>clCreateBuffer</a:t>
            </a:r>
            <a:r>
              <a:rPr lang="en-US" sz="1100" dirty="0"/>
              <a:t>(context, …); </a:t>
            </a:r>
            <a:br>
              <a:rPr lang="en-US" sz="1100" dirty="0"/>
            </a:br>
            <a:r>
              <a:rPr lang="en-KR" sz="1100" dirty="0"/>
              <a:t>    </a:t>
            </a:r>
            <a:r>
              <a:rPr lang="en-US" sz="1100" b="1" dirty="0" err="1"/>
              <a:t>clEnqueueNDRangeKernel</a:t>
            </a:r>
            <a:r>
              <a:rPr lang="en-US" sz="1100" dirty="0"/>
              <a:t>(</a:t>
            </a:r>
            <a:r>
              <a:rPr lang="en-US" sz="1100" dirty="0" err="1"/>
              <a:t>command_queue</a:t>
            </a:r>
            <a:r>
              <a:rPr lang="en-US" sz="1100" dirty="0"/>
              <a:t>, …);</a:t>
            </a:r>
            <a:br>
              <a:rPr lang="en-US" sz="1100" dirty="0"/>
            </a:br>
            <a:r>
              <a:rPr lang="en-US" sz="1100" dirty="0"/>
              <a:t>    …</a:t>
            </a:r>
            <a:endParaRPr lang="en-KR" sz="1100" dirty="0"/>
          </a:p>
          <a:p>
            <a:r>
              <a:rPr lang="en-KR" sz="1100" dirty="0"/>
              <a:t>}</a:t>
            </a:r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5062F74F-1134-8D3F-1F5D-513E20F493B3}"/>
              </a:ext>
            </a:extLst>
          </p:cNvPr>
          <p:cNvSpPr/>
          <p:nvPr/>
        </p:nvSpPr>
        <p:spPr>
          <a:xfrm>
            <a:off x="4248058" y="1989801"/>
            <a:ext cx="494106" cy="65792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326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8B4D-F4CF-1EB6-17F1-9FC40BF9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B3964-CEB3-A07C-0865-F4EB5893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ore-KR" dirty="0"/>
              <a:t>Expanding</a:t>
            </a:r>
            <a:r>
              <a:rPr lang="en" altLang="ko-Kore-KR" b="1" dirty="0"/>
              <a:t> GPU Variants on Vortex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E3A1245-CC2B-E41E-6996-6DBCD2B2E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5C3DA64-C37C-37A8-186B-8D3D335DD2F8}"/>
              </a:ext>
            </a:extLst>
          </p:cNvPr>
          <p:cNvSpPr txBox="1">
            <a:spLocks/>
          </p:cNvSpPr>
          <p:nvPr/>
        </p:nvSpPr>
        <p:spPr>
          <a:xfrm>
            <a:off x="4544554" y="3712210"/>
            <a:ext cx="4501910" cy="1559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Vortex GPU Variant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binary using the </a:t>
            </a:r>
            <a:r>
              <a:rPr lang="en-US" altLang="ko-Kore-KR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Extended</a:t>
            </a: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Vortex GPU ISA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 executable using the </a:t>
            </a:r>
            <a:r>
              <a:rPr lang="en-US" altLang="ko-Kore-KR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Extended</a:t>
            </a: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Vortex driver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2DC1F731-1EC0-AB4B-19D6-A3C0401B51D2}"/>
              </a:ext>
            </a:extLst>
          </p:cNvPr>
          <p:cNvSpPr/>
          <p:nvPr/>
        </p:nvSpPr>
        <p:spPr>
          <a:xfrm>
            <a:off x="548812" y="1373082"/>
            <a:ext cx="3503650" cy="9465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 dirty="0"/>
              <a:t>__kernel</a:t>
            </a:r>
            <a:r>
              <a:rPr lang="en-KR" sz="1100" b="1" dirty="0"/>
              <a:t> </a:t>
            </a:r>
            <a:r>
              <a:rPr lang="en-KR" sz="1100" dirty="0"/>
              <a:t>void foo(){</a:t>
            </a:r>
          </a:p>
          <a:p>
            <a:r>
              <a:rPr lang="en-US" sz="1100" dirty="0"/>
              <a:t>    t</a:t>
            </a:r>
            <a:r>
              <a:rPr lang="en-KR" sz="1100" dirty="0"/>
              <a:t>id = </a:t>
            </a:r>
            <a:r>
              <a:rPr lang="en-KR" sz="1100" b="1" dirty="0"/>
              <a:t>get_global_id</a:t>
            </a:r>
            <a:r>
              <a:rPr lang="en-KR" sz="1100" dirty="0"/>
              <a:t>(0);</a:t>
            </a:r>
          </a:p>
          <a:p>
            <a:r>
              <a:rPr lang="en-KR" sz="1100" dirty="0"/>
              <a:t>    …</a:t>
            </a:r>
          </a:p>
          <a:p>
            <a:r>
              <a:rPr lang="en-KR" sz="1100" dirty="0"/>
              <a:t>    </a:t>
            </a:r>
            <a:r>
              <a:rPr lang="en-US" sz="1100" b="1" dirty="0"/>
              <a:t>barrier</a:t>
            </a:r>
            <a:r>
              <a:rPr lang="en-KR" sz="1100" dirty="0"/>
              <a:t>(…);</a:t>
            </a:r>
          </a:p>
          <a:p>
            <a:r>
              <a:rPr lang="en-KR" sz="1100"/>
              <a:t>}</a:t>
            </a:r>
            <a:endParaRPr lang="en-KR" sz="1100" dirty="0"/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04945274-4FA8-C477-DD10-F6A0023CD61D}"/>
              </a:ext>
            </a:extLst>
          </p:cNvPr>
          <p:cNvSpPr/>
          <p:nvPr/>
        </p:nvSpPr>
        <p:spPr>
          <a:xfrm>
            <a:off x="548812" y="2440814"/>
            <a:ext cx="3503650" cy="11552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 dirty="0"/>
              <a:t>__host </a:t>
            </a:r>
            <a:r>
              <a:rPr lang="en-US" sz="1100" dirty="0" err="1"/>
              <a:t>i</a:t>
            </a:r>
            <a:r>
              <a:rPr lang="en-KR" sz="1100" dirty="0"/>
              <a:t>nt main(){</a:t>
            </a:r>
          </a:p>
          <a:p>
            <a:r>
              <a:rPr lang="en-KR" sz="1100" dirty="0"/>
              <a:t>    …</a:t>
            </a:r>
          </a:p>
          <a:p>
            <a:r>
              <a:rPr lang="en-KR" sz="1100" dirty="0"/>
              <a:t>    </a:t>
            </a:r>
            <a:r>
              <a:rPr lang="en-US" sz="1100" dirty="0" err="1"/>
              <a:t>cl_mem</a:t>
            </a:r>
            <a:r>
              <a:rPr lang="en-US" sz="1100" dirty="0"/>
              <a:t> </a:t>
            </a:r>
            <a:r>
              <a:rPr lang="en-US" sz="1100" dirty="0" err="1"/>
              <a:t>A_clmem</a:t>
            </a:r>
            <a:r>
              <a:rPr lang="en-US" sz="1100" dirty="0"/>
              <a:t> = </a:t>
            </a:r>
            <a:r>
              <a:rPr lang="en-US" sz="1100" b="1" dirty="0" err="1"/>
              <a:t>clCreateBuffer</a:t>
            </a:r>
            <a:r>
              <a:rPr lang="en-US" sz="1100" dirty="0"/>
              <a:t>(context, …); </a:t>
            </a:r>
            <a:br>
              <a:rPr lang="en-US" sz="1100" dirty="0"/>
            </a:br>
            <a:r>
              <a:rPr lang="en-KR" sz="1100" dirty="0"/>
              <a:t>    </a:t>
            </a:r>
            <a:r>
              <a:rPr lang="en-US" sz="1100" b="1" dirty="0" err="1"/>
              <a:t>clEnqueueNDRangeKernel</a:t>
            </a:r>
            <a:r>
              <a:rPr lang="en-US" sz="1100" dirty="0"/>
              <a:t>(</a:t>
            </a:r>
            <a:r>
              <a:rPr lang="en-US" sz="1100" dirty="0" err="1"/>
              <a:t>command_queue</a:t>
            </a:r>
            <a:r>
              <a:rPr lang="en-US" sz="1100" dirty="0"/>
              <a:t>, …);</a:t>
            </a:r>
            <a:br>
              <a:rPr lang="en-US" sz="1100" dirty="0"/>
            </a:br>
            <a:r>
              <a:rPr lang="en-US" sz="1100" dirty="0"/>
              <a:t>    …</a:t>
            </a:r>
            <a:endParaRPr lang="en-KR" sz="1100" dirty="0"/>
          </a:p>
          <a:p>
            <a:r>
              <a:rPr lang="en-KR" sz="1100" dirty="0"/>
              <a:t>}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4798E89-9FB6-B1CB-1551-CF71C73A63AC}"/>
              </a:ext>
            </a:extLst>
          </p:cNvPr>
          <p:cNvSpPr txBox="1">
            <a:spLocks/>
          </p:cNvSpPr>
          <p:nvPr/>
        </p:nvSpPr>
        <p:spPr>
          <a:xfrm>
            <a:off x="24384" y="3712210"/>
            <a:ext cx="4593322" cy="1559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code with control flow &amp; special </a:t>
            </a:r>
            <a:r>
              <a:rPr lang="en-US" altLang="ko-Kore-KR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 Code with device communication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6E8ABD-4750-896A-78D2-DB65B2183D69}"/>
              </a:ext>
            </a:extLst>
          </p:cNvPr>
          <p:cNvSpPr/>
          <p:nvPr/>
        </p:nvSpPr>
        <p:spPr>
          <a:xfrm>
            <a:off x="4937760" y="1387744"/>
            <a:ext cx="3657427" cy="22082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58E1A6D-80F0-4B1D-E286-3E4F13D225AF}"/>
              </a:ext>
            </a:extLst>
          </p:cNvPr>
          <p:cNvSpPr txBox="1">
            <a:spLocks/>
          </p:cNvSpPr>
          <p:nvPr/>
        </p:nvSpPr>
        <p:spPr>
          <a:xfrm>
            <a:off x="4969143" y="5594376"/>
            <a:ext cx="3045570" cy="1559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HW-Side Consideration</a:t>
            </a: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Flexible Hardware &amp; Microarchitecture &amp;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Number of HW Component</a:t>
            </a: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Flexible ISA &amp; Runtime</a:t>
            </a:r>
          </a:p>
        </p:txBody>
      </p:sp>
      <p:pic>
        <p:nvPicPr>
          <p:cNvPr id="12" name="Picture 2" descr="Owner avatar">
            <a:extLst>
              <a:ext uri="{FF2B5EF4-FFF2-40B4-BE49-F238E27FC236}">
                <a16:creationId xmlns:a16="http://schemas.microsoft.com/office/drawing/2014/main" id="{09ABC397-27E5-35A5-9C09-1D8EF43BE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5624" y="1556854"/>
            <a:ext cx="1072956" cy="113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4877CA-2EF8-32D3-1D21-B238F3469B54}"/>
              </a:ext>
            </a:extLst>
          </p:cNvPr>
          <p:cNvSpPr txBox="1"/>
          <p:nvPr/>
        </p:nvSpPr>
        <p:spPr>
          <a:xfrm>
            <a:off x="7199082" y="1561736"/>
            <a:ext cx="1360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000" b="1" dirty="0" err="1">
                <a:latin typeface="Daytona" panose="020B0604030500040204" pitchFamily="34" charset="0"/>
              </a:rPr>
              <a:t>SkyBox</a:t>
            </a:r>
            <a:endParaRPr kumimoji="1" lang="ko-Kore-KR" altLang="en-US" sz="2000" b="1" dirty="0">
              <a:latin typeface="Daytona" panose="020B0604030500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D6E66C-542A-8405-0190-8FB07C6EC5A1}"/>
              </a:ext>
            </a:extLst>
          </p:cNvPr>
          <p:cNvSpPr txBox="1"/>
          <p:nvPr/>
        </p:nvSpPr>
        <p:spPr>
          <a:xfrm>
            <a:off x="5522238" y="2756654"/>
            <a:ext cx="1722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b="1" dirty="0" err="1">
                <a:latin typeface="Daytona" panose="020B0604030500040204" pitchFamily="34" charset="0"/>
              </a:rPr>
              <a:t>SparseWeaver</a:t>
            </a:r>
            <a:endParaRPr kumimoji="1" lang="ko-Kore-KR" altLang="en-US" b="1" dirty="0">
              <a:latin typeface="Daytona" panose="020B0604030500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BCDF2F-97AF-0AB6-1876-BD63EDC7254D}"/>
              </a:ext>
            </a:extLst>
          </p:cNvPr>
          <p:cNvSpPr txBox="1"/>
          <p:nvPr/>
        </p:nvSpPr>
        <p:spPr>
          <a:xfrm>
            <a:off x="6383451" y="2224843"/>
            <a:ext cx="1631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 b="1" dirty="0">
                <a:latin typeface="Daytona" panose="020B0604030500040204" pitchFamily="34" charset="0"/>
              </a:rPr>
              <a:t>Tensor Core</a:t>
            </a:r>
            <a:endParaRPr kumimoji="1" lang="ko-Kore-KR" altLang="en-US" sz="1200" b="1" dirty="0">
              <a:latin typeface="Daytona" panose="020B0604030500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8E8402-1978-E06C-3968-9F19043C1301}"/>
              </a:ext>
            </a:extLst>
          </p:cNvPr>
          <p:cNvSpPr txBox="1"/>
          <p:nvPr/>
        </p:nvSpPr>
        <p:spPr>
          <a:xfrm>
            <a:off x="7415202" y="2592751"/>
            <a:ext cx="1631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b="1" dirty="0" err="1">
                <a:latin typeface="Daytona" panose="020B0604030500040204" pitchFamily="34" charset="0"/>
              </a:rPr>
              <a:t>Tapeout</a:t>
            </a:r>
            <a:endParaRPr kumimoji="1" lang="ko-Kore-KR" altLang="en-US" sz="1100" b="1" dirty="0">
              <a:latin typeface="Daytona" panose="020B0604030500040204" pitchFamily="34" charset="0"/>
            </a:endParaRPr>
          </a:p>
        </p:txBody>
      </p:sp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96F6EC58-364B-1C8C-3468-935B8E653804}"/>
              </a:ext>
            </a:extLst>
          </p:cNvPr>
          <p:cNvSpPr/>
          <p:nvPr/>
        </p:nvSpPr>
        <p:spPr>
          <a:xfrm>
            <a:off x="4248058" y="1989801"/>
            <a:ext cx="494106" cy="65792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967A2-06F6-58F5-861A-18D69D08FC80}"/>
              </a:ext>
            </a:extLst>
          </p:cNvPr>
          <p:cNvSpPr txBox="1"/>
          <p:nvPr/>
        </p:nvSpPr>
        <p:spPr>
          <a:xfrm>
            <a:off x="6820260" y="3118157"/>
            <a:ext cx="1631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b="1" dirty="0">
                <a:latin typeface="Daytona" panose="020B0604030500040204" pitchFamily="34" charset="0"/>
              </a:rPr>
              <a:t>Vortex 3.0</a:t>
            </a:r>
            <a:endParaRPr kumimoji="1" lang="ko-Kore-KR" altLang="en-US" sz="1100" b="1" dirty="0">
              <a:latin typeface="Daytona" panose="020B0604030500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7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22B4-0481-3899-E4BF-52928D6CC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566A8-1222-13B2-1BA0-6018FC6C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ore-KR" b="1" dirty="0"/>
              <a:t>Programs from Diverse Frontends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3C734C4-9592-8D2C-89C0-249B14D7B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4</a:t>
            </a:fld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1AF51AF-9A45-5DB8-712B-8906000A63C1}"/>
              </a:ext>
            </a:extLst>
          </p:cNvPr>
          <p:cNvSpPr txBox="1">
            <a:spLocks/>
          </p:cNvSpPr>
          <p:nvPr/>
        </p:nvSpPr>
        <p:spPr>
          <a:xfrm>
            <a:off x="24384" y="3712210"/>
            <a:ext cx="4366714" cy="1559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 with Diverse Frontends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code with </a:t>
            </a:r>
            <a:r>
              <a:rPr lang="en-US" altLang="ko-Kore-KR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Frontend-specific</a:t>
            </a: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ore-KR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semantics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 Code with </a:t>
            </a:r>
            <a:r>
              <a:rPr lang="en-US" altLang="ko-Kore-KR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Frontend-specific runtimes</a:t>
            </a:r>
            <a:endParaRPr lang="en-US" altLang="ko-Kore-KR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D803246-B69F-16B8-3C07-D558DEDBD848}"/>
              </a:ext>
            </a:extLst>
          </p:cNvPr>
          <p:cNvSpPr txBox="1">
            <a:spLocks/>
          </p:cNvSpPr>
          <p:nvPr/>
        </p:nvSpPr>
        <p:spPr>
          <a:xfrm>
            <a:off x="4969143" y="5594376"/>
            <a:ext cx="3045570" cy="1559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HW-Side Consideration</a:t>
            </a: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Flexible Hardware &amp; Microarchitecture &amp;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Number of HW Component</a:t>
            </a:r>
          </a:p>
          <a:p>
            <a:pPr algn="ctr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Flexible ISA &amp; Runtime</a:t>
            </a:r>
          </a:p>
        </p:txBody>
      </p:sp>
      <p:sp>
        <p:nvSpPr>
          <p:cNvPr id="18" name="오른쪽 화살표[R] 17">
            <a:extLst>
              <a:ext uri="{FF2B5EF4-FFF2-40B4-BE49-F238E27FC236}">
                <a16:creationId xmlns:a16="http://schemas.microsoft.com/office/drawing/2014/main" id="{AF0CB799-A905-2B69-17CF-E18B6FCF35FC}"/>
              </a:ext>
            </a:extLst>
          </p:cNvPr>
          <p:cNvSpPr/>
          <p:nvPr/>
        </p:nvSpPr>
        <p:spPr>
          <a:xfrm>
            <a:off x="4248058" y="1989801"/>
            <a:ext cx="494106" cy="65792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8C9325-0BD4-E197-78A9-175874035FF6}"/>
              </a:ext>
            </a:extLst>
          </p:cNvPr>
          <p:cNvSpPr/>
          <p:nvPr/>
        </p:nvSpPr>
        <p:spPr>
          <a:xfrm>
            <a:off x="372767" y="1387675"/>
            <a:ext cx="3657427" cy="22082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1" name="Google Shape;104;p18" descr="OpenCL - Wikipedia">
            <a:extLst>
              <a:ext uri="{FF2B5EF4-FFF2-40B4-BE49-F238E27FC236}">
                <a16:creationId xmlns:a16="http://schemas.microsoft.com/office/drawing/2014/main" id="{9E3B9B7D-3331-65BD-4B54-8507C1F116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1743928"/>
            <a:ext cx="1702533" cy="694058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9" name="Google Shape;112;p18" descr="CUDA - Wikipedia">
            <a:extLst>
              <a:ext uri="{FF2B5EF4-FFF2-40B4-BE49-F238E27FC236}">
                <a16:creationId xmlns:a16="http://schemas.microsoft.com/office/drawing/2014/main" id="{56A3ACB9-0845-F632-1DB2-A2C7863F3D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3601" y="2556935"/>
            <a:ext cx="1427315" cy="789239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5E26D31-CFEF-A4B1-5DF5-A6CD497F796C}"/>
              </a:ext>
            </a:extLst>
          </p:cNvPr>
          <p:cNvSpPr txBox="1"/>
          <p:nvPr/>
        </p:nvSpPr>
        <p:spPr>
          <a:xfrm>
            <a:off x="1371776" y="2730287"/>
            <a:ext cx="144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800" b="1" dirty="0">
                <a:latin typeface="Daytona" panose="020B0604030500040204" pitchFamily="34" charset="0"/>
              </a:rPr>
              <a:t>Triton</a:t>
            </a:r>
            <a:endParaRPr kumimoji="1" lang="ko-Kore-KR" altLang="en-US" b="1" dirty="0">
              <a:latin typeface="Daytona" panose="020B0604030500040204" pitchFamily="34" charset="0"/>
            </a:endParaRP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FE477970-6877-B137-7C61-85ED84B9ECC8}"/>
              </a:ext>
            </a:extLst>
          </p:cNvPr>
          <p:cNvSpPr txBox="1">
            <a:spLocks/>
          </p:cNvSpPr>
          <p:nvPr/>
        </p:nvSpPr>
        <p:spPr>
          <a:xfrm>
            <a:off x="4544554" y="3712210"/>
            <a:ext cx="4501910" cy="1559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Vortex GPU Variant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binary using the </a:t>
            </a:r>
            <a:r>
              <a:rPr lang="en-US" altLang="ko-Kore-KR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Extended</a:t>
            </a: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Vortex GPU ISA</a:t>
            </a:r>
          </a:p>
          <a:p>
            <a:pPr algn="ctr">
              <a:lnSpc>
                <a:spcPct val="80000"/>
              </a:lnSpc>
            </a:pP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 executable using </a:t>
            </a:r>
            <a:r>
              <a:rPr lang="en-US" altLang="ko-Kore-KR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Extended</a:t>
            </a:r>
            <a:r>
              <a:rPr lang="en-US" altLang="ko-Kore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Vortex driver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9400B7-E217-90CF-2770-F44F3D11564E}"/>
              </a:ext>
            </a:extLst>
          </p:cNvPr>
          <p:cNvSpPr/>
          <p:nvPr/>
        </p:nvSpPr>
        <p:spPr>
          <a:xfrm>
            <a:off x="4937760" y="1387744"/>
            <a:ext cx="3657427" cy="22082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8" name="Picture 2" descr="Owner avatar">
            <a:extLst>
              <a:ext uri="{FF2B5EF4-FFF2-40B4-BE49-F238E27FC236}">
                <a16:creationId xmlns:a16="http://schemas.microsoft.com/office/drawing/2014/main" id="{AE11961A-57B7-E530-5BCA-7D24331A5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5624" y="1556854"/>
            <a:ext cx="1072956" cy="113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894A01-FC6D-EAC6-1C9D-E0CE657BD3BD}"/>
              </a:ext>
            </a:extLst>
          </p:cNvPr>
          <p:cNvSpPr txBox="1"/>
          <p:nvPr/>
        </p:nvSpPr>
        <p:spPr>
          <a:xfrm>
            <a:off x="7199082" y="1561736"/>
            <a:ext cx="1360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000" b="1" dirty="0" err="1">
                <a:latin typeface="Daytona" panose="020B0604030500040204" pitchFamily="34" charset="0"/>
              </a:rPr>
              <a:t>SkyBox</a:t>
            </a:r>
            <a:endParaRPr kumimoji="1" lang="ko-Kore-KR" altLang="en-US" sz="2000" b="1" dirty="0">
              <a:latin typeface="Daytona" panose="020B0604030500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A2640-3C05-2DD3-AEC6-B1059DFABF18}"/>
              </a:ext>
            </a:extLst>
          </p:cNvPr>
          <p:cNvSpPr txBox="1"/>
          <p:nvPr/>
        </p:nvSpPr>
        <p:spPr>
          <a:xfrm>
            <a:off x="5522238" y="2756654"/>
            <a:ext cx="1722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b="1" dirty="0" err="1">
                <a:latin typeface="Daytona" panose="020B0604030500040204" pitchFamily="34" charset="0"/>
              </a:rPr>
              <a:t>SparseWeaver</a:t>
            </a:r>
            <a:endParaRPr kumimoji="1" lang="ko-Kore-KR" altLang="en-US" b="1" dirty="0">
              <a:latin typeface="Daytona" panose="020B0604030500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EB4342-692B-5B8B-198B-BF3C6FA2632A}"/>
              </a:ext>
            </a:extLst>
          </p:cNvPr>
          <p:cNvSpPr txBox="1"/>
          <p:nvPr/>
        </p:nvSpPr>
        <p:spPr>
          <a:xfrm>
            <a:off x="6383451" y="2224843"/>
            <a:ext cx="1631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 b="1" dirty="0">
                <a:latin typeface="Daytona" panose="020B0604030500040204" pitchFamily="34" charset="0"/>
              </a:rPr>
              <a:t>Tensor Core</a:t>
            </a:r>
            <a:endParaRPr kumimoji="1" lang="ko-Kore-KR" altLang="en-US" sz="1200" b="1" dirty="0">
              <a:latin typeface="Daytona" panose="020B0604030500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94D286-5E95-11E0-5F12-DB65B50E7D1B}"/>
              </a:ext>
            </a:extLst>
          </p:cNvPr>
          <p:cNvSpPr txBox="1"/>
          <p:nvPr/>
        </p:nvSpPr>
        <p:spPr>
          <a:xfrm>
            <a:off x="7415202" y="2592751"/>
            <a:ext cx="1631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b="1" dirty="0" err="1">
                <a:latin typeface="Daytona" panose="020B0604030500040204" pitchFamily="34" charset="0"/>
              </a:rPr>
              <a:t>Tapeout</a:t>
            </a:r>
            <a:endParaRPr kumimoji="1" lang="ko-Kore-KR" altLang="en-US" sz="1100" b="1" dirty="0">
              <a:latin typeface="Daytona" panose="020B0604030500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50D4DC-4544-D391-8602-AA64B35C68BA}"/>
              </a:ext>
            </a:extLst>
          </p:cNvPr>
          <p:cNvSpPr txBox="1"/>
          <p:nvPr/>
        </p:nvSpPr>
        <p:spPr>
          <a:xfrm>
            <a:off x="6820260" y="3118157"/>
            <a:ext cx="1631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b="1" dirty="0">
                <a:latin typeface="Daytona" panose="020B0604030500040204" pitchFamily="34" charset="0"/>
              </a:rPr>
              <a:t>Vortex 3.0</a:t>
            </a:r>
            <a:endParaRPr kumimoji="1" lang="ko-Kore-KR" altLang="en-US" sz="1100" b="1" dirty="0">
              <a:latin typeface="Daytona" panose="020B0604030500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77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2F5CDC1-43CD-3BA0-A5EB-6BBEF24D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ore-KR" b="1" dirty="0"/>
              <a:t>Key Challenges in Designing VOLT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8086DA-6F11-5A50-144D-437E9EEE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004"/>
            <a:ext cx="8391782" cy="3432718"/>
          </a:xfrm>
        </p:spPr>
        <p:txBody>
          <a:bodyPr>
            <a:normAutofit/>
          </a:bodyPr>
          <a:lstStyle/>
          <a:p>
            <a:r>
              <a:rPr lang="en" altLang="ko-Kore-KR" sz="1800" b="1" dirty="0"/>
              <a:t>Challenge 1: Make SIMT-aware code generation and optimizations portable</a:t>
            </a:r>
            <a:endParaRPr lang="en" altLang="ko-Kore-KR" sz="1800" dirty="0"/>
          </a:p>
          <a:p>
            <a:pPr lvl="1"/>
            <a:r>
              <a:rPr lang="en" altLang="ko-Kore-KR" dirty="0"/>
              <a:t>How can we preserve SIMT-aware code generation and optimizations</a:t>
            </a:r>
            <a:br>
              <a:rPr lang="en" altLang="ko-Kore-KR" dirty="0"/>
            </a:br>
            <a:r>
              <a:rPr lang="en" altLang="ko-Kore-KR" dirty="0"/>
              <a:t>while remaining portable across Vortex variants and potentially other open GPUs?</a:t>
            </a:r>
          </a:p>
          <a:p>
            <a:pPr lvl="1"/>
            <a:endParaRPr lang="en" altLang="ko-Kore-KR" dirty="0"/>
          </a:p>
          <a:p>
            <a:r>
              <a:rPr lang="en" altLang="ko-Kore-KR" sz="1800" b="1" dirty="0"/>
              <a:t>Challenge 2: Support multiple frontends with minimal maintenance overhead</a:t>
            </a:r>
            <a:endParaRPr lang="en" altLang="ko-Kore-KR" sz="1800" dirty="0"/>
          </a:p>
          <a:p>
            <a:pPr lvl="1"/>
            <a:r>
              <a:rPr lang="en" altLang="ko-Kore-KR" dirty="0"/>
              <a:t>How can we design the compiler so that new frontends and GPU variants</a:t>
            </a:r>
            <a:br>
              <a:rPr lang="en" altLang="ko-Kore-KR" dirty="0"/>
            </a:br>
            <a:r>
              <a:rPr lang="en" altLang="ko-Kore-KR" dirty="0"/>
              <a:t>can be added with minimal refactoring?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A48DC36-24A4-0725-35D3-BE7DF7DED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979D2-3E7D-B15F-77AB-1BEBC4F63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99" y="273844"/>
            <a:ext cx="8491639" cy="789239"/>
          </a:xfrm>
        </p:spPr>
        <p:txBody>
          <a:bodyPr>
            <a:noAutofit/>
          </a:bodyPr>
          <a:lstStyle/>
          <a:p>
            <a:r>
              <a:rPr kumimoji="1" lang="en-US" altLang="ko-Kore-KR" sz="2700" dirty="0"/>
              <a:t>Vortex-Optimized Lightweight Toolchain (VOLT)</a:t>
            </a:r>
            <a:endParaRPr kumimoji="1" lang="ko-Kore-KR" altLang="en-US" sz="27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744106A-4CE3-B789-36E6-D0312BABD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6</a:t>
            </a:fld>
            <a:endParaRPr lang="en-US"/>
          </a:p>
        </p:txBody>
      </p:sp>
      <p:sp>
        <p:nvSpPr>
          <p:cNvPr id="39" name="Google Shape;222;p8">
            <a:extLst>
              <a:ext uri="{FF2B5EF4-FFF2-40B4-BE49-F238E27FC236}">
                <a16:creationId xmlns:a16="http://schemas.microsoft.com/office/drawing/2014/main" id="{CFD351D7-E623-DC76-7AEC-4F38AA372CF1}"/>
              </a:ext>
            </a:extLst>
          </p:cNvPr>
          <p:cNvSpPr/>
          <p:nvPr/>
        </p:nvSpPr>
        <p:spPr>
          <a:xfrm>
            <a:off x="5312081" y="1401318"/>
            <a:ext cx="3446309" cy="3612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ore-KR" sz="1600" dirty="0">
                <a:solidFill>
                  <a:schemeClr val="dk1"/>
                </a:solidFill>
                <a:latin typeface="Daytona" panose="020B0604030500040204" pitchFamily="34" charset="0"/>
                <a:ea typeface="Tahoma"/>
                <a:cs typeface="Times New Roman" panose="02020603050405020304" pitchFamily="18" charset="0"/>
                <a:sym typeface="Tahoma"/>
              </a:rPr>
              <a:t>  Front-end Compilers</a:t>
            </a:r>
          </a:p>
        </p:txBody>
      </p:sp>
      <p:sp>
        <p:nvSpPr>
          <p:cNvPr id="41" name="Google Shape;222;p8">
            <a:extLst>
              <a:ext uri="{FF2B5EF4-FFF2-40B4-BE49-F238E27FC236}">
                <a16:creationId xmlns:a16="http://schemas.microsoft.com/office/drawing/2014/main" id="{85005F2D-2CB8-0A51-A747-936047B47901}"/>
              </a:ext>
            </a:extLst>
          </p:cNvPr>
          <p:cNvSpPr/>
          <p:nvPr/>
        </p:nvSpPr>
        <p:spPr>
          <a:xfrm>
            <a:off x="5312081" y="2089736"/>
            <a:ext cx="3446308" cy="369332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ore-KR" sz="1600" dirty="0">
                <a:solidFill>
                  <a:schemeClr val="dk1"/>
                </a:solidFill>
                <a:latin typeface="Daytona" panose="020B0604030500040204" pitchFamily="34" charset="0"/>
                <a:ea typeface="Tahoma"/>
                <a:cs typeface="Times New Roman" panose="02020603050405020304" pitchFamily="18" charset="0"/>
                <a:sym typeface="Tahoma"/>
              </a:rPr>
              <a:t>  Middle-end Compiler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A07256-2670-E7D8-874E-B6D0D55D045E}"/>
              </a:ext>
            </a:extLst>
          </p:cNvPr>
          <p:cNvSpPr txBox="1"/>
          <p:nvPr/>
        </p:nvSpPr>
        <p:spPr>
          <a:xfrm>
            <a:off x="5246916" y="3348849"/>
            <a:ext cx="359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ore-KR" sz="1800" b="1" dirty="0">
                <a:solidFill>
                  <a:schemeClr val="dk1"/>
                </a:solidFill>
                <a:latin typeface="Daytona" panose="020B0604030500040204" pitchFamily="34" charset="0"/>
                <a:ea typeface="Tahoma"/>
                <a:cs typeface="Times New Roman" panose="02020603050405020304" pitchFamily="18" charset="0"/>
                <a:sym typeface="Tahoma"/>
              </a:rPr>
              <a:t>Hierarchical Compiler Design</a:t>
            </a:r>
          </a:p>
        </p:txBody>
      </p:sp>
      <p:pic>
        <p:nvPicPr>
          <p:cNvPr id="55" name="Google Shape;103;p18" descr="PoCL 3.0 Released - The Khronos Group Inc">
            <a:extLst>
              <a:ext uri="{FF2B5EF4-FFF2-40B4-BE49-F238E27FC236}">
                <a16:creationId xmlns:a16="http://schemas.microsoft.com/office/drawing/2014/main" id="{DA5DD0E2-532D-4952-44F1-EFC6BADB91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4359" y="1433950"/>
            <a:ext cx="539912" cy="328568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7" name="Google Shape;106;p18">
            <a:extLst>
              <a:ext uri="{FF2B5EF4-FFF2-40B4-BE49-F238E27FC236}">
                <a16:creationId xmlns:a16="http://schemas.microsoft.com/office/drawing/2014/main" id="{F38B51E8-CF5E-E6FD-6403-79DCA774A1C0}"/>
              </a:ext>
            </a:extLst>
          </p:cNvPr>
          <p:cNvSpPr txBox="1"/>
          <p:nvPr/>
        </p:nvSpPr>
        <p:spPr>
          <a:xfrm>
            <a:off x="7849810" y="1433950"/>
            <a:ext cx="1163558" cy="276959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685800">
              <a:buClrTx/>
            </a:pPr>
            <a:r>
              <a:rPr lang="en-US" altLang="ko" sz="1200" b="1" kern="1200" dirty="0" err="1">
                <a:latin typeface="Roboto"/>
                <a:ea typeface="Roboto"/>
                <a:cs typeface="Roboto"/>
                <a:sym typeface="Roboto"/>
              </a:rPr>
              <a:t>CuPBoP</a:t>
            </a:r>
            <a:endParaRPr sz="1200" b="1" kern="12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" name="Google Shape;114;p18" descr="The LLVM Compiler Infrastructure Project">
            <a:extLst>
              <a:ext uri="{FF2B5EF4-FFF2-40B4-BE49-F238E27FC236}">
                <a16:creationId xmlns:a16="http://schemas.microsoft.com/office/drawing/2014/main" id="{B74263A7-79E3-E7B8-660F-D501CE0567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3103" y="2152415"/>
            <a:ext cx="561361" cy="3226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22;p8">
            <a:extLst>
              <a:ext uri="{FF2B5EF4-FFF2-40B4-BE49-F238E27FC236}">
                <a16:creationId xmlns:a16="http://schemas.microsoft.com/office/drawing/2014/main" id="{C653716E-DCBC-9972-AA60-ABB6401BDEE7}"/>
              </a:ext>
            </a:extLst>
          </p:cNvPr>
          <p:cNvSpPr/>
          <p:nvPr/>
        </p:nvSpPr>
        <p:spPr>
          <a:xfrm>
            <a:off x="5314219" y="2790246"/>
            <a:ext cx="3446308" cy="376427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ore-KR" sz="1600" dirty="0">
                <a:solidFill>
                  <a:schemeClr val="dk1"/>
                </a:solidFill>
                <a:latin typeface="Daytona" panose="020B0604030500040204" pitchFamily="34" charset="0"/>
                <a:ea typeface="Tahoma"/>
                <a:cs typeface="Times New Roman" panose="02020603050405020304" pitchFamily="18" charset="0"/>
                <a:sym typeface="Tahoma"/>
              </a:rPr>
              <a:t>  Back-end Compiler</a:t>
            </a:r>
          </a:p>
        </p:txBody>
      </p:sp>
      <p:pic>
        <p:nvPicPr>
          <p:cNvPr id="5" name="Google Shape;114;p18" descr="The LLVM Compiler Infrastructure Project">
            <a:extLst>
              <a:ext uri="{FF2B5EF4-FFF2-40B4-BE49-F238E27FC236}">
                <a16:creationId xmlns:a16="http://schemas.microsoft.com/office/drawing/2014/main" id="{016BE50F-D253-07A3-7D53-D015C21214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9280" y="2813595"/>
            <a:ext cx="561361" cy="322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 descr="Risc V Logo 5fa1b8aab3304">
            <a:extLst>
              <a:ext uri="{FF2B5EF4-FFF2-40B4-BE49-F238E27FC236}">
                <a16:creationId xmlns:a16="http://schemas.microsoft.com/office/drawing/2014/main" id="{E08008FF-A910-F304-E96A-305A8DFBA6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6" t="14735" r="14552" b="21787"/>
          <a:stretch/>
        </p:blipFill>
        <p:spPr bwMode="auto">
          <a:xfrm>
            <a:off x="8280519" y="2819743"/>
            <a:ext cx="413945" cy="34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A873F298-B5E1-67EC-1D76-8BB33ECBE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004"/>
            <a:ext cx="4428453" cy="3432718"/>
          </a:xfrm>
        </p:spPr>
        <p:txBody>
          <a:bodyPr>
            <a:normAutofit/>
          </a:bodyPr>
          <a:lstStyle/>
          <a:p>
            <a:r>
              <a:rPr lang="en" altLang="ko-Kore-KR" sz="1800" b="1" dirty="0"/>
              <a:t>Design Choice 1</a:t>
            </a:r>
            <a:endParaRPr lang="en" altLang="ko-Kore-KR" sz="1800" dirty="0"/>
          </a:p>
          <a:p>
            <a:pPr lvl="1"/>
            <a:r>
              <a:rPr lang="en" altLang="ko-Kore-KR" dirty="0"/>
              <a:t>Hierarchical compiler design</a:t>
            </a:r>
          </a:p>
          <a:p>
            <a:pPr lvl="1"/>
            <a:r>
              <a:rPr lang="en" altLang="ko-Kore-KR" dirty="0"/>
              <a:t>Centralize fundamental SIMT-related analyses and optimizations in the middle-end</a:t>
            </a:r>
          </a:p>
          <a:p>
            <a:r>
              <a:rPr lang="en" altLang="ko-Kore-KR" sz="1800" b="1" dirty="0"/>
              <a:t>Design Choice 2</a:t>
            </a:r>
            <a:endParaRPr lang="en" altLang="ko-Kore-KR" sz="1800" dirty="0"/>
          </a:p>
          <a:p>
            <a:pPr lvl="1"/>
            <a:r>
              <a:rPr lang="en" altLang="ko-Kore-KR" dirty="0"/>
              <a:t>Leverage existing open-source components as much as possible</a:t>
            </a:r>
          </a:p>
        </p:txBody>
      </p:sp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7A192180-BF36-2787-9F3F-EFAB3003A116}"/>
              </a:ext>
            </a:extLst>
          </p:cNvPr>
          <p:cNvSpPr/>
          <p:nvPr/>
        </p:nvSpPr>
        <p:spPr>
          <a:xfrm rot="5400000">
            <a:off x="6924573" y="1725239"/>
            <a:ext cx="221325" cy="40585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8BB16DC1-9464-2BA2-E66F-23BBFD189FEC}"/>
              </a:ext>
            </a:extLst>
          </p:cNvPr>
          <p:cNvSpPr/>
          <p:nvPr/>
        </p:nvSpPr>
        <p:spPr>
          <a:xfrm rot="5400000">
            <a:off x="6924573" y="2429786"/>
            <a:ext cx="221325" cy="40585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68777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725E4-F922-9323-C369-D9B3B97C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Front-end Compiler </a:t>
            </a: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A41EFC-F53A-830A-05EF-6B925277C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1F69A5-45A6-B14C-0050-EB01E26E4C0D}"/>
              </a:ext>
            </a:extLst>
          </p:cNvPr>
          <p:cNvSpPr txBox="1"/>
          <p:nvPr/>
        </p:nvSpPr>
        <p:spPr>
          <a:xfrm>
            <a:off x="5035465" y="816738"/>
            <a:ext cx="3479885" cy="29534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Front-end Compiler</a:t>
            </a:r>
          </a:p>
        </p:txBody>
      </p:sp>
      <p:pic>
        <p:nvPicPr>
          <p:cNvPr id="8" name="Google Shape;103;p18" descr="PoCL 3.0 Released - The Khronos Group Inc">
            <a:extLst>
              <a:ext uri="{FF2B5EF4-FFF2-40B4-BE49-F238E27FC236}">
                <a16:creationId xmlns:a16="http://schemas.microsoft.com/office/drawing/2014/main" id="{184F84BF-BEF8-6722-7751-36FADA3463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9672" y="895309"/>
            <a:ext cx="397230" cy="272056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9" name="Google Shape;113;p18" descr="GitHub Logos and Usage · GitHub">
            <a:extLst>
              <a:ext uri="{FF2B5EF4-FFF2-40B4-BE49-F238E27FC236}">
                <a16:creationId xmlns:a16="http://schemas.microsoft.com/office/drawing/2014/main" id="{E7D96EEF-8927-66F4-54A9-28ADF25BDC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2658" y="900552"/>
            <a:ext cx="286019" cy="261182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" name="Google Shape;106;p18">
            <a:extLst>
              <a:ext uri="{FF2B5EF4-FFF2-40B4-BE49-F238E27FC236}">
                <a16:creationId xmlns:a16="http://schemas.microsoft.com/office/drawing/2014/main" id="{050D7AED-8071-AF65-8ADE-DC77556A9034}"/>
              </a:ext>
            </a:extLst>
          </p:cNvPr>
          <p:cNvSpPr txBox="1"/>
          <p:nvPr/>
        </p:nvSpPr>
        <p:spPr>
          <a:xfrm>
            <a:off x="7420596" y="900552"/>
            <a:ext cx="856065" cy="26157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685800">
              <a:buClrTx/>
            </a:pPr>
            <a:r>
              <a:rPr lang="en-US" altLang="ko" sz="1100" b="1" kern="1200" dirty="0" err="1">
                <a:latin typeface="Roboto"/>
                <a:ea typeface="Roboto"/>
                <a:cs typeface="Roboto"/>
                <a:sym typeface="Roboto"/>
              </a:rPr>
              <a:t>CuPBoP</a:t>
            </a:r>
            <a:endParaRPr sz="1100" b="1" kern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FA246B-CFC1-9DAE-8494-55F958853DD4}"/>
              </a:ext>
            </a:extLst>
          </p:cNvPr>
          <p:cNvSpPr txBox="1"/>
          <p:nvPr/>
        </p:nvSpPr>
        <p:spPr>
          <a:xfrm>
            <a:off x="5035465" y="317164"/>
            <a:ext cx="3479885" cy="362653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GPU </a:t>
            </a:r>
            <a:r>
              <a:rPr lang="en-US" altLang="ko-Kore-KR" sz="17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Host</a:t>
            </a: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 Code</a:t>
            </a:r>
          </a:p>
        </p:txBody>
      </p:sp>
      <p:pic>
        <p:nvPicPr>
          <p:cNvPr id="18" name="Google Shape;104;p18" descr="OpenCL - Wikipedia">
            <a:extLst>
              <a:ext uri="{FF2B5EF4-FFF2-40B4-BE49-F238E27FC236}">
                <a16:creationId xmlns:a16="http://schemas.microsoft.com/office/drawing/2014/main" id="{DA4A71CA-C58D-209B-2913-9C512E8351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36706" y="391678"/>
            <a:ext cx="570676" cy="232643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9" name="Google Shape;112;p18" descr="CUDA - Wikipedia">
            <a:extLst>
              <a:ext uri="{FF2B5EF4-FFF2-40B4-BE49-F238E27FC236}">
                <a16:creationId xmlns:a16="http://schemas.microsoft.com/office/drawing/2014/main" id="{E8EC7DB1-CA98-C9BB-18C1-9336D82896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20101" y="349661"/>
            <a:ext cx="545252" cy="301499"/>
          </a:xfrm>
          <a:prstGeom prst="rect">
            <a:avLst/>
          </a:prstGeom>
          <a:noFill/>
          <a:ln w="12700">
            <a:noFill/>
          </a:ln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2079D27-46B4-9145-7AB2-A23E70009955}"/>
              </a:ext>
            </a:extLst>
          </p:cNvPr>
          <p:cNvCxnSpPr>
            <a:cxnSpLocks/>
            <a:stCxn id="17" idx="1"/>
            <a:endCxn id="5" idx="0"/>
          </p:cNvCxnSpPr>
          <p:nvPr/>
        </p:nvCxnSpPr>
        <p:spPr>
          <a:xfrm>
            <a:off x="6775408" y="679817"/>
            <a:ext cx="0" cy="136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76AA1DD-011F-8A48-7BD6-809E59345503}"/>
              </a:ext>
            </a:extLst>
          </p:cNvPr>
          <p:cNvCxnSpPr>
            <a:cxnSpLocks/>
            <a:stCxn id="5" idx="2"/>
            <a:endCxn id="34" idx="0"/>
          </p:cNvCxnSpPr>
          <p:nvPr/>
        </p:nvCxnSpPr>
        <p:spPr>
          <a:xfrm>
            <a:off x="6775408" y="3770150"/>
            <a:ext cx="4214" cy="297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96C89D-1650-1823-8084-C96061A93C3D}"/>
              </a:ext>
            </a:extLst>
          </p:cNvPr>
          <p:cNvSpPr txBox="1"/>
          <p:nvPr/>
        </p:nvSpPr>
        <p:spPr>
          <a:xfrm>
            <a:off x="5245769" y="1381914"/>
            <a:ext cx="3067710" cy="22115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500" b="1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Host Code Compilation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BF52A6-2A25-702A-B087-777933DA502C}"/>
              </a:ext>
            </a:extLst>
          </p:cNvPr>
          <p:cNvSpPr txBox="1"/>
          <p:nvPr/>
        </p:nvSpPr>
        <p:spPr>
          <a:xfrm>
            <a:off x="5436424" y="2246042"/>
            <a:ext cx="2708318" cy="6155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Host Runtime for HW Target Translator </a:t>
            </a:r>
          </a:p>
        </p:txBody>
      </p:sp>
      <p:sp>
        <p:nvSpPr>
          <p:cNvPr id="24" name="Google Shape;222;p8">
            <a:extLst>
              <a:ext uri="{FF2B5EF4-FFF2-40B4-BE49-F238E27FC236}">
                <a16:creationId xmlns:a16="http://schemas.microsoft.com/office/drawing/2014/main" id="{D95E289E-D365-FCC7-3138-705CC02AA0BD}"/>
              </a:ext>
            </a:extLst>
          </p:cNvPr>
          <p:cNvSpPr/>
          <p:nvPr/>
        </p:nvSpPr>
        <p:spPr>
          <a:xfrm>
            <a:off x="5436424" y="2976552"/>
            <a:ext cx="2708318" cy="466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Runtime Lib Linking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DE25CE-486E-3A4B-5C59-48DFC0CEF3E8}"/>
              </a:ext>
            </a:extLst>
          </p:cNvPr>
          <p:cNvSpPr txBox="1"/>
          <p:nvPr/>
        </p:nvSpPr>
        <p:spPr>
          <a:xfrm>
            <a:off x="5436424" y="1762406"/>
            <a:ext cx="2708318" cy="3539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Semantic Analyzer</a:t>
            </a:r>
          </a:p>
        </p:txBody>
      </p:sp>
      <p:sp>
        <p:nvSpPr>
          <p:cNvPr id="34" name="Google Shape;241;p8">
            <a:extLst>
              <a:ext uri="{FF2B5EF4-FFF2-40B4-BE49-F238E27FC236}">
                <a16:creationId xmlns:a16="http://schemas.microsoft.com/office/drawing/2014/main" id="{3312805A-AB3E-C492-9A33-21C85E65A116}"/>
              </a:ext>
            </a:extLst>
          </p:cNvPr>
          <p:cNvSpPr/>
          <p:nvPr/>
        </p:nvSpPr>
        <p:spPr>
          <a:xfrm>
            <a:off x="5245769" y="4067399"/>
            <a:ext cx="3067705" cy="450416"/>
          </a:xfrm>
          <a:prstGeom prst="foldedCorner">
            <a:avLst>
              <a:gd name="adj" fmla="val 45160"/>
            </a:avLst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Host Binary 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4280419-244D-DBC5-3155-BEBB02DE4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004"/>
            <a:ext cx="4396089" cy="3773832"/>
          </a:xfrm>
        </p:spPr>
        <p:txBody>
          <a:bodyPr>
            <a:normAutofit/>
          </a:bodyPr>
          <a:lstStyle/>
          <a:p>
            <a:r>
              <a:rPr lang="en" altLang="ko-Kore-KR" sz="1800" dirty="0"/>
              <a:t>Handles both host and kernel code</a:t>
            </a:r>
          </a:p>
          <a:p>
            <a:endParaRPr lang="en" altLang="ko-Kore-KR" sz="1800" b="1" dirty="0"/>
          </a:p>
          <a:p>
            <a:r>
              <a:rPr lang="en-US" altLang="ko-Kore-KR" sz="1800" b="1" dirty="0"/>
              <a:t>Host</a:t>
            </a:r>
            <a:r>
              <a:rPr lang="en" altLang="ko-Kore-KR" sz="1800" b="1" dirty="0"/>
              <a:t> Code</a:t>
            </a:r>
            <a:endParaRPr lang="en" altLang="ko-Kore-KR" sz="1800" dirty="0"/>
          </a:p>
          <a:p>
            <a:pPr lvl="1"/>
            <a:r>
              <a:rPr lang="en" altLang="ko-Kore-KR" dirty="0"/>
              <a:t>Compiled for the host hardware</a:t>
            </a:r>
          </a:p>
          <a:p>
            <a:pPr lvl="1"/>
            <a:r>
              <a:rPr lang="en" altLang="ko-Kore-KR" dirty="0"/>
              <a:t>Translates frontend-specific host functions using the target runtime library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A60D8D-0DB1-97FE-8A8D-DC2CE7A1E85A}"/>
              </a:ext>
            </a:extLst>
          </p:cNvPr>
          <p:cNvSpPr txBox="1"/>
          <p:nvPr/>
        </p:nvSpPr>
        <p:spPr>
          <a:xfrm>
            <a:off x="3534033" y="4708133"/>
            <a:ext cx="5734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1100" dirty="0"/>
              <a:t>Blue boxes indicate components extended or implemented for the Vortex GPU</a:t>
            </a:r>
          </a:p>
        </p:txBody>
      </p:sp>
    </p:spTree>
    <p:extLst>
      <p:ext uri="{BB962C8B-B14F-4D97-AF65-F5344CB8AC3E}">
        <p14:creationId xmlns:p14="http://schemas.microsoft.com/office/powerpoint/2010/main" val="138034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0673E-E298-E0EC-2910-44BC1246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78A9B-4314-4C96-98C3-74DC89E4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Front-end Compiler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136670-EF63-C3A0-F4C2-5D877F1CB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004"/>
            <a:ext cx="4396089" cy="3773832"/>
          </a:xfrm>
        </p:spPr>
        <p:txBody>
          <a:bodyPr>
            <a:normAutofit/>
          </a:bodyPr>
          <a:lstStyle/>
          <a:p>
            <a:r>
              <a:rPr lang="en" altLang="ko-Kore-KR" sz="1800" dirty="0"/>
              <a:t>Handles Both Host and Kernel Code</a:t>
            </a:r>
          </a:p>
          <a:p>
            <a:endParaRPr lang="en" altLang="ko-Kore-KR" sz="1800" b="1" dirty="0"/>
          </a:p>
          <a:p>
            <a:r>
              <a:rPr lang="en" altLang="ko-Kore-KR" sz="1800" b="1" dirty="0"/>
              <a:t>Kernel Code</a:t>
            </a:r>
            <a:endParaRPr lang="en" altLang="ko-Kore-KR" sz="1800" dirty="0"/>
          </a:p>
          <a:p>
            <a:pPr lvl="1"/>
            <a:r>
              <a:rPr lang="en" altLang="ko-Kore-KR" dirty="0"/>
              <a:t>Performs semantics-aware code optimizations</a:t>
            </a:r>
          </a:p>
          <a:p>
            <a:pPr lvl="1"/>
            <a:r>
              <a:rPr lang="en" altLang="ko-Kore-KR" dirty="0"/>
              <a:t>Transforms special functions using built-in libraries</a:t>
            </a:r>
          </a:p>
          <a:p>
            <a:pPr lvl="1"/>
            <a:r>
              <a:rPr lang="en" altLang="ko-Kore-KR" dirty="0"/>
              <a:t>Inserts thread scheduling and spawning code for device initialization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1BCE6B-722B-6CB5-D716-21B0E7D0E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67173-9A68-71E5-DA72-92A7BB20A2FF}"/>
              </a:ext>
            </a:extLst>
          </p:cNvPr>
          <p:cNvSpPr txBox="1"/>
          <p:nvPr/>
        </p:nvSpPr>
        <p:spPr>
          <a:xfrm>
            <a:off x="5035465" y="816738"/>
            <a:ext cx="3479885" cy="33017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Front-end Compiler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CE998-D4D2-0080-F8C9-5E955B78942C}"/>
              </a:ext>
            </a:extLst>
          </p:cNvPr>
          <p:cNvSpPr txBox="1"/>
          <p:nvPr/>
        </p:nvSpPr>
        <p:spPr>
          <a:xfrm>
            <a:off x="5156818" y="1583977"/>
            <a:ext cx="3226453" cy="14528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500" b="1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Semantic-aware Code Optimization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FA329-49A8-44EA-48C6-D55FA29A0B53}"/>
              </a:ext>
            </a:extLst>
          </p:cNvPr>
          <p:cNvSpPr txBox="1"/>
          <p:nvPr/>
        </p:nvSpPr>
        <p:spPr>
          <a:xfrm>
            <a:off x="7585937" y="2320651"/>
            <a:ext cx="667889" cy="612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5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Built-in library</a:t>
            </a:r>
            <a:endParaRPr lang="en-US" altLang="ko-Kore-KR" sz="1500" dirty="0">
              <a:solidFill>
                <a:srgbClr val="C00000"/>
              </a:solidFill>
              <a:latin typeface="Calibri" panose="020F0502020204030204" pitchFamily="34" charset="0"/>
              <a:ea typeface="Tahoma"/>
              <a:cs typeface="Calibri" panose="020F0502020204030204" pitchFamily="34" charset="0"/>
              <a:sym typeface="Tahoma"/>
            </a:endParaRPr>
          </a:p>
        </p:txBody>
      </p:sp>
      <p:pic>
        <p:nvPicPr>
          <p:cNvPr id="8" name="Google Shape;103;p18" descr="PoCL 3.0 Released - The Khronos Group Inc">
            <a:extLst>
              <a:ext uri="{FF2B5EF4-FFF2-40B4-BE49-F238E27FC236}">
                <a16:creationId xmlns:a16="http://schemas.microsoft.com/office/drawing/2014/main" id="{79BE5AE1-F4C9-4507-8129-F61E60C954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9672" y="895309"/>
            <a:ext cx="397230" cy="272056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9" name="Google Shape;113;p18" descr="GitHub Logos and Usage · GitHub">
            <a:extLst>
              <a:ext uri="{FF2B5EF4-FFF2-40B4-BE49-F238E27FC236}">
                <a16:creationId xmlns:a16="http://schemas.microsoft.com/office/drawing/2014/main" id="{D076BD66-7BBA-9B36-6B9E-4729FE1252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2658" y="900552"/>
            <a:ext cx="286019" cy="261182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" name="Google Shape;106;p18">
            <a:extLst>
              <a:ext uri="{FF2B5EF4-FFF2-40B4-BE49-F238E27FC236}">
                <a16:creationId xmlns:a16="http://schemas.microsoft.com/office/drawing/2014/main" id="{EBDB688D-5260-A110-96D3-40F3AE981CED}"/>
              </a:ext>
            </a:extLst>
          </p:cNvPr>
          <p:cNvSpPr txBox="1"/>
          <p:nvPr/>
        </p:nvSpPr>
        <p:spPr>
          <a:xfrm>
            <a:off x="7420596" y="900552"/>
            <a:ext cx="856065" cy="26157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defTabSz="685800">
              <a:buClrTx/>
            </a:pPr>
            <a:r>
              <a:rPr lang="en-US" altLang="ko" sz="1100" b="1" kern="1200" dirty="0" err="1">
                <a:latin typeface="Roboto"/>
                <a:ea typeface="Roboto"/>
                <a:cs typeface="Roboto"/>
                <a:sym typeface="Roboto"/>
              </a:rPr>
              <a:t>CuPBoP</a:t>
            </a:r>
            <a:endParaRPr sz="1100" b="1" kern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359;p13">
            <a:extLst>
              <a:ext uri="{FF2B5EF4-FFF2-40B4-BE49-F238E27FC236}">
                <a16:creationId xmlns:a16="http://schemas.microsoft.com/office/drawing/2014/main" id="{64CD0139-019D-DC2F-1DA2-CA5EEE76F09B}"/>
              </a:ext>
            </a:extLst>
          </p:cNvPr>
          <p:cNvSpPr/>
          <p:nvPr/>
        </p:nvSpPr>
        <p:spPr>
          <a:xfrm>
            <a:off x="5268818" y="2652815"/>
            <a:ext cx="2205118" cy="28019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Built-in Library Linking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359;p13">
            <a:extLst>
              <a:ext uri="{FF2B5EF4-FFF2-40B4-BE49-F238E27FC236}">
                <a16:creationId xmlns:a16="http://schemas.microsoft.com/office/drawing/2014/main" id="{CE7ECA29-41A1-09AA-F4E6-3436B0B97C35}"/>
              </a:ext>
            </a:extLst>
          </p:cNvPr>
          <p:cNvSpPr/>
          <p:nvPr/>
        </p:nvSpPr>
        <p:spPr>
          <a:xfrm>
            <a:off x="5268818" y="1968578"/>
            <a:ext cx="2986759" cy="2801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Memory Structure</a:t>
            </a:r>
            <a:r>
              <a:rPr lang="en-US" altLang="ko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 Handling</a:t>
            </a:r>
            <a:endParaRPr lang="en-US" sz="16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359;p13">
            <a:extLst>
              <a:ext uri="{FF2B5EF4-FFF2-40B4-BE49-F238E27FC236}">
                <a16:creationId xmlns:a16="http://schemas.microsoft.com/office/drawing/2014/main" id="{FA8D2AC5-04F2-0716-1580-3F20BB7B99E8}"/>
              </a:ext>
            </a:extLst>
          </p:cNvPr>
          <p:cNvSpPr/>
          <p:nvPr/>
        </p:nvSpPr>
        <p:spPr>
          <a:xfrm>
            <a:off x="5268818" y="2310697"/>
            <a:ext cx="2205118" cy="28019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Function Call Analysis 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B85D6A-21B1-C3A8-D5A4-4448BD4D7FD9}"/>
              </a:ext>
            </a:extLst>
          </p:cNvPr>
          <p:cNvSpPr txBox="1"/>
          <p:nvPr/>
        </p:nvSpPr>
        <p:spPr>
          <a:xfrm>
            <a:off x="5126906" y="3142515"/>
            <a:ext cx="3256365" cy="8717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500" b="1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Thread Scheduling Code Generation</a:t>
            </a:r>
          </a:p>
        </p:txBody>
      </p:sp>
      <p:sp>
        <p:nvSpPr>
          <p:cNvPr id="15" name="Google Shape;359;p13">
            <a:extLst>
              <a:ext uri="{FF2B5EF4-FFF2-40B4-BE49-F238E27FC236}">
                <a16:creationId xmlns:a16="http://schemas.microsoft.com/office/drawing/2014/main" id="{F359A94D-C481-6FE9-7BFB-388B1DB9B2D6}"/>
              </a:ext>
            </a:extLst>
          </p:cNvPr>
          <p:cNvSpPr/>
          <p:nvPr/>
        </p:nvSpPr>
        <p:spPr>
          <a:xfrm>
            <a:off x="5268818" y="3485030"/>
            <a:ext cx="2985007" cy="465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5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Thread Scheduling and Spawn Code Insertion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71BFA1-88E4-92BC-8D30-FC61E2528D90}"/>
              </a:ext>
            </a:extLst>
          </p:cNvPr>
          <p:cNvSpPr txBox="1"/>
          <p:nvPr/>
        </p:nvSpPr>
        <p:spPr>
          <a:xfrm>
            <a:off x="5156818" y="1228903"/>
            <a:ext cx="3211496" cy="283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500" b="1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IR Generator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1823DE-247C-16D5-3F44-AB11D97C70B8}"/>
              </a:ext>
            </a:extLst>
          </p:cNvPr>
          <p:cNvSpPr txBox="1"/>
          <p:nvPr/>
        </p:nvSpPr>
        <p:spPr>
          <a:xfrm>
            <a:off x="5035465" y="317164"/>
            <a:ext cx="3479885" cy="362653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GPU </a:t>
            </a:r>
            <a:r>
              <a:rPr lang="en-US" altLang="ko-Kore-KR" sz="17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Kernel</a:t>
            </a: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 Code</a:t>
            </a:r>
          </a:p>
        </p:txBody>
      </p:sp>
      <p:pic>
        <p:nvPicPr>
          <p:cNvPr id="18" name="Google Shape;104;p18" descr="OpenCL - Wikipedia">
            <a:extLst>
              <a:ext uri="{FF2B5EF4-FFF2-40B4-BE49-F238E27FC236}">
                <a16:creationId xmlns:a16="http://schemas.microsoft.com/office/drawing/2014/main" id="{A88B02B8-725C-23A9-5996-C950F26C5B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36706" y="391678"/>
            <a:ext cx="570676" cy="232643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19" name="Google Shape;112;p18" descr="CUDA - Wikipedia">
            <a:extLst>
              <a:ext uri="{FF2B5EF4-FFF2-40B4-BE49-F238E27FC236}">
                <a16:creationId xmlns:a16="http://schemas.microsoft.com/office/drawing/2014/main" id="{A10DC83A-DAF2-AC23-35BF-4C9BB52E527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20101" y="349661"/>
            <a:ext cx="545252" cy="301499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F2CE70A-A01C-B573-2B96-3CB6A5F1222F}"/>
              </a:ext>
            </a:extLst>
          </p:cNvPr>
          <p:cNvSpPr txBox="1"/>
          <p:nvPr/>
        </p:nvSpPr>
        <p:spPr>
          <a:xfrm>
            <a:off x="5035465" y="4307951"/>
            <a:ext cx="3479885" cy="362653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LLVM module</a:t>
            </a:r>
          </a:p>
        </p:txBody>
      </p:sp>
      <p:pic>
        <p:nvPicPr>
          <p:cNvPr id="23" name="Google Shape;114;p18" descr="The LLVM Compiler Infrastructure Project">
            <a:extLst>
              <a:ext uri="{FF2B5EF4-FFF2-40B4-BE49-F238E27FC236}">
                <a16:creationId xmlns:a16="http://schemas.microsoft.com/office/drawing/2014/main" id="{B3761CC1-EB3B-A977-32CB-AAEEFBE9E1E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55304" y="4365578"/>
            <a:ext cx="413010" cy="2671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E432A09-928E-3B05-17A1-01FEB9153A89}"/>
              </a:ext>
            </a:extLst>
          </p:cNvPr>
          <p:cNvCxnSpPr>
            <a:stCxn id="17" idx="1"/>
            <a:endCxn id="5" idx="0"/>
          </p:cNvCxnSpPr>
          <p:nvPr/>
        </p:nvCxnSpPr>
        <p:spPr>
          <a:xfrm>
            <a:off x="6775408" y="679817"/>
            <a:ext cx="0" cy="136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F5F4C69-CD0D-0951-11D0-963D40B506A3}"/>
              </a:ext>
            </a:extLst>
          </p:cNvPr>
          <p:cNvCxnSpPr>
            <a:cxnSpLocks/>
            <a:stCxn id="5" idx="2"/>
            <a:endCxn id="20" idx="3"/>
          </p:cNvCxnSpPr>
          <p:nvPr/>
        </p:nvCxnSpPr>
        <p:spPr>
          <a:xfrm>
            <a:off x="6775408" y="4118474"/>
            <a:ext cx="0" cy="189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E161533-FE2D-CBB7-7455-5C74647EC12F}"/>
              </a:ext>
            </a:extLst>
          </p:cNvPr>
          <p:cNvSpPr txBox="1"/>
          <p:nvPr/>
        </p:nvSpPr>
        <p:spPr>
          <a:xfrm>
            <a:off x="3534033" y="4708133"/>
            <a:ext cx="5734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1100" dirty="0"/>
              <a:t>Blue boxes indicate components extended or implemented for the Vortex GPU</a:t>
            </a:r>
          </a:p>
        </p:txBody>
      </p:sp>
    </p:spTree>
    <p:extLst>
      <p:ext uri="{BB962C8B-B14F-4D97-AF65-F5344CB8AC3E}">
        <p14:creationId xmlns:p14="http://schemas.microsoft.com/office/powerpoint/2010/main" val="208241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A30E-3270-118C-6987-9409167F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7A12D-A7E0-FD23-ABE0-331424835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Middle-end Compiler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50F238-C607-6B48-4DC0-4FB4DEA7D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004"/>
            <a:ext cx="4042152" cy="343271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ko-Kore-KR" sz="1800" dirty="0"/>
              <a:t>Target-independent optimizations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ore-KR" sz="1800" dirty="0"/>
              <a:t>Minimal target-specific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ore-KR" sz="1800" dirty="0"/>
              <a:t>Treats thread divergence management as a first-class concern</a:t>
            </a:r>
          </a:p>
          <a:p>
            <a:pPr lvl="1"/>
            <a:r>
              <a:rPr lang="en-US" altLang="ko-Kore-KR" sz="1400" b="1" dirty="0"/>
              <a:t>Uniformity Analysis</a:t>
            </a:r>
          </a:p>
          <a:p>
            <a:pPr lvl="1"/>
            <a:r>
              <a:rPr lang="en-US" altLang="ko-Kore-KR" sz="1400" b="1" dirty="0"/>
              <a:t>Divergence Optimization</a:t>
            </a:r>
          </a:p>
          <a:p>
            <a:pPr lvl="1"/>
            <a:endParaRPr lang="en" altLang="ko-Kore-KR" sz="1400" dirty="0"/>
          </a:p>
          <a:p>
            <a:pPr>
              <a:buFont typeface="Arial" panose="020B0604020202020204" pitchFamily="34" charset="0"/>
              <a:buChar char="•"/>
            </a:pPr>
            <a:endParaRPr lang="en" altLang="ko-Kore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2AD14-C659-97D3-C76A-DB2E09389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F7D5B-06FF-61F8-41D0-084A0914A81B}"/>
              </a:ext>
            </a:extLst>
          </p:cNvPr>
          <p:cNvSpPr txBox="1"/>
          <p:nvPr/>
        </p:nvSpPr>
        <p:spPr>
          <a:xfrm>
            <a:off x="5442989" y="609135"/>
            <a:ext cx="3479885" cy="362653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LLVM module</a:t>
            </a:r>
          </a:p>
        </p:txBody>
      </p:sp>
      <p:pic>
        <p:nvPicPr>
          <p:cNvPr id="6" name="Google Shape;114;p18" descr="The LLVM Compiler Infrastructure Project">
            <a:extLst>
              <a:ext uri="{FF2B5EF4-FFF2-40B4-BE49-F238E27FC236}">
                <a16:creationId xmlns:a16="http://schemas.microsoft.com/office/drawing/2014/main" id="{BE212BE8-300A-F0FF-E8A8-7A11CB6388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2828" y="666762"/>
            <a:ext cx="413010" cy="2671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D18CEA-D21A-8220-D7C2-99773266A36F}"/>
              </a:ext>
            </a:extLst>
          </p:cNvPr>
          <p:cNvSpPr txBox="1"/>
          <p:nvPr/>
        </p:nvSpPr>
        <p:spPr>
          <a:xfrm>
            <a:off x="4840224" y="1205192"/>
            <a:ext cx="4082650" cy="23670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Middle-end Compiler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624DC-2288-33AB-63F3-00A0C57B6BDB}"/>
              </a:ext>
            </a:extLst>
          </p:cNvPr>
          <p:cNvSpPr txBox="1"/>
          <p:nvPr/>
        </p:nvSpPr>
        <p:spPr>
          <a:xfrm>
            <a:off x="4919411" y="1993083"/>
            <a:ext cx="3876749" cy="14213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500" b="1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Divergence Management</a:t>
            </a:r>
            <a:r>
              <a:rPr lang="en-US" altLang="ko-Kore-KR" sz="1500" dirty="0">
                <a:solidFill>
                  <a:srgbClr val="C00000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 </a:t>
            </a:r>
            <a:endParaRPr lang="en-US" altLang="ko-Kore-KR" sz="1500" b="1" dirty="0">
              <a:solidFill>
                <a:srgbClr val="C00000"/>
              </a:solidFill>
              <a:latin typeface="Calibri" panose="020F0502020204030204" pitchFamily="34" charset="0"/>
              <a:ea typeface="Tahoma"/>
              <a:cs typeface="Calibri" panose="020F0502020204030204" pitchFamily="34" charset="0"/>
              <a:sym typeface="Tahoma"/>
            </a:endParaRPr>
          </a:p>
        </p:txBody>
      </p:sp>
      <p:sp>
        <p:nvSpPr>
          <p:cNvPr id="9" name="Google Shape;359;p13">
            <a:extLst>
              <a:ext uri="{FF2B5EF4-FFF2-40B4-BE49-F238E27FC236}">
                <a16:creationId xmlns:a16="http://schemas.microsoft.com/office/drawing/2014/main" id="{3BECA564-F226-720E-679E-9B5A093F31DD}"/>
              </a:ext>
            </a:extLst>
          </p:cNvPr>
          <p:cNvSpPr/>
          <p:nvPr/>
        </p:nvSpPr>
        <p:spPr>
          <a:xfrm>
            <a:off x="5033046" y="2679824"/>
            <a:ext cx="3697578" cy="29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Optimization and Transformation</a:t>
            </a:r>
            <a:endParaRPr lang="en-US" altLang="ko-Kore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359;p13">
            <a:extLst>
              <a:ext uri="{FF2B5EF4-FFF2-40B4-BE49-F238E27FC236}">
                <a16:creationId xmlns:a16="http://schemas.microsoft.com/office/drawing/2014/main" id="{A937B82C-3ACE-7B1A-13CE-9DAD1F0C612C}"/>
              </a:ext>
            </a:extLst>
          </p:cNvPr>
          <p:cNvSpPr/>
          <p:nvPr/>
        </p:nvSpPr>
        <p:spPr>
          <a:xfrm>
            <a:off x="5033046" y="2327253"/>
            <a:ext cx="1804629" cy="2801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Uniformity Analysis</a:t>
            </a:r>
            <a:endParaRPr lang="en-US" altLang="ko-Kore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359;p13">
            <a:extLst>
              <a:ext uri="{FF2B5EF4-FFF2-40B4-BE49-F238E27FC236}">
                <a16:creationId xmlns:a16="http://schemas.microsoft.com/office/drawing/2014/main" id="{F19ED700-3F67-1722-16FC-8F6764B89D0C}"/>
              </a:ext>
            </a:extLst>
          </p:cNvPr>
          <p:cNvSpPr/>
          <p:nvPr/>
        </p:nvSpPr>
        <p:spPr>
          <a:xfrm>
            <a:off x="5024438" y="3041795"/>
            <a:ext cx="3697578" cy="2801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Divergence Management Function Insertion</a:t>
            </a:r>
            <a:endParaRPr lang="en-US" altLang="ko-Kore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9CD61A-9072-B20C-5C8A-A6910C7F2F2C}"/>
              </a:ext>
            </a:extLst>
          </p:cNvPr>
          <p:cNvSpPr txBox="1"/>
          <p:nvPr/>
        </p:nvSpPr>
        <p:spPr>
          <a:xfrm>
            <a:off x="4918476" y="1651558"/>
            <a:ext cx="3861294" cy="26714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5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General Code Optimizations</a:t>
            </a:r>
          </a:p>
        </p:txBody>
      </p:sp>
      <p:pic>
        <p:nvPicPr>
          <p:cNvPr id="13" name="Google Shape;114;p18" descr="The LLVM Compiler Infrastructure Project">
            <a:extLst>
              <a:ext uri="{FF2B5EF4-FFF2-40B4-BE49-F238E27FC236}">
                <a16:creationId xmlns:a16="http://schemas.microsoft.com/office/drawing/2014/main" id="{B94B53A8-1A07-81D2-2D4F-19C4276A93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0442" y="1280258"/>
            <a:ext cx="413010" cy="26714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59;p13">
            <a:extLst>
              <a:ext uri="{FF2B5EF4-FFF2-40B4-BE49-F238E27FC236}">
                <a16:creationId xmlns:a16="http://schemas.microsoft.com/office/drawing/2014/main" id="{A71C8DEE-290D-201B-D00F-D83835DB3E50}"/>
              </a:ext>
            </a:extLst>
          </p:cNvPr>
          <p:cNvSpPr/>
          <p:nvPr/>
        </p:nvSpPr>
        <p:spPr>
          <a:xfrm>
            <a:off x="6929325" y="2326491"/>
            <a:ext cx="1796890" cy="268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Divergence Tracker</a:t>
            </a:r>
            <a:endParaRPr lang="en-US" altLang="ko-Kore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E8F3E7-8E49-18E2-009E-24A8B6283803}"/>
              </a:ext>
            </a:extLst>
          </p:cNvPr>
          <p:cNvSpPr txBox="1"/>
          <p:nvPr/>
        </p:nvSpPr>
        <p:spPr>
          <a:xfrm>
            <a:off x="5442989" y="3825272"/>
            <a:ext cx="3479885" cy="362653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LLVM module</a:t>
            </a:r>
          </a:p>
        </p:txBody>
      </p:sp>
      <p:pic>
        <p:nvPicPr>
          <p:cNvPr id="16" name="Google Shape;114;p18" descr="The LLVM Compiler Infrastructure Project">
            <a:extLst>
              <a:ext uri="{FF2B5EF4-FFF2-40B4-BE49-F238E27FC236}">
                <a16:creationId xmlns:a16="http://schemas.microsoft.com/office/drawing/2014/main" id="{638CB2E7-008C-9772-6F79-9431CA6AC8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2828" y="3882899"/>
            <a:ext cx="413010" cy="2671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85DB72A-8186-B255-CC72-757ED4B06828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881549" y="971788"/>
            <a:ext cx="0" cy="233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AB1E3F9-72F8-B4B2-C0A3-C1B34B38EB58}"/>
              </a:ext>
            </a:extLst>
          </p:cNvPr>
          <p:cNvCxnSpPr>
            <a:cxnSpLocks/>
          </p:cNvCxnSpPr>
          <p:nvPr/>
        </p:nvCxnSpPr>
        <p:spPr>
          <a:xfrm>
            <a:off x="6868522" y="3572256"/>
            <a:ext cx="0" cy="233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1414289-1442-9F98-687A-81E0DE9D6A9D}"/>
              </a:ext>
            </a:extLst>
          </p:cNvPr>
          <p:cNvSpPr txBox="1"/>
          <p:nvPr/>
        </p:nvSpPr>
        <p:spPr>
          <a:xfrm>
            <a:off x="3534033" y="4708133"/>
            <a:ext cx="5734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1100" dirty="0"/>
              <a:t>Blue boxes indicate components extended or implemented for the Vortex GPU</a:t>
            </a:r>
          </a:p>
        </p:txBody>
      </p:sp>
    </p:spTree>
    <p:extLst>
      <p:ext uri="{BB962C8B-B14F-4D97-AF65-F5344CB8AC3E}">
        <p14:creationId xmlns:p14="http://schemas.microsoft.com/office/powerpoint/2010/main" val="51040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75F68-3239-05FC-E501-7CAAC0B8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4D479-1A00-55B5-DA7C-E7ADED84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Middle-end Compiler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E2563D-FDF7-7684-D6A8-A83BFE76C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00004"/>
            <a:ext cx="7886700" cy="3669652"/>
          </a:xfrm>
        </p:spPr>
        <p:txBody>
          <a:bodyPr>
            <a:normAutofit/>
          </a:bodyPr>
          <a:lstStyle/>
          <a:p>
            <a:r>
              <a:rPr lang="en-US" altLang="ko-Kore-KR" sz="1800" b="1" dirty="0"/>
              <a:t>Uniformity Analysis</a:t>
            </a:r>
          </a:p>
          <a:p>
            <a:pPr lvl="1"/>
            <a:r>
              <a:rPr lang="en-US" altLang="ko-Kore-KR" b="1" dirty="0"/>
              <a:t>Divergence Tracker</a:t>
            </a:r>
          </a:p>
          <a:p>
            <a:pPr lvl="2"/>
            <a:r>
              <a:rPr lang="en-US" altLang="ko-Kore-KR" sz="1600" dirty="0">
                <a:solidFill>
                  <a:schemeClr val="tx1"/>
                </a:solidFill>
              </a:rPr>
              <a:t>Find divergent instructions and always uniform instructions </a:t>
            </a:r>
          </a:p>
          <a:p>
            <a:pPr lvl="2"/>
            <a:r>
              <a:rPr lang="en-US" altLang="ko-Kore-KR" sz="1600" dirty="0"/>
              <a:t>Marks function arguments, return values, and atomic operations as divergent</a:t>
            </a:r>
          </a:p>
          <a:p>
            <a:pPr lvl="2"/>
            <a:r>
              <a:rPr lang="en-US" altLang="ko-Kore-KR" sz="1600" dirty="0">
                <a:solidFill>
                  <a:schemeClr val="tx1"/>
                </a:solidFill>
              </a:rPr>
              <a:t>Marks control and status register information as uniform</a:t>
            </a:r>
          </a:p>
          <a:p>
            <a:pPr lvl="2"/>
            <a:r>
              <a:rPr lang="en-US" altLang="ko-Kore-KR" sz="1600" dirty="0">
                <a:solidFill>
                  <a:schemeClr val="tx1"/>
                </a:solidFill>
              </a:rPr>
              <a:t>Propagates uniformity information</a:t>
            </a:r>
          </a:p>
          <a:p>
            <a:pPr lvl="1"/>
            <a:r>
              <a:rPr lang="en-US" altLang="ko-Kore-KR" b="1" dirty="0">
                <a:solidFill>
                  <a:schemeClr val="tx1"/>
                </a:solidFill>
              </a:rPr>
              <a:t>Annotation Analysis</a:t>
            </a:r>
          </a:p>
          <a:p>
            <a:pPr lvl="2"/>
            <a:r>
              <a:rPr lang="en-US" altLang="ko-Kore-KR" sz="1600" dirty="0">
                <a:solidFill>
                  <a:schemeClr val="tx1"/>
                </a:solidFill>
              </a:rPr>
              <a:t>Identifies divergent and always-uniform instructions</a:t>
            </a:r>
          </a:p>
          <a:p>
            <a:pPr lvl="2"/>
            <a:r>
              <a:rPr lang="en-US" altLang="ko-Kore-KR" sz="1600" dirty="0"/>
              <a:t>Leverage annotation information from the user or the front-end compiler</a:t>
            </a:r>
          </a:p>
          <a:p>
            <a:pPr lvl="1"/>
            <a:r>
              <a:rPr lang="en-US" altLang="ko-Kore-KR" b="1" dirty="0"/>
              <a:t>Function Argument Analysis</a:t>
            </a:r>
          </a:p>
          <a:p>
            <a:pPr lvl="2"/>
            <a:r>
              <a:rPr lang="en-US" altLang="ko-Kore-KR" sz="1600" dirty="0"/>
              <a:t>Determine the uniformity of each function’s arguments</a:t>
            </a:r>
          </a:p>
          <a:p>
            <a:pPr lvl="1"/>
            <a:endParaRPr lang="en-US" altLang="ko-Kore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A48E67-73DB-8982-4256-02C953940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1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36265-ECCD-5D8E-8126-A3602E77E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7DAD80-67E0-8510-B485-7C11C5F8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Middle-end Compiler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D0B9B8-B976-CCAC-17CE-8A5B7CB8B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45" y="1200004"/>
            <a:ext cx="4361741" cy="3773832"/>
          </a:xfrm>
        </p:spPr>
        <p:txBody>
          <a:bodyPr>
            <a:normAutofit fontScale="92500" lnSpcReduction="10000"/>
          </a:bodyPr>
          <a:lstStyle/>
          <a:p>
            <a:r>
              <a:rPr lang="en-US" altLang="ko-Kore-KR" sz="1800" b="1" dirty="0"/>
              <a:t>Divergence Optimization</a:t>
            </a:r>
          </a:p>
          <a:p>
            <a:pPr lvl="1"/>
            <a:r>
              <a:rPr lang="en-US" altLang="ko-Kore-KR" b="1" dirty="0"/>
              <a:t>Code Simplification</a:t>
            </a:r>
          </a:p>
          <a:p>
            <a:pPr lvl="2"/>
            <a:r>
              <a:rPr lang="en-US" altLang="ko-Kore-KR" sz="1600" dirty="0"/>
              <a:t>Simplifies and canonicalizes control flow for subsequent divergence handling</a:t>
            </a:r>
          </a:p>
          <a:p>
            <a:pPr lvl="1"/>
            <a:r>
              <a:rPr lang="en-US" altLang="ko-Kore-KR" b="1" dirty="0"/>
              <a:t>Control-Flow Structurization</a:t>
            </a:r>
          </a:p>
          <a:p>
            <a:pPr lvl="2"/>
            <a:r>
              <a:rPr lang="en-US" altLang="ko-Kore-KR" sz="1600" dirty="0"/>
              <a:t>Transforms the CFG into a structured form to provide stable join points</a:t>
            </a:r>
          </a:p>
          <a:p>
            <a:pPr lvl="2"/>
            <a:r>
              <a:rPr lang="en-US" altLang="ko-Kore-KR" sz="1600" dirty="0"/>
              <a:t>Essential for IPDOM-based divergence and reconvergence handling</a:t>
            </a:r>
          </a:p>
          <a:p>
            <a:pPr lvl="1"/>
            <a:r>
              <a:rPr lang="en-US" altLang="ko-Kore-KR" b="1" dirty="0"/>
              <a:t>Control-Flow Reconstruction</a:t>
            </a:r>
          </a:p>
          <a:p>
            <a:pPr lvl="2"/>
            <a:r>
              <a:rPr lang="en-US" altLang="ko-Kore-KR" sz="1600" dirty="0"/>
              <a:t>Selectively duplicates basic blocks to reduce predicate computation</a:t>
            </a:r>
          </a:p>
          <a:p>
            <a:pPr lvl="1"/>
            <a:r>
              <a:rPr lang="en-US" altLang="ko-Kore-KR" b="1" dirty="0"/>
              <a:t>Divergence Operation Lowering</a:t>
            </a:r>
          </a:p>
          <a:p>
            <a:pPr lvl="2"/>
            <a:r>
              <a:rPr lang="en" altLang="ko-Kore-KR" sz="1600" dirty="0"/>
              <a:t>Normalizes divergence operations by rewriting them into equivalent branch-based control flow</a:t>
            </a:r>
          </a:p>
          <a:p>
            <a:pPr lvl="2"/>
            <a:endParaRPr lang="en-US" altLang="ko-Kore-KR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765792-3DB5-8252-5C5E-86C74252B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BC5DCFE-2F3D-E83C-6BCA-ADFF4C49FD89}"/>
              </a:ext>
            </a:extLst>
          </p:cNvPr>
          <p:cNvGrpSpPr/>
          <p:nvPr/>
        </p:nvGrpSpPr>
        <p:grpSpPr>
          <a:xfrm>
            <a:off x="4965331" y="1113712"/>
            <a:ext cx="4042153" cy="3024337"/>
            <a:chOff x="4670802" y="828186"/>
            <a:chExt cx="4423770" cy="3309863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75D93DDD-DD56-09FC-5FEA-69CCB13D3C52}"/>
                </a:ext>
              </a:extLst>
            </p:cNvPr>
            <p:cNvSpPr/>
            <p:nvPr/>
          </p:nvSpPr>
          <p:spPr>
            <a:xfrm>
              <a:off x="4671550" y="1363784"/>
              <a:ext cx="1191957" cy="2144901"/>
            </a:xfrm>
            <a:prstGeom prst="roundRect">
              <a:avLst>
                <a:gd name="adj" fmla="val 1000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239;p8">
              <a:extLst>
                <a:ext uri="{FF2B5EF4-FFF2-40B4-BE49-F238E27FC236}">
                  <a16:creationId xmlns:a16="http://schemas.microsoft.com/office/drawing/2014/main" id="{8255EFBE-0AB2-AA95-5906-4B9897DD88AC}"/>
                </a:ext>
              </a:extLst>
            </p:cNvPr>
            <p:cNvSpPr/>
            <p:nvPr/>
          </p:nvSpPr>
          <p:spPr>
            <a:xfrm>
              <a:off x="5096538" y="1403301"/>
              <a:ext cx="332533" cy="3325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A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22" name="Google Shape;239;p8">
              <a:extLst>
                <a:ext uri="{FF2B5EF4-FFF2-40B4-BE49-F238E27FC236}">
                  <a16:creationId xmlns:a16="http://schemas.microsoft.com/office/drawing/2014/main" id="{82125CC0-C5AF-DAE3-09E9-7FA13707111A}"/>
                </a:ext>
              </a:extLst>
            </p:cNvPr>
            <p:cNvSpPr/>
            <p:nvPr/>
          </p:nvSpPr>
          <p:spPr>
            <a:xfrm>
              <a:off x="4700210" y="1853010"/>
              <a:ext cx="332533" cy="3325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B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23" name="Google Shape;239;p8">
              <a:extLst>
                <a:ext uri="{FF2B5EF4-FFF2-40B4-BE49-F238E27FC236}">
                  <a16:creationId xmlns:a16="http://schemas.microsoft.com/office/drawing/2014/main" id="{4DE3A1AA-53AC-3B5D-0993-FFA7D7E07506}"/>
                </a:ext>
              </a:extLst>
            </p:cNvPr>
            <p:cNvSpPr/>
            <p:nvPr/>
          </p:nvSpPr>
          <p:spPr>
            <a:xfrm>
              <a:off x="5492868" y="1853010"/>
              <a:ext cx="332533" cy="3325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C</a:t>
              </a:r>
            </a:p>
          </p:txBody>
        </p:sp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2EC53DCD-CC3E-4430-D971-B1334CEB30D8}"/>
                </a:ext>
              </a:extLst>
            </p:cNvPr>
            <p:cNvSpPr/>
            <p:nvPr/>
          </p:nvSpPr>
          <p:spPr>
            <a:xfrm>
              <a:off x="7770982" y="1363784"/>
              <a:ext cx="1194176" cy="2144901"/>
            </a:xfrm>
            <a:prstGeom prst="roundRect">
              <a:avLst>
                <a:gd name="adj" fmla="val 1000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CB951A95-9D7C-0903-D3DC-451BA9C5FD9F}"/>
                </a:ext>
              </a:extLst>
            </p:cNvPr>
            <p:cNvSpPr/>
            <p:nvPr/>
          </p:nvSpPr>
          <p:spPr>
            <a:xfrm>
              <a:off x="6189226" y="1363784"/>
              <a:ext cx="1302750" cy="2144901"/>
            </a:xfrm>
            <a:prstGeom prst="roundRect">
              <a:avLst>
                <a:gd name="adj" fmla="val 1000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AFE1609-039C-975D-A9AC-FF909FBC3A3C}"/>
                </a:ext>
              </a:extLst>
            </p:cNvPr>
            <p:cNvCxnSpPr>
              <a:stCxn id="20" idx="3"/>
              <a:endCxn id="22" idx="7"/>
            </p:cNvCxnSpPr>
            <p:nvPr/>
          </p:nvCxnSpPr>
          <p:spPr>
            <a:xfrm flipH="1">
              <a:off x="4984045" y="1687136"/>
              <a:ext cx="161192" cy="2145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C08DD99E-F6DC-0B46-4DE0-234779E60988}"/>
                </a:ext>
              </a:extLst>
            </p:cNvPr>
            <p:cNvCxnSpPr>
              <a:cxnSpLocks/>
              <a:stCxn id="20" idx="5"/>
              <a:endCxn id="23" idx="1"/>
            </p:cNvCxnSpPr>
            <p:nvPr/>
          </p:nvCxnSpPr>
          <p:spPr>
            <a:xfrm>
              <a:off x="5380373" y="1687136"/>
              <a:ext cx="161193" cy="2145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5537995E-5A1D-454E-9D8B-F1ED0B1B4C98}"/>
                </a:ext>
              </a:extLst>
            </p:cNvPr>
            <p:cNvCxnSpPr>
              <a:cxnSpLocks/>
              <a:stCxn id="22" idx="5"/>
              <a:endCxn id="50" idx="1"/>
            </p:cNvCxnSpPr>
            <p:nvPr/>
          </p:nvCxnSpPr>
          <p:spPr>
            <a:xfrm>
              <a:off x="4984045" y="2136844"/>
              <a:ext cx="161192" cy="2145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AA63F916-7BB7-0588-13F2-BD5DB616E2C4}"/>
                </a:ext>
              </a:extLst>
            </p:cNvPr>
            <p:cNvCxnSpPr>
              <a:cxnSpLocks/>
              <a:stCxn id="23" idx="3"/>
              <a:endCxn id="50" idx="7"/>
            </p:cNvCxnSpPr>
            <p:nvPr/>
          </p:nvCxnSpPr>
          <p:spPr>
            <a:xfrm flipH="1">
              <a:off x="5380373" y="2136844"/>
              <a:ext cx="161193" cy="2145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1C622618-0C08-4AB5-D5FC-231690357A75}"/>
                </a:ext>
              </a:extLst>
            </p:cNvPr>
            <p:cNvCxnSpPr>
              <a:cxnSpLocks/>
              <a:stCxn id="50" idx="4"/>
              <a:endCxn id="47" idx="0"/>
            </p:cNvCxnSpPr>
            <p:nvPr/>
          </p:nvCxnSpPr>
          <p:spPr>
            <a:xfrm>
              <a:off x="5262805" y="2635251"/>
              <a:ext cx="0" cy="1171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8E4E06B1-5A82-89BA-EFF4-4DC38B5DCCE4}"/>
                </a:ext>
              </a:extLst>
            </p:cNvPr>
            <p:cNvCxnSpPr>
              <a:cxnSpLocks/>
              <a:stCxn id="23" idx="4"/>
              <a:endCxn id="47" idx="7"/>
            </p:cNvCxnSpPr>
            <p:nvPr/>
          </p:nvCxnSpPr>
          <p:spPr>
            <a:xfrm flipH="1">
              <a:off x="5380373" y="2185543"/>
              <a:ext cx="278761" cy="615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A426FB04-464E-FA3F-8CBA-5E008CD3C09A}"/>
                </a:ext>
              </a:extLst>
            </p:cNvPr>
            <p:cNvCxnSpPr>
              <a:cxnSpLocks/>
              <a:stCxn id="22" idx="4"/>
              <a:endCxn id="47" idx="1"/>
            </p:cNvCxnSpPr>
            <p:nvPr/>
          </p:nvCxnSpPr>
          <p:spPr>
            <a:xfrm>
              <a:off x="4866477" y="2185543"/>
              <a:ext cx="278760" cy="615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353E2F74-65F4-C997-A5B6-2081FC64E815}"/>
                </a:ext>
              </a:extLst>
            </p:cNvPr>
            <p:cNvCxnSpPr>
              <a:stCxn id="58" idx="3"/>
              <a:endCxn id="60" idx="7"/>
            </p:cNvCxnSpPr>
            <p:nvPr/>
          </p:nvCxnSpPr>
          <p:spPr>
            <a:xfrm flipH="1">
              <a:off x="8091159" y="1687136"/>
              <a:ext cx="161192" cy="2145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B3BC0239-6678-1186-8398-8FF40AD50985}"/>
                </a:ext>
              </a:extLst>
            </p:cNvPr>
            <p:cNvCxnSpPr>
              <a:cxnSpLocks/>
              <a:stCxn id="58" idx="5"/>
              <a:endCxn id="61" idx="1"/>
            </p:cNvCxnSpPr>
            <p:nvPr/>
          </p:nvCxnSpPr>
          <p:spPr>
            <a:xfrm>
              <a:off x="8487487" y="1687136"/>
              <a:ext cx="161193" cy="2145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A7E2AAEF-53E2-A6C2-53A9-C822D0615BCE}"/>
                </a:ext>
              </a:extLst>
            </p:cNvPr>
            <p:cNvCxnSpPr>
              <a:cxnSpLocks/>
              <a:stCxn id="60" idx="4"/>
              <a:endCxn id="51" idx="0"/>
            </p:cNvCxnSpPr>
            <p:nvPr/>
          </p:nvCxnSpPr>
          <p:spPr>
            <a:xfrm>
              <a:off x="7973591" y="2185543"/>
              <a:ext cx="0" cy="1171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FDCC28C4-C9E4-9B85-9EFA-A0D62A97F14E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>
              <a:off x="7954829" y="2544372"/>
              <a:ext cx="297522" cy="2567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398DCA91-C94A-0604-06F3-2E3B92757842}"/>
                </a:ext>
              </a:extLst>
            </p:cNvPr>
            <p:cNvCxnSpPr>
              <a:cxnSpLocks/>
              <a:stCxn id="61" idx="3"/>
              <a:endCxn id="48" idx="0"/>
            </p:cNvCxnSpPr>
            <p:nvPr/>
          </p:nvCxnSpPr>
          <p:spPr>
            <a:xfrm flipH="1">
              <a:off x="8369919" y="2136844"/>
              <a:ext cx="278761" cy="615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68A71C35-1780-41FC-2F9B-59055DF19EB5}"/>
                </a:ext>
              </a:extLst>
            </p:cNvPr>
            <p:cNvCxnSpPr>
              <a:cxnSpLocks/>
              <a:stCxn id="60" idx="5"/>
              <a:endCxn id="48" idx="0"/>
            </p:cNvCxnSpPr>
            <p:nvPr/>
          </p:nvCxnSpPr>
          <p:spPr>
            <a:xfrm>
              <a:off x="8091159" y="2136844"/>
              <a:ext cx="278760" cy="615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EE64B162-3877-B2E6-C9DE-4563727C1B93}"/>
                </a:ext>
              </a:extLst>
            </p:cNvPr>
            <p:cNvCxnSpPr>
              <a:cxnSpLocks/>
              <a:stCxn id="61" idx="4"/>
              <a:endCxn id="52" idx="0"/>
            </p:cNvCxnSpPr>
            <p:nvPr/>
          </p:nvCxnSpPr>
          <p:spPr>
            <a:xfrm>
              <a:off x="8766249" y="2185543"/>
              <a:ext cx="0" cy="1171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3FC90BC0-C76D-5698-52C0-BE8C3F3D9ED4}"/>
                </a:ext>
              </a:extLst>
            </p:cNvPr>
            <p:cNvCxnSpPr>
              <a:cxnSpLocks/>
              <a:stCxn id="52" idx="3"/>
              <a:endCxn id="48" idx="7"/>
            </p:cNvCxnSpPr>
            <p:nvPr/>
          </p:nvCxnSpPr>
          <p:spPr>
            <a:xfrm flipH="1">
              <a:off x="8487487" y="2586553"/>
              <a:ext cx="161193" cy="2145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1524EC69-320F-1341-2A82-71E721A8868C}"/>
                </a:ext>
              </a:extLst>
            </p:cNvPr>
            <p:cNvCxnSpPr>
              <a:cxnSpLocks/>
              <a:stCxn id="59" idx="4"/>
              <a:endCxn id="63" idx="0"/>
            </p:cNvCxnSpPr>
            <p:nvPr/>
          </p:nvCxnSpPr>
          <p:spPr>
            <a:xfrm>
              <a:off x="6839139" y="1735835"/>
              <a:ext cx="1" cy="1171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D5FB5042-3C44-9855-CAAF-D50BF6FF6C72}"/>
                </a:ext>
              </a:extLst>
            </p:cNvPr>
            <p:cNvCxnSpPr>
              <a:cxnSpLocks/>
              <a:stCxn id="59" idx="3"/>
              <a:endCxn id="62" idx="7"/>
            </p:cNvCxnSpPr>
            <p:nvPr/>
          </p:nvCxnSpPr>
          <p:spPr>
            <a:xfrm flipH="1">
              <a:off x="6516031" y="1687136"/>
              <a:ext cx="205540" cy="2145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B69789E4-F146-BFB3-1D3E-AC05C6EE0051}"/>
                </a:ext>
              </a:extLst>
            </p:cNvPr>
            <p:cNvCxnSpPr>
              <a:cxnSpLocks/>
              <a:stCxn id="62" idx="4"/>
              <a:endCxn id="53" idx="0"/>
            </p:cNvCxnSpPr>
            <p:nvPr/>
          </p:nvCxnSpPr>
          <p:spPr>
            <a:xfrm>
              <a:off x="6398463" y="2185543"/>
              <a:ext cx="0" cy="1171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47B4AC76-AAF9-B8B4-1812-8347B514DDCB}"/>
                </a:ext>
              </a:extLst>
            </p:cNvPr>
            <p:cNvCxnSpPr>
              <a:cxnSpLocks/>
              <a:stCxn id="62" idx="5"/>
              <a:endCxn id="54" idx="1"/>
            </p:cNvCxnSpPr>
            <p:nvPr/>
          </p:nvCxnSpPr>
          <p:spPr>
            <a:xfrm>
              <a:off x="6516031" y="2136844"/>
              <a:ext cx="205541" cy="2145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D493130D-758C-AC40-9F40-49C92F331650}"/>
                </a:ext>
              </a:extLst>
            </p:cNvPr>
            <p:cNvCxnSpPr>
              <a:cxnSpLocks/>
              <a:stCxn id="54" idx="4"/>
              <a:endCxn id="49" idx="0"/>
            </p:cNvCxnSpPr>
            <p:nvPr/>
          </p:nvCxnSpPr>
          <p:spPr>
            <a:xfrm flipH="1">
              <a:off x="6839139" y="2635251"/>
              <a:ext cx="1" cy="1171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858BB801-16A3-F76A-1552-259FDAFC0ED0}"/>
                </a:ext>
              </a:extLst>
            </p:cNvPr>
            <p:cNvCxnSpPr>
              <a:cxnSpLocks/>
              <a:stCxn id="55" idx="3"/>
              <a:endCxn id="49" idx="7"/>
            </p:cNvCxnSpPr>
            <p:nvPr/>
          </p:nvCxnSpPr>
          <p:spPr>
            <a:xfrm flipH="1">
              <a:off x="6956707" y="2586553"/>
              <a:ext cx="205541" cy="2145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Google Shape;239;p8">
              <a:extLst>
                <a:ext uri="{FF2B5EF4-FFF2-40B4-BE49-F238E27FC236}">
                  <a16:creationId xmlns:a16="http://schemas.microsoft.com/office/drawing/2014/main" id="{5C3EEAE9-7D8B-5B60-D09D-E4AC3175F2E6}"/>
                </a:ext>
              </a:extLst>
            </p:cNvPr>
            <p:cNvSpPr/>
            <p:nvPr/>
          </p:nvSpPr>
          <p:spPr>
            <a:xfrm>
              <a:off x="5096538" y="2752427"/>
              <a:ext cx="332533" cy="3325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E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48" name="Google Shape;239;p8">
              <a:extLst>
                <a:ext uri="{FF2B5EF4-FFF2-40B4-BE49-F238E27FC236}">
                  <a16:creationId xmlns:a16="http://schemas.microsoft.com/office/drawing/2014/main" id="{F942F379-D6B6-E376-296B-B9804DD8D359}"/>
                </a:ext>
              </a:extLst>
            </p:cNvPr>
            <p:cNvSpPr/>
            <p:nvPr/>
          </p:nvSpPr>
          <p:spPr>
            <a:xfrm>
              <a:off x="8203653" y="2752427"/>
              <a:ext cx="332533" cy="3325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E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49" name="Google Shape;239;p8">
              <a:extLst>
                <a:ext uri="{FF2B5EF4-FFF2-40B4-BE49-F238E27FC236}">
                  <a16:creationId xmlns:a16="http://schemas.microsoft.com/office/drawing/2014/main" id="{31BBCD00-EDB5-609D-E727-044BB053C5C4}"/>
                </a:ext>
              </a:extLst>
            </p:cNvPr>
            <p:cNvSpPr/>
            <p:nvPr/>
          </p:nvSpPr>
          <p:spPr>
            <a:xfrm>
              <a:off x="6672873" y="2752427"/>
              <a:ext cx="332533" cy="3325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E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50" name="Google Shape;239;p8">
              <a:extLst>
                <a:ext uri="{FF2B5EF4-FFF2-40B4-BE49-F238E27FC236}">
                  <a16:creationId xmlns:a16="http://schemas.microsoft.com/office/drawing/2014/main" id="{663C25DB-2B37-EED3-39FE-EFA973B738C8}"/>
                </a:ext>
              </a:extLst>
            </p:cNvPr>
            <p:cNvSpPr/>
            <p:nvPr/>
          </p:nvSpPr>
          <p:spPr>
            <a:xfrm>
              <a:off x="5096538" y="2302718"/>
              <a:ext cx="332533" cy="3325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D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51" name="Google Shape;239;p8">
              <a:extLst>
                <a:ext uri="{FF2B5EF4-FFF2-40B4-BE49-F238E27FC236}">
                  <a16:creationId xmlns:a16="http://schemas.microsoft.com/office/drawing/2014/main" id="{409EB15C-B5B9-C0EB-4571-E5DF9ED78E48}"/>
                </a:ext>
              </a:extLst>
            </p:cNvPr>
            <p:cNvSpPr/>
            <p:nvPr/>
          </p:nvSpPr>
          <p:spPr>
            <a:xfrm>
              <a:off x="7807324" y="2302718"/>
              <a:ext cx="332533" cy="3325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D`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52" name="Google Shape;239;p8">
              <a:extLst>
                <a:ext uri="{FF2B5EF4-FFF2-40B4-BE49-F238E27FC236}">
                  <a16:creationId xmlns:a16="http://schemas.microsoft.com/office/drawing/2014/main" id="{386BFC38-2C06-723F-DB38-66CA682829E7}"/>
                </a:ext>
              </a:extLst>
            </p:cNvPr>
            <p:cNvSpPr/>
            <p:nvPr/>
          </p:nvSpPr>
          <p:spPr>
            <a:xfrm>
              <a:off x="8599982" y="2302718"/>
              <a:ext cx="332533" cy="3325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D``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53" name="Google Shape;239;p8">
              <a:extLst>
                <a:ext uri="{FF2B5EF4-FFF2-40B4-BE49-F238E27FC236}">
                  <a16:creationId xmlns:a16="http://schemas.microsoft.com/office/drawing/2014/main" id="{2467AC5D-B3B8-79E5-F995-BE562BE40792}"/>
                </a:ext>
              </a:extLst>
            </p:cNvPr>
            <p:cNvSpPr/>
            <p:nvPr/>
          </p:nvSpPr>
          <p:spPr>
            <a:xfrm>
              <a:off x="6232196" y="2302718"/>
              <a:ext cx="332533" cy="3325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C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54" name="Google Shape;239;p8">
              <a:extLst>
                <a:ext uri="{FF2B5EF4-FFF2-40B4-BE49-F238E27FC236}">
                  <a16:creationId xmlns:a16="http://schemas.microsoft.com/office/drawing/2014/main" id="{7484897A-EA34-C687-6242-4E4189DC50B4}"/>
                </a:ext>
              </a:extLst>
            </p:cNvPr>
            <p:cNvSpPr/>
            <p:nvPr/>
          </p:nvSpPr>
          <p:spPr>
            <a:xfrm>
              <a:off x="6672874" y="2302718"/>
              <a:ext cx="332533" cy="3325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US" altLang="ko-Kore-KR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J2</a:t>
              </a:r>
            </a:p>
          </p:txBody>
        </p:sp>
        <p:sp>
          <p:nvSpPr>
            <p:cNvPr id="55" name="Google Shape;239;p8">
              <a:extLst>
                <a:ext uri="{FF2B5EF4-FFF2-40B4-BE49-F238E27FC236}">
                  <a16:creationId xmlns:a16="http://schemas.microsoft.com/office/drawing/2014/main" id="{8DF442B2-8DCC-D8B6-60C7-7057CCE1E541}"/>
                </a:ext>
              </a:extLst>
            </p:cNvPr>
            <p:cNvSpPr/>
            <p:nvPr/>
          </p:nvSpPr>
          <p:spPr>
            <a:xfrm>
              <a:off x="7113550" y="2302718"/>
              <a:ext cx="332533" cy="3325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D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F441A795-D578-F30D-5E4A-D6B51BC3EA75}"/>
                </a:ext>
              </a:extLst>
            </p:cNvPr>
            <p:cNvCxnSpPr>
              <a:cxnSpLocks/>
              <a:stCxn id="53" idx="6"/>
              <a:endCxn id="54" idx="2"/>
            </p:cNvCxnSpPr>
            <p:nvPr/>
          </p:nvCxnSpPr>
          <p:spPr>
            <a:xfrm>
              <a:off x="6564730" y="2468984"/>
              <a:ext cx="108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3DD34C44-7668-2644-B249-8E5E00C9BF73}"/>
                </a:ext>
              </a:extLst>
            </p:cNvPr>
            <p:cNvCxnSpPr>
              <a:cxnSpLocks/>
              <a:stCxn id="54" idx="6"/>
              <a:endCxn id="55" idx="2"/>
            </p:cNvCxnSpPr>
            <p:nvPr/>
          </p:nvCxnSpPr>
          <p:spPr>
            <a:xfrm>
              <a:off x="7005407" y="2468984"/>
              <a:ext cx="1081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Google Shape;239;p8">
              <a:extLst>
                <a:ext uri="{FF2B5EF4-FFF2-40B4-BE49-F238E27FC236}">
                  <a16:creationId xmlns:a16="http://schemas.microsoft.com/office/drawing/2014/main" id="{EB255DE6-ED8B-F81D-2280-9B12D30DD879}"/>
                </a:ext>
              </a:extLst>
            </p:cNvPr>
            <p:cNvSpPr/>
            <p:nvPr/>
          </p:nvSpPr>
          <p:spPr>
            <a:xfrm>
              <a:off x="8203653" y="1403301"/>
              <a:ext cx="332533" cy="3325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A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59" name="Google Shape;239;p8">
              <a:extLst>
                <a:ext uri="{FF2B5EF4-FFF2-40B4-BE49-F238E27FC236}">
                  <a16:creationId xmlns:a16="http://schemas.microsoft.com/office/drawing/2014/main" id="{19FC0D55-DC05-8622-AFAA-1D1B9CAC3B0B}"/>
                </a:ext>
              </a:extLst>
            </p:cNvPr>
            <p:cNvSpPr/>
            <p:nvPr/>
          </p:nvSpPr>
          <p:spPr>
            <a:xfrm>
              <a:off x="6672873" y="1403301"/>
              <a:ext cx="332533" cy="3325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A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60" name="Google Shape;239;p8">
              <a:extLst>
                <a:ext uri="{FF2B5EF4-FFF2-40B4-BE49-F238E27FC236}">
                  <a16:creationId xmlns:a16="http://schemas.microsoft.com/office/drawing/2014/main" id="{D2A0906A-83CA-3702-F1BF-B5072B67944F}"/>
                </a:ext>
              </a:extLst>
            </p:cNvPr>
            <p:cNvSpPr/>
            <p:nvPr/>
          </p:nvSpPr>
          <p:spPr>
            <a:xfrm>
              <a:off x="7807324" y="1853010"/>
              <a:ext cx="332533" cy="3325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B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61" name="Google Shape;239;p8">
              <a:extLst>
                <a:ext uri="{FF2B5EF4-FFF2-40B4-BE49-F238E27FC236}">
                  <a16:creationId xmlns:a16="http://schemas.microsoft.com/office/drawing/2014/main" id="{C4277F7B-6130-03E6-51EF-84385CC2C47D}"/>
                </a:ext>
              </a:extLst>
            </p:cNvPr>
            <p:cNvSpPr/>
            <p:nvPr/>
          </p:nvSpPr>
          <p:spPr>
            <a:xfrm>
              <a:off x="8599982" y="1853010"/>
              <a:ext cx="332533" cy="3325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C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62" name="Google Shape;239;p8">
              <a:extLst>
                <a:ext uri="{FF2B5EF4-FFF2-40B4-BE49-F238E27FC236}">
                  <a16:creationId xmlns:a16="http://schemas.microsoft.com/office/drawing/2014/main" id="{B71DEDFF-B363-7178-8DD8-0A95FD94DC17}"/>
                </a:ext>
              </a:extLst>
            </p:cNvPr>
            <p:cNvSpPr/>
            <p:nvPr/>
          </p:nvSpPr>
          <p:spPr>
            <a:xfrm>
              <a:off x="6232196" y="1853010"/>
              <a:ext cx="332533" cy="3325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J1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sp>
          <p:nvSpPr>
            <p:cNvPr id="63" name="Google Shape;239;p8">
              <a:extLst>
                <a:ext uri="{FF2B5EF4-FFF2-40B4-BE49-F238E27FC236}">
                  <a16:creationId xmlns:a16="http://schemas.microsoft.com/office/drawing/2014/main" id="{B550C358-2BCF-8A24-C8F2-4C2A9F9F0C9B}"/>
                </a:ext>
              </a:extLst>
            </p:cNvPr>
            <p:cNvSpPr/>
            <p:nvPr/>
          </p:nvSpPr>
          <p:spPr>
            <a:xfrm>
              <a:off x="6672874" y="1853010"/>
              <a:ext cx="332533" cy="3325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rPr>
                <a:t>B</a:t>
              </a:r>
              <a:endParaRPr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endParaRP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C14B3B1A-947A-0191-9828-64473F4FD02B}"/>
                </a:ext>
              </a:extLst>
            </p:cNvPr>
            <p:cNvCxnSpPr>
              <a:cxnSpLocks/>
              <a:stCxn id="63" idx="2"/>
              <a:endCxn id="62" idx="6"/>
            </p:cNvCxnSpPr>
            <p:nvPr/>
          </p:nvCxnSpPr>
          <p:spPr>
            <a:xfrm flipH="1">
              <a:off x="6564730" y="2019276"/>
              <a:ext cx="108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U자형 화살표[U] 64">
              <a:extLst>
                <a:ext uri="{FF2B5EF4-FFF2-40B4-BE49-F238E27FC236}">
                  <a16:creationId xmlns:a16="http://schemas.microsoft.com/office/drawing/2014/main" id="{87A23420-6001-4876-7E65-3C28D21F2870}"/>
                </a:ext>
              </a:extLst>
            </p:cNvPr>
            <p:cNvSpPr/>
            <p:nvPr/>
          </p:nvSpPr>
          <p:spPr>
            <a:xfrm>
              <a:off x="5261020" y="1137875"/>
              <a:ext cx="3108899" cy="160344"/>
            </a:xfrm>
            <a:prstGeom prst="uturnArrow">
              <a:avLst>
                <a:gd name="adj1" fmla="val 50000"/>
                <a:gd name="adj2" fmla="val 25000"/>
                <a:gd name="adj3" fmla="val 32178"/>
                <a:gd name="adj4" fmla="val 0"/>
                <a:gd name="adj5" fmla="val 10000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63C0AB2-1E65-9A0F-3022-90E94482E8AF}"/>
                </a:ext>
              </a:extLst>
            </p:cNvPr>
            <p:cNvSpPr txBox="1"/>
            <p:nvPr/>
          </p:nvSpPr>
          <p:spPr>
            <a:xfrm>
              <a:off x="6207637" y="828186"/>
              <a:ext cx="1503572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" altLang="ko-Kore-KR" sz="1600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Reconstruction</a:t>
              </a:r>
              <a:endParaRPr kumimoji="1" lang="ko-Kore-KR" altLang="en-US" sz="16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A343D41-1D57-4130-78DB-2DD12FC96417}"/>
                </a:ext>
              </a:extLst>
            </p:cNvPr>
            <p:cNvSpPr txBox="1"/>
            <p:nvPr/>
          </p:nvSpPr>
          <p:spPr>
            <a:xfrm>
              <a:off x="4670802" y="3645606"/>
              <a:ext cx="11919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ore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Original CFG</a:t>
              </a:r>
              <a:endParaRPr kumimoji="1" lang="ko-Kore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A56E193-9314-A9D0-43C3-FBF880D9C039}"/>
                </a:ext>
              </a:extLst>
            </p:cNvPr>
            <p:cNvSpPr txBox="1"/>
            <p:nvPr/>
          </p:nvSpPr>
          <p:spPr>
            <a:xfrm>
              <a:off x="7661781" y="3645606"/>
              <a:ext cx="1432791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ore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Reconstructed  CFG</a:t>
              </a:r>
              <a:endParaRPr kumimoji="1" lang="ko-Kore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오른쪽 화살표[R] 69">
              <a:extLst>
                <a:ext uri="{FF2B5EF4-FFF2-40B4-BE49-F238E27FC236}">
                  <a16:creationId xmlns:a16="http://schemas.microsoft.com/office/drawing/2014/main" id="{0D27626F-D957-4CF3-692E-DACD34FA665C}"/>
                </a:ext>
              </a:extLst>
            </p:cNvPr>
            <p:cNvSpPr/>
            <p:nvPr/>
          </p:nvSpPr>
          <p:spPr>
            <a:xfrm rot="5400000">
              <a:off x="8256659" y="1151647"/>
              <a:ext cx="131960" cy="254094"/>
            </a:xfrm>
            <a:prstGeom prst="rightArrow">
              <a:avLst>
                <a:gd name="adj1" fmla="val 43116"/>
                <a:gd name="adj2" fmla="val 3868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오른쪽 화살표[R] 70">
              <a:extLst>
                <a:ext uri="{FF2B5EF4-FFF2-40B4-BE49-F238E27FC236}">
                  <a16:creationId xmlns:a16="http://schemas.microsoft.com/office/drawing/2014/main" id="{4D5FADB4-3DC9-236C-BB2A-32F939AF20E8}"/>
                </a:ext>
              </a:extLst>
            </p:cNvPr>
            <p:cNvSpPr/>
            <p:nvPr/>
          </p:nvSpPr>
          <p:spPr>
            <a:xfrm>
              <a:off x="5521518" y="2829232"/>
              <a:ext cx="1134712" cy="17195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D4876D0-EE49-FAB3-60C8-60ADF0E52EF6}"/>
                </a:ext>
              </a:extLst>
            </p:cNvPr>
            <p:cNvSpPr txBox="1"/>
            <p:nvPr/>
          </p:nvSpPr>
          <p:spPr>
            <a:xfrm>
              <a:off x="6232196" y="3645606"/>
              <a:ext cx="1282046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ore-KR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" altLang="ko-Kore-KR" sz="1600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Structuriz</a:t>
              </a:r>
              <a:r>
                <a:rPr lang="en-US" altLang="ko-Kore-KR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</a:t>
              </a:r>
              <a:r>
                <a:rPr kumimoji="1" lang="en-US" altLang="ko-Kore-KR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 CFG</a:t>
              </a:r>
              <a:endParaRPr kumimoji="1" lang="ko-Kore-KR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B51B507-F51D-96C6-68B5-81E94A9FB117}"/>
                </a:ext>
              </a:extLst>
            </p:cNvPr>
            <p:cNvSpPr txBox="1"/>
            <p:nvPr/>
          </p:nvSpPr>
          <p:spPr>
            <a:xfrm>
              <a:off x="5418747" y="3088839"/>
              <a:ext cx="1420392" cy="269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" altLang="ko-Kore-KR" sz="16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Structurization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87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AAC7F-15B1-A198-2396-39B119B4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2D7D9-F842-4006-7C2E-2C8025BD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Middle-end Compiler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B4859-E580-884E-4487-95D5050E7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004"/>
            <a:ext cx="4042152" cy="3432718"/>
          </a:xfrm>
        </p:spPr>
        <p:txBody>
          <a:bodyPr/>
          <a:lstStyle/>
          <a:p>
            <a:r>
              <a:rPr lang="en-US" altLang="ko-Kore-KR" sz="1800" b="1" dirty="0"/>
              <a:t>Divergence Intrinsic Insertion</a:t>
            </a:r>
          </a:p>
          <a:p>
            <a:pPr lvl="1"/>
            <a:r>
              <a:rPr lang="en-US" altLang="ko-Kore-KR" b="1" dirty="0">
                <a:solidFill>
                  <a:schemeClr val="tx1"/>
                </a:solidFill>
              </a:rPr>
              <a:t>Split and </a:t>
            </a:r>
            <a:r>
              <a:rPr lang="en-US" altLang="ko-Kore-KR" b="1" dirty="0"/>
              <a:t>J</a:t>
            </a:r>
            <a:r>
              <a:rPr lang="en-US" altLang="ko-Kore-KR" b="1" dirty="0">
                <a:solidFill>
                  <a:schemeClr val="tx1"/>
                </a:solidFill>
              </a:rPr>
              <a:t>oin Insertion</a:t>
            </a:r>
          </a:p>
          <a:p>
            <a:pPr lvl="2"/>
            <a:r>
              <a:rPr lang="en-US" altLang="ko-Kore-KR" sz="1600" dirty="0">
                <a:solidFill>
                  <a:schemeClr val="tx1"/>
                </a:solidFill>
              </a:rPr>
              <a:t>Handles divergent branches using </a:t>
            </a:r>
            <a:r>
              <a:rPr lang="en-US" altLang="ko-Kore-KR" sz="1600" dirty="0" err="1">
                <a:solidFill>
                  <a:schemeClr val="tx1"/>
                </a:solidFill>
              </a:rPr>
              <a:t>vx_split</a:t>
            </a:r>
            <a:r>
              <a:rPr lang="en-US" altLang="ko-Kore-KR" sz="1600" dirty="0">
                <a:solidFill>
                  <a:schemeClr val="tx1"/>
                </a:solidFill>
              </a:rPr>
              <a:t> and </a:t>
            </a:r>
            <a:r>
              <a:rPr lang="en-US" altLang="ko-Kore-KR" sz="1600" dirty="0" err="1">
                <a:solidFill>
                  <a:schemeClr val="tx1"/>
                </a:solidFill>
              </a:rPr>
              <a:t>vx_join</a:t>
            </a:r>
            <a:r>
              <a:rPr lang="en-US" altLang="ko-Kore-KR" sz="1600" dirty="0">
                <a:solidFill>
                  <a:schemeClr val="tx1"/>
                </a:solidFill>
              </a:rPr>
              <a:t> instructions</a:t>
            </a:r>
          </a:p>
          <a:p>
            <a:pPr lvl="1">
              <a:buClr>
                <a:srgbClr val="BCBCBC"/>
              </a:buClr>
            </a:pPr>
            <a:r>
              <a:rPr lang="en-US" altLang="ko-Kore-KR" b="1" dirty="0">
                <a:solidFill>
                  <a:schemeClr val="tx1"/>
                </a:solidFill>
                <a:ea typeface="Tahoma"/>
              </a:rPr>
              <a:t>Loop </a:t>
            </a:r>
            <a:r>
              <a:rPr lang="en-US" altLang="ko-Kore-KR" b="1" dirty="0">
                <a:ea typeface="Tahoma"/>
              </a:rPr>
              <a:t>P</a:t>
            </a:r>
            <a:r>
              <a:rPr lang="en-US" altLang="ko-Kore-KR" b="1" dirty="0">
                <a:solidFill>
                  <a:schemeClr val="tx1"/>
                </a:solidFill>
                <a:ea typeface="Tahoma"/>
              </a:rPr>
              <a:t>redicate </a:t>
            </a:r>
            <a:r>
              <a:rPr lang="en-US" altLang="ko-Kore-KR" b="1" dirty="0">
                <a:ea typeface="Tahoma"/>
              </a:rPr>
              <a:t>I</a:t>
            </a:r>
            <a:r>
              <a:rPr lang="en-US" altLang="ko-Kore-KR" b="1" dirty="0">
                <a:solidFill>
                  <a:schemeClr val="tx1"/>
                </a:solidFill>
                <a:ea typeface="Tahoma"/>
              </a:rPr>
              <a:t>nsertion </a:t>
            </a:r>
          </a:p>
          <a:p>
            <a:pPr lvl="2">
              <a:buClr>
                <a:srgbClr val="BCBCBC"/>
              </a:buClr>
            </a:pPr>
            <a:r>
              <a:rPr lang="en-US" altLang="ko-Kore-KR" sz="1600" dirty="0">
                <a:solidFill>
                  <a:schemeClr val="tx1"/>
                </a:solidFill>
                <a:ea typeface="Tahoma"/>
              </a:rPr>
              <a:t>Handling divergent loops with </a:t>
            </a:r>
            <a:r>
              <a:rPr lang="en-US" altLang="ko-Kore-KR" sz="1600" b="1" dirty="0" err="1">
                <a:solidFill>
                  <a:schemeClr val="tx1"/>
                </a:solidFill>
                <a:ea typeface="Tahoma"/>
              </a:rPr>
              <a:t>vx</a:t>
            </a:r>
            <a:r>
              <a:rPr lang="en-US" altLang="ko-Kore-KR" sz="1600" b="1" dirty="0" err="1">
                <a:ea typeface="Tahoma"/>
              </a:rPr>
              <a:t>_</a:t>
            </a:r>
            <a:r>
              <a:rPr lang="en-US" altLang="ko-Kore-KR" sz="1600" b="1" dirty="0" err="1">
                <a:solidFill>
                  <a:schemeClr val="tx1"/>
                </a:solidFill>
                <a:ea typeface="Tahoma"/>
              </a:rPr>
              <a:t>pred</a:t>
            </a:r>
            <a:endParaRPr lang="ko-Kore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6C7CCA-8153-28C4-E995-5038A3965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ED7BE-42AC-F5C3-28FE-BE1142F3F711}"/>
              </a:ext>
            </a:extLst>
          </p:cNvPr>
          <p:cNvSpPr txBox="1"/>
          <p:nvPr/>
        </p:nvSpPr>
        <p:spPr>
          <a:xfrm>
            <a:off x="5442989" y="609135"/>
            <a:ext cx="3479885" cy="362653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LLVM module</a:t>
            </a:r>
          </a:p>
        </p:txBody>
      </p:sp>
      <p:pic>
        <p:nvPicPr>
          <p:cNvPr id="6" name="Google Shape;114;p18" descr="The LLVM Compiler Infrastructure Project">
            <a:extLst>
              <a:ext uri="{FF2B5EF4-FFF2-40B4-BE49-F238E27FC236}">
                <a16:creationId xmlns:a16="http://schemas.microsoft.com/office/drawing/2014/main" id="{24508F14-145F-882C-B28C-3C814FC091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2828" y="666762"/>
            <a:ext cx="413010" cy="2671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3112C2-4FBE-29FC-4D28-E4057F745662}"/>
              </a:ext>
            </a:extLst>
          </p:cNvPr>
          <p:cNvSpPr txBox="1"/>
          <p:nvPr/>
        </p:nvSpPr>
        <p:spPr>
          <a:xfrm>
            <a:off x="4840224" y="1205192"/>
            <a:ext cx="4082650" cy="23670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Middle-end Compiler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BF105-226B-A5C8-1D93-45C5AB1007BA}"/>
              </a:ext>
            </a:extLst>
          </p:cNvPr>
          <p:cNvSpPr txBox="1"/>
          <p:nvPr/>
        </p:nvSpPr>
        <p:spPr>
          <a:xfrm>
            <a:off x="4919411" y="1993083"/>
            <a:ext cx="3876749" cy="14213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500" b="1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Divergence Management</a:t>
            </a:r>
            <a:r>
              <a:rPr lang="en-US" altLang="ko-Kore-KR" sz="1500" dirty="0">
                <a:solidFill>
                  <a:srgbClr val="C00000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 </a:t>
            </a:r>
            <a:endParaRPr lang="en-US" altLang="ko-Kore-KR" sz="1500" b="1" dirty="0">
              <a:solidFill>
                <a:srgbClr val="C00000"/>
              </a:solidFill>
              <a:latin typeface="Calibri" panose="020F0502020204030204" pitchFamily="34" charset="0"/>
              <a:ea typeface="Tahoma"/>
              <a:cs typeface="Calibri" panose="020F0502020204030204" pitchFamily="34" charset="0"/>
              <a:sym typeface="Tahoma"/>
            </a:endParaRPr>
          </a:p>
        </p:txBody>
      </p:sp>
      <p:sp>
        <p:nvSpPr>
          <p:cNvPr id="9" name="Google Shape;359;p13">
            <a:extLst>
              <a:ext uri="{FF2B5EF4-FFF2-40B4-BE49-F238E27FC236}">
                <a16:creationId xmlns:a16="http://schemas.microsoft.com/office/drawing/2014/main" id="{64D8ECEA-32BC-49CD-A9A9-137EF1677790}"/>
              </a:ext>
            </a:extLst>
          </p:cNvPr>
          <p:cNvSpPr/>
          <p:nvPr/>
        </p:nvSpPr>
        <p:spPr>
          <a:xfrm>
            <a:off x="5033046" y="2679824"/>
            <a:ext cx="3697578" cy="29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Optimization and Transformation</a:t>
            </a:r>
            <a:endParaRPr lang="en-US" altLang="ko-Kore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359;p13">
            <a:extLst>
              <a:ext uri="{FF2B5EF4-FFF2-40B4-BE49-F238E27FC236}">
                <a16:creationId xmlns:a16="http://schemas.microsoft.com/office/drawing/2014/main" id="{8371BECC-DA86-A6B5-8DAE-5BC4CE5FAB30}"/>
              </a:ext>
            </a:extLst>
          </p:cNvPr>
          <p:cNvSpPr/>
          <p:nvPr/>
        </p:nvSpPr>
        <p:spPr>
          <a:xfrm>
            <a:off x="5033046" y="2327253"/>
            <a:ext cx="1804629" cy="2801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Uniformity Analysis</a:t>
            </a:r>
            <a:endParaRPr lang="en-US" altLang="ko-Kore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359;p13">
            <a:extLst>
              <a:ext uri="{FF2B5EF4-FFF2-40B4-BE49-F238E27FC236}">
                <a16:creationId xmlns:a16="http://schemas.microsoft.com/office/drawing/2014/main" id="{C402304D-DF6F-BAC9-F2F0-74A279E477BF}"/>
              </a:ext>
            </a:extLst>
          </p:cNvPr>
          <p:cNvSpPr/>
          <p:nvPr/>
        </p:nvSpPr>
        <p:spPr>
          <a:xfrm>
            <a:off x="5024438" y="3041795"/>
            <a:ext cx="3697578" cy="2801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Divergence Management Function Insertion</a:t>
            </a:r>
            <a:endParaRPr lang="en-US" altLang="ko-Kore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00DA76-BFE1-7696-F457-D42AA1C44B81}"/>
              </a:ext>
            </a:extLst>
          </p:cNvPr>
          <p:cNvSpPr txBox="1"/>
          <p:nvPr/>
        </p:nvSpPr>
        <p:spPr>
          <a:xfrm>
            <a:off x="4918476" y="1651558"/>
            <a:ext cx="3861294" cy="26714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5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General Code Optimizations</a:t>
            </a:r>
          </a:p>
        </p:txBody>
      </p:sp>
      <p:pic>
        <p:nvPicPr>
          <p:cNvPr id="13" name="Google Shape;114;p18" descr="The LLVM Compiler Infrastructure Project">
            <a:extLst>
              <a:ext uri="{FF2B5EF4-FFF2-40B4-BE49-F238E27FC236}">
                <a16:creationId xmlns:a16="http://schemas.microsoft.com/office/drawing/2014/main" id="{77FE523C-7413-E55A-FEF4-F66CCBB1D4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0442" y="1280258"/>
            <a:ext cx="413010" cy="26714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59;p13">
            <a:extLst>
              <a:ext uri="{FF2B5EF4-FFF2-40B4-BE49-F238E27FC236}">
                <a16:creationId xmlns:a16="http://schemas.microsoft.com/office/drawing/2014/main" id="{2261B924-50B1-BB81-BF38-451850A0A248}"/>
              </a:ext>
            </a:extLst>
          </p:cNvPr>
          <p:cNvSpPr/>
          <p:nvPr/>
        </p:nvSpPr>
        <p:spPr>
          <a:xfrm>
            <a:off x="6929325" y="2326491"/>
            <a:ext cx="1796890" cy="268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Divergence Tracker</a:t>
            </a:r>
            <a:endParaRPr lang="en-US" altLang="ko-Kore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2CB25-5E0F-579E-19E2-36BF1E6F6854}"/>
              </a:ext>
            </a:extLst>
          </p:cNvPr>
          <p:cNvSpPr txBox="1"/>
          <p:nvPr/>
        </p:nvSpPr>
        <p:spPr>
          <a:xfrm>
            <a:off x="5442989" y="3825272"/>
            <a:ext cx="3479885" cy="362653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LLVM module</a:t>
            </a:r>
          </a:p>
        </p:txBody>
      </p:sp>
      <p:pic>
        <p:nvPicPr>
          <p:cNvPr id="16" name="Google Shape;114;p18" descr="The LLVM Compiler Infrastructure Project">
            <a:extLst>
              <a:ext uri="{FF2B5EF4-FFF2-40B4-BE49-F238E27FC236}">
                <a16:creationId xmlns:a16="http://schemas.microsoft.com/office/drawing/2014/main" id="{DE6FDB71-A9A4-BFC1-4385-61516FE115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2828" y="3882899"/>
            <a:ext cx="413010" cy="2671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8EB7541-538D-FACF-9D42-AE8FE172957C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881549" y="971788"/>
            <a:ext cx="0" cy="233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55B314-5647-DD79-D165-0CF59D1917DD}"/>
              </a:ext>
            </a:extLst>
          </p:cNvPr>
          <p:cNvCxnSpPr>
            <a:cxnSpLocks/>
          </p:cNvCxnSpPr>
          <p:nvPr/>
        </p:nvCxnSpPr>
        <p:spPr>
          <a:xfrm>
            <a:off x="6868522" y="3572256"/>
            <a:ext cx="0" cy="233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689FF95-4A02-FE7E-DA23-E371A11A777C}"/>
              </a:ext>
            </a:extLst>
          </p:cNvPr>
          <p:cNvSpPr txBox="1"/>
          <p:nvPr/>
        </p:nvSpPr>
        <p:spPr>
          <a:xfrm>
            <a:off x="3534033" y="4708133"/>
            <a:ext cx="5734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1100" dirty="0"/>
              <a:t>Blue boxes indicate components extended or implemented for the Vortex GPU</a:t>
            </a:r>
          </a:p>
        </p:txBody>
      </p:sp>
    </p:spTree>
    <p:extLst>
      <p:ext uri="{BB962C8B-B14F-4D97-AF65-F5344CB8AC3E}">
        <p14:creationId xmlns:p14="http://schemas.microsoft.com/office/powerpoint/2010/main" val="1648392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6B44B-06C8-2A29-9BD1-0622F573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Back-end Compiler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1F8077-03CA-CDE9-9B20-746A4907C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200004"/>
            <a:ext cx="4385844" cy="3432718"/>
          </a:xfrm>
        </p:spPr>
        <p:txBody>
          <a:bodyPr>
            <a:normAutofit/>
          </a:bodyPr>
          <a:lstStyle/>
          <a:p>
            <a:r>
              <a:rPr lang="en-US" altLang="ko-Kore-KR" sz="1800" b="1" dirty="0"/>
              <a:t>T</a:t>
            </a:r>
            <a:r>
              <a:rPr lang="en" altLang="ko-Kore-KR" sz="1800" b="1" dirty="0" err="1"/>
              <a:t>arget</a:t>
            </a:r>
            <a:r>
              <a:rPr lang="en" altLang="ko-Kore-KR" sz="1800" b="1" dirty="0"/>
              <a:t>-specific optimizations and final code generation</a:t>
            </a:r>
          </a:p>
          <a:p>
            <a:pPr lvl="1"/>
            <a:r>
              <a:rPr lang="en" altLang="ko-Kore-KR" dirty="0"/>
              <a:t>Built on the RISC-V target compiler</a:t>
            </a:r>
          </a:p>
          <a:p>
            <a:pPr lvl="1"/>
            <a:r>
              <a:rPr lang="en" altLang="ko-Kore-KR" dirty="0"/>
              <a:t>Extends the ISA table with Vortex-specific ISA extensions</a:t>
            </a:r>
          </a:p>
          <a:p>
            <a:pPr lvl="1"/>
            <a:r>
              <a:rPr lang="en" altLang="ko-Kore-KR" dirty="0"/>
              <a:t>Generates binaries for Vortex GPUs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2BA070-4319-1E10-0FD6-00AC9067F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DD3F0-7987-CADD-42B0-C48F94C58A27}"/>
              </a:ext>
            </a:extLst>
          </p:cNvPr>
          <p:cNvSpPr txBox="1"/>
          <p:nvPr/>
        </p:nvSpPr>
        <p:spPr>
          <a:xfrm>
            <a:off x="5335023" y="3606201"/>
            <a:ext cx="2970472" cy="410119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Vortex Binary</a:t>
            </a:r>
          </a:p>
        </p:txBody>
      </p:sp>
      <p:pic>
        <p:nvPicPr>
          <p:cNvPr id="6" name="Google Shape;116;p18" descr="Owner avatar">
            <a:extLst>
              <a:ext uri="{FF2B5EF4-FFF2-40B4-BE49-F238E27FC236}">
                <a16:creationId xmlns:a16="http://schemas.microsoft.com/office/drawing/2014/main" id="{20D5FF8D-5990-2C36-9E31-1689E5B1C4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9240" y="3681441"/>
            <a:ext cx="347465" cy="3172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5A295C-68AF-E366-620D-B086A27F1982}"/>
              </a:ext>
            </a:extLst>
          </p:cNvPr>
          <p:cNvSpPr txBox="1"/>
          <p:nvPr/>
        </p:nvSpPr>
        <p:spPr>
          <a:xfrm>
            <a:off x="5335747" y="1790873"/>
            <a:ext cx="2976665" cy="15393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Back-end Compiler</a:t>
            </a:r>
          </a:p>
        </p:txBody>
      </p:sp>
      <p:sp>
        <p:nvSpPr>
          <p:cNvPr id="8" name="Google Shape;359;p13">
            <a:extLst>
              <a:ext uri="{FF2B5EF4-FFF2-40B4-BE49-F238E27FC236}">
                <a16:creationId xmlns:a16="http://schemas.microsoft.com/office/drawing/2014/main" id="{2F646877-8F85-C32D-E54D-4321DF5AE685}"/>
              </a:ext>
            </a:extLst>
          </p:cNvPr>
          <p:cNvSpPr/>
          <p:nvPr/>
        </p:nvSpPr>
        <p:spPr>
          <a:xfrm>
            <a:off x="5664931" y="2274056"/>
            <a:ext cx="2516373" cy="5252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Target Code Generation and Optimization</a:t>
            </a:r>
            <a:endParaRPr lang="en-US" altLang="ko-Kore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359;p13">
            <a:extLst>
              <a:ext uri="{FF2B5EF4-FFF2-40B4-BE49-F238E27FC236}">
                <a16:creationId xmlns:a16="http://schemas.microsoft.com/office/drawing/2014/main" id="{608C11DB-C262-802D-29ED-96EE0E9663EA}"/>
              </a:ext>
            </a:extLst>
          </p:cNvPr>
          <p:cNvSpPr/>
          <p:nvPr/>
        </p:nvSpPr>
        <p:spPr>
          <a:xfrm>
            <a:off x="5664931" y="2895736"/>
            <a:ext cx="2516373" cy="266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/>
            <a:r>
              <a:rPr lang="en-US" altLang="ko-Kore-KR" sz="1600" dirty="0">
                <a:solidFill>
                  <a:schemeClr val="dk1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Vortex ISA Table</a:t>
            </a:r>
            <a:endParaRPr lang="en-US" altLang="ko-Kore-KR" sz="1600" dirty="0">
              <a:solidFill>
                <a:srgbClr val="C00000"/>
              </a:solidFill>
              <a:latin typeface="Calibri" panose="020F0502020204030204" pitchFamily="34" charset="0"/>
              <a:ea typeface="Tahoma"/>
              <a:cs typeface="Calibri" panose="020F0502020204030204" pitchFamily="34" charset="0"/>
              <a:sym typeface="Tahoma"/>
            </a:endParaRPr>
          </a:p>
        </p:txBody>
      </p:sp>
      <p:pic>
        <p:nvPicPr>
          <p:cNvPr id="10" name="Google Shape;114;p18" descr="The LLVM Compiler Infrastructure Project">
            <a:extLst>
              <a:ext uri="{FF2B5EF4-FFF2-40B4-BE49-F238E27FC236}">
                <a16:creationId xmlns:a16="http://schemas.microsoft.com/office/drawing/2014/main" id="{5C8495C4-5E5B-F512-FD3C-CFAB6D8BD2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64983" y="1878156"/>
            <a:ext cx="413010" cy="26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2" descr="Risc V Logo 5fa1b8aab3304">
            <a:extLst>
              <a:ext uri="{FF2B5EF4-FFF2-40B4-BE49-F238E27FC236}">
                <a16:creationId xmlns:a16="http://schemas.microsoft.com/office/drawing/2014/main" id="{3A5FEC6D-D73E-9F6B-7FD0-A81244D7DD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6" t="14735" r="14552" b="21787"/>
          <a:stretch/>
        </p:blipFill>
        <p:spPr bwMode="auto">
          <a:xfrm>
            <a:off x="7833090" y="1865805"/>
            <a:ext cx="348219" cy="29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60761A-A3AA-03E6-68C2-712975093E27}"/>
              </a:ext>
            </a:extLst>
          </p:cNvPr>
          <p:cNvSpPr txBox="1"/>
          <p:nvPr/>
        </p:nvSpPr>
        <p:spPr>
          <a:xfrm>
            <a:off x="5335024" y="1200004"/>
            <a:ext cx="2970472" cy="362653"/>
          </a:xfrm>
          <a:prstGeom prst="snip1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ore-KR" sz="1700" b="1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LLVM module</a:t>
            </a:r>
          </a:p>
        </p:txBody>
      </p:sp>
      <p:pic>
        <p:nvPicPr>
          <p:cNvPr id="13" name="Google Shape;114;p18" descr="The LLVM Compiler Infrastructure Project">
            <a:extLst>
              <a:ext uri="{FF2B5EF4-FFF2-40B4-BE49-F238E27FC236}">
                <a16:creationId xmlns:a16="http://schemas.microsoft.com/office/drawing/2014/main" id="{8C4C4483-05FE-4664-D2B9-74204F0EE3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9687" y="1247758"/>
            <a:ext cx="413010" cy="2671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805C082-67F2-0201-DBE6-94B20A347F7B}"/>
              </a:ext>
            </a:extLst>
          </p:cNvPr>
          <p:cNvCxnSpPr>
            <a:cxnSpLocks/>
            <a:stCxn id="12" idx="1"/>
            <a:endCxn id="7" idx="0"/>
          </p:cNvCxnSpPr>
          <p:nvPr/>
        </p:nvCxnSpPr>
        <p:spPr>
          <a:xfrm>
            <a:off x="6820260" y="1562657"/>
            <a:ext cx="3820" cy="228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1140501-9ADA-8233-B0ED-06616301467F}"/>
              </a:ext>
            </a:extLst>
          </p:cNvPr>
          <p:cNvCxnSpPr>
            <a:cxnSpLocks/>
            <a:stCxn id="7" idx="2"/>
            <a:endCxn id="5" idx="3"/>
          </p:cNvCxnSpPr>
          <p:nvPr/>
        </p:nvCxnSpPr>
        <p:spPr>
          <a:xfrm flipH="1">
            <a:off x="6820259" y="3330231"/>
            <a:ext cx="3821" cy="275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C4F01B-169F-B8F0-C7CD-866880C37610}"/>
              </a:ext>
            </a:extLst>
          </p:cNvPr>
          <p:cNvSpPr txBox="1"/>
          <p:nvPr/>
        </p:nvSpPr>
        <p:spPr>
          <a:xfrm>
            <a:off x="3534033" y="4708133"/>
            <a:ext cx="5734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1100" dirty="0"/>
              <a:t>Blue boxes indicate components extended or implemented for the Vortex GPU</a:t>
            </a:r>
          </a:p>
        </p:txBody>
      </p:sp>
    </p:spTree>
    <p:extLst>
      <p:ext uri="{BB962C8B-B14F-4D97-AF65-F5344CB8AC3E}">
        <p14:creationId xmlns:p14="http://schemas.microsoft.com/office/powerpoint/2010/main" val="759096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FB675-CC07-D85F-2E4B-22144807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VOLT for Vortex 3.0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670FC1-A541-83A5-63F0-B8CF95DF7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00004"/>
            <a:ext cx="7886699" cy="3432718"/>
          </a:xfrm>
        </p:spPr>
        <p:txBody>
          <a:bodyPr>
            <a:normAutofit/>
          </a:bodyPr>
          <a:lstStyle/>
          <a:p>
            <a:r>
              <a:rPr lang="en" altLang="ko-Kore-KR" sz="1600" dirty="0"/>
              <a:t>New version v1.1 is released in Git repo. </a:t>
            </a:r>
          </a:p>
          <a:p>
            <a:r>
              <a:rPr lang="en" altLang="ko-Kore-KR" sz="1600" dirty="0"/>
              <a:t>Our tool is available in our Git repository</a:t>
            </a:r>
          </a:p>
          <a:p>
            <a:pPr lvl="1"/>
            <a:r>
              <a:rPr kumimoji="1" lang="en" altLang="ko-Kore-KR" dirty="0">
                <a:hlinkClick r:id="rId3"/>
              </a:rPr>
              <a:t>https://github.com/vortexgpgpu/Volt</a:t>
            </a:r>
            <a:endParaRPr kumimoji="1" lang="en" altLang="ko-Kore-KR" dirty="0"/>
          </a:p>
          <a:p>
            <a:pPr lvl="1"/>
            <a:endParaRPr lang="en" altLang="ko-Kore-KR" dirty="0"/>
          </a:p>
          <a:p>
            <a:pPr>
              <a:buFont typeface="Arial" panose="020B0604020202020204" pitchFamily="34" charset="0"/>
              <a:buChar char="•"/>
            </a:pPr>
            <a:r>
              <a:rPr lang="en" altLang="ko-Kore-KR" sz="1600" dirty="0"/>
              <a:t>CUDA 12.1 and OpenCL 3.0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ore-KR" sz="1600" dirty="0"/>
              <a:t>Provides an end-to-end </a:t>
            </a:r>
            <a:r>
              <a:rPr lang="en" altLang="ko-Kore-KR" sz="1600" dirty="0" err="1"/>
              <a:t>PoCL</a:t>
            </a:r>
            <a:r>
              <a:rPr lang="en" altLang="ko-Kore-KR" sz="1600" dirty="0"/>
              <a:t> / </a:t>
            </a:r>
            <a:r>
              <a:rPr lang="en" altLang="ko-Kore-KR" sz="1600" dirty="0" err="1"/>
              <a:t>CuPBoP</a:t>
            </a:r>
            <a:r>
              <a:rPr lang="en" altLang="ko-Kore-KR" sz="1600" dirty="0"/>
              <a:t> / LLVM compilation pipeline</a:t>
            </a:r>
            <a:endParaRPr kumimoji="1" lang="en" altLang="ko-Kore-KR" sz="1600" dirty="0"/>
          </a:p>
          <a:p>
            <a:endParaRPr kumimoji="1" lang="ko-Kore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AB54CF-F6A7-9D58-35E3-49294037E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516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1A2B67-D0E3-5924-0858-6E6F34433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 err="1"/>
              <a:t>CuPBoP</a:t>
            </a:r>
            <a:r>
              <a:rPr kumimoji="1" lang="en-US" altLang="ko-Kore-KR" dirty="0"/>
              <a:t> Support for Vortex 3.0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7A29F-503E-98D1-B2C1-92BE49E31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" altLang="ko-Kore-KR" sz="1600" b="1" dirty="0">
                <a:effectLst/>
              </a:rPr>
              <a:t>Support vortex v3.0 + tools-v3.0.1</a:t>
            </a:r>
            <a:endParaRPr lang="en" altLang="ko-Kore-KR" sz="1600" b="1" dirty="0"/>
          </a:p>
          <a:p>
            <a:pPr lvl="1"/>
            <a:r>
              <a:rPr lang="en" altLang="ko-Kore-KR" dirty="0"/>
              <a:t>Same CUDA front end. The kernel launch path, toolchain usage and ISA assumptions were updated for Vortex 3.0 </a:t>
            </a:r>
            <a:r>
              <a:rPr lang="en" altLang="ko-Kore-KR" dirty="0" err="1"/>
              <a:t>SimX</a:t>
            </a:r>
            <a:r>
              <a:rPr lang="en" altLang="ko-Kore-KR" dirty="0"/>
              <a:t> and RTL simulation</a:t>
            </a:r>
          </a:p>
          <a:p>
            <a:r>
              <a:rPr lang="en" altLang="ko-Kore-KR" sz="1600" b="1" dirty="0">
                <a:effectLst/>
              </a:rPr>
              <a:t>Expose 3.0 hardware exposed to CUDA programs</a:t>
            </a:r>
            <a:endParaRPr lang="en" altLang="ko-Kore-KR" sz="1600" b="1" dirty="0"/>
          </a:p>
          <a:p>
            <a:pPr lvl="1"/>
            <a:r>
              <a:rPr lang="en" altLang="ko-Kore-KR" dirty="0">
                <a:effectLst/>
              </a:rPr>
              <a:t>Tensor Core Unit: </a:t>
            </a:r>
            <a:r>
              <a:rPr lang="en" altLang="ko-Kore-KR" dirty="0" err="1">
                <a:effectLst/>
              </a:rPr>
              <a:t>mma.sync</a:t>
            </a:r>
            <a:r>
              <a:rPr lang="en" altLang="ko-Kore-KR" dirty="0">
                <a:effectLst/>
              </a:rPr>
              <a:t> / </a:t>
            </a:r>
            <a:r>
              <a:rPr lang="en" altLang="ko-Kore-KR" dirty="0" err="1">
                <a:effectLst/>
              </a:rPr>
              <a:t>wmma</a:t>
            </a:r>
            <a:r>
              <a:rPr lang="en" altLang="ko-Kore-KR" dirty="0">
                <a:effectLst/>
              </a:rPr>
              <a:t> / </a:t>
            </a:r>
            <a:r>
              <a:rPr lang="en" altLang="ko-Kore-KR" dirty="0" err="1">
                <a:effectLst/>
              </a:rPr>
              <a:t>ldmatrix</a:t>
            </a:r>
            <a:r>
              <a:rPr lang="en" altLang="ko-Kore-KR" dirty="0">
                <a:effectLst/>
              </a:rPr>
              <a:t> → TCU instructions, with a software fallback.</a:t>
            </a:r>
            <a:endParaRPr lang="en" altLang="ko-Kore-KR" dirty="0"/>
          </a:p>
          <a:p>
            <a:pPr lvl="1"/>
            <a:r>
              <a:rPr lang="en" altLang="ko-Kore-KR" dirty="0">
                <a:effectLst/>
              </a:rPr>
              <a:t>Types: f16 (f16/f32 accumulate), bf16, tf32, int8, fp8, f64</a:t>
            </a:r>
            <a:endParaRPr lang="en" altLang="ko-Kore-KR" dirty="0"/>
          </a:p>
          <a:p>
            <a:pPr lvl="1"/>
            <a:r>
              <a:rPr lang="en" altLang="ko-Kore-KR" dirty="0" err="1">
                <a:effectLst/>
              </a:rPr>
              <a:t>wgmma</a:t>
            </a:r>
            <a:r>
              <a:rPr lang="en" altLang="ko-Kore-KR" dirty="0">
                <a:effectLst/>
              </a:rPr>
              <a:t> (sm_90a) kernels, with TMA-style tile loads mapped to the DXA engine</a:t>
            </a:r>
            <a:endParaRPr lang="en" altLang="ko-Kore-KR" dirty="0"/>
          </a:p>
          <a:p>
            <a:pPr lvl="1"/>
            <a:r>
              <a:rPr lang="en" altLang="ko-Kore-KR" dirty="0" err="1">
                <a:effectLst/>
              </a:rPr>
              <a:t>cp.async</a:t>
            </a:r>
            <a:r>
              <a:rPr lang="en" altLang="ko-Kore-KR" dirty="0">
                <a:effectLst/>
              </a:rPr>
              <a:t> (synchronous copy), </a:t>
            </a:r>
            <a:r>
              <a:rPr lang="en" altLang="ko-Kore-KR" dirty="0" err="1">
                <a:effectLst/>
              </a:rPr>
              <a:t>mbarrier</a:t>
            </a:r>
            <a:r>
              <a:rPr lang="en" altLang="ko-Kore-KR" dirty="0">
                <a:effectLst/>
              </a:rPr>
              <a:t> and bulk copy under the 1:1 mapping</a:t>
            </a:r>
            <a:endParaRPr lang="en" altLang="ko-Kore-KR" dirty="0"/>
          </a:p>
          <a:p>
            <a:r>
              <a:rPr lang="en" altLang="ko-Kore-KR" sz="1600" b="1" dirty="0">
                <a:effectLst/>
              </a:rPr>
              <a:t>CI suite</a:t>
            </a:r>
          </a:p>
          <a:p>
            <a:pPr lvl="1"/>
            <a:r>
              <a:rPr lang="en" altLang="ko-Kore-KR" dirty="0">
                <a:effectLst/>
              </a:rPr>
              <a:t>about 40 CUDA applications (</a:t>
            </a:r>
            <a:r>
              <a:rPr lang="en" altLang="ko-Kore-KR" dirty="0" err="1">
                <a:effectLst/>
              </a:rPr>
              <a:t>Rodinia</a:t>
            </a:r>
            <a:r>
              <a:rPr lang="en" altLang="ko-Kore-KR" dirty="0">
                <a:effectLst/>
              </a:rPr>
              <a:t>-style + TCU/DXA/</a:t>
            </a:r>
            <a:r>
              <a:rPr lang="en" altLang="ko-Kore-KR" dirty="0" err="1">
                <a:effectLst/>
              </a:rPr>
              <a:t>wgmma</a:t>
            </a:r>
            <a:r>
              <a:rPr lang="en" altLang="ko-Kore-KR" dirty="0">
                <a:effectLst/>
              </a:rPr>
              <a:t> samples) × </a:t>
            </a:r>
            <a:r>
              <a:rPr lang="en" altLang="ko-Kore-KR" dirty="0" err="1">
                <a:effectLst/>
              </a:rPr>
              <a:t>CuPBoP</a:t>
            </a:r>
            <a:r>
              <a:rPr lang="en" altLang="ko-Kore-KR" dirty="0">
                <a:effectLst/>
              </a:rPr>
              <a:t> schedules, plus</a:t>
            </a:r>
            <a:endParaRPr lang="en" altLang="ko-Kore-KR" dirty="0"/>
          </a:p>
          <a:p>
            <a:pPr lvl="1"/>
            <a:r>
              <a:rPr lang="en" altLang="ko-Kore-KR" dirty="0">
                <a:effectLst/>
              </a:rPr>
              <a:t>warp, named-barrier and async test suites</a:t>
            </a:r>
            <a:endParaRPr lang="en" altLang="ko-Kore-KR" dirty="0"/>
          </a:p>
          <a:p>
            <a:endParaRPr kumimoji="1" lang="ko-Kore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F8A49-C65A-5127-5843-E70796F58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0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B5811-552F-EBC7-7FCE-57C388F6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ore-KR" dirty="0"/>
              <a:t>Guide</a:t>
            </a:r>
            <a:r>
              <a:rPr lang="en" altLang="ko-Kore-KR" b="1" dirty="0"/>
              <a:t> for VOLT Extension</a:t>
            </a:r>
            <a:r>
              <a:rPr lang="en-US" altLang="ko-Kore-KR" dirty="0"/>
              <a:t>s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3E7448-2D77-8721-ADA1-831211B9E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004"/>
            <a:ext cx="8047264" cy="3432718"/>
          </a:xfrm>
        </p:spPr>
        <p:txBody>
          <a:bodyPr>
            <a:normAutofit/>
          </a:bodyPr>
          <a:lstStyle/>
          <a:p>
            <a:r>
              <a:rPr lang="en" altLang="ko-Kore-KR" sz="1600" dirty="0"/>
              <a:t>Tutorial 1: Extending </a:t>
            </a:r>
            <a:r>
              <a:rPr lang="en" altLang="ko-Kore-KR" sz="1600" b="1" dirty="0"/>
              <a:t>kernel functions</a:t>
            </a:r>
          </a:p>
          <a:p>
            <a:r>
              <a:rPr lang="en" altLang="ko-Kore-KR" sz="1600" dirty="0"/>
              <a:t>Tutorial 2: Extending </a:t>
            </a:r>
            <a:r>
              <a:rPr lang="en" altLang="ko-Kore-KR" sz="1600" b="1" dirty="0"/>
              <a:t>host functions</a:t>
            </a:r>
          </a:p>
          <a:p>
            <a:r>
              <a:rPr lang="en" altLang="ko-Kore-KR" sz="1600" dirty="0"/>
              <a:t>Tutorial 3: Extending </a:t>
            </a:r>
            <a:r>
              <a:rPr lang="en" altLang="ko-Kore-KR" sz="1600" b="1" dirty="0"/>
              <a:t>memory support </a:t>
            </a:r>
            <a:r>
              <a:rPr lang="en" altLang="ko-Kore-KR" sz="1600" dirty="0"/>
              <a:t>with the Vortex memory hierarchy</a:t>
            </a:r>
            <a:endParaRPr lang="en-US" altLang="ko-Kore-KR" sz="1600" dirty="0"/>
          </a:p>
          <a:p>
            <a:r>
              <a:rPr lang="en-US" altLang="ko-Kore-KR" sz="1600" dirty="0"/>
              <a:t>Tutorial 4: Extending </a:t>
            </a:r>
            <a:r>
              <a:rPr lang="en-US" altLang="ko-Kore-KR" sz="1600" dirty="0" err="1"/>
              <a:t>CuBBoP</a:t>
            </a:r>
            <a:r>
              <a:rPr lang="en-US" altLang="ko-Kore-KR" sz="1600" dirty="0"/>
              <a:t> support with Tensor Cores, </a:t>
            </a:r>
            <a:r>
              <a:rPr lang="en-US" altLang="ko-Kore-KR" sz="1600" dirty="0" err="1"/>
              <a:t>wgmma</a:t>
            </a:r>
            <a:r>
              <a:rPr lang="en-US" altLang="ko-Kore-KR" sz="1600" dirty="0"/>
              <a:t> and DXA on Vortex 3.0</a:t>
            </a:r>
            <a:endParaRPr lang="en" altLang="ko-Kore-KR" sz="1600" dirty="0"/>
          </a:p>
          <a:p>
            <a:endParaRPr lang="en" altLang="ko-Kore-KR" sz="1600" dirty="0"/>
          </a:p>
          <a:p>
            <a:r>
              <a:rPr lang="en" altLang="ko-Kore-KR" sz="1600" dirty="0"/>
              <a:t>All tutorials include documentation under /Docs</a:t>
            </a:r>
          </a:p>
          <a:p>
            <a:r>
              <a:rPr lang="en" altLang="ko-Kore-KR" sz="1600" dirty="0"/>
              <a:t>Runnable examples are available under /Tests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C4AA79-50B0-69FB-28BE-CA965C484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723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8650" y="1110260"/>
            <a:ext cx="7955279" cy="27579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tx1"/>
                </a:solidFill>
                <a:latin typeface="Calibri"/>
              </a:rPr>
              <a:t>Expose GPU-specific kernel operations through existing compiler extension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690872"/>
            <a:ext cx="338328" cy="25603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45D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554480"/>
            <a:ext cx="3822191" cy="2496312"/>
          </a:xfrm>
          <a:prstGeom prst="roundRect">
            <a:avLst>
              <a:gd name="adj" fmla="val 7000"/>
            </a:avLst>
          </a:prstGeom>
          <a:solidFill>
            <a:srgbClr val="FBFDFE"/>
          </a:solidFill>
          <a:ln w="10160">
            <a:solidFill>
              <a:srgbClr val="C5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63624"/>
            <a:ext cx="3803904" cy="393192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254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613212"/>
            <a:ext cx="3547872" cy="275729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63352"/>
                </a:solidFill>
                <a:latin typeface="Calibri"/>
              </a:rPr>
              <a:t>PoCL</a:t>
            </a:r>
            <a:r>
              <a:rPr sz="1600" b="1" dirty="0">
                <a:solidFill>
                  <a:srgbClr val="063352"/>
                </a:solidFill>
                <a:latin typeface="Calibri"/>
              </a:rPr>
              <a:t> / OpenCL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2029968"/>
            <a:ext cx="3456432" cy="384048"/>
          </a:xfrm>
          <a:prstGeom prst="roundRect">
            <a:avLst>
              <a:gd name="adj" fmla="val 7000"/>
            </a:avLst>
          </a:prstGeom>
          <a:solidFill>
            <a:srgbClr val="F5F9FB"/>
          </a:solidFill>
          <a:ln w="8890">
            <a:solidFill>
              <a:srgbClr val="F5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99709"/>
            <a:ext cx="3291839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56FA5"/>
                </a:solidFill>
                <a:latin typeface="Calibri"/>
              </a:rPr>
              <a:t>pocl_vx_shfl_up(...) → Vortex shfl.up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88945"/>
            <a:ext cx="3410712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17232C"/>
                </a:solidFill>
                <a:latin typeface="Calibri"/>
              </a:rPr>
              <a:t>1  Declare in _</a:t>
            </a:r>
            <a:r>
              <a:rPr b="0" dirty="0" err="1">
                <a:solidFill>
                  <a:srgbClr val="17232C"/>
                </a:solidFill>
                <a:latin typeface="Calibri"/>
              </a:rPr>
              <a:t>clang_opencl.h</a:t>
            </a:r>
            <a:endParaRPr b="0" dirty="0">
              <a:solidFill>
                <a:srgbClr val="17232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" y="3009569"/>
            <a:ext cx="3410712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17232C"/>
                </a:solidFill>
                <a:latin typeface="Calibri"/>
              </a:rPr>
              <a:t>2  Implement Vortex built-in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425256"/>
            <a:ext cx="3410712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17232C"/>
                </a:solidFill>
                <a:latin typeface="Calibri"/>
              </a:rPr>
              <a:t>3  Link into the OpenCL kernel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1554480"/>
            <a:ext cx="3822191" cy="2496312"/>
          </a:xfrm>
          <a:prstGeom prst="roundRect">
            <a:avLst>
              <a:gd name="adj" fmla="val 7000"/>
            </a:avLst>
          </a:prstGeom>
          <a:solidFill>
            <a:srgbClr val="FBFDFE"/>
          </a:solidFill>
          <a:ln w="10160">
            <a:solidFill>
              <a:srgbClr val="C5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36007" y="1563624"/>
            <a:ext cx="3803904" cy="393192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254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82312" y="1613212"/>
            <a:ext cx="3547872" cy="275729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3352"/>
                </a:solidFill>
                <a:latin typeface="Calibri"/>
              </a:rPr>
              <a:t>CuPBoP / CUDA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2029968"/>
            <a:ext cx="3456432" cy="384048"/>
          </a:xfrm>
          <a:prstGeom prst="roundRect">
            <a:avLst>
              <a:gd name="adj" fmla="val 7000"/>
            </a:avLst>
          </a:prstGeom>
          <a:solidFill>
            <a:srgbClr val="F5F9FB"/>
          </a:solidFill>
          <a:ln w="8890">
            <a:solidFill>
              <a:srgbClr val="F5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184" y="2099709"/>
            <a:ext cx="3291839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56FA5"/>
                </a:solidFill>
                <a:latin typeface="Calibri"/>
              </a:rPr>
              <a:t>__reduce_add_sync(...) → warp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75229"/>
            <a:ext cx="338328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1  Match NVVM reduction intrinsic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2826689"/>
            <a:ext cx="31089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47545D"/>
                </a:solidFill>
                <a:latin typeface="Calibri"/>
              </a:rPr>
              <a:t>llvm.nvvm.redux.sync.add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178733"/>
            <a:ext cx="338328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2  Redirect to a runtime helper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577203"/>
            <a:ext cx="3383280" cy="243091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17232C"/>
                </a:solidFill>
                <a:latin typeface="Calibri"/>
              </a:rPr>
              <a:t>3  Use 5× </a:t>
            </a:r>
            <a:r>
              <a:rPr b="0" dirty="0" err="1">
                <a:solidFill>
                  <a:srgbClr val="17232C"/>
                </a:solidFill>
                <a:latin typeface="Calibri"/>
              </a:rPr>
              <a:t>vx_shfl_bfly</a:t>
            </a:r>
            <a:endParaRPr b="0" dirty="0">
              <a:solidFill>
                <a:srgbClr val="17232C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242816"/>
            <a:ext cx="7845552" cy="320040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889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4261104"/>
            <a:ext cx="7571231" cy="246888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63352"/>
                </a:solidFill>
                <a:latin typeface="Consolas"/>
              </a:rPr>
              <a:t>./run.sh --baseline  [build fails]     ./run.sh  [both examples PASS]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25035"/>
            <a:ext cx="7680960" cy="201168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7545D"/>
                </a:solidFill>
                <a:latin typeface="Calibri"/>
                <a:hlinkClick r:id="rId3"/>
              </a:rPr>
              <a:t>Source: Volt v1.1  ·  docs/7.1.tutorial_kernel_extension.md</a:t>
            </a:r>
          </a:p>
        </p:txBody>
      </p:sp>
      <p:sp>
        <p:nvSpPr>
          <p:cNvPr id="30" name="제목 29">
            <a:extLst>
              <a:ext uri="{FF2B5EF4-FFF2-40B4-BE49-F238E27FC236}">
                <a16:creationId xmlns:a16="http://schemas.microsoft.com/office/drawing/2014/main" id="{1F397FE9-398E-C82A-60A5-6D100E36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ore-KR" sz="3600" b="1" dirty="0">
                <a:solidFill>
                  <a:srgbClr val="000000"/>
                </a:solidFill>
                <a:latin typeface="Calibri"/>
              </a:rPr>
              <a:t>Tutorial 1: Extending Kernel Functions</a:t>
            </a:r>
            <a:endParaRPr lang="ko-Kore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0936" y="1014248"/>
            <a:ext cx="7955279" cy="27579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tx1"/>
                </a:solidFill>
                <a:latin typeface="Calibri"/>
              </a:rPr>
              <a:t>CUDA application code is unchanged; </a:t>
            </a:r>
            <a:r>
              <a:rPr sz="1600" b="0" dirty="0" err="1">
                <a:solidFill>
                  <a:schemeClr val="tx1"/>
                </a:solidFill>
                <a:latin typeface="Calibri"/>
              </a:rPr>
              <a:t>CuPBoP</a:t>
            </a:r>
            <a:r>
              <a:rPr sz="1600" b="0" dirty="0">
                <a:solidFill>
                  <a:schemeClr val="tx1"/>
                </a:solidFill>
                <a:latin typeface="Calibri"/>
              </a:rPr>
              <a:t> adapts runtime and launch semantics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399032"/>
            <a:ext cx="7872984" cy="0"/>
          </a:xfrm>
          <a:prstGeom prst="line">
            <a:avLst/>
          </a:prstGeom>
          <a:ln w="10160">
            <a:solidFill>
              <a:srgbClr val="E2F2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66760" y="4690872"/>
            <a:ext cx="338328" cy="25603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45D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554480"/>
            <a:ext cx="3822191" cy="2496312"/>
          </a:xfrm>
          <a:prstGeom prst="roundRect">
            <a:avLst>
              <a:gd name="adj" fmla="val 7000"/>
            </a:avLst>
          </a:prstGeom>
          <a:solidFill>
            <a:srgbClr val="FBFDFE"/>
          </a:solidFill>
          <a:ln w="10160">
            <a:solidFill>
              <a:srgbClr val="C5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63624"/>
            <a:ext cx="3803904" cy="393192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254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613212"/>
            <a:ext cx="3547872" cy="275729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63352"/>
                </a:solidFill>
                <a:latin typeface="Calibri"/>
              </a:rPr>
              <a:t>Existing CUDA host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44845"/>
            <a:ext cx="3511296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56FA5"/>
                </a:solidFill>
                <a:latin typeface="Calibri"/>
              </a:rPr>
              <a:t>cudaMemcpy(dst, src, n, kind)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74645"/>
            <a:ext cx="3337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17232C"/>
                </a:solidFill>
                <a:latin typeface="Calibri"/>
              </a:rPr>
              <a:t>Host staging → </a:t>
            </a:r>
            <a:r>
              <a:rPr b="0" dirty="0" err="1">
                <a:solidFill>
                  <a:srgbClr val="17232C"/>
                </a:solidFill>
                <a:latin typeface="Calibri"/>
              </a:rPr>
              <a:t>vx_copy_to_dev</a:t>
            </a:r>
            <a:endParaRPr b="0" dirty="0">
              <a:solidFill>
                <a:srgbClr val="17232C"/>
              </a:solidFill>
              <a:latin typeface="Calibr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880360"/>
            <a:ext cx="3328416" cy="0"/>
          </a:xfrm>
          <a:prstGeom prst="line">
            <a:avLst/>
          </a:prstGeom>
          <a:ln w="15240">
            <a:solidFill>
              <a:srgbClr val="C5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0392" y="3032397"/>
            <a:ext cx="3483864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56FA5"/>
                </a:solidFill>
                <a:latin typeface="Calibri"/>
              </a:rPr>
              <a:t>cudaMemcpyToSymbol(...)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471341"/>
            <a:ext cx="3337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Record bytes → launch args → wrapper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1554480"/>
            <a:ext cx="3822191" cy="2496312"/>
          </a:xfrm>
          <a:prstGeom prst="roundRect">
            <a:avLst>
              <a:gd name="adj" fmla="val 7000"/>
            </a:avLst>
          </a:prstGeom>
          <a:solidFill>
            <a:srgbClr val="FBFDFE"/>
          </a:solidFill>
          <a:ln w="10160">
            <a:solidFill>
              <a:srgbClr val="C5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36007" y="1563624"/>
            <a:ext cx="3803904" cy="393192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254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82312" y="1613212"/>
            <a:ext cx="3547872" cy="275729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3352"/>
                </a:solidFill>
                <a:latin typeface="Calibri"/>
              </a:rPr>
              <a:t>New API: cudaMemGetInfo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029968"/>
            <a:ext cx="3429000" cy="384048"/>
          </a:xfrm>
          <a:prstGeom prst="roundRect">
            <a:avLst>
              <a:gd name="adj" fmla="val 7000"/>
            </a:avLst>
          </a:prstGeom>
          <a:solidFill>
            <a:srgbClr val="F5F9FB"/>
          </a:solidFill>
          <a:ln w="8890">
            <a:solidFill>
              <a:srgbClr val="F5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01184" y="2099709"/>
            <a:ext cx="3264408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56FA5"/>
                </a:solidFill>
                <a:latin typeface="Calibri"/>
              </a:rPr>
              <a:t>cudaMemGetInfo(&amp;free, &amp;total)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625521"/>
            <a:ext cx="3319272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063352"/>
                </a:solidFill>
                <a:latin typeface="Calibri"/>
              </a:rPr>
              <a:t>vx_mem_info</a:t>
            </a:r>
            <a:r>
              <a:rPr b="0" dirty="0">
                <a:solidFill>
                  <a:srgbClr val="063352"/>
                </a:solidFill>
                <a:latin typeface="Calibri"/>
              </a:rPr>
              <a:t>(device, &amp;free, &amp;used)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032429"/>
            <a:ext cx="3273552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17232C"/>
                </a:solidFill>
                <a:latin typeface="Calibri"/>
              </a:rPr>
              <a:t>total = free +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393720"/>
            <a:ext cx="3255264" cy="472897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47545D"/>
                </a:solidFill>
                <a:latin typeface="Calibri"/>
              </a:rPr>
              <a:t>Only host runtime + header; no kernel translator edit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42816"/>
            <a:ext cx="7845552" cy="320040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889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4261104"/>
            <a:ext cx="7571231" cy="246888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63352"/>
                </a:solidFill>
                <a:latin typeface="Consolas"/>
              </a:rPr>
              <a:t>./run.sh --baseline  [link fails]       ./run.sh  [memory checks PASS]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25035"/>
            <a:ext cx="7680960" cy="201168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7545D"/>
                </a:solidFill>
                <a:latin typeface="Calibri"/>
                <a:hlinkClick r:id="rId3"/>
              </a:rPr>
              <a:t>Source: Volt v1.1  ·  docs/7.2.tutorial_host_extension.md</a:t>
            </a:r>
          </a:p>
        </p:txBody>
      </p:sp>
      <p:sp>
        <p:nvSpPr>
          <p:cNvPr id="26" name="제목 25">
            <a:extLst>
              <a:ext uri="{FF2B5EF4-FFF2-40B4-BE49-F238E27FC236}">
                <a16:creationId xmlns:a16="http://schemas.microsoft.com/office/drawing/2014/main" id="{2A1A3673-7203-6720-DECA-E9D7B7CB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ore-KR" sz="3600" b="1" dirty="0">
                <a:solidFill>
                  <a:srgbClr val="000000"/>
                </a:solidFill>
                <a:latin typeface="Calibri"/>
              </a:rPr>
              <a:t>Tutorial 2: Extending Host Functions</a:t>
            </a:r>
            <a:endParaRPr lang="ko-Kore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0936" y="1014248"/>
            <a:ext cx="7955279" cy="27579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tx1"/>
                </a:solidFill>
                <a:latin typeface="Calibri"/>
              </a:rPr>
              <a:t>The same CUDA __shared__ variable can use different Vortex memory resources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399032"/>
            <a:ext cx="7872984" cy="0"/>
          </a:xfrm>
          <a:prstGeom prst="line">
            <a:avLst/>
          </a:prstGeom>
          <a:ln w="10160">
            <a:solidFill>
              <a:srgbClr val="E2F2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66760" y="4690872"/>
            <a:ext cx="338328" cy="25603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45D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554480"/>
            <a:ext cx="4818888" cy="2496312"/>
          </a:xfrm>
          <a:prstGeom prst="roundRect">
            <a:avLst>
              <a:gd name="adj" fmla="val 7000"/>
            </a:avLst>
          </a:prstGeom>
          <a:solidFill>
            <a:srgbClr val="FBFDFE"/>
          </a:solidFill>
          <a:ln w="10160">
            <a:solidFill>
              <a:srgbClr val="C5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63624"/>
            <a:ext cx="4800600" cy="393192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254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613212"/>
            <a:ext cx="4544568" cy="275729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63352"/>
                </a:solidFill>
                <a:latin typeface="Calibri"/>
              </a:rPr>
              <a:t>Select the lowering policy  (SCHEDULE=2)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2136648"/>
            <a:ext cx="1283818" cy="356616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889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183529"/>
            <a:ext cx="1234440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063352"/>
                </a:solidFill>
                <a:latin typeface="Calibri"/>
              </a:rPr>
              <a:t>LOCALMEM=0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2188101"/>
            <a:ext cx="1508760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17232C"/>
                </a:solidFill>
                <a:latin typeface="Calibri"/>
              </a:rPr>
              <a:t>Global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2" y="2188133"/>
            <a:ext cx="1819656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47545D"/>
                </a:solidFill>
                <a:latin typeface="Calibri"/>
              </a:rPr>
              <a:t>cached by L1 / 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" y="2731008"/>
            <a:ext cx="1283818" cy="356616"/>
          </a:xfrm>
          <a:prstGeom prst="roundRect">
            <a:avLst>
              <a:gd name="adj" fmla="val 7000"/>
            </a:avLst>
          </a:prstGeom>
          <a:solidFill>
            <a:srgbClr val="E5F7EB"/>
          </a:solidFill>
          <a:ln w="8890">
            <a:solidFill>
              <a:srgbClr val="E5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777889"/>
            <a:ext cx="1234440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63352"/>
                </a:solidFill>
                <a:latin typeface="Calibri"/>
              </a:rPr>
              <a:t>LOCALMEM=1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424" y="2782461"/>
            <a:ext cx="1508760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7232C"/>
                </a:solidFill>
                <a:latin typeface="Calibri"/>
              </a:rPr>
              <a:t>Local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2782493"/>
            <a:ext cx="1819656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47545D"/>
                </a:solidFill>
                <a:latin typeface="Calibri"/>
              </a:rPr>
              <a:t>per-core LMEM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" y="3325368"/>
            <a:ext cx="1283818" cy="356616"/>
          </a:xfrm>
          <a:prstGeom prst="roundRect">
            <a:avLst>
              <a:gd name="adj" fmla="val 7000"/>
            </a:avLst>
          </a:prstGeom>
          <a:solidFill>
            <a:srgbClr val="FDF4E8"/>
          </a:solidFill>
          <a:ln w="8890">
            <a:solidFill>
              <a:srgbClr val="FD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3372249"/>
            <a:ext cx="1234440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63352"/>
                </a:solidFill>
                <a:latin typeface="Calibri"/>
              </a:rPr>
              <a:t>LOCALMEM=2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9424" y="3376821"/>
            <a:ext cx="1508760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7232C"/>
                </a:solidFill>
                <a:latin typeface="Calibri"/>
              </a:rPr>
              <a:t>Size-aware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2" y="3376853"/>
            <a:ext cx="1819656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47545D"/>
                </a:solidFill>
                <a:latin typeface="Calibri"/>
              </a:rPr>
              <a:t>≤ 16 KB → local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5272" y="1554480"/>
            <a:ext cx="2843784" cy="2496312"/>
          </a:xfrm>
          <a:prstGeom prst="roundRect">
            <a:avLst>
              <a:gd name="adj" fmla="val 7000"/>
            </a:avLst>
          </a:prstGeom>
          <a:solidFill>
            <a:srgbClr val="FBFDFE"/>
          </a:solidFill>
          <a:ln w="10160">
            <a:solidFill>
              <a:srgbClr val="C5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14416" y="1563624"/>
            <a:ext cx="2825496" cy="393192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254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0" y="1613212"/>
            <a:ext cx="2569464" cy="275729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3352"/>
                </a:solidFill>
                <a:latin typeface="Calibri"/>
              </a:rPr>
              <a:t>Where to extend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2108853"/>
            <a:ext cx="2423160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56FA5"/>
                </a:solidFill>
                <a:latin typeface="Calibri"/>
              </a:rPr>
              <a:t>memory_hierarchy.cpp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4728" y="2451785"/>
            <a:ext cx="2432304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Add mem_share2auto_sche_2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97296" y="2862072"/>
            <a:ext cx="2414016" cy="0"/>
          </a:xfrm>
          <a:prstGeom prst="line">
            <a:avLst/>
          </a:prstGeom>
          <a:ln w="15240">
            <a:solidFill>
              <a:srgbClr val="C5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15584" y="3036969"/>
            <a:ext cx="2414016" cy="244566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56FA5"/>
                </a:solidFill>
                <a:latin typeface="Calibri"/>
              </a:rPr>
              <a:t>init.cpp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728" y="3361716"/>
            <a:ext cx="2350008" cy="472897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Select the pass with the LOCALMEM flag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42816"/>
            <a:ext cx="7845552" cy="320040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889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261104"/>
            <a:ext cx="7571231" cy="246888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63352"/>
                </a:solidFill>
                <a:latin typeface="Consolas"/>
              </a:rPr>
              <a:t>./run.sh  [compare LOCALMEM 0 / 1 / 2]      BUDGET=32768 ./run.sh nw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25035"/>
            <a:ext cx="7680960" cy="201168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7545D"/>
                </a:solidFill>
                <a:latin typeface="Calibri"/>
                <a:hlinkClick r:id="rId3"/>
              </a:rPr>
              <a:t>Source: Volt v1.1  ·  docs/7.3.tutorial_shared_memory.md</a:t>
            </a:r>
          </a:p>
        </p:txBody>
      </p:sp>
      <p:sp>
        <p:nvSpPr>
          <p:cNvPr id="33" name="제목 32">
            <a:extLst>
              <a:ext uri="{FF2B5EF4-FFF2-40B4-BE49-F238E27FC236}">
                <a16:creationId xmlns:a16="http://schemas.microsoft.com/office/drawing/2014/main" id="{8B669FA4-5F7D-7C61-8859-5CC431D5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ore-KR" sz="3600" b="1" dirty="0">
                <a:solidFill>
                  <a:srgbClr val="000000"/>
                </a:solidFill>
                <a:latin typeface="Calibri"/>
              </a:rPr>
              <a:t>Tutorial 3: Extending Memory Lowering</a:t>
            </a:r>
            <a:endParaRPr lang="ko-Kore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0936" y="1014248"/>
            <a:ext cx="7955279" cy="27579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chemeClr val="tx1"/>
                </a:solidFill>
                <a:latin typeface="Calibri"/>
              </a:rPr>
              <a:t>CuPBoP</a:t>
            </a:r>
            <a:r>
              <a:rPr sz="1600" b="0" dirty="0">
                <a:solidFill>
                  <a:schemeClr val="tx1"/>
                </a:solidFill>
                <a:latin typeface="Calibri"/>
              </a:rPr>
              <a:t> translates tensor computation and tile movement to Vortex 3.0 hardware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399032"/>
            <a:ext cx="7872984" cy="0"/>
          </a:xfrm>
          <a:prstGeom prst="line">
            <a:avLst/>
          </a:prstGeom>
          <a:ln w="10160">
            <a:solidFill>
              <a:srgbClr val="E2F2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66760" y="4690872"/>
            <a:ext cx="338328" cy="25603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45D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652016"/>
            <a:ext cx="2532888" cy="2002536"/>
          </a:xfrm>
          <a:prstGeom prst="roundRect">
            <a:avLst>
              <a:gd name="adj" fmla="val 7000"/>
            </a:avLst>
          </a:prstGeom>
          <a:solidFill>
            <a:srgbClr val="FBFDFE"/>
          </a:solidFill>
          <a:ln w="10160">
            <a:solidFill>
              <a:srgbClr val="C5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61160"/>
            <a:ext cx="2514600" cy="393192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254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786384" y="1710748"/>
            <a:ext cx="2258568" cy="275729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3352"/>
                </a:solidFill>
                <a:latin typeface="Calibri"/>
              </a:rPr>
              <a:t>WMMA  →  TCU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10993"/>
            <a:ext cx="2194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CUDA wmma helpers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7" y="2584704"/>
            <a:ext cx="2093977" cy="0"/>
          </a:xfrm>
          <a:prstGeom prst="line">
            <a:avLst/>
          </a:prstGeom>
          <a:ln w="15240">
            <a:solidFill>
              <a:srgbClr val="C5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1" y="2709341"/>
            <a:ext cx="2194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Runtime wmma_context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89401"/>
            <a:ext cx="2194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47545D"/>
                </a:solidFill>
                <a:latin typeface="Calibri"/>
              </a:rPr>
              <a:t>TCU matrix multiply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4408" y="1652016"/>
            <a:ext cx="2532888" cy="2002536"/>
          </a:xfrm>
          <a:prstGeom prst="roundRect">
            <a:avLst>
              <a:gd name="adj" fmla="val 7000"/>
            </a:avLst>
          </a:prstGeom>
          <a:solidFill>
            <a:srgbClr val="FBFDFE"/>
          </a:solidFill>
          <a:ln w="10160">
            <a:solidFill>
              <a:srgbClr val="C5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73551" y="1661160"/>
            <a:ext cx="2514600" cy="393192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254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3419856" y="1710748"/>
            <a:ext cx="2258568" cy="275729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3352"/>
                </a:solidFill>
                <a:latin typeface="Calibri"/>
              </a:rPr>
              <a:t>WGMMA  →  TCU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2210993"/>
            <a:ext cx="2194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Hopper wgmma.mma_async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74720" y="2584704"/>
            <a:ext cx="2093976" cy="0"/>
          </a:xfrm>
          <a:prstGeom prst="line">
            <a:avLst/>
          </a:prstGeom>
          <a:ln w="15240">
            <a:solidFill>
              <a:srgbClr val="C5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38144" y="2709341"/>
            <a:ext cx="2194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Synchronous lowering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3075204"/>
            <a:ext cx="2194560" cy="472897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47545D"/>
                </a:solidFill>
                <a:latin typeface="Calibri"/>
              </a:rPr>
              <a:t>Descriptor + layout conversion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52016"/>
            <a:ext cx="2532888" cy="2002536"/>
          </a:xfrm>
          <a:prstGeom prst="roundRect">
            <a:avLst>
              <a:gd name="adj" fmla="val 7000"/>
            </a:avLst>
          </a:prstGeom>
          <a:solidFill>
            <a:srgbClr val="FBFDFE"/>
          </a:solidFill>
          <a:ln w="10160">
            <a:solidFill>
              <a:srgbClr val="C5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07024" y="1661160"/>
            <a:ext cx="2514600" cy="393192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254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6053328" y="1710748"/>
            <a:ext cx="2258568" cy="275729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3352"/>
                </a:solidFill>
                <a:latin typeface="Calibri"/>
              </a:rPr>
              <a:t>DXA  →  Tile Copies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2210993"/>
            <a:ext cx="2194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Host descriptor programming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08192" y="2584704"/>
            <a:ext cx="2093976" cy="0"/>
          </a:xfrm>
          <a:prstGeom prst="line">
            <a:avLst/>
          </a:prstGeom>
          <a:ln w="15240">
            <a:solidFill>
              <a:srgbClr val="C5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71616" y="2709341"/>
            <a:ext cx="2194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7232C"/>
                </a:solidFill>
                <a:latin typeface="Calibri"/>
              </a:rPr>
              <a:t>2-D global →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616" y="3189401"/>
            <a:ext cx="2194560" cy="244502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47545D"/>
                </a:solidFill>
                <a:latin typeface="Calibri"/>
              </a:rPr>
              <a:t>expect_tx + barrier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42816"/>
            <a:ext cx="7845552" cy="320040"/>
          </a:xfrm>
          <a:prstGeom prst="roundRect">
            <a:avLst>
              <a:gd name="adj" fmla="val 7000"/>
            </a:avLst>
          </a:prstGeom>
          <a:solidFill>
            <a:srgbClr val="E2F2F9"/>
          </a:solidFill>
          <a:ln w="8890">
            <a:solidFill>
              <a:srgbClr val="E2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261104"/>
            <a:ext cx="7571231" cy="246888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63352"/>
                </a:solidFill>
                <a:latin typeface="Consolas"/>
              </a:rPr>
              <a:t>./run.sh  [TCU + DXA SimX GEMM experiments E1 / E2 / E3]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25035"/>
            <a:ext cx="7680960" cy="201168"/>
          </a:xfrm>
          <a:prstGeom prst="rect">
            <a:avLst/>
          </a:prstGeom>
          <a:noFill/>
        </p:spPr>
        <p:txBody>
          <a:bodyPr wrap="square" lIns="27432" tIns="12801" rIns="27432" bIns="12801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7545D"/>
                </a:solidFill>
                <a:latin typeface="Calibri"/>
                <a:hlinkClick r:id="rId3"/>
              </a:rPr>
              <a:t>Source: Volt v1.1  ·  docs/7.4.tutorial_tensor_core.md</a:t>
            </a:r>
          </a:p>
        </p:txBody>
      </p:sp>
      <p:sp>
        <p:nvSpPr>
          <p:cNvPr id="33" name="제목 32">
            <a:extLst>
              <a:ext uri="{FF2B5EF4-FFF2-40B4-BE49-F238E27FC236}">
                <a16:creationId xmlns:a16="http://schemas.microsoft.com/office/drawing/2014/main" id="{9A56A8F8-AEBC-DF44-EEDF-4008BA1D0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ko-Kore-KR" sz="3600" b="1" dirty="0">
                <a:solidFill>
                  <a:srgbClr val="000000"/>
                </a:solidFill>
                <a:latin typeface="Calibri"/>
              </a:rPr>
              <a:t>Tutorial 4: Tensor Cores, WGMMA and DXA</a:t>
            </a:r>
            <a:endParaRPr lang="ko-Kore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A76B4-F0AC-64EA-0EB3-EF91FC65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2026 Publications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3C88A3-FAEF-1031-521E-C60F42D92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00004"/>
            <a:ext cx="8090807" cy="3432718"/>
          </a:xfrm>
        </p:spPr>
        <p:txBody>
          <a:bodyPr>
            <a:noAutofit/>
          </a:bodyPr>
          <a:lstStyle/>
          <a:p>
            <a:pPr algn="l"/>
            <a:r>
              <a:rPr lang="en" altLang="ko-Kore-KR" sz="1600" b="1" dirty="0">
                <a:effectLst/>
              </a:rPr>
              <a:t>Inside VOLT: Designing an Open-Source GPU Compiler</a:t>
            </a:r>
          </a:p>
          <a:p>
            <a:pPr lvl="1"/>
            <a:r>
              <a:rPr lang="en" altLang="ko-Kore-KR" sz="1400" dirty="0" err="1">
                <a:effectLst/>
              </a:rPr>
              <a:t>Shinnung</a:t>
            </a:r>
            <a:r>
              <a:rPr lang="en" altLang="ko-Kore-KR" sz="1400" dirty="0">
                <a:effectLst/>
              </a:rPr>
              <a:t> Jeong, </a:t>
            </a:r>
            <a:r>
              <a:rPr lang="en" altLang="ko-Kore-KR" sz="1400" dirty="0" err="1">
                <a:effectLst/>
              </a:rPr>
              <a:t>Chihyo</a:t>
            </a:r>
            <a:r>
              <a:rPr lang="en" altLang="ko-Kore-KR" sz="1400" dirty="0">
                <a:effectLst/>
              </a:rPr>
              <a:t> Ahn, </a:t>
            </a:r>
            <a:r>
              <a:rPr lang="en" altLang="ko-Kore-KR" sz="1400" dirty="0" err="1">
                <a:effectLst/>
              </a:rPr>
              <a:t>Huanzhi</a:t>
            </a:r>
            <a:r>
              <a:rPr lang="en" altLang="ko-Kore-KR" sz="1400" dirty="0">
                <a:effectLst/>
              </a:rPr>
              <a:t> Pu, </a:t>
            </a:r>
            <a:r>
              <a:rPr lang="en" altLang="ko-Kore-KR" sz="1400" dirty="0" err="1">
                <a:effectLst/>
              </a:rPr>
              <a:t>Jisheng</a:t>
            </a:r>
            <a:r>
              <a:rPr lang="en" altLang="ko-Kore-KR" sz="1400" dirty="0">
                <a:effectLst/>
              </a:rPr>
              <a:t> Zhao, </a:t>
            </a:r>
            <a:r>
              <a:rPr lang="en" altLang="ko-Kore-KR" sz="1400" dirty="0" err="1">
                <a:effectLst/>
              </a:rPr>
              <a:t>Hyesoon</a:t>
            </a:r>
            <a:r>
              <a:rPr lang="en" altLang="ko-Kore-KR" sz="1400" dirty="0">
                <a:effectLst/>
              </a:rPr>
              <a:t> Kim, Blaise Tine</a:t>
            </a:r>
            <a:br>
              <a:rPr lang="en" altLang="ko-Kore-KR" sz="1400" dirty="0">
                <a:effectLst/>
              </a:rPr>
            </a:br>
            <a:r>
              <a:rPr lang="en" altLang="ko-Kore-KR" sz="1400" dirty="0">
                <a:effectLst/>
              </a:rPr>
              <a:t>The ACM SIGPLAN 2026 International Conference on Compiler Construction (CC), Feb 2026</a:t>
            </a:r>
          </a:p>
          <a:p>
            <a:pPr algn="l"/>
            <a:r>
              <a:rPr lang="en" altLang="ko-Kore-KR" sz="1600" b="1" dirty="0" err="1">
                <a:effectLst/>
              </a:rPr>
              <a:t>FastTrackGPU</a:t>
            </a:r>
            <a:r>
              <a:rPr lang="en" altLang="ko-Kore-KR" sz="1600" b="1" dirty="0">
                <a:effectLst/>
              </a:rPr>
              <a:t>: Static-Analysis–Guided Analytical Modeling for Softcore GPUs </a:t>
            </a:r>
          </a:p>
          <a:p>
            <a:pPr lvl="1"/>
            <a:r>
              <a:rPr lang="en" altLang="ko-Kore-KR" sz="1400" dirty="0" err="1">
                <a:effectLst/>
              </a:rPr>
              <a:t>Chihyo</a:t>
            </a:r>
            <a:r>
              <a:rPr lang="en" altLang="ko-Kore-KR" sz="1400" dirty="0">
                <a:effectLst/>
              </a:rPr>
              <a:t> Ahn, </a:t>
            </a:r>
            <a:r>
              <a:rPr lang="en" altLang="ko-Kore-KR" sz="1400" dirty="0" err="1">
                <a:effectLst/>
              </a:rPr>
              <a:t>Shinnung</a:t>
            </a:r>
            <a:r>
              <a:rPr lang="en" altLang="ko-Kore-KR" sz="1400" dirty="0">
                <a:effectLst/>
              </a:rPr>
              <a:t> Jeong, Liam Paul Cooper, </a:t>
            </a:r>
            <a:r>
              <a:rPr lang="en" altLang="ko-Kore-KR" sz="1400" dirty="0" err="1">
                <a:effectLst/>
              </a:rPr>
              <a:t>Ruobing</a:t>
            </a:r>
            <a:r>
              <a:rPr lang="en" altLang="ko-Kore-KR" sz="1400" dirty="0">
                <a:effectLst/>
              </a:rPr>
              <a:t> Han, </a:t>
            </a:r>
            <a:r>
              <a:rPr lang="en" altLang="ko-Kore-KR" sz="1400" dirty="0" err="1">
                <a:effectLst/>
              </a:rPr>
              <a:t>Huanzhi</a:t>
            </a:r>
            <a:r>
              <a:rPr lang="en" altLang="ko-Kore-KR" sz="1400" dirty="0">
                <a:effectLst/>
              </a:rPr>
              <a:t> Pu, Nicholas </a:t>
            </a:r>
            <a:r>
              <a:rPr lang="en" altLang="ko-Kore-KR" sz="1400" dirty="0" err="1">
                <a:effectLst/>
              </a:rPr>
              <a:t>Parnenzini</a:t>
            </a:r>
            <a:r>
              <a:rPr lang="en" altLang="ko-Kore-KR" sz="1400" dirty="0">
                <a:effectLst/>
              </a:rPr>
              <a:t>, </a:t>
            </a:r>
            <a:r>
              <a:rPr lang="en" altLang="ko-Kore-KR" sz="1400" dirty="0" err="1">
                <a:effectLst/>
              </a:rPr>
              <a:t>Jisheng</a:t>
            </a:r>
            <a:r>
              <a:rPr lang="en" altLang="ko-Kore-KR" sz="1400" dirty="0">
                <a:effectLst/>
              </a:rPr>
              <a:t> Zhao, Blaise Tine, </a:t>
            </a:r>
            <a:r>
              <a:rPr lang="en" altLang="ko-Kore-KR" sz="1400" dirty="0" err="1">
                <a:effectLst/>
              </a:rPr>
              <a:t>Hyesoon</a:t>
            </a:r>
            <a:r>
              <a:rPr lang="en" altLang="ko-Kore-KR" sz="1400" dirty="0">
                <a:effectLst/>
              </a:rPr>
              <a:t> Kim</a:t>
            </a:r>
            <a:br>
              <a:rPr lang="en" altLang="ko-Kore-KR" sz="1400" dirty="0">
                <a:effectLst/>
              </a:rPr>
            </a:br>
            <a:r>
              <a:rPr lang="en" altLang="ko-Kore-KR" sz="1400" dirty="0">
                <a:effectLst/>
              </a:rPr>
              <a:t>IEEE Computer Architecture Letters (CAL), 2026</a:t>
            </a:r>
          </a:p>
          <a:p>
            <a:pPr algn="l"/>
            <a:r>
              <a:rPr lang="en" altLang="ko-Kore-KR" sz="1600" b="1" dirty="0">
                <a:effectLst/>
              </a:rPr>
              <a:t>Toward End-to-End ML Support on Vortex</a:t>
            </a:r>
          </a:p>
          <a:p>
            <a:pPr lvl="1"/>
            <a:r>
              <a:rPr lang="en" altLang="ko-Kore-KR" sz="1400" dirty="0" err="1">
                <a:effectLst/>
              </a:rPr>
              <a:t>Shinnung</a:t>
            </a:r>
            <a:r>
              <a:rPr lang="en" altLang="ko-Kore-KR" sz="1400" dirty="0">
                <a:effectLst/>
              </a:rPr>
              <a:t> Jeong, </a:t>
            </a:r>
            <a:r>
              <a:rPr lang="en" altLang="ko-Kore-KR" sz="1400" dirty="0" err="1">
                <a:effectLst/>
              </a:rPr>
              <a:t>Chihyo</a:t>
            </a:r>
            <a:r>
              <a:rPr lang="en" altLang="ko-Kore-KR" sz="1400" dirty="0">
                <a:effectLst/>
              </a:rPr>
              <a:t> Ahn, Sai Hemanth Reddy </a:t>
            </a:r>
            <a:r>
              <a:rPr lang="en" altLang="ko-Kore-KR" sz="1400" dirty="0" err="1">
                <a:effectLst/>
              </a:rPr>
              <a:t>Bheemreddy,Liam</a:t>
            </a:r>
            <a:r>
              <a:rPr lang="en" altLang="ko-Kore-KR" sz="1400" dirty="0">
                <a:effectLst/>
              </a:rPr>
              <a:t> Cooper, </a:t>
            </a:r>
            <a:r>
              <a:rPr lang="en" altLang="ko-Kore-KR" sz="1400" dirty="0" err="1">
                <a:effectLst/>
              </a:rPr>
              <a:t>Krishil</a:t>
            </a:r>
            <a:r>
              <a:rPr lang="en" altLang="ko-Kore-KR" sz="1400" dirty="0">
                <a:effectLst/>
              </a:rPr>
              <a:t> Gandhi, </a:t>
            </a:r>
            <a:r>
              <a:rPr lang="en" altLang="ko-Kore-KR" sz="1400" dirty="0" err="1">
                <a:effectLst/>
              </a:rPr>
              <a:t>Chulhyung</a:t>
            </a:r>
            <a:r>
              <a:rPr lang="en" altLang="ko-Kore-KR" sz="1400" dirty="0">
                <a:effectLst/>
              </a:rPr>
              <a:t> Park, Vincent Pham, </a:t>
            </a:r>
            <a:r>
              <a:rPr lang="en" altLang="ko-Kore-KR" sz="1400" dirty="0" err="1">
                <a:effectLst/>
              </a:rPr>
              <a:t>Huanzhi</a:t>
            </a:r>
            <a:r>
              <a:rPr lang="en" altLang="ko-Kore-KR" sz="1400" dirty="0">
                <a:effectLst/>
              </a:rPr>
              <a:t> Pu, Saurabh Singh, Mitul Tandon, </a:t>
            </a:r>
            <a:r>
              <a:rPr lang="en" altLang="ko-Kore-KR" sz="1400" dirty="0" err="1">
                <a:effectLst/>
              </a:rPr>
              <a:t>Jisheng</a:t>
            </a:r>
            <a:r>
              <a:rPr lang="en" altLang="ko-Kore-KR" sz="1400" dirty="0">
                <a:effectLst/>
              </a:rPr>
              <a:t> Zhao, and </a:t>
            </a:r>
            <a:r>
              <a:rPr lang="en" altLang="ko-Kore-KR" sz="1400" dirty="0" err="1">
                <a:effectLst/>
              </a:rPr>
              <a:t>Hyesoon</a:t>
            </a:r>
            <a:r>
              <a:rPr lang="en" altLang="ko-Kore-KR" sz="1400" dirty="0">
                <a:effectLst/>
              </a:rPr>
              <a:t> Kim</a:t>
            </a:r>
            <a:br>
              <a:rPr lang="en" altLang="ko-Kore-KR" sz="1400" dirty="0">
                <a:effectLst/>
              </a:rPr>
            </a:br>
            <a:r>
              <a:rPr lang="en" altLang="ko-Kore-KR" sz="1400" dirty="0">
                <a:effectLst/>
              </a:rPr>
              <a:t>Open-Source Computer Architecture Research (OSCAR), 2026</a:t>
            </a:r>
          </a:p>
          <a:p>
            <a:pPr algn="l"/>
            <a:r>
              <a:rPr lang="en" altLang="ko-Kore-KR" sz="1600" b="1" dirty="0" err="1">
                <a:effectLst/>
              </a:rPr>
              <a:t>CuLifter</a:t>
            </a:r>
            <a:r>
              <a:rPr lang="en" altLang="ko-Kore-KR" sz="1600" b="1" dirty="0">
                <a:effectLst/>
              </a:rPr>
              <a:t>: Lifting GPU Binaries to Typed IR</a:t>
            </a:r>
          </a:p>
          <a:p>
            <a:pPr lvl="1"/>
            <a:r>
              <a:rPr lang="en" altLang="ko-Kore-KR" sz="1400" dirty="0" err="1">
                <a:effectLst/>
              </a:rPr>
              <a:t>Jisheng</a:t>
            </a:r>
            <a:r>
              <a:rPr lang="en" altLang="ko-Kore-KR" sz="1400" dirty="0">
                <a:effectLst/>
              </a:rPr>
              <a:t> Zhao*, </a:t>
            </a:r>
            <a:r>
              <a:rPr lang="en" altLang="ko-Kore-KR" sz="1400" dirty="0" err="1">
                <a:effectLst/>
              </a:rPr>
              <a:t>Huanzhi</a:t>
            </a:r>
            <a:r>
              <a:rPr lang="en" altLang="ko-Kore-KR" sz="1400" dirty="0">
                <a:effectLst/>
              </a:rPr>
              <a:t> Pu*, </a:t>
            </a:r>
            <a:r>
              <a:rPr lang="en" altLang="ko-Kore-KR" sz="1400" dirty="0" err="1">
                <a:effectLst/>
              </a:rPr>
              <a:t>Shinnung</a:t>
            </a:r>
            <a:r>
              <a:rPr lang="en" altLang="ko-Kore-KR" sz="1400" dirty="0">
                <a:effectLst/>
              </a:rPr>
              <a:t> Jeong, </a:t>
            </a:r>
            <a:r>
              <a:rPr lang="en" altLang="ko-Kore-KR" sz="1400" dirty="0" err="1">
                <a:effectLst/>
              </a:rPr>
              <a:t>Chihyo</a:t>
            </a:r>
            <a:r>
              <a:rPr lang="en" altLang="ko-Kore-KR" sz="1400" dirty="0">
                <a:effectLst/>
              </a:rPr>
              <a:t> Ahn, and </a:t>
            </a:r>
            <a:r>
              <a:rPr lang="en" altLang="ko-Kore-KR" sz="1400" dirty="0" err="1">
                <a:effectLst/>
              </a:rPr>
              <a:t>Hyesoon</a:t>
            </a:r>
            <a:r>
              <a:rPr lang="en" altLang="ko-Kore-KR" sz="1400" dirty="0">
                <a:effectLst/>
              </a:rPr>
              <a:t> Kim</a:t>
            </a:r>
            <a:br>
              <a:rPr lang="en" altLang="ko-Kore-KR" sz="1400" dirty="0">
                <a:effectLst/>
              </a:rPr>
            </a:br>
            <a:r>
              <a:rPr lang="en" altLang="ko-Kore-KR" sz="1400" dirty="0">
                <a:effectLst/>
              </a:rPr>
              <a:t>59th IEEE/ACM International Symposium on Microarchitecture® (MICRO), 2026</a:t>
            </a:r>
          </a:p>
          <a:p>
            <a:pPr marL="0" indent="0">
              <a:buNone/>
            </a:pPr>
            <a:endParaRPr lang="en" altLang="ko-Kore-KR" sz="1600" dirty="0">
              <a:effectLst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A175D6-EEE4-7FFC-48CB-FA576C2FE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626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83B1F-E3DE-8098-5EB4-18D93732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ore-KR" dirty="0" err="1"/>
              <a:t>CuLifter</a:t>
            </a:r>
            <a:r>
              <a:rPr kumimoji="1" lang="en-US" altLang="ko-Kore-KR" dirty="0"/>
              <a:t> (Micro26, Day 2 Session 6A)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66A3F3-528D-6DF2-33ED-2CB746BAF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004"/>
            <a:ext cx="8373836" cy="3432718"/>
          </a:xfrm>
        </p:spPr>
        <p:txBody>
          <a:bodyPr>
            <a:normAutofit/>
          </a:bodyPr>
          <a:lstStyle/>
          <a:p>
            <a:r>
              <a:rPr lang="en" altLang="ko-Kore-KR" sz="1600" b="1" dirty="0"/>
              <a:t>GPU Binary Type Recovery</a:t>
            </a:r>
          </a:p>
          <a:p>
            <a:pPr lvl="1"/>
            <a:r>
              <a:rPr lang="en" altLang="ko-Kore-KR" sz="1400" dirty="0"/>
              <a:t>Identify type recovery as the central challenge of GPU binary lifting</a:t>
            </a:r>
          </a:p>
          <a:p>
            <a:r>
              <a:rPr lang="en" altLang="ko-Kore-KR" sz="1600" b="1" dirty="0"/>
              <a:t>SIMT-Aware Structure </a:t>
            </a:r>
            <a:r>
              <a:rPr lang="en" altLang="ko-Kore-KR" sz="1600" b="1" dirty="0" err="1"/>
              <a:t>Reconstructio</a:t>
            </a:r>
            <a:r>
              <a:rPr lang="en-US" altLang="ko-Kore-KR" sz="1600" b="1" dirty="0"/>
              <a:t>n</a:t>
            </a:r>
            <a:endParaRPr lang="en" altLang="ko-Kore-KR" sz="1600" b="1" dirty="0"/>
          </a:p>
          <a:p>
            <a:pPr lvl="1"/>
            <a:r>
              <a:rPr lang="en" altLang="ko-Kore-KR" sz="1400" dirty="0"/>
              <a:t>Recover control flow and SSA from SASS, handling SIMT-specific constructs and multi-instruction patterns</a:t>
            </a:r>
          </a:p>
          <a:p>
            <a:r>
              <a:rPr lang="en" altLang="ko-Kore-KR" sz="1600" b="1" dirty="0"/>
              <a:t>End-to-End SASS-to-LLVM IR Lifting</a:t>
            </a:r>
          </a:p>
          <a:p>
            <a:pPr lvl="1"/>
            <a:r>
              <a:rPr lang="en" altLang="ko-Kore-KR" sz="1400" dirty="0"/>
              <a:t>Support multiple GPU generations (SM75–SM120), enabling compiler analysis and cross-platform</a:t>
            </a:r>
          </a:p>
          <a:p>
            <a:r>
              <a:rPr lang="en" altLang="ko-Kore-KR" sz="1600" b="1" dirty="0"/>
              <a:t>Comprehensive Evaluation</a:t>
            </a:r>
          </a:p>
          <a:p>
            <a:pPr lvl="1"/>
            <a:r>
              <a:rPr lang="en" altLang="ko-Kore-KR" sz="1400" dirty="0"/>
              <a:t>11,977 kernels across 8 benchmark suites, achieving 96.3% exe correctness among 3,584 kernels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B1920-14B6-5E34-72A0-838A04FB3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E74F64-7780-9C4F-983D-3F814FF801CD}" type="slidenum">
              <a:rPr lang="en-US" smtClean="0"/>
              <a:t>22</a:t>
            </a:fld>
            <a:endParaRPr lang="en-US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C4907553-01C9-CE60-6065-0882CEDBC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39" y="3564174"/>
            <a:ext cx="7317921" cy="140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990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9D4B6-0515-9420-2759-6A4AE6D94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04889"/>
            <a:ext cx="6858000" cy="2358053"/>
          </a:xfrm>
        </p:spPr>
        <p:txBody>
          <a:bodyPr/>
          <a:lstStyle/>
          <a:p>
            <a:r>
              <a:rPr kumimoji="1" lang="en-US" altLang="ko-Kore-KR" dirty="0"/>
              <a:t>Thank you </a:t>
            </a:r>
            <a:br>
              <a:rPr kumimoji="1" lang="en-US" altLang="ko-Kore-KR" dirty="0"/>
            </a:br>
            <a:r>
              <a:rPr kumimoji="1" lang="en-US" altLang="ko-Kore-KR" sz="1800" dirty="0"/>
              <a:t>https://</a:t>
            </a:r>
            <a:r>
              <a:rPr kumimoji="1" lang="en-US" altLang="ko-Kore-KR" sz="1800" dirty="0" err="1"/>
              <a:t>github.com</a:t>
            </a:r>
            <a:r>
              <a:rPr kumimoji="1" lang="en-US" altLang="ko-Kore-KR" sz="1800" dirty="0"/>
              <a:t>/</a:t>
            </a:r>
            <a:r>
              <a:rPr kumimoji="1" lang="en-US" altLang="ko-Kore-KR" sz="1800" dirty="0" err="1"/>
              <a:t>vortexgpgpu</a:t>
            </a:r>
            <a:r>
              <a:rPr kumimoji="1" lang="en-US" altLang="ko-Kore-KR" sz="1800" dirty="0"/>
              <a:t>/Volt</a:t>
            </a:r>
            <a:endParaRPr kumimoji="1" lang="ko-Kore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827515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16478</TotalTime>
  <Words>1843</Words>
  <Application>Microsoft Macintosh PowerPoint</Application>
  <PresentationFormat>화면 슬라이드 쇼(16:9)</PresentationFormat>
  <Paragraphs>331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Calibri</vt:lpstr>
      <vt:lpstr>Roboto</vt:lpstr>
      <vt:lpstr>Daytona</vt:lpstr>
      <vt:lpstr>Tahoma</vt:lpstr>
      <vt:lpstr>Aptos</vt:lpstr>
      <vt:lpstr>Arial</vt:lpstr>
      <vt:lpstr>Consolas</vt:lpstr>
      <vt:lpstr>1_Office Theme</vt:lpstr>
      <vt:lpstr>Volt Compiler Pipeline</vt:lpstr>
      <vt:lpstr>Program Execution on the Vortex GPU</vt:lpstr>
      <vt:lpstr>Expanding GPU Variants on Vortex</vt:lpstr>
      <vt:lpstr>Programs from Diverse Frontends</vt:lpstr>
      <vt:lpstr>Key Challenges in Designing VOLT</vt:lpstr>
      <vt:lpstr>Vortex-Optimized Lightweight Toolchain (VOLT)</vt:lpstr>
      <vt:lpstr>Front-end Compiler </vt:lpstr>
      <vt:lpstr>Front-end Compiler </vt:lpstr>
      <vt:lpstr>Middle-end Compiler </vt:lpstr>
      <vt:lpstr>Middle-end Compiler </vt:lpstr>
      <vt:lpstr>Middle-end Compiler </vt:lpstr>
      <vt:lpstr>Middle-end Compiler </vt:lpstr>
      <vt:lpstr>Back-end Compiler </vt:lpstr>
      <vt:lpstr>VOLT for Vortex 3.0 </vt:lpstr>
      <vt:lpstr>CuPBoP Support for Vortex 3.0</vt:lpstr>
      <vt:lpstr>Guide for VOLT Extensions</vt:lpstr>
      <vt:lpstr>Tutorial 1: Extending Kernel Functions</vt:lpstr>
      <vt:lpstr>Tutorial 2: Extending Host Functions</vt:lpstr>
      <vt:lpstr>Tutorial 3: Extending Memory Lowering</vt:lpstr>
      <vt:lpstr>Tutorial 4: Tensor Cores, WGMMA and DXA</vt:lpstr>
      <vt:lpstr>2026 Publications</vt:lpstr>
      <vt:lpstr>CuLifter (Micro26, Day 2 Session 6A)</vt:lpstr>
      <vt:lpstr>Thank you  https://github.com/vortexgpgpu/Volt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Jeong, Shinnung</cp:lastModifiedBy>
  <cp:revision>437</cp:revision>
  <dcterms:modified xsi:type="dcterms:W3CDTF">2026-11-01T04:50:03Z</dcterms:modified>
</cp:coreProperties>
</file>